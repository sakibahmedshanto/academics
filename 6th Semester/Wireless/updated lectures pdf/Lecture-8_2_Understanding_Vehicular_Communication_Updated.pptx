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728" r:id="rId1"/>
  </p:sldMasterIdLst>
  <p:notesMasterIdLst>
    <p:notesMasterId r:id="rId99"/>
  </p:notesMasterIdLst>
  <p:handoutMasterIdLst>
    <p:handoutMasterId r:id="rId100"/>
  </p:handoutMasterIdLst>
  <p:sldIdLst>
    <p:sldId id="693" r:id="rId2"/>
    <p:sldId id="315" r:id="rId3"/>
    <p:sldId id="747" r:id="rId4"/>
    <p:sldId id="745" r:id="rId5"/>
    <p:sldId id="317" r:id="rId6"/>
    <p:sldId id="256" r:id="rId7"/>
    <p:sldId id="272" r:id="rId8"/>
    <p:sldId id="280" r:id="rId9"/>
    <p:sldId id="321" r:id="rId10"/>
    <p:sldId id="323" r:id="rId11"/>
    <p:sldId id="319" r:id="rId12"/>
    <p:sldId id="758" r:id="rId13"/>
    <p:sldId id="344" r:id="rId14"/>
    <p:sldId id="346" r:id="rId15"/>
    <p:sldId id="354" r:id="rId16"/>
    <p:sldId id="349" r:id="rId17"/>
    <p:sldId id="273" r:id="rId18"/>
    <p:sldId id="328" r:id="rId19"/>
    <p:sldId id="334" r:id="rId20"/>
    <p:sldId id="260" r:id="rId21"/>
    <p:sldId id="285" r:id="rId22"/>
    <p:sldId id="415" r:id="rId23"/>
    <p:sldId id="356" r:id="rId24"/>
    <p:sldId id="422" r:id="rId25"/>
    <p:sldId id="326" r:id="rId26"/>
    <p:sldId id="329" r:id="rId27"/>
    <p:sldId id="330" r:id="rId28"/>
    <p:sldId id="261" r:id="rId29"/>
    <p:sldId id="327" r:id="rId30"/>
    <p:sldId id="335" r:id="rId31"/>
    <p:sldId id="757" r:id="rId32"/>
    <p:sldId id="351" r:id="rId33"/>
    <p:sldId id="748" r:id="rId34"/>
    <p:sldId id="524" r:id="rId35"/>
    <p:sldId id="525" r:id="rId36"/>
    <p:sldId id="526" r:id="rId37"/>
    <p:sldId id="527" r:id="rId38"/>
    <p:sldId id="528" r:id="rId39"/>
    <p:sldId id="529" r:id="rId40"/>
    <p:sldId id="530" r:id="rId41"/>
    <p:sldId id="531" r:id="rId42"/>
    <p:sldId id="532" r:id="rId43"/>
    <p:sldId id="533" r:id="rId44"/>
    <p:sldId id="534" r:id="rId45"/>
    <p:sldId id="535" r:id="rId46"/>
    <p:sldId id="536" r:id="rId47"/>
    <p:sldId id="538" r:id="rId48"/>
    <p:sldId id="539" r:id="rId49"/>
    <p:sldId id="540" r:id="rId50"/>
    <p:sldId id="769" r:id="rId51"/>
    <p:sldId id="274" r:id="rId52"/>
    <p:sldId id="357" r:id="rId53"/>
    <p:sldId id="416" r:id="rId54"/>
    <p:sldId id="760" r:id="rId55"/>
    <p:sldId id="421" r:id="rId56"/>
    <p:sldId id="759" r:id="rId57"/>
    <p:sldId id="423" r:id="rId58"/>
    <p:sldId id="556" r:id="rId59"/>
    <p:sldId id="557" r:id="rId60"/>
    <p:sldId id="764" r:id="rId61"/>
    <p:sldId id="772" r:id="rId62"/>
    <p:sldId id="773" r:id="rId63"/>
    <p:sldId id="774" r:id="rId64"/>
    <p:sldId id="558" r:id="rId65"/>
    <p:sldId id="559" r:id="rId66"/>
    <p:sldId id="560" r:id="rId67"/>
    <p:sldId id="562" r:id="rId68"/>
    <p:sldId id="563" r:id="rId69"/>
    <p:sldId id="564" r:id="rId70"/>
    <p:sldId id="775" r:id="rId71"/>
    <p:sldId id="565" r:id="rId72"/>
    <p:sldId id="566" r:id="rId73"/>
    <p:sldId id="770" r:id="rId74"/>
    <p:sldId id="567" r:id="rId75"/>
    <p:sldId id="568" r:id="rId76"/>
    <p:sldId id="569" r:id="rId77"/>
    <p:sldId id="570" r:id="rId78"/>
    <p:sldId id="571" r:id="rId79"/>
    <p:sldId id="572" r:id="rId80"/>
    <p:sldId id="573" r:id="rId81"/>
    <p:sldId id="574" r:id="rId82"/>
    <p:sldId id="575" r:id="rId83"/>
    <p:sldId id="576" r:id="rId84"/>
    <p:sldId id="579" r:id="rId85"/>
    <p:sldId id="766" r:id="rId86"/>
    <p:sldId id="767" r:id="rId87"/>
    <p:sldId id="768" r:id="rId88"/>
    <p:sldId id="580" r:id="rId89"/>
    <p:sldId id="581" r:id="rId90"/>
    <p:sldId id="582" r:id="rId91"/>
    <p:sldId id="583" r:id="rId92"/>
    <p:sldId id="584" r:id="rId93"/>
    <p:sldId id="585" r:id="rId94"/>
    <p:sldId id="259" r:id="rId95"/>
    <p:sldId id="776" r:id="rId96"/>
    <p:sldId id="258" r:id="rId97"/>
    <p:sldId id="756" r:id="rId98"/>
  </p:sldIdLst>
  <p:sldSz cx="9144000" cy="6858000" type="screen4x3"/>
  <p:notesSz cx="6645275" cy="9779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000000"/>
    <a:srgbClr val="606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495" autoAdjust="0"/>
    <p:restoredTop sz="86535" autoAdjust="0"/>
  </p:normalViewPr>
  <p:slideViewPr>
    <p:cSldViewPr snapToGrid="0">
      <p:cViewPr varScale="1">
        <p:scale>
          <a:sx n="96" d="100"/>
          <a:sy n="96" d="100"/>
        </p:scale>
        <p:origin x="1872" y="78"/>
      </p:cViewPr>
      <p:guideLst>
        <p:guide orient="horz" pos="2160"/>
        <p:guide pos="2880"/>
      </p:guideLst>
    </p:cSldViewPr>
  </p:slideViewPr>
  <p:outlineViewPr>
    <p:cViewPr>
      <p:scale>
        <a:sx n="33" d="100"/>
        <a:sy n="33" d="100"/>
      </p:scale>
      <p:origin x="48" y="12000"/>
    </p:cViewPr>
  </p:outlineViewPr>
  <p:notesTextViewPr>
    <p:cViewPr>
      <p:scale>
        <a:sx n="100" d="100"/>
        <a:sy n="100" d="100"/>
      </p:scale>
      <p:origin x="0" y="0"/>
    </p:cViewPr>
  </p:notesTextViewPr>
  <p:sorterViewPr>
    <p:cViewPr>
      <p:scale>
        <a:sx n="66" d="100"/>
        <a:sy n="66" d="100"/>
      </p:scale>
      <p:origin x="0" y="-4672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7529DA-4B7C-423F-81DB-6CFD5E3D0ADC}" type="doc">
      <dgm:prSet loTypeId="urn:microsoft.com/office/officeart/2005/8/layout/target3" loCatId="list" qsTypeId="urn:microsoft.com/office/officeart/2005/8/quickstyle/simple3" qsCatId="simple" csTypeId="urn:microsoft.com/office/officeart/2005/8/colors/accent1_2" csCatId="accent1" phldr="1"/>
      <dgm:spPr/>
      <dgm:t>
        <a:bodyPr/>
        <a:lstStyle/>
        <a:p>
          <a:endParaRPr lang="en-US"/>
        </a:p>
      </dgm:t>
    </dgm:pt>
    <dgm:pt modelId="{3B4B4076-233A-4C9F-A8D2-C66FB98B7F76}">
      <dgm:prSet phldrT="[Text]"/>
      <dgm:spPr/>
      <dgm:t>
        <a:bodyPr/>
        <a:lstStyle/>
        <a:p>
          <a:r>
            <a:rPr lang="en-US" dirty="0"/>
            <a:t>The Concept</a:t>
          </a:r>
        </a:p>
      </dgm:t>
    </dgm:pt>
    <dgm:pt modelId="{52609B08-20DA-4F0B-86A7-5DAA2617C4B7}" type="parTrans" cxnId="{9667A6C6-B80B-4EFF-8D95-56FE0623E458}">
      <dgm:prSet/>
      <dgm:spPr/>
      <dgm:t>
        <a:bodyPr/>
        <a:lstStyle/>
        <a:p>
          <a:endParaRPr lang="en-US"/>
        </a:p>
      </dgm:t>
    </dgm:pt>
    <dgm:pt modelId="{3F1F5BA9-3F6F-43E1-999C-B228902F6D1A}" type="sibTrans" cxnId="{9667A6C6-B80B-4EFF-8D95-56FE0623E458}">
      <dgm:prSet/>
      <dgm:spPr/>
      <dgm:t>
        <a:bodyPr/>
        <a:lstStyle/>
        <a:p>
          <a:endParaRPr lang="en-US"/>
        </a:p>
      </dgm:t>
    </dgm:pt>
    <dgm:pt modelId="{2D8BB8AD-33AD-4128-B80C-D3B16F343070}">
      <dgm:prSet phldrT="[Text]"/>
      <dgm:spPr/>
      <dgm:t>
        <a:bodyPr/>
        <a:lstStyle/>
        <a:p>
          <a:r>
            <a:rPr lang="en-US" dirty="0"/>
            <a:t>vehicle-to-vehicle (V2V).</a:t>
          </a:r>
        </a:p>
      </dgm:t>
    </dgm:pt>
    <dgm:pt modelId="{A8C1ADE9-730E-4582-92DA-79E305F42755}" type="parTrans" cxnId="{1A6757D2-537B-46DD-98F4-D63EDE2F7A6C}">
      <dgm:prSet/>
      <dgm:spPr/>
      <dgm:t>
        <a:bodyPr/>
        <a:lstStyle/>
        <a:p>
          <a:endParaRPr lang="en-US"/>
        </a:p>
      </dgm:t>
    </dgm:pt>
    <dgm:pt modelId="{BFAC7E68-3BAA-4A1A-A5F8-BA9E21528B48}" type="sibTrans" cxnId="{1A6757D2-537B-46DD-98F4-D63EDE2F7A6C}">
      <dgm:prSet/>
      <dgm:spPr/>
      <dgm:t>
        <a:bodyPr/>
        <a:lstStyle/>
        <a:p>
          <a:endParaRPr lang="en-US"/>
        </a:p>
      </dgm:t>
    </dgm:pt>
    <dgm:pt modelId="{9BA50D57-DBF6-49DF-B5B8-A55FDC6E415C}">
      <dgm:prSet phldrT="[Text]"/>
      <dgm:spPr/>
      <dgm:t>
        <a:bodyPr/>
        <a:lstStyle/>
        <a:p>
          <a:r>
            <a:rPr lang="en-US" dirty="0"/>
            <a:t>The Opportunity</a:t>
          </a:r>
        </a:p>
      </dgm:t>
    </dgm:pt>
    <dgm:pt modelId="{1A2817E4-8B33-432D-9741-7F7065BBA7F7}" type="parTrans" cxnId="{D19D8516-5E7F-4A68-A45E-F93D7B27DE2F}">
      <dgm:prSet/>
      <dgm:spPr/>
      <dgm:t>
        <a:bodyPr/>
        <a:lstStyle/>
        <a:p>
          <a:endParaRPr lang="en-US"/>
        </a:p>
      </dgm:t>
    </dgm:pt>
    <dgm:pt modelId="{4E8B306A-1BBD-4D17-979C-630E919DFB88}" type="sibTrans" cxnId="{D19D8516-5E7F-4A68-A45E-F93D7B27DE2F}">
      <dgm:prSet/>
      <dgm:spPr/>
      <dgm:t>
        <a:bodyPr/>
        <a:lstStyle/>
        <a:p>
          <a:endParaRPr lang="en-US"/>
        </a:p>
      </dgm:t>
    </dgm:pt>
    <dgm:pt modelId="{A809E276-E84A-40E1-9F15-DD3DCA0005A3}">
      <dgm:prSet phldrT="[Text]"/>
      <dgm:spPr/>
      <dgm:t>
        <a:bodyPr/>
        <a:lstStyle/>
        <a:p>
          <a:r>
            <a:rPr lang="en-US" dirty="0"/>
            <a:t>Smart  Cars </a:t>
          </a:r>
        </a:p>
      </dgm:t>
    </dgm:pt>
    <dgm:pt modelId="{DC3DB3CC-B237-4B06-9208-67E99C2DA484}" type="parTrans" cxnId="{A6913866-5825-4B67-9F82-62014A7F8897}">
      <dgm:prSet/>
      <dgm:spPr/>
      <dgm:t>
        <a:bodyPr/>
        <a:lstStyle/>
        <a:p>
          <a:endParaRPr lang="en-US"/>
        </a:p>
      </dgm:t>
    </dgm:pt>
    <dgm:pt modelId="{4944361B-628A-4532-B857-2CB763ED0A5B}" type="sibTrans" cxnId="{A6913866-5825-4B67-9F82-62014A7F8897}">
      <dgm:prSet/>
      <dgm:spPr/>
      <dgm:t>
        <a:bodyPr/>
        <a:lstStyle/>
        <a:p>
          <a:endParaRPr lang="en-US"/>
        </a:p>
      </dgm:t>
    </dgm:pt>
    <dgm:pt modelId="{DCE0648A-5572-4678-8E12-434EC9142EF1}">
      <dgm:prSet phldrT="[Text]"/>
      <dgm:spPr/>
      <dgm:t>
        <a:bodyPr/>
        <a:lstStyle/>
        <a:p>
          <a:r>
            <a:rPr lang="en-US" dirty="0"/>
            <a:t>The Potentials</a:t>
          </a:r>
        </a:p>
      </dgm:t>
    </dgm:pt>
    <dgm:pt modelId="{E3928BD4-5DE9-4583-9878-DFE840EB45A9}" type="parTrans" cxnId="{B8875740-868C-4808-8EAC-47C63A7B0653}">
      <dgm:prSet/>
      <dgm:spPr/>
      <dgm:t>
        <a:bodyPr/>
        <a:lstStyle/>
        <a:p>
          <a:endParaRPr lang="en-US"/>
        </a:p>
      </dgm:t>
    </dgm:pt>
    <dgm:pt modelId="{69EF6CC7-4CD1-402A-A691-8E12430B80E4}" type="sibTrans" cxnId="{B8875740-868C-4808-8EAC-47C63A7B0653}">
      <dgm:prSet/>
      <dgm:spPr/>
      <dgm:t>
        <a:bodyPr/>
        <a:lstStyle/>
        <a:p>
          <a:endParaRPr lang="en-US"/>
        </a:p>
      </dgm:t>
    </dgm:pt>
    <dgm:pt modelId="{AC0508E8-ED81-41D1-9578-1B6094830F8C}">
      <dgm:prSet phldrT="[Text]"/>
      <dgm:spPr/>
      <dgm:t>
        <a:bodyPr/>
        <a:lstStyle/>
        <a:p>
          <a:r>
            <a:rPr lang="en-US" dirty="0"/>
            <a:t> Safer roads</a:t>
          </a:r>
        </a:p>
      </dgm:t>
    </dgm:pt>
    <dgm:pt modelId="{C759A673-0357-4FD1-865B-2D3CEFF9D514}" type="parTrans" cxnId="{1AB46BC7-6F8C-43FB-8AEA-079786100219}">
      <dgm:prSet/>
      <dgm:spPr/>
      <dgm:t>
        <a:bodyPr/>
        <a:lstStyle/>
        <a:p>
          <a:endParaRPr lang="en-US"/>
        </a:p>
      </dgm:t>
    </dgm:pt>
    <dgm:pt modelId="{B4A12B0D-88B8-461F-8D36-0FD44C31FD44}" type="sibTrans" cxnId="{1AB46BC7-6F8C-43FB-8AEA-079786100219}">
      <dgm:prSet/>
      <dgm:spPr/>
      <dgm:t>
        <a:bodyPr/>
        <a:lstStyle/>
        <a:p>
          <a:endParaRPr lang="en-US"/>
        </a:p>
      </dgm:t>
    </dgm:pt>
    <dgm:pt modelId="{FA3898B8-F08E-4C88-9F02-0D408B76542E}">
      <dgm:prSet phldrT="[Text]"/>
      <dgm:spPr/>
      <dgm:t>
        <a:bodyPr/>
        <a:lstStyle/>
        <a:p>
          <a:r>
            <a:rPr lang="en-US" dirty="0"/>
            <a:t> Less traffic </a:t>
          </a:r>
        </a:p>
      </dgm:t>
    </dgm:pt>
    <dgm:pt modelId="{4400A816-CE31-4C30-863C-0ADBAF1B7E49}" type="parTrans" cxnId="{C6AE23A0-3FF4-4C65-AEF6-853D3BC7DC82}">
      <dgm:prSet/>
      <dgm:spPr/>
      <dgm:t>
        <a:bodyPr/>
        <a:lstStyle/>
        <a:p>
          <a:endParaRPr lang="en-US"/>
        </a:p>
      </dgm:t>
    </dgm:pt>
    <dgm:pt modelId="{A8801607-BD5F-43F3-B85A-8A02A1900D06}" type="sibTrans" cxnId="{C6AE23A0-3FF4-4C65-AEF6-853D3BC7DC82}">
      <dgm:prSet/>
      <dgm:spPr/>
      <dgm:t>
        <a:bodyPr/>
        <a:lstStyle/>
        <a:p>
          <a:endParaRPr lang="en-US"/>
        </a:p>
      </dgm:t>
    </dgm:pt>
    <dgm:pt modelId="{106313B1-7BF8-490C-A5DF-AAC9F953F765}">
      <dgm:prSet phldrT="[Text]"/>
      <dgm:spPr/>
      <dgm:t>
        <a:bodyPr/>
        <a:lstStyle/>
        <a:p>
          <a:r>
            <a:rPr lang="en-US" dirty="0"/>
            <a:t>Less fading </a:t>
          </a:r>
        </a:p>
      </dgm:t>
    </dgm:pt>
    <dgm:pt modelId="{4DBF720E-8E05-4DBE-A358-6715F524FDBA}" type="parTrans" cxnId="{EFC484B0-22F7-4931-8753-DE5452CDB9DD}">
      <dgm:prSet/>
      <dgm:spPr/>
      <dgm:t>
        <a:bodyPr/>
        <a:lstStyle/>
        <a:p>
          <a:endParaRPr lang="en-GB"/>
        </a:p>
      </dgm:t>
    </dgm:pt>
    <dgm:pt modelId="{DE928558-B4EE-42BB-8CC8-BD77A5FFC288}" type="sibTrans" cxnId="{EFC484B0-22F7-4931-8753-DE5452CDB9DD}">
      <dgm:prSet/>
      <dgm:spPr/>
      <dgm:t>
        <a:bodyPr/>
        <a:lstStyle/>
        <a:p>
          <a:endParaRPr lang="en-GB"/>
        </a:p>
      </dgm:t>
    </dgm:pt>
    <dgm:pt modelId="{B308BFF2-F538-403B-8A02-DB8BDA6B2719}" type="pres">
      <dgm:prSet presAssocID="{1C7529DA-4B7C-423F-81DB-6CFD5E3D0ADC}" presName="Name0" presStyleCnt="0">
        <dgm:presLayoutVars>
          <dgm:chMax val="7"/>
          <dgm:dir/>
          <dgm:animLvl val="lvl"/>
          <dgm:resizeHandles val="exact"/>
        </dgm:presLayoutVars>
      </dgm:prSet>
      <dgm:spPr/>
    </dgm:pt>
    <dgm:pt modelId="{F7B078F5-8F08-47E0-A4F8-94613BBABB9C}" type="pres">
      <dgm:prSet presAssocID="{3B4B4076-233A-4C9F-A8D2-C66FB98B7F76}" presName="circle1" presStyleLbl="node1" presStyleIdx="0" presStyleCnt="3" custScaleX="116628"/>
      <dgm:spPr/>
    </dgm:pt>
    <dgm:pt modelId="{F5626BAC-AC5C-44F5-B21A-3195343B0134}" type="pres">
      <dgm:prSet presAssocID="{3B4B4076-233A-4C9F-A8D2-C66FB98B7F76}" presName="space" presStyleCnt="0"/>
      <dgm:spPr/>
    </dgm:pt>
    <dgm:pt modelId="{BD3BE9F0-0CAC-4157-9E46-0F0134B9F740}" type="pres">
      <dgm:prSet presAssocID="{3B4B4076-233A-4C9F-A8D2-C66FB98B7F76}" presName="rect1" presStyleLbl="alignAcc1" presStyleIdx="0" presStyleCnt="3"/>
      <dgm:spPr/>
    </dgm:pt>
    <dgm:pt modelId="{42D4A862-359B-44CF-8CA5-94211F5C18E7}" type="pres">
      <dgm:prSet presAssocID="{9BA50D57-DBF6-49DF-B5B8-A55FDC6E415C}" presName="vertSpace2" presStyleLbl="node1" presStyleIdx="0" presStyleCnt="3"/>
      <dgm:spPr/>
    </dgm:pt>
    <dgm:pt modelId="{CC0488D7-AB8B-4CB7-BE9B-5C470E029F54}" type="pres">
      <dgm:prSet presAssocID="{9BA50D57-DBF6-49DF-B5B8-A55FDC6E415C}" presName="circle2" presStyleLbl="node1" presStyleIdx="1" presStyleCnt="3"/>
      <dgm:spPr/>
    </dgm:pt>
    <dgm:pt modelId="{F2D11CBB-27D3-4C6C-B610-9E25E398FE2B}" type="pres">
      <dgm:prSet presAssocID="{9BA50D57-DBF6-49DF-B5B8-A55FDC6E415C}" presName="rect2" presStyleLbl="alignAcc1" presStyleIdx="1" presStyleCnt="3"/>
      <dgm:spPr/>
    </dgm:pt>
    <dgm:pt modelId="{6537C74C-157F-4BFC-9AA2-F847C60375F3}" type="pres">
      <dgm:prSet presAssocID="{DCE0648A-5572-4678-8E12-434EC9142EF1}" presName="vertSpace3" presStyleLbl="node1" presStyleIdx="1" presStyleCnt="3"/>
      <dgm:spPr/>
    </dgm:pt>
    <dgm:pt modelId="{65ACC6ED-26AD-412F-A0DE-EF20BC771EE5}" type="pres">
      <dgm:prSet presAssocID="{DCE0648A-5572-4678-8E12-434EC9142EF1}" presName="circle3" presStyleLbl="node1" presStyleIdx="2" presStyleCnt="3"/>
      <dgm:spPr/>
    </dgm:pt>
    <dgm:pt modelId="{5D617F1E-53C0-4096-832F-9EE948F88D6F}" type="pres">
      <dgm:prSet presAssocID="{DCE0648A-5572-4678-8E12-434EC9142EF1}" presName="rect3" presStyleLbl="alignAcc1" presStyleIdx="2" presStyleCnt="3"/>
      <dgm:spPr/>
    </dgm:pt>
    <dgm:pt modelId="{8F42F309-598E-4BB4-90F1-50E43FA524CC}" type="pres">
      <dgm:prSet presAssocID="{3B4B4076-233A-4C9F-A8D2-C66FB98B7F76}" presName="rect1ParTx" presStyleLbl="alignAcc1" presStyleIdx="2" presStyleCnt="3">
        <dgm:presLayoutVars>
          <dgm:chMax val="1"/>
          <dgm:bulletEnabled val="1"/>
        </dgm:presLayoutVars>
      </dgm:prSet>
      <dgm:spPr/>
    </dgm:pt>
    <dgm:pt modelId="{8C7249F5-6A43-4677-858A-4209B274B459}" type="pres">
      <dgm:prSet presAssocID="{3B4B4076-233A-4C9F-A8D2-C66FB98B7F76}" presName="rect1ChTx" presStyleLbl="alignAcc1" presStyleIdx="2" presStyleCnt="3">
        <dgm:presLayoutVars>
          <dgm:bulletEnabled val="1"/>
        </dgm:presLayoutVars>
      </dgm:prSet>
      <dgm:spPr/>
    </dgm:pt>
    <dgm:pt modelId="{46219803-8DC6-45F6-82DC-A32CC3A9CD7F}" type="pres">
      <dgm:prSet presAssocID="{9BA50D57-DBF6-49DF-B5B8-A55FDC6E415C}" presName="rect2ParTx" presStyleLbl="alignAcc1" presStyleIdx="2" presStyleCnt="3">
        <dgm:presLayoutVars>
          <dgm:chMax val="1"/>
          <dgm:bulletEnabled val="1"/>
        </dgm:presLayoutVars>
      </dgm:prSet>
      <dgm:spPr/>
    </dgm:pt>
    <dgm:pt modelId="{DBE3DE41-7537-4441-8B1C-5E8BE18ACA77}" type="pres">
      <dgm:prSet presAssocID="{9BA50D57-DBF6-49DF-B5B8-A55FDC6E415C}" presName="rect2ChTx" presStyleLbl="alignAcc1" presStyleIdx="2" presStyleCnt="3">
        <dgm:presLayoutVars>
          <dgm:bulletEnabled val="1"/>
        </dgm:presLayoutVars>
      </dgm:prSet>
      <dgm:spPr/>
    </dgm:pt>
    <dgm:pt modelId="{ABD7FEF1-1639-4E5D-83AD-F0D9A362B7EA}" type="pres">
      <dgm:prSet presAssocID="{DCE0648A-5572-4678-8E12-434EC9142EF1}" presName="rect3ParTx" presStyleLbl="alignAcc1" presStyleIdx="2" presStyleCnt="3">
        <dgm:presLayoutVars>
          <dgm:chMax val="1"/>
          <dgm:bulletEnabled val="1"/>
        </dgm:presLayoutVars>
      </dgm:prSet>
      <dgm:spPr/>
    </dgm:pt>
    <dgm:pt modelId="{6C8D26A5-DBB8-4E90-9DA9-227A2AD5DEB3}" type="pres">
      <dgm:prSet presAssocID="{DCE0648A-5572-4678-8E12-434EC9142EF1}" presName="rect3ChTx" presStyleLbl="alignAcc1" presStyleIdx="2" presStyleCnt="3">
        <dgm:presLayoutVars>
          <dgm:bulletEnabled val="1"/>
        </dgm:presLayoutVars>
      </dgm:prSet>
      <dgm:spPr/>
    </dgm:pt>
  </dgm:ptLst>
  <dgm:cxnLst>
    <dgm:cxn modelId="{5C525302-CF6D-40E1-87AE-ED19D454930F}" type="presOf" srcId="{FA3898B8-F08E-4C88-9F02-0D408B76542E}" destId="{6C8D26A5-DBB8-4E90-9DA9-227A2AD5DEB3}" srcOrd="0" destOrd="1" presId="urn:microsoft.com/office/officeart/2005/8/layout/target3"/>
    <dgm:cxn modelId="{D19D8516-5E7F-4A68-A45E-F93D7B27DE2F}" srcId="{1C7529DA-4B7C-423F-81DB-6CFD5E3D0ADC}" destId="{9BA50D57-DBF6-49DF-B5B8-A55FDC6E415C}" srcOrd="1" destOrd="0" parTransId="{1A2817E4-8B33-432D-9741-7F7065BBA7F7}" sibTransId="{4E8B306A-1BBD-4D17-979C-630E919DFB88}"/>
    <dgm:cxn modelId="{4B57CD19-E1CE-4DF8-A26C-450B1CEC6EA2}" type="presOf" srcId="{9BA50D57-DBF6-49DF-B5B8-A55FDC6E415C}" destId="{46219803-8DC6-45F6-82DC-A32CC3A9CD7F}" srcOrd="1" destOrd="0" presId="urn:microsoft.com/office/officeart/2005/8/layout/target3"/>
    <dgm:cxn modelId="{BCA3E826-B78D-4D53-AE12-CF7A3129866E}" type="presOf" srcId="{2D8BB8AD-33AD-4128-B80C-D3B16F343070}" destId="{8C7249F5-6A43-4677-858A-4209B274B459}" srcOrd="0" destOrd="0" presId="urn:microsoft.com/office/officeart/2005/8/layout/target3"/>
    <dgm:cxn modelId="{B8875740-868C-4808-8EAC-47C63A7B0653}" srcId="{1C7529DA-4B7C-423F-81DB-6CFD5E3D0ADC}" destId="{DCE0648A-5572-4678-8E12-434EC9142EF1}" srcOrd="2" destOrd="0" parTransId="{E3928BD4-5DE9-4583-9878-DFE840EB45A9}" sibTransId="{69EF6CC7-4CD1-402A-A691-8E12430B80E4}"/>
    <dgm:cxn modelId="{A6913866-5825-4B67-9F82-62014A7F8897}" srcId="{9BA50D57-DBF6-49DF-B5B8-A55FDC6E415C}" destId="{A809E276-E84A-40E1-9F15-DD3DCA0005A3}" srcOrd="0" destOrd="0" parTransId="{DC3DB3CC-B237-4B06-9208-67E99C2DA484}" sibTransId="{4944361B-628A-4532-B857-2CB763ED0A5B}"/>
    <dgm:cxn modelId="{6E26EB6E-97AE-4125-B6D6-0871C6B4EE3F}" type="presOf" srcId="{AC0508E8-ED81-41D1-9578-1B6094830F8C}" destId="{6C8D26A5-DBB8-4E90-9DA9-227A2AD5DEB3}" srcOrd="0" destOrd="0" presId="urn:microsoft.com/office/officeart/2005/8/layout/target3"/>
    <dgm:cxn modelId="{71232273-0C69-4AE8-971B-CB81BCD1B193}" type="presOf" srcId="{3B4B4076-233A-4C9F-A8D2-C66FB98B7F76}" destId="{BD3BE9F0-0CAC-4157-9E46-0F0134B9F740}" srcOrd="0" destOrd="0" presId="urn:microsoft.com/office/officeart/2005/8/layout/target3"/>
    <dgm:cxn modelId="{509AFA57-503F-483F-AC97-FA837BAB7785}" type="presOf" srcId="{A809E276-E84A-40E1-9F15-DD3DCA0005A3}" destId="{DBE3DE41-7537-4441-8B1C-5E8BE18ACA77}" srcOrd="0" destOrd="0" presId="urn:microsoft.com/office/officeart/2005/8/layout/target3"/>
    <dgm:cxn modelId="{7FCB1884-3AA6-4780-A3FC-2FB80F1C2BED}" type="presOf" srcId="{DCE0648A-5572-4678-8E12-434EC9142EF1}" destId="{5D617F1E-53C0-4096-832F-9EE948F88D6F}" srcOrd="0" destOrd="0" presId="urn:microsoft.com/office/officeart/2005/8/layout/target3"/>
    <dgm:cxn modelId="{C6AE23A0-3FF4-4C65-AEF6-853D3BC7DC82}" srcId="{DCE0648A-5572-4678-8E12-434EC9142EF1}" destId="{FA3898B8-F08E-4C88-9F02-0D408B76542E}" srcOrd="1" destOrd="0" parTransId="{4400A816-CE31-4C30-863C-0ADBAF1B7E49}" sibTransId="{A8801607-BD5F-43F3-B85A-8A02A1900D06}"/>
    <dgm:cxn modelId="{69EF67AF-2CD6-4CE6-955E-D378B171A038}" type="presOf" srcId="{106313B1-7BF8-490C-A5DF-AAC9F953F765}" destId="{6C8D26A5-DBB8-4E90-9DA9-227A2AD5DEB3}" srcOrd="0" destOrd="2" presId="urn:microsoft.com/office/officeart/2005/8/layout/target3"/>
    <dgm:cxn modelId="{EFC484B0-22F7-4931-8753-DE5452CDB9DD}" srcId="{DCE0648A-5572-4678-8E12-434EC9142EF1}" destId="{106313B1-7BF8-490C-A5DF-AAC9F953F765}" srcOrd="2" destOrd="0" parTransId="{4DBF720E-8E05-4DBE-A358-6715F524FDBA}" sibTransId="{DE928558-B4EE-42BB-8CC8-BD77A5FFC288}"/>
    <dgm:cxn modelId="{9667A6C6-B80B-4EFF-8D95-56FE0623E458}" srcId="{1C7529DA-4B7C-423F-81DB-6CFD5E3D0ADC}" destId="{3B4B4076-233A-4C9F-A8D2-C66FB98B7F76}" srcOrd="0" destOrd="0" parTransId="{52609B08-20DA-4F0B-86A7-5DAA2617C4B7}" sibTransId="{3F1F5BA9-3F6F-43E1-999C-B228902F6D1A}"/>
    <dgm:cxn modelId="{1AB46BC7-6F8C-43FB-8AEA-079786100219}" srcId="{DCE0648A-5572-4678-8E12-434EC9142EF1}" destId="{AC0508E8-ED81-41D1-9578-1B6094830F8C}" srcOrd="0" destOrd="0" parTransId="{C759A673-0357-4FD1-865B-2D3CEFF9D514}" sibTransId="{B4A12B0D-88B8-461F-8D36-0FD44C31FD44}"/>
    <dgm:cxn modelId="{1A6757D2-537B-46DD-98F4-D63EDE2F7A6C}" srcId="{3B4B4076-233A-4C9F-A8D2-C66FB98B7F76}" destId="{2D8BB8AD-33AD-4128-B80C-D3B16F343070}" srcOrd="0" destOrd="0" parTransId="{A8C1ADE9-730E-4582-92DA-79E305F42755}" sibTransId="{BFAC7E68-3BAA-4A1A-A5F8-BA9E21528B48}"/>
    <dgm:cxn modelId="{D37905D8-A045-4B95-82CF-640483FE8013}" type="presOf" srcId="{9BA50D57-DBF6-49DF-B5B8-A55FDC6E415C}" destId="{F2D11CBB-27D3-4C6C-B610-9E25E398FE2B}" srcOrd="0" destOrd="0" presId="urn:microsoft.com/office/officeart/2005/8/layout/target3"/>
    <dgm:cxn modelId="{0D7F50DA-03E6-4DE9-87C0-93B5E533FD7B}" type="presOf" srcId="{DCE0648A-5572-4678-8E12-434EC9142EF1}" destId="{ABD7FEF1-1639-4E5D-83AD-F0D9A362B7EA}" srcOrd="1" destOrd="0" presId="urn:microsoft.com/office/officeart/2005/8/layout/target3"/>
    <dgm:cxn modelId="{A9238EE2-83AE-49C2-821F-F9D99A86272C}" type="presOf" srcId="{3B4B4076-233A-4C9F-A8D2-C66FB98B7F76}" destId="{8F42F309-598E-4BB4-90F1-50E43FA524CC}" srcOrd="1" destOrd="0" presId="urn:microsoft.com/office/officeart/2005/8/layout/target3"/>
    <dgm:cxn modelId="{B2C509F6-FAC1-4CAA-BB40-FC93F1653CAF}" type="presOf" srcId="{1C7529DA-4B7C-423F-81DB-6CFD5E3D0ADC}" destId="{B308BFF2-F538-403B-8A02-DB8BDA6B2719}" srcOrd="0" destOrd="0" presId="urn:microsoft.com/office/officeart/2005/8/layout/target3"/>
    <dgm:cxn modelId="{E750E9CF-1BFE-4991-A985-82B362E58E4A}" type="presParOf" srcId="{B308BFF2-F538-403B-8A02-DB8BDA6B2719}" destId="{F7B078F5-8F08-47E0-A4F8-94613BBABB9C}" srcOrd="0" destOrd="0" presId="urn:microsoft.com/office/officeart/2005/8/layout/target3"/>
    <dgm:cxn modelId="{745509CD-9512-4BE6-B6D3-D690B9865122}" type="presParOf" srcId="{B308BFF2-F538-403B-8A02-DB8BDA6B2719}" destId="{F5626BAC-AC5C-44F5-B21A-3195343B0134}" srcOrd="1" destOrd="0" presId="urn:microsoft.com/office/officeart/2005/8/layout/target3"/>
    <dgm:cxn modelId="{15FA2652-88B1-4242-A7F3-0B8057953F06}" type="presParOf" srcId="{B308BFF2-F538-403B-8A02-DB8BDA6B2719}" destId="{BD3BE9F0-0CAC-4157-9E46-0F0134B9F740}" srcOrd="2" destOrd="0" presId="urn:microsoft.com/office/officeart/2005/8/layout/target3"/>
    <dgm:cxn modelId="{C1756DFC-0D9D-41E2-93A3-4C59054C75DA}" type="presParOf" srcId="{B308BFF2-F538-403B-8A02-DB8BDA6B2719}" destId="{42D4A862-359B-44CF-8CA5-94211F5C18E7}" srcOrd="3" destOrd="0" presId="urn:microsoft.com/office/officeart/2005/8/layout/target3"/>
    <dgm:cxn modelId="{9BA19484-E031-4D52-82E8-DACDB5E48F02}" type="presParOf" srcId="{B308BFF2-F538-403B-8A02-DB8BDA6B2719}" destId="{CC0488D7-AB8B-4CB7-BE9B-5C470E029F54}" srcOrd="4" destOrd="0" presId="urn:microsoft.com/office/officeart/2005/8/layout/target3"/>
    <dgm:cxn modelId="{BABA7456-D2B3-4C4C-9BE8-A66F78F158A9}" type="presParOf" srcId="{B308BFF2-F538-403B-8A02-DB8BDA6B2719}" destId="{F2D11CBB-27D3-4C6C-B610-9E25E398FE2B}" srcOrd="5" destOrd="0" presId="urn:microsoft.com/office/officeart/2005/8/layout/target3"/>
    <dgm:cxn modelId="{0D6BE7C1-E5A9-4596-B20D-C1147A8BEFA1}" type="presParOf" srcId="{B308BFF2-F538-403B-8A02-DB8BDA6B2719}" destId="{6537C74C-157F-4BFC-9AA2-F847C60375F3}" srcOrd="6" destOrd="0" presId="urn:microsoft.com/office/officeart/2005/8/layout/target3"/>
    <dgm:cxn modelId="{AB773979-A62B-4DF7-9B11-B4282A985551}" type="presParOf" srcId="{B308BFF2-F538-403B-8A02-DB8BDA6B2719}" destId="{65ACC6ED-26AD-412F-A0DE-EF20BC771EE5}" srcOrd="7" destOrd="0" presId="urn:microsoft.com/office/officeart/2005/8/layout/target3"/>
    <dgm:cxn modelId="{E3404368-181E-4B83-891C-1049D9B7E652}" type="presParOf" srcId="{B308BFF2-F538-403B-8A02-DB8BDA6B2719}" destId="{5D617F1E-53C0-4096-832F-9EE948F88D6F}" srcOrd="8" destOrd="0" presId="urn:microsoft.com/office/officeart/2005/8/layout/target3"/>
    <dgm:cxn modelId="{2A017583-9B43-4688-A03B-84D451009E9B}" type="presParOf" srcId="{B308BFF2-F538-403B-8A02-DB8BDA6B2719}" destId="{8F42F309-598E-4BB4-90F1-50E43FA524CC}" srcOrd="9" destOrd="0" presId="urn:microsoft.com/office/officeart/2005/8/layout/target3"/>
    <dgm:cxn modelId="{7755B7C0-3380-4521-AD00-E7C138AB547B}" type="presParOf" srcId="{B308BFF2-F538-403B-8A02-DB8BDA6B2719}" destId="{8C7249F5-6A43-4677-858A-4209B274B459}" srcOrd="10" destOrd="0" presId="urn:microsoft.com/office/officeart/2005/8/layout/target3"/>
    <dgm:cxn modelId="{41C4CB59-47C9-4CA1-93C2-B9D038A61761}" type="presParOf" srcId="{B308BFF2-F538-403B-8A02-DB8BDA6B2719}" destId="{46219803-8DC6-45F6-82DC-A32CC3A9CD7F}" srcOrd="11" destOrd="0" presId="urn:microsoft.com/office/officeart/2005/8/layout/target3"/>
    <dgm:cxn modelId="{1053AAA6-75B8-4932-BFC6-A2CFCD7BDF9B}" type="presParOf" srcId="{B308BFF2-F538-403B-8A02-DB8BDA6B2719}" destId="{DBE3DE41-7537-4441-8B1C-5E8BE18ACA77}" srcOrd="12" destOrd="0" presId="urn:microsoft.com/office/officeart/2005/8/layout/target3"/>
    <dgm:cxn modelId="{3A5C2CBC-795B-4BA4-ADD5-0A926F7ABCDE}" type="presParOf" srcId="{B308BFF2-F538-403B-8A02-DB8BDA6B2719}" destId="{ABD7FEF1-1639-4E5D-83AD-F0D9A362B7EA}" srcOrd="13" destOrd="0" presId="urn:microsoft.com/office/officeart/2005/8/layout/target3"/>
    <dgm:cxn modelId="{F194FAB6-C930-4D64-BDD7-523FEF87BEB6}" type="presParOf" srcId="{B308BFF2-F538-403B-8A02-DB8BDA6B2719}" destId="{6C8D26A5-DBB8-4E90-9DA9-227A2AD5DEB3}" srcOrd="14" destOrd="0" presId="urn:microsoft.com/office/officeart/2005/8/layout/targe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BB3D1489-3624-4548-80D9-D9CF6289BB08}">
      <dgm:prSet phldrT="[Text]"/>
      <dgm:spPr/>
      <dgm:t>
        <a:bodyPr/>
        <a:lstStyle/>
        <a:p>
          <a:r>
            <a:rPr lang="en-US" noProof="0" dirty="0"/>
            <a:t>Vehicle-to-X</a:t>
          </a:r>
        </a:p>
      </dgm:t>
    </dgm:pt>
    <dgm:pt modelId="{F8F06D65-317D-4762-8877-67314E15D506}" type="parTrans" cxnId="{7CDFE98F-E21E-42F8-A9BF-84F346507A0B}">
      <dgm:prSet/>
      <dgm:spPr/>
      <dgm:t>
        <a:bodyPr/>
        <a:lstStyle/>
        <a:p>
          <a:endParaRPr lang="de-DE"/>
        </a:p>
      </dgm:t>
    </dgm:pt>
    <dgm:pt modelId="{60474C45-E0F5-4E92-8CA1-18266FB88F83}" type="sibTrans" cxnId="{7CDFE98F-E21E-42F8-A9BF-84F346507A0B}">
      <dgm:prSet/>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6B442AD0-FC08-49CD-ADCA-9DA049070315}">
      <dgm:prSet phldrT="[Text]"/>
      <dgm:spPr/>
      <dgm:t>
        <a:bodyPr/>
        <a:lstStyle/>
        <a:p>
          <a:r>
            <a:rPr lang="en-US" noProof="0" dirty="0"/>
            <a:t>Adaptive Cruise Control</a:t>
          </a:r>
        </a:p>
      </dgm:t>
    </dgm:pt>
    <dgm:pt modelId="{A62DCD2C-3D2A-408F-AC93-2CBE680062F7}" type="parTrans" cxnId="{28262722-14A8-4376-A01E-F2E2C376571B}">
      <dgm:prSet/>
      <dgm:spPr/>
      <dgm:t>
        <a:bodyPr/>
        <a:lstStyle/>
        <a:p>
          <a:endParaRPr lang="en-US" noProof="0"/>
        </a:p>
      </dgm:t>
    </dgm:pt>
    <dgm:pt modelId="{360DD819-CD16-4764-B6BE-D7ECB32B8407}" type="sibTrans" cxnId="{28262722-14A8-4376-A01E-F2E2C376571B}">
      <dgm:prSet/>
      <dgm:spPr/>
      <dgm:t>
        <a:bodyPr/>
        <a:lstStyle/>
        <a:p>
          <a:endParaRPr lang="de-DE"/>
        </a:p>
      </dgm:t>
    </dgm:pt>
    <dgm:pt modelId="{23596DC8-2B66-466D-B9CF-285B61D88A1F}">
      <dgm:prSet phldrT="[Text]"/>
      <dgm:spPr/>
      <dgm:t>
        <a:bodyPr/>
        <a:lstStyle/>
        <a:p>
          <a:r>
            <a:rPr lang="en-US" noProof="0" dirty="0"/>
            <a:t>Comfort</a:t>
          </a:r>
        </a:p>
      </dgm:t>
    </dgm:pt>
    <dgm:pt modelId="{0710F36E-B7CE-48EC-9788-E0D6A3D21B83}" type="parTrans" cxnId="{C68493C2-AD43-4790-8406-B67663D861E4}">
      <dgm:prSet/>
      <dgm:spPr/>
      <dgm:t>
        <a:bodyPr/>
        <a:lstStyle/>
        <a:p>
          <a:endParaRPr lang="en-US" noProof="0"/>
        </a:p>
      </dgm:t>
    </dgm:pt>
    <dgm:pt modelId="{AC746E51-10CC-4B84-9B1A-A7577DEEAAE6}" type="sibTrans" cxnId="{C68493C2-AD43-4790-8406-B67663D861E4}">
      <dgm:prSet/>
      <dgm:spPr/>
      <dgm:t>
        <a:bodyPr/>
        <a:lstStyle/>
        <a:p>
          <a:endParaRPr lang="de-DE"/>
        </a:p>
      </dgm:t>
    </dgm:pt>
    <dgm:pt modelId="{C912CD51-D6C5-4565-8B14-45EA4DA82501}">
      <dgm:prSet phldrT="[Text]"/>
      <dgm:spPr/>
      <dgm:t>
        <a:bodyPr/>
        <a:lstStyle/>
        <a:p>
          <a:r>
            <a:rPr lang="en-US" noProof="0" dirty="0"/>
            <a:t>Blind Spot Warning</a:t>
          </a:r>
        </a:p>
      </dgm:t>
    </dgm:pt>
    <dgm:pt modelId="{F49F1F83-826D-46E4-AC0A-C783EA28F4C8}" type="parTrans" cxnId="{1CAD2E6A-3183-4D13-BA11-77534D5D8D8A}">
      <dgm:prSet/>
      <dgm:spPr/>
      <dgm:t>
        <a:bodyPr/>
        <a:lstStyle/>
        <a:p>
          <a:endParaRPr lang="en-US" noProof="0"/>
        </a:p>
      </dgm:t>
    </dgm:pt>
    <dgm:pt modelId="{D16938A3-8F6F-4EB9-9865-D53FF0444872}" type="sibTrans" cxnId="{1CAD2E6A-3183-4D13-BA11-77534D5D8D8A}">
      <dgm:prSet/>
      <dgm:spPr/>
      <dgm:t>
        <a:bodyPr/>
        <a:lstStyle/>
        <a:p>
          <a:endParaRPr lang="de-DE"/>
        </a:p>
      </dgm:t>
    </dgm:pt>
    <dgm:pt modelId="{647D7E63-1F81-421F-BF20-850E49D8C4F9}">
      <dgm:prSet phldrT="[Text]"/>
      <dgm:spPr/>
      <dgm:t>
        <a:bodyPr/>
        <a:lstStyle/>
        <a:p>
          <a:r>
            <a:rPr lang="en-US" noProof="0" dirty="0"/>
            <a:t>Warning Messages</a:t>
          </a:r>
        </a:p>
      </dgm:t>
    </dgm:pt>
    <dgm:pt modelId="{9166802C-EFD3-4794-B371-CA15A75B73F1}" type="parTrans" cxnId="{51FA56D9-8973-416E-A2A6-9C7986F46A11}">
      <dgm:prSet/>
      <dgm:spPr/>
      <dgm:t>
        <a:bodyPr/>
        <a:lstStyle/>
        <a:p>
          <a:endParaRPr lang="en-US" noProof="0"/>
        </a:p>
      </dgm:t>
    </dgm:pt>
    <dgm:pt modelId="{CCBF0EC4-BDF1-4357-97A4-7E8012EB5521}" type="sibTrans" cxnId="{51FA56D9-8973-416E-A2A6-9C7986F46A11}">
      <dgm:prSet/>
      <dgm:spPr/>
      <dgm:t>
        <a:bodyPr/>
        <a:lstStyle/>
        <a:p>
          <a:endParaRPr lang="de-DE"/>
        </a:p>
      </dgm:t>
    </dgm:pt>
    <dgm:pt modelId="{2E1B5DF2-E713-4316-8898-AF34334802D0}">
      <dgm:prSet phldrT="[Text]"/>
      <dgm:spPr/>
      <dgm:t>
        <a:bodyPr/>
        <a:lstStyle/>
        <a:p>
          <a:r>
            <a:rPr lang="en-US" noProof="0" dirty="0"/>
            <a:t>Electronic Brake Light</a:t>
          </a:r>
        </a:p>
      </dgm:t>
    </dgm:pt>
    <dgm:pt modelId="{A408604E-D55F-4C1D-96C8-22C15FC8A071}" type="parTrans" cxnId="{D76A5415-EA4B-44DB-8617-92FAEC7F0635}">
      <dgm:prSet/>
      <dgm:spPr/>
      <dgm:t>
        <a:bodyPr/>
        <a:lstStyle/>
        <a:p>
          <a:endParaRPr lang="en-US" noProof="0"/>
        </a:p>
      </dgm:t>
    </dgm:pt>
    <dgm:pt modelId="{8ADEE5D0-255A-4B99-8EF1-B86309B7A6F0}" type="sibTrans" cxnId="{D76A5415-EA4B-44DB-8617-92FAEC7F0635}">
      <dgm:prSet/>
      <dgm:spPr/>
      <dgm:t>
        <a:bodyPr/>
        <a:lstStyle/>
        <a:p>
          <a:endParaRPr lang="de-DE"/>
        </a:p>
      </dgm:t>
    </dgm:pt>
    <dgm:pt modelId="{57FF5A14-B7EE-41A5-9618-E988938AF551}">
      <dgm:prSet phldrT="[Text]"/>
      <dgm:spPr/>
      <dgm:t>
        <a:bodyPr/>
        <a:lstStyle/>
        <a:p>
          <a:r>
            <a:rPr lang="en-US" noProof="0" dirty="0"/>
            <a:t>Traffic Information Systems</a:t>
          </a:r>
        </a:p>
      </dgm:t>
    </dgm:pt>
    <dgm:pt modelId="{981C161D-37D0-420F-83D9-0EA8CDA8AE77}" type="parTrans" cxnId="{21142659-03B9-4952-A08D-DC3676E4A11F}">
      <dgm:prSet/>
      <dgm:spPr/>
      <dgm:t>
        <a:bodyPr/>
        <a:lstStyle/>
        <a:p>
          <a:endParaRPr lang="en-US" noProof="0"/>
        </a:p>
      </dgm:t>
    </dgm:pt>
    <dgm:pt modelId="{0A96C033-C32F-49B8-8369-2650154A0CAB}" type="sibTrans" cxnId="{21142659-03B9-4952-A08D-DC3676E4A11F}">
      <dgm:prSet/>
      <dgm:spPr/>
      <dgm:t>
        <a:bodyPr/>
        <a:lstStyle/>
        <a:p>
          <a:endParaRPr lang="de-DE"/>
        </a:p>
      </dgm:t>
    </dgm:pt>
    <dgm:pt modelId="{32B964A4-09FF-4D4F-AD00-BB35DAD97735}">
      <dgm:prSet phldrT="[Text]"/>
      <dgm:spPr/>
      <dgm:t>
        <a:bodyPr/>
        <a:lstStyle/>
        <a:p>
          <a:r>
            <a:rPr lang="en-US" noProof="0" dirty="0"/>
            <a:t>Optimal Speed Advisory</a:t>
          </a:r>
        </a:p>
      </dgm:t>
    </dgm:pt>
    <dgm:pt modelId="{53A13346-C936-4449-B8B0-8412D8A29352}" type="parTrans" cxnId="{BD626C98-782E-45DC-9B5E-0DE179631837}">
      <dgm:prSet/>
      <dgm:spPr/>
      <dgm:t>
        <a:bodyPr/>
        <a:lstStyle/>
        <a:p>
          <a:endParaRPr lang="en-US" noProof="0"/>
        </a:p>
      </dgm:t>
    </dgm:pt>
    <dgm:pt modelId="{B4049EFF-D843-44E3-8A47-309EA561B3B5}" type="sibTrans" cxnId="{BD626C98-782E-45DC-9B5E-0DE179631837}">
      <dgm:prSet/>
      <dgm:spPr/>
      <dgm:t>
        <a:bodyPr/>
        <a:lstStyle/>
        <a:p>
          <a:endParaRPr lang="de-DE"/>
        </a:p>
      </dgm:t>
    </dgm:pt>
    <dgm:pt modelId="{330C02DF-FDB7-439A-9960-A4B7F6B5021B}">
      <dgm:prSet phldrT="[Text]"/>
      <dgm:spPr/>
      <dgm:t>
        <a:bodyPr/>
        <a:lstStyle/>
        <a:p>
          <a:r>
            <a:rPr lang="en-US" noProof="0" dirty="0"/>
            <a:t>Situation Awareness</a:t>
          </a:r>
        </a:p>
      </dgm:t>
    </dgm:pt>
    <dgm:pt modelId="{7EC10686-1B1D-42C9-99C8-110BF902C7CE}" type="parTrans" cxnId="{D3DA4F26-6C01-4FBC-B6FC-DEE1D94309F6}">
      <dgm:prSet/>
      <dgm:spPr/>
      <dgm:t>
        <a:bodyPr/>
        <a:lstStyle/>
        <a:p>
          <a:endParaRPr lang="de-DE"/>
        </a:p>
      </dgm:t>
    </dgm:pt>
    <dgm:pt modelId="{EE024488-5158-4D79-8562-6D3726D8BDDC}" type="sibTrans" cxnId="{D3DA4F26-6C01-4FBC-B6FC-DEE1D94309F6}">
      <dgm:prSet/>
      <dgm:spPr/>
      <dgm:t>
        <a:bodyPr/>
        <a:lstStyle/>
        <a:p>
          <a:endParaRPr lang="de-DE"/>
        </a:p>
      </dgm:t>
    </dgm:pt>
    <dgm:pt modelId="{92DFF852-66E3-C744-9C7D-29AA5D4F4EAB}">
      <dgm:prSet phldrT="[Text]"/>
      <dgm:spPr/>
      <dgm:t>
        <a:bodyPr/>
        <a:lstStyle/>
        <a:p>
          <a:r>
            <a:rPr lang="en-US" noProof="0" dirty="0"/>
            <a:t>Contextual Information</a:t>
          </a:r>
        </a:p>
      </dgm:t>
    </dgm:pt>
    <dgm:pt modelId="{2C475E82-FF34-164B-A5E1-441F11DF1227}" type="parTrans" cxnId="{5D762947-95D7-4A49-882F-7F022D94503B}">
      <dgm:prSet/>
      <dgm:spPr/>
      <dgm:t>
        <a:bodyPr/>
        <a:lstStyle/>
        <a:p>
          <a:endParaRPr lang="de-DE"/>
        </a:p>
      </dgm:t>
    </dgm:pt>
    <dgm:pt modelId="{96183F16-853C-4A4A-8CAF-EB56E876D4B2}" type="sibTrans" cxnId="{5D762947-95D7-4A49-882F-7F022D94503B}">
      <dgm:prSet/>
      <dgm:spPr/>
      <dgm:t>
        <a:bodyPr/>
        <a:lstStyle/>
        <a:p>
          <a:endParaRPr lang="de-DE"/>
        </a:p>
      </dgm:t>
    </dgm:pt>
    <dgm:pt modelId="{CAE53811-459D-0745-98C4-5B3081AD14AC}">
      <dgm:prSet phldrT="[Text]"/>
      <dgm:spPr/>
      <dgm:t>
        <a:bodyPr/>
        <a:lstStyle/>
        <a:p>
          <a:r>
            <a:rPr lang="en-US" noProof="0" dirty="0"/>
            <a:t>Traffic Light Violation</a:t>
          </a:r>
        </a:p>
      </dgm:t>
    </dgm:pt>
    <dgm:pt modelId="{0BA4A687-F950-E74C-95AD-CEEDE089D433}" type="parTrans" cxnId="{3412009B-18CA-2D4E-B695-ED9DF5EEDB8E}">
      <dgm:prSet/>
      <dgm:spPr/>
      <dgm:t>
        <a:bodyPr/>
        <a:lstStyle/>
        <a:p>
          <a:endParaRPr lang="de-DE"/>
        </a:p>
      </dgm:t>
    </dgm:pt>
    <dgm:pt modelId="{1B14E180-69A0-F345-A634-1B6936BD4C2A}" type="sibTrans" cxnId="{3412009B-18CA-2D4E-B695-ED9DF5EEDB8E}">
      <dgm:prSet/>
      <dgm:spPr/>
      <dgm:t>
        <a:bodyPr/>
        <a:lstStyle/>
        <a:p>
          <a:endParaRPr lang="de-DE"/>
        </a:p>
      </dgm:t>
    </dgm:pt>
    <dgm:pt modelId="{2474DE51-D9AD-A743-B132-F4A7E9DE07D8}">
      <dgm:prSet phldrT="[Text]"/>
      <dgm:spPr/>
      <dgm:t>
        <a:bodyPr/>
        <a:lstStyle/>
        <a:p>
          <a:r>
            <a:rPr lang="en-US" noProof="0" dirty="0"/>
            <a:t>Entertainment</a:t>
          </a:r>
        </a:p>
      </dgm:t>
    </dgm:pt>
    <dgm:pt modelId="{DFE18A9D-9683-874D-8D28-C1D6BFE16A38}" type="parTrans" cxnId="{52760582-D5BE-1848-B031-5F822CA287EF}">
      <dgm:prSet/>
      <dgm:spPr/>
      <dgm:t>
        <a:bodyPr/>
        <a:lstStyle/>
        <a:p>
          <a:endParaRPr lang="de-DE"/>
        </a:p>
      </dgm:t>
    </dgm:pt>
    <dgm:pt modelId="{45153959-C0CD-1045-8EF1-157389C3EBC5}" type="sibTrans" cxnId="{52760582-D5BE-1848-B031-5F822CA287EF}">
      <dgm:prSet/>
      <dgm:spPr/>
      <dgm:t>
        <a:bodyPr/>
        <a:lstStyle/>
        <a:p>
          <a:endParaRPr lang="de-DE"/>
        </a:p>
      </dgm:t>
    </dgm:pt>
    <dgm:pt modelId="{E1EE3DA9-B7AB-854D-9E9F-F5DFC23F6E60}">
      <dgm:prSet phldrT="[Text]"/>
      <dgm:spPr/>
      <dgm:t>
        <a:bodyPr/>
        <a:lstStyle/>
        <a:p>
          <a:r>
            <a:rPr lang="en-US" noProof="0" dirty="0"/>
            <a:t>Congestion, Accident Information</a:t>
          </a:r>
        </a:p>
      </dgm:t>
    </dgm:pt>
    <dgm:pt modelId="{3D4E3AF2-0165-EE46-A2EF-983AA039A633}" type="parTrans" cxnId="{1221B8FA-81B7-914B-9CDF-B48613A01B63}">
      <dgm:prSet/>
      <dgm:spPr/>
      <dgm:t>
        <a:bodyPr/>
        <a:lstStyle/>
        <a:p>
          <a:endParaRPr lang="de-DE"/>
        </a:p>
      </dgm:t>
    </dgm:pt>
    <dgm:pt modelId="{CBD03C54-DBBF-7C4D-8775-BE0D0EB3B8C0}" type="sibTrans" cxnId="{1221B8FA-81B7-914B-9CDF-B48613A01B63}">
      <dgm:prSet/>
      <dgm:spPr/>
      <dgm:t>
        <a:bodyPr/>
        <a:lstStyle/>
        <a:p>
          <a:endParaRPr lang="de-DE"/>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8FA01F6E-5734-5D45-AACB-38A7CEE497E0}" type="pres">
      <dgm:prSet presAssocID="{23596DC8-2B66-466D-B9CF-285B61D88A1F}" presName="vertThree" presStyleCnt="0"/>
      <dgm:spPr/>
    </dgm:pt>
    <dgm:pt modelId="{ABA769A8-9F72-6241-BCEC-E3CC66C0B3FD}" type="pres">
      <dgm:prSet presAssocID="{23596DC8-2B66-466D-B9CF-285B61D88A1F}" presName="txThree" presStyleLbl="node3" presStyleIdx="0" presStyleCnt="4">
        <dgm:presLayoutVars>
          <dgm:chPref val="3"/>
        </dgm:presLayoutVars>
      </dgm:prSet>
      <dgm:spPr/>
    </dgm:pt>
    <dgm:pt modelId="{D2449BCF-0EC6-2B48-92A8-F3725D0D7526}" type="pres">
      <dgm:prSet presAssocID="{23596DC8-2B66-466D-B9CF-285B61D88A1F}" presName="parTransThree" presStyleCnt="0"/>
      <dgm:spPr/>
    </dgm:pt>
    <dgm:pt modelId="{A8D7C59C-EAE4-C24C-94C5-04DAD3807419}" type="pres">
      <dgm:prSet presAssocID="{23596DC8-2B66-466D-B9CF-285B61D88A1F}" presName="horzThree" presStyleCnt="0"/>
      <dgm:spPr/>
    </dgm:pt>
    <dgm:pt modelId="{57BD5CFF-FC0C-414F-878A-3BA0C09030F3}" type="pres">
      <dgm:prSet presAssocID="{92DFF852-66E3-C744-9C7D-29AA5D4F4EAB}" presName="vertFour" presStyleCnt="0">
        <dgm:presLayoutVars>
          <dgm:chPref val="3"/>
        </dgm:presLayoutVars>
      </dgm:prSet>
      <dgm:spPr/>
    </dgm:pt>
    <dgm:pt modelId="{6483B6A3-6EE5-8A48-A184-1B36266D9B50}" type="pres">
      <dgm:prSet presAssocID="{92DFF852-66E3-C744-9C7D-29AA5D4F4EAB}" presName="txFour" presStyleLbl="node4" presStyleIdx="0" presStyleCnt="8">
        <dgm:presLayoutVars>
          <dgm:chPref val="3"/>
        </dgm:presLayoutVars>
      </dgm:prSet>
      <dgm:spPr/>
    </dgm:pt>
    <dgm:pt modelId="{60175AFA-1087-4D47-88F0-7C07E1D3FE8F}" type="pres">
      <dgm:prSet presAssocID="{92DFF852-66E3-C744-9C7D-29AA5D4F4EAB}" presName="horzFour" presStyleCnt="0"/>
      <dgm:spPr/>
    </dgm:pt>
    <dgm:pt modelId="{E187FE76-0623-F547-A71C-F3CFA8C043FD}" type="pres">
      <dgm:prSet presAssocID="{96183F16-853C-4A4A-8CAF-EB56E876D4B2}" presName="sibSpaceFour" presStyleCnt="0"/>
      <dgm:spPr/>
    </dgm:pt>
    <dgm:pt modelId="{7D401E12-305D-A84C-B5DD-C65FF0BD7EE8}" type="pres">
      <dgm:prSet presAssocID="{2474DE51-D9AD-A743-B132-F4A7E9DE07D8}" presName="vertFour" presStyleCnt="0">
        <dgm:presLayoutVars>
          <dgm:chPref val="3"/>
        </dgm:presLayoutVars>
      </dgm:prSet>
      <dgm:spPr/>
    </dgm:pt>
    <dgm:pt modelId="{F0219164-AD4F-394D-AB1A-62FDFF059E4B}" type="pres">
      <dgm:prSet presAssocID="{2474DE51-D9AD-A743-B132-F4A7E9DE07D8}" presName="txFour" presStyleLbl="node4" presStyleIdx="1" presStyleCnt="8">
        <dgm:presLayoutVars>
          <dgm:chPref val="3"/>
        </dgm:presLayoutVars>
      </dgm:prSet>
      <dgm:spPr/>
    </dgm:pt>
    <dgm:pt modelId="{F7FBF5A2-DCC1-5148-8032-7E94CA5F2319}" type="pres">
      <dgm:prSet presAssocID="{2474DE51-D9AD-A743-B132-F4A7E9DE07D8}" presName="horzFour" presStyleCnt="0"/>
      <dgm:spPr/>
    </dgm:pt>
    <dgm:pt modelId="{D9CC09B1-BCF8-C343-B099-4A2DA8585C66}" type="pres">
      <dgm:prSet presAssocID="{AC746E51-10CC-4B84-9B1A-A7577DEEAAE6}" presName="sibSpaceThree" presStyleCnt="0"/>
      <dgm:spPr/>
    </dgm:pt>
    <dgm:pt modelId="{D7E9B419-1E8A-574C-B28E-D82230345701}" type="pres">
      <dgm:prSet presAssocID="{57FF5A14-B7EE-41A5-9618-E988938AF551}" presName="vertThree" presStyleCnt="0"/>
      <dgm:spPr/>
    </dgm:pt>
    <dgm:pt modelId="{67E6D66D-F025-DA42-A88C-773E18CFCFBD}" type="pres">
      <dgm:prSet presAssocID="{57FF5A14-B7EE-41A5-9618-E988938AF551}" presName="txThree" presStyleLbl="node3" presStyleIdx="1" presStyleCnt="4">
        <dgm:presLayoutVars>
          <dgm:chPref val="3"/>
        </dgm:presLayoutVars>
      </dgm:prSet>
      <dgm:spPr/>
    </dgm:pt>
    <dgm:pt modelId="{FAE58183-BEBA-664A-BB29-DBA4810A1BFB}" type="pres">
      <dgm:prSet presAssocID="{57FF5A14-B7EE-41A5-9618-E988938AF551}" presName="parTransThree" presStyleCnt="0"/>
      <dgm:spPr/>
    </dgm:pt>
    <dgm:pt modelId="{B8A14624-BD83-1648-AD9F-82293A7DB130}" type="pres">
      <dgm:prSet presAssocID="{57FF5A14-B7EE-41A5-9618-E988938AF551}" presName="horzThree" presStyleCnt="0"/>
      <dgm:spPr/>
    </dgm:pt>
    <dgm:pt modelId="{045A919C-0C99-074A-B8C3-BD7211106A2E}" type="pres">
      <dgm:prSet presAssocID="{32B964A4-09FF-4D4F-AD00-BB35DAD97735}" presName="vertFour" presStyleCnt="0">
        <dgm:presLayoutVars>
          <dgm:chPref val="3"/>
        </dgm:presLayoutVars>
      </dgm:prSet>
      <dgm:spPr/>
    </dgm:pt>
    <dgm:pt modelId="{4D42E0F1-0A23-E24B-9DF1-354A4F12A5CD}" type="pres">
      <dgm:prSet presAssocID="{32B964A4-09FF-4D4F-AD00-BB35DAD97735}" presName="txFour" presStyleLbl="node4" presStyleIdx="2" presStyleCnt="8">
        <dgm:presLayoutVars>
          <dgm:chPref val="3"/>
        </dgm:presLayoutVars>
      </dgm:prSet>
      <dgm:spPr/>
    </dgm:pt>
    <dgm:pt modelId="{313CAFFD-4D26-644B-B62E-441B37D1996A}" type="pres">
      <dgm:prSet presAssocID="{32B964A4-09FF-4D4F-AD00-BB35DAD97735}" presName="horzFour" presStyleCnt="0"/>
      <dgm:spPr/>
    </dgm:pt>
    <dgm:pt modelId="{266D7A3C-7438-D342-8C4A-22A9275198C9}" type="pres">
      <dgm:prSet presAssocID="{B4049EFF-D843-44E3-8A47-309EA561B3B5}" presName="sibSpaceFour" presStyleCnt="0"/>
      <dgm:spPr/>
    </dgm:pt>
    <dgm:pt modelId="{9C51F868-9B40-1C45-91DA-F700B4BC60CD}" type="pres">
      <dgm:prSet presAssocID="{E1EE3DA9-B7AB-854D-9E9F-F5DFC23F6E60}" presName="vertFour" presStyleCnt="0">
        <dgm:presLayoutVars>
          <dgm:chPref val="3"/>
        </dgm:presLayoutVars>
      </dgm:prSet>
      <dgm:spPr/>
    </dgm:pt>
    <dgm:pt modelId="{7C430CE8-9E0F-BE41-A6AE-A333D2FF63BE}" type="pres">
      <dgm:prSet presAssocID="{E1EE3DA9-B7AB-854D-9E9F-F5DFC23F6E60}" presName="txFour" presStyleLbl="node4" presStyleIdx="3" presStyleCnt="8">
        <dgm:presLayoutVars>
          <dgm:chPref val="3"/>
        </dgm:presLayoutVars>
      </dgm:prSet>
      <dgm:spPr/>
    </dgm:pt>
    <dgm:pt modelId="{4D8A3A9F-7299-4345-8877-7CB33F354E46}" type="pres">
      <dgm:prSet presAssocID="{E1EE3DA9-B7AB-854D-9E9F-F5DFC23F6E60}"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09EBE11C-5242-8F49-8771-ED90EC2FFE8F}" type="pres">
      <dgm:prSet presAssocID="{330C02DF-FDB7-439A-9960-A4B7F6B5021B}" presName="vertThree" presStyleCnt="0"/>
      <dgm:spPr/>
    </dgm:pt>
    <dgm:pt modelId="{20D2169B-5F4C-434A-AEEB-7895E1EA3C5A}" type="pres">
      <dgm:prSet presAssocID="{330C02DF-FDB7-439A-9960-A4B7F6B5021B}" presName="txThree" presStyleLbl="node3" presStyleIdx="2" presStyleCnt="4">
        <dgm:presLayoutVars>
          <dgm:chPref val="3"/>
        </dgm:presLayoutVars>
      </dgm:prSet>
      <dgm:spPr/>
    </dgm:pt>
    <dgm:pt modelId="{583AA519-DD09-1C41-977E-35C8FC5E01DC}" type="pres">
      <dgm:prSet presAssocID="{330C02DF-FDB7-439A-9960-A4B7F6B5021B}" presName="parTransThree" presStyleCnt="0"/>
      <dgm:spPr/>
    </dgm:pt>
    <dgm:pt modelId="{4CBA02DF-80A6-DF4C-B079-D0B80C13622C}" type="pres">
      <dgm:prSet presAssocID="{330C02DF-FDB7-439A-9960-A4B7F6B5021B}" presName="horzThree" presStyleCnt="0"/>
      <dgm:spPr/>
    </dgm:pt>
    <dgm:pt modelId="{2780AD7B-0A6D-2941-80DC-2317344A8B98}" type="pres">
      <dgm:prSet presAssocID="{6B442AD0-FC08-49CD-ADCA-9DA049070315}" presName="vertFour" presStyleCnt="0">
        <dgm:presLayoutVars>
          <dgm:chPref val="3"/>
        </dgm:presLayoutVars>
      </dgm:prSet>
      <dgm:spPr/>
    </dgm:pt>
    <dgm:pt modelId="{2370C0BA-41DF-8E4E-A0F5-C7DD7412C71B}" type="pres">
      <dgm:prSet presAssocID="{6B442AD0-FC08-49CD-ADCA-9DA049070315}" presName="txFour" presStyleLbl="node4" presStyleIdx="4" presStyleCnt="8">
        <dgm:presLayoutVars>
          <dgm:chPref val="3"/>
        </dgm:presLayoutVars>
      </dgm:prSet>
      <dgm:spPr/>
    </dgm:pt>
    <dgm:pt modelId="{BF802667-06EC-BC4C-80AE-03F15077FCA1}" type="pres">
      <dgm:prSet presAssocID="{6B442AD0-FC08-49CD-ADCA-9DA049070315}" presName="horzFour" presStyleCnt="0"/>
      <dgm:spPr/>
    </dgm:pt>
    <dgm:pt modelId="{AC17B9A3-534C-054F-B8ED-8C176CA2DEF2}" type="pres">
      <dgm:prSet presAssocID="{360DD819-CD16-4764-B6BE-D7ECB32B8407}" presName="sibSpaceFour" presStyleCnt="0"/>
      <dgm:spPr/>
    </dgm:pt>
    <dgm:pt modelId="{A2855D87-2DDA-404F-A08D-9CDE9E78933C}" type="pres">
      <dgm:prSet presAssocID="{C912CD51-D6C5-4565-8B14-45EA4DA82501}" presName="vertFour" presStyleCnt="0">
        <dgm:presLayoutVars>
          <dgm:chPref val="3"/>
        </dgm:presLayoutVars>
      </dgm:prSet>
      <dgm:spPr/>
    </dgm:pt>
    <dgm:pt modelId="{1DAE6A80-999C-1E47-9BC6-F411B8C54555}" type="pres">
      <dgm:prSet presAssocID="{C912CD51-D6C5-4565-8B14-45EA4DA82501}" presName="txFour" presStyleLbl="node4" presStyleIdx="5" presStyleCnt="8">
        <dgm:presLayoutVars>
          <dgm:chPref val="3"/>
        </dgm:presLayoutVars>
      </dgm:prSet>
      <dgm:spPr/>
    </dgm:pt>
    <dgm:pt modelId="{2EA7B2E2-5761-5F47-A528-EC38DF52B437}" type="pres">
      <dgm:prSet presAssocID="{C912CD51-D6C5-4565-8B14-45EA4DA82501}" presName="horzFour" presStyleCnt="0"/>
      <dgm:spPr/>
    </dgm:pt>
    <dgm:pt modelId="{803F1E3E-E287-594E-9CFA-F639AE7F2F87}" type="pres">
      <dgm:prSet presAssocID="{EE024488-5158-4D79-8562-6D3726D8BDDC}" presName="sibSpaceThree" presStyleCnt="0"/>
      <dgm:spPr/>
    </dgm:pt>
    <dgm:pt modelId="{CF13C766-CF7E-5A45-99C0-DA893FE5C0AD}" type="pres">
      <dgm:prSet presAssocID="{647D7E63-1F81-421F-BF20-850E49D8C4F9}" presName="vertThree" presStyleCnt="0"/>
      <dgm:spPr/>
    </dgm:pt>
    <dgm:pt modelId="{B4B73E60-A300-9F4B-9EE2-892D0EDE1821}" type="pres">
      <dgm:prSet presAssocID="{647D7E63-1F81-421F-BF20-850E49D8C4F9}" presName="txThree" presStyleLbl="node3" presStyleIdx="3" presStyleCnt="4">
        <dgm:presLayoutVars>
          <dgm:chPref val="3"/>
        </dgm:presLayoutVars>
      </dgm:prSet>
      <dgm:spPr/>
    </dgm:pt>
    <dgm:pt modelId="{E559414C-2599-844A-BCBC-0F7E30A4021B}" type="pres">
      <dgm:prSet presAssocID="{647D7E63-1F81-421F-BF20-850E49D8C4F9}" presName="parTransThree" presStyleCnt="0"/>
      <dgm:spPr/>
    </dgm:pt>
    <dgm:pt modelId="{2ED063B4-1E78-F741-A53F-1076DD49A6A6}" type="pres">
      <dgm:prSet presAssocID="{647D7E63-1F81-421F-BF20-850E49D8C4F9}" presName="horzThree" presStyleCnt="0"/>
      <dgm:spPr/>
    </dgm:pt>
    <dgm:pt modelId="{BF553F7F-5505-D142-823B-1577BF749F0F}" type="pres">
      <dgm:prSet presAssocID="{CAE53811-459D-0745-98C4-5B3081AD14AC}" presName="vertFour" presStyleCnt="0">
        <dgm:presLayoutVars>
          <dgm:chPref val="3"/>
        </dgm:presLayoutVars>
      </dgm:prSet>
      <dgm:spPr/>
    </dgm:pt>
    <dgm:pt modelId="{BFD708D9-0A5C-5340-B66B-160BB616685D}" type="pres">
      <dgm:prSet presAssocID="{CAE53811-459D-0745-98C4-5B3081AD14AC}" presName="txFour" presStyleLbl="node4" presStyleIdx="6" presStyleCnt="8">
        <dgm:presLayoutVars>
          <dgm:chPref val="3"/>
        </dgm:presLayoutVars>
      </dgm:prSet>
      <dgm:spPr/>
    </dgm:pt>
    <dgm:pt modelId="{4BD4E344-8408-4440-9B9C-293E32D01B2B}" type="pres">
      <dgm:prSet presAssocID="{CAE53811-459D-0745-98C4-5B3081AD14AC}" presName="horzFour" presStyleCnt="0"/>
      <dgm:spPr/>
    </dgm:pt>
    <dgm:pt modelId="{2E81C71B-39DC-A745-BDC2-53E5B56EBAFE}" type="pres">
      <dgm:prSet presAssocID="{1B14E180-69A0-F345-A634-1B6936BD4C2A}" presName="sibSpaceFour" presStyleCnt="0"/>
      <dgm:spPr/>
    </dgm:pt>
    <dgm:pt modelId="{E7A3C2AE-7816-C444-8114-5596C5A13778}" type="pres">
      <dgm:prSet presAssocID="{2E1B5DF2-E713-4316-8898-AF34334802D0}" presName="vertFour" presStyleCnt="0">
        <dgm:presLayoutVars>
          <dgm:chPref val="3"/>
        </dgm:presLayoutVars>
      </dgm:prSet>
      <dgm:spPr/>
    </dgm:pt>
    <dgm:pt modelId="{27D97F64-6902-E344-994B-79B95AFA869D}" type="pres">
      <dgm:prSet presAssocID="{2E1B5DF2-E713-4316-8898-AF34334802D0}" presName="txFour" presStyleLbl="node4" presStyleIdx="7" presStyleCnt="8">
        <dgm:presLayoutVars>
          <dgm:chPref val="3"/>
        </dgm:presLayoutVars>
      </dgm:prSet>
      <dgm:spPr/>
    </dgm:pt>
    <dgm:pt modelId="{BF26C40B-33B4-A540-B1BA-6CCEB1F7631A}" type="pres">
      <dgm:prSet presAssocID="{2E1B5DF2-E713-4316-8898-AF34334802D0}" presName="horzFour" presStyleCnt="0"/>
      <dgm:spPr/>
    </dgm:pt>
  </dgm:ptLst>
  <dgm:cxnLst>
    <dgm:cxn modelId="{DB4A6003-C890-4D7C-A4FA-B4091AD96822}" type="presOf" srcId="{32B964A4-09FF-4D4F-AD00-BB35DAD97735}" destId="{4D42E0F1-0A23-E24B-9DF1-354A4F12A5CD}" srcOrd="0" destOrd="0" presId="urn:microsoft.com/office/officeart/2005/8/layout/hierarchy4"/>
    <dgm:cxn modelId="{A977150A-6FF4-474B-B622-352E22C96510}" type="presOf" srcId="{57FF5A14-B7EE-41A5-9618-E988938AF551}" destId="{67E6D66D-F025-DA42-A88C-773E18CFCFBD}" srcOrd="0" destOrd="0" presId="urn:microsoft.com/office/officeart/2005/8/layout/hierarchy4"/>
    <dgm:cxn modelId="{D76A5415-EA4B-44DB-8617-92FAEC7F0635}" srcId="{647D7E63-1F81-421F-BF20-850E49D8C4F9}" destId="{2E1B5DF2-E713-4316-8898-AF34334802D0}" srcOrd="1" destOrd="0" parTransId="{A408604E-D55F-4C1D-96C8-22C15FC8A071}" sibTransId="{8ADEE5D0-255A-4B99-8EF1-B86309B7A6F0}"/>
    <dgm:cxn modelId="{9E18AE20-BC2B-46EC-BC05-A444CD6D9D17}" type="presOf" srcId="{A4EEA6F5-1C9D-4B5D-AAF5-7C4E621FD5B6}" destId="{79FA0E43-2570-4B47-A9DE-303032675AB9}" srcOrd="0" destOrd="0" presId="urn:microsoft.com/office/officeart/2005/8/layout/hierarchy4"/>
    <dgm:cxn modelId="{28262722-14A8-4376-A01E-F2E2C376571B}" srcId="{330C02DF-FDB7-439A-9960-A4B7F6B5021B}" destId="{6B442AD0-FC08-49CD-ADCA-9DA049070315}" srcOrd="0" destOrd="0" parTransId="{A62DCD2C-3D2A-408F-AC93-2CBE680062F7}" sibTransId="{360DD819-CD16-4764-B6BE-D7ECB32B8407}"/>
    <dgm:cxn modelId="{CF95C922-6C01-401D-BE09-B0917D684E3C}" type="presOf" srcId="{647D7E63-1F81-421F-BF20-850E49D8C4F9}" destId="{B4B73E60-A300-9F4B-9EE2-892D0EDE1821}" srcOrd="0" destOrd="0" presId="urn:microsoft.com/office/officeart/2005/8/layout/hierarchy4"/>
    <dgm:cxn modelId="{D3DA4F26-6C01-4FBC-B6FC-DEE1D94309F6}" srcId="{A4EEA6F5-1C9D-4B5D-AAF5-7C4E621FD5B6}" destId="{330C02DF-FDB7-439A-9960-A4B7F6B5021B}" srcOrd="0" destOrd="0" parTransId="{7EC10686-1B1D-42C9-99C8-110BF902C7CE}" sibTransId="{EE024488-5158-4D79-8562-6D3726D8BDDC}"/>
    <dgm:cxn modelId="{4AD21D5E-D0AF-4C1E-A4D6-BBBCD3C757CC}" type="presOf" srcId="{E1EE3DA9-B7AB-854D-9E9F-F5DFC23F6E60}" destId="{7C430CE8-9E0F-BE41-A6AE-A333D2FF63BE}" srcOrd="0" destOrd="0" presId="urn:microsoft.com/office/officeart/2005/8/layout/hierarchy4"/>
    <dgm:cxn modelId="{2E380C61-D601-4249-8ADF-119876FC56B5}" type="presOf" srcId="{2E1B5DF2-E713-4316-8898-AF34334802D0}" destId="{27D97F64-6902-E344-994B-79B95AFA869D}" srcOrd="0" destOrd="0" presId="urn:microsoft.com/office/officeart/2005/8/layout/hierarchy4"/>
    <dgm:cxn modelId="{AABF9A46-4A68-4604-95A3-3B8A4BEDC4D4}" type="presOf" srcId="{92DFF852-66E3-C744-9C7D-29AA5D4F4EAB}" destId="{6483B6A3-6EE5-8A48-A184-1B36266D9B50}" srcOrd="0" destOrd="0" presId="urn:microsoft.com/office/officeart/2005/8/layout/hierarchy4"/>
    <dgm:cxn modelId="{5D762947-95D7-4A49-882F-7F022D94503B}" srcId="{23596DC8-2B66-466D-B9CF-285B61D88A1F}" destId="{92DFF852-66E3-C744-9C7D-29AA5D4F4EAB}" srcOrd="0" destOrd="0" parTransId="{2C475E82-FF34-164B-A5E1-441F11DF1227}" sibTransId="{96183F16-853C-4A4A-8CAF-EB56E876D4B2}"/>
    <dgm:cxn modelId="{1CAD2E6A-3183-4D13-BA11-77534D5D8D8A}" srcId="{330C02DF-FDB7-439A-9960-A4B7F6B5021B}" destId="{C912CD51-D6C5-4565-8B14-45EA4DA82501}" srcOrd="1" destOrd="0" parTransId="{F49F1F83-826D-46E4-AC0A-C783EA28F4C8}" sibTransId="{D16938A3-8F6F-4EB9-9865-D53FF0444872}"/>
    <dgm:cxn modelId="{E881784F-A493-4D5B-8BD6-E1E8617F6D0E}" type="presOf" srcId="{23596DC8-2B66-466D-B9CF-285B61D88A1F}" destId="{ABA769A8-9F72-6241-BCEC-E3CC66C0B3FD}" srcOrd="0" destOrd="0" presId="urn:microsoft.com/office/officeart/2005/8/layout/hierarchy4"/>
    <dgm:cxn modelId="{805F5670-6A7A-48FD-96DF-131A0DC0CD78}" type="presOf" srcId="{CAE53811-459D-0745-98C4-5B3081AD14AC}" destId="{BFD708D9-0A5C-5340-B66B-160BB616685D}" srcOrd="0" destOrd="0" presId="urn:microsoft.com/office/officeart/2005/8/layout/hierarchy4"/>
    <dgm:cxn modelId="{21142659-03B9-4952-A08D-DC3676E4A11F}" srcId="{003A451F-6083-4568-B66E-BCCF424D55BF}" destId="{57FF5A14-B7EE-41A5-9618-E988938AF551}" srcOrd="1" destOrd="0" parTransId="{981C161D-37D0-420F-83D9-0EA8CDA8AE77}" sibTransId="{0A96C033-C32F-49B8-8369-2650154A0CAB}"/>
    <dgm:cxn modelId="{52760582-D5BE-1848-B031-5F822CA287EF}" srcId="{23596DC8-2B66-466D-B9CF-285B61D88A1F}" destId="{2474DE51-D9AD-A743-B132-F4A7E9DE07D8}" srcOrd="1" destOrd="0" parTransId="{DFE18A9D-9683-874D-8D28-C1D6BFE16A38}" sibTransId="{45153959-C0CD-1045-8EF1-157389C3EBC5}"/>
    <dgm:cxn modelId="{1B516485-A12C-4722-ADC8-89CA3432B7B2}" type="presOf" srcId="{2474DE51-D9AD-A743-B132-F4A7E9DE07D8}" destId="{F0219164-AD4F-394D-AB1A-62FDFF059E4B}" srcOrd="0" destOrd="0" presId="urn:microsoft.com/office/officeart/2005/8/layout/hierarchy4"/>
    <dgm:cxn modelId="{5EE87385-D52B-44ED-864C-0961CFA5B98E}" type="presOf" srcId="{6B442AD0-FC08-49CD-ADCA-9DA049070315}" destId="{2370C0BA-41DF-8E4E-A0F5-C7DD7412C71B}" srcOrd="0" destOrd="0" presId="urn:microsoft.com/office/officeart/2005/8/layout/hierarchy4"/>
    <dgm:cxn modelId="{7CDFE98F-E21E-42F8-A9BF-84F346507A0B}" srcId="{3BDFE88F-E82D-41F4-B588-1DAB1F0D88D5}" destId="{BB3D1489-3624-4548-80D9-D9CF6289BB08}" srcOrd="0" destOrd="0" parTransId="{F8F06D65-317D-4762-8877-67314E15D506}" sibTransId="{60474C45-E0F5-4E92-8CA1-18266FB88F83}"/>
    <dgm:cxn modelId="{BD313D95-9E2C-4870-B4A7-EF78111E1617}" type="presOf" srcId="{BB3D1489-3624-4548-80D9-D9CF6289BB08}" destId="{E0054302-A87D-7A48-98D2-5FA733B32592}" srcOrd="0" destOrd="0" presId="urn:microsoft.com/office/officeart/2005/8/layout/hierarchy4"/>
    <dgm:cxn modelId="{BD626C98-782E-45DC-9B5E-0DE179631837}" srcId="{57FF5A14-B7EE-41A5-9618-E988938AF551}" destId="{32B964A4-09FF-4D4F-AD00-BB35DAD97735}" srcOrd="0" destOrd="0" parTransId="{53A13346-C936-4449-B8B0-8412D8A29352}" sibTransId="{B4049EFF-D843-44E3-8A47-309EA561B3B5}"/>
    <dgm:cxn modelId="{3412009B-18CA-2D4E-B695-ED9DF5EEDB8E}" srcId="{647D7E63-1F81-421F-BF20-850E49D8C4F9}" destId="{CAE53811-459D-0745-98C4-5B3081AD14AC}" srcOrd="0" destOrd="0" parTransId="{0BA4A687-F950-E74C-95AD-CEEDE089D433}" sibTransId="{1B14E180-69A0-F345-A634-1B6936BD4C2A}"/>
    <dgm:cxn modelId="{B3ABB3AA-BDDE-4ED8-B6DE-EF7E9DBE6409}" srcId="{BB3D1489-3624-4548-80D9-D9CF6289BB08}" destId="{A4EEA6F5-1C9D-4B5D-AAF5-7C4E621FD5B6}" srcOrd="1" destOrd="0" parTransId="{84EA0500-B0E2-49DC-A5BE-CDB65373C3A1}" sibTransId="{A49DA47F-59B9-45DB-9308-4032DE87362B}"/>
    <dgm:cxn modelId="{528051BC-B4F8-44BA-8412-BF4F2050BF99}" type="presOf" srcId="{3BDFE88F-E82D-41F4-B588-1DAB1F0D88D5}" destId="{3EC2D5D7-4938-0340-8EA2-58E9C474D2A6}" srcOrd="0" destOrd="0" presId="urn:microsoft.com/office/officeart/2005/8/layout/hierarchy4"/>
    <dgm:cxn modelId="{C68493C2-AD43-4790-8406-B67663D861E4}" srcId="{003A451F-6083-4568-B66E-BCCF424D55BF}" destId="{23596DC8-2B66-466D-B9CF-285B61D88A1F}" srcOrd="0" destOrd="0" parTransId="{0710F36E-B7CE-48EC-9788-E0D6A3D21B83}" sibTransId="{AC746E51-10CC-4B84-9B1A-A7577DEEAAE6}"/>
    <dgm:cxn modelId="{51FA56D9-8973-416E-A2A6-9C7986F46A11}" srcId="{A4EEA6F5-1C9D-4B5D-AAF5-7C4E621FD5B6}" destId="{647D7E63-1F81-421F-BF20-850E49D8C4F9}" srcOrd="1" destOrd="0" parTransId="{9166802C-EFD3-4794-B371-CA15A75B73F1}" sibTransId="{CCBF0EC4-BDF1-4357-97A4-7E8012EB5521}"/>
    <dgm:cxn modelId="{EB1831DA-D941-4020-B5BE-F4BBF8E434C8}" type="presOf" srcId="{003A451F-6083-4568-B66E-BCCF424D55BF}" destId="{468E4027-285D-0B42-B57B-5D8E7E478E95}" srcOrd="0" destOrd="0" presId="urn:microsoft.com/office/officeart/2005/8/layout/hierarchy4"/>
    <dgm:cxn modelId="{D28F55DC-3FB0-4A42-BA8A-28B533CB2083}" type="presOf" srcId="{330C02DF-FDB7-439A-9960-A4B7F6B5021B}" destId="{20D2169B-5F4C-434A-AEEB-7895E1EA3C5A}" srcOrd="0" destOrd="0" presId="urn:microsoft.com/office/officeart/2005/8/layout/hierarchy4"/>
    <dgm:cxn modelId="{F7F3C3DE-0C85-40B4-87B5-B97128CC8DFE}" type="presOf" srcId="{C912CD51-D6C5-4565-8B14-45EA4DA82501}" destId="{1DAE6A80-999C-1E47-9BC6-F411B8C54555}" srcOrd="0" destOrd="0" presId="urn:microsoft.com/office/officeart/2005/8/layout/hierarchy4"/>
    <dgm:cxn modelId="{1221B8FA-81B7-914B-9CDF-B48613A01B63}" srcId="{57FF5A14-B7EE-41A5-9618-E988938AF551}" destId="{E1EE3DA9-B7AB-854D-9E9F-F5DFC23F6E60}" srcOrd="1" destOrd="0" parTransId="{3D4E3AF2-0165-EE46-A2EF-983AA039A633}" sibTransId="{CBD03C54-DBBF-7C4D-8775-BE0D0EB3B8C0}"/>
    <dgm:cxn modelId="{7BBA50FB-5F58-47DB-B941-510C69553E46}" srcId="{BB3D1489-3624-4548-80D9-D9CF6289BB08}" destId="{003A451F-6083-4568-B66E-BCCF424D55BF}" srcOrd="0" destOrd="0" parTransId="{C29DEFDC-574E-40C3-82EE-3F4E0A71FABB}" sibTransId="{3F67A94C-DC28-4361-9423-040A775EFB76}"/>
    <dgm:cxn modelId="{5882C878-5721-45D2-98E9-CE3BC60725A7}" type="presParOf" srcId="{3EC2D5D7-4938-0340-8EA2-58E9C474D2A6}" destId="{3329BAF3-9078-D643-B59E-AD895F43164F}" srcOrd="0" destOrd="0" presId="urn:microsoft.com/office/officeart/2005/8/layout/hierarchy4"/>
    <dgm:cxn modelId="{00300D29-AB8A-4287-877A-AB5C92D47A3C}" type="presParOf" srcId="{3329BAF3-9078-D643-B59E-AD895F43164F}" destId="{E0054302-A87D-7A48-98D2-5FA733B32592}" srcOrd="0" destOrd="0" presId="urn:microsoft.com/office/officeart/2005/8/layout/hierarchy4"/>
    <dgm:cxn modelId="{77336459-E874-4EC1-B446-52B9B4406C5F}" type="presParOf" srcId="{3329BAF3-9078-D643-B59E-AD895F43164F}" destId="{FE1D11D2-F258-0B4A-9462-CEABB11C5A1B}" srcOrd="1" destOrd="0" presId="urn:microsoft.com/office/officeart/2005/8/layout/hierarchy4"/>
    <dgm:cxn modelId="{D8D2C8CE-1D61-4D5C-B42D-FFBF94634F30}" type="presParOf" srcId="{3329BAF3-9078-D643-B59E-AD895F43164F}" destId="{10979B16-C786-3241-AC8F-37F7529DCC7B}" srcOrd="2" destOrd="0" presId="urn:microsoft.com/office/officeart/2005/8/layout/hierarchy4"/>
    <dgm:cxn modelId="{658C5C9F-BB9C-4387-987D-22E31457A691}" type="presParOf" srcId="{10979B16-C786-3241-AC8F-37F7529DCC7B}" destId="{CB4C9AE6-751D-A64A-BA3E-0A7055A95D87}" srcOrd="0" destOrd="0" presId="urn:microsoft.com/office/officeart/2005/8/layout/hierarchy4"/>
    <dgm:cxn modelId="{FE9C068B-C9B9-4FCE-AC22-3786C2941E9D}" type="presParOf" srcId="{CB4C9AE6-751D-A64A-BA3E-0A7055A95D87}" destId="{468E4027-285D-0B42-B57B-5D8E7E478E95}" srcOrd="0" destOrd="0" presId="urn:microsoft.com/office/officeart/2005/8/layout/hierarchy4"/>
    <dgm:cxn modelId="{0DC78A66-77C9-448D-A8A9-1F852C5FC7A4}" type="presParOf" srcId="{CB4C9AE6-751D-A64A-BA3E-0A7055A95D87}" destId="{0181DF03-C15B-E043-8248-4DA343B56AFF}" srcOrd="1" destOrd="0" presId="urn:microsoft.com/office/officeart/2005/8/layout/hierarchy4"/>
    <dgm:cxn modelId="{494D7E45-2F86-44A8-9E37-609BEB58EAE4}" type="presParOf" srcId="{CB4C9AE6-751D-A64A-BA3E-0A7055A95D87}" destId="{4618F857-C7B9-FB4B-9781-DAB8DD8EC16F}" srcOrd="2" destOrd="0" presId="urn:microsoft.com/office/officeart/2005/8/layout/hierarchy4"/>
    <dgm:cxn modelId="{4A3FA84A-D4D5-481A-98F1-ACB5555EF782}" type="presParOf" srcId="{4618F857-C7B9-FB4B-9781-DAB8DD8EC16F}" destId="{8FA01F6E-5734-5D45-AACB-38A7CEE497E0}" srcOrd="0" destOrd="0" presId="urn:microsoft.com/office/officeart/2005/8/layout/hierarchy4"/>
    <dgm:cxn modelId="{FBA5071D-FD0F-4A44-A06D-3916B584A047}" type="presParOf" srcId="{8FA01F6E-5734-5D45-AACB-38A7CEE497E0}" destId="{ABA769A8-9F72-6241-BCEC-E3CC66C0B3FD}" srcOrd="0" destOrd="0" presId="urn:microsoft.com/office/officeart/2005/8/layout/hierarchy4"/>
    <dgm:cxn modelId="{81047610-FD21-4242-98C7-14F944F881F6}" type="presParOf" srcId="{8FA01F6E-5734-5D45-AACB-38A7CEE497E0}" destId="{D2449BCF-0EC6-2B48-92A8-F3725D0D7526}" srcOrd="1" destOrd="0" presId="urn:microsoft.com/office/officeart/2005/8/layout/hierarchy4"/>
    <dgm:cxn modelId="{20536969-44EB-43DC-AB99-98447A56BAD0}" type="presParOf" srcId="{8FA01F6E-5734-5D45-AACB-38A7CEE497E0}" destId="{A8D7C59C-EAE4-C24C-94C5-04DAD3807419}" srcOrd="2" destOrd="0" presId="urn:microsoft.com/office/officeart/2005/8/layout/hierarchy4"/>
    <dgm:cxn modelId="{164E131E-83B5-4E2F-89BA-B183EE30730F}" type="presParOf" srcId="{A8D7C59C-EAE4-C24C-94C5-04DAD3807419}" destId="{57BD5CFF-FC0C-414F-878A-3BA0C09030F3}" srcOrd="0" destOrd="0" presId="urn:microsoft.com/office/officeart/2005/8/layout/hierarchy4"/>
    <dgm:cxn modelId="{D238486D-6AEA-4615-BC22-9AAE4553581D}" type="presParOf" srcId="{57BD5CFF-FC0C-414F-878A-3BA0C09030F3}" destId="{6483B6A3-6EE5-8A48-A184-1B36266D9B50}" srcOrd="0" destOrd="0" presId="urn:microsoft.com/office/officeart/2005/8/layout/hierarchy4"/>
    <dgm:cxn modelId="{7513C54C-9B90-43A5-9348-05FDDB610A0E}" type="presParOf" srcId="{57BD5CFF-FC0C-414F-878A-3BA0C09030F3}" destId="{60175AFA-1087-4D47-88F0-7C07E1D3FE8F}" srcOrd="1" destOrd="0" presId="urn:microsoft.com/office/officeart/2005/8/layout/hierarchy4"/>
    <dgm:cxn modelId="{4167016C-FD70-41D1-BB81-40554FD1A958}" type="presParOf" srcId="{A8D7C59C-EAE4-C24C-94C5-04DAD3807419}" destId="{E187FE76-0623-F547-A71C-F3CFA8C043FD}" srcOrd="1" destOrd="0" presId="urn:microsoft.com/office/officeart/2005/8/layout/hierarchy4"/>
    <dgm:cxn modelId="{3C38B077-0928-4ADD-8C28-721A8C77944F}" type="presParOf" srcId="{A8D7C59C-EAE4-C24C-94C5-04DAD3807419}" destId="{7D401E12-305D-A84C-B5DD-C65FF0BD7EE8}" srcOrd="2" destOrd="0" presId="urn:microsoft.com/office/officeart/2005/8/layout/hierarchy4"/>
    <dgm:cxn modelId="{A0F4C33A-E64A-499E-9612-63DEAE9D580D}" type="presParOf" srcId="{7D401E12-305D-A84C-B5DD-C65FF0BD7EE8}" destId="{F0219164-AD4F-394D-AB1A-62FDFF059E4B}" srcOrd="0" destOrd="0" presId="urn:microsoft.com/office/officeart/2005/8/layout/hierarchy4"/>
    <dgm:cxn modelId="{836D1C35-DE2F-4441-8D71-E820A13CEAF3}" type="presParOf" srcId="{7D401E12-305D-A84C-B5DD-C65FF0BD7EE8}" destId="{F7FBF5A2-DCC1-5148-8032-7E94CA5F2319}" srcOrd="1" destOrd="0" presId="urn:microsoft.com/office/officeart/2005/8/layout/hierarchy4"/>
    <dgm:cxn modelId="{01943E2F-3A2A-463E-9514-974E6EECEDE8}" type="presParOf" srcId="{4618F857-C7B9-FB4B-9781-DAB8DD8EC16F}" destId="{D9CC09B1-BCF8-C343-B099-4A2DA8585C66}" srcOrd="1" destOrd="0" presId="urn:microsoft.com/office/officeart/2005/8/layout/hierarchy4"/>
    <dgm:cxn modelId="{BFDDE060-D626-4F88-B45D-0C63B54F79C9}" type="presParOf" srcId="{4618F857-C7B9-FB4B-9781-DAB8DD8EC16F}" destId="{D7E9B419-1E8A-574C-B28E-D82230345701}" srcOrd="2" destOrd="0" presId="urn:microsoft.com/office/officeart/2005/8/layout/hierarchy4"/>
    <dgm:cxn modelId="{E2CED781-FA91-457A-BE3C-706E4494CEA3}" type="presParOf" srcId="{D7E9B419-1E8A-574C-B28E-D82230345701}" destId="{67E6D66D-F025-DA42-A88C-773E18CFCFBD}" srcOrd="0" destOrd="0" presId="urn:microsoft.com/office/officeart/2005/8/layout/hierarchy4"/>
    <dgm:cxn modelId="{B2AFEF81-1F00-4C6F-87D2-C26B53677837}" type="presParOf" srcId="{D7E9B419-1E8A-574C-B28E-D82230345701}" destId="{FAE58183-BEBA-664A-BB29-DBA4810A1BFB}" srcOrd="1" destOrd="0" presId="urn:microsoft.com/office/officeart/2005/8/layout/hierarchy4"/>
    <dgm:cxn modelId="{621326C4-FEC0-4770-A299-5E7EB9500278}" type="presParOf" srcId="{D7E9B419-1E8A-574C-B28E-D82230345701}" destId="{B8A14624-BD83-1648-AD9F-82293A7DB130}" srcOrd="2" destOrd="0" presId="urn:microsoft.com/office/officeart/2005/8/layout/hierarchy4"/>
    <dgm:cxn modelId="{16A9501F-1608-494B-BD8E-3A0FBE96BB47}" type="presParOf" srcId="{B8A14624-BD83-1648-AD9F-82293A7DB130}" destId="{045A919C-0C99-074A-B8C3-BD7211106A2E}" srcOrd="0" destOrd="0" presId="urn:microsoft.com/office/officeart/2005/8/layout/hierarchy4"/>
    <dgm:cxn modelId="{69338360-5E19-4324-B257-1C0965936607}" type="presParOf" srcId="{045A919C-0C99-074A-B8C3-BD7211106A2E}" destId="{4D42E0F1-0A23-E24B-9DF1-354A4F12A5CD}" srcOrd="0" destOrd="0" presId="urn:microsoft.com/office/officeart/2005/8/layout/hierarchy4"/>
    <dgm:cxn modelId="{62ECF68F-B664-46A2-B51E-22A9FFD4D888}" type="presParOf" srcId="{045A919C-0C99-074A-B8C3-BD7211106A2E}" destId="{313CAFFD-4D26-644B-B62E-441B37D1996A}" srcOrd="1" destOrd="0" presId="urn:microsoft.com/office/officeart/2005/8/layout/hierarchy4"/>
    <dgm:cxn modelId="{8E7C3EF3-2A7C-4DC2-AA00-3527E25FC617}" type="presParOf" srcId="{B8A14624-BD83-1648-AD9F-82293A7DB130}" destId="{266D7A3C-7438-D342-8C4A-22A9275198C9}" srcOrd="1" destOrd="0" presId="urn:microsoft.com/office/officeart/2005/8/layout/hierarchy4"/>
    <dgm:cxn modelId="{53E909F9-CB85-4973-907B-DF89BC11E429}" type="presParOf" srcId="{B8A14624-BD83-1648-AD9F-82293A7DB130}" destId="{9C51F868-9B40-1C45-91DA-F700B4BC60CD}" srcOrd="2" destOrd="0" presId="urn:microsoft.com/office/officeart/2005/8/layout/hierarchy4"/>
    <dgm:cxn modelId="{AC6EF90E-7945-4471-9320-6E3E02BCFFB1}" type="presParOf" srcId="{9C51F868-9B40-1C45-91DA-F700B4BC60CD}" destId="{7C430CE8-9E0F-BE41-A6AE-A333D2FF63BE}" srcOrd="0" destOrd="0" presId="urn:microsoft.com/office/officeart/2005/8/layout/hierarchy4"/>
    <dgm:cxn modelId="{BC14E728-13DD-42F9-870C-D358923AC5BD}" type="presParOf" srcId="{9C51F868-9B40-1C45-91DA-F700B4BC60CD}" destId="{4D8A3A9F-7299-4345-8877-7CB33F354E46}" srcOrd="1" destOrd="0" presId="urn:microsoft.com/office/officeart/2005/8/layout/hierarchy4"/>
    <dgm:cxn modelId="{0E9E0EDC-609A-41C1-BD61-8D26BEA10BDD}" type="presParOf" srcId="{10979B16-C786-3241-AC8F-37F7529DCC7B}" destId="{4544551D-B5DD-3E44-9922-5266D727132C}" srcOrd="1" destOrd="0" presId="urn:microsoft.com/office/officeart/2005/8/layout/hierarchy4"/>
    <dgm:cxn modelId="{BE57D20D-BDD9-4075-8B89-3FB71108E3B4}" type="presParOf" srcId="{10979B16-C786-3241-AC8F-37F7529DCC7B}" destId="{CC38D5F8-A5AF-6647-865E-97497B3AEBF2}" srcOrd="2" destOrd="0" presId="urn:microsoft.com/office/officeart/2005/8/layout/hierarchy4"/>
    <dgm:cxn modelId="{21977E9C-8B88-43A4-9F0E-540C4734CF38}" type="presParOf" srcId="{CC38D5F8-A5AF-6647-865E-97497B3AEBF2}" destId="{79FA0E43-2570-4B47-A9DE-303032675AB9}" srcOrd="0" destOrd="0" presId="urn:microsoft.com/office/officeart/2005/8/layout/hierarchy4"/>
    <dgm:cxn modelId="{E7D9CD93-F806-4E85-9065-458C7BB7D571}" type="presParOf" srcId="{CC38D5F8-A5AF-6647-865E-97497B3AEBF2}" destId="{D58D29D1-5542-564D-A8EE-61529BEC6766}" srcOrd="1" destOrd="0" presId="urn:microsoft.com/office/officeart/2005/8/layout/hierarchy4"/>
    <dgm:cxn modelId="{62C6F25B-39B2-4900-B916-D20916D3AF63}" type="presParOf" srcId="{CC38D5F8-A5AF-6647-865E-97497B3AEBF2}" destId="{59F4C939-FC95-D14B-9DBE-065BFFA51B31}" srcOrd="2" destOrd="0" presId="urn:microsoft.com/office/officeart/2005/8/layout/hierarchy4"/>
    <dgm:cxn modelId="{4CE066EA-3DB8-4A67-BB0C-C38CDFDA6B9F}" type="presParOf" srcId="{59F4C939-FC95-D14B-9DBE-065BFFA51B31}" destId="{09EBE11C-5242-8F49-8771-ED90EC2FFE8F}" srcOrd="0" destOrd="0" presId="urn:microsoft.com/office/officeart/2005/8/layout/hierarchy4"/>
    <dgm:cxn modelId="{B753D53E-2350-41C2-B151-A2D60E1F62DA}" type="presParOf" srcId="{09EBE11C-5242-8F49-8771-ED90EC2FFE8F}" destId="{20D2169B-5F4C-434A-AEEB-7895E1EA3C5A}" srcOrd="0" destOrd="0" presId="urn:microsoft.com/office/officeart/2005/8/layout/hierarchy4"/>
    <dgm:cxn modelId="{531D3D65-DD57-45E0-AB8C-24E9D236F1EC}" type="presParOf" srcId="{09EBE11C-5242-8F49-8771-ED90EC2FFE8F}" destId="{583AA519-DD09-1C41-977E-35C8FC5E01DC}" srcOrd="1" destOrd="0" presId="urn:microsoft.com/office/officeart/2005/8/layout/hierarchy4"/>
    <dgm:cxn modelId="{56321418-F99E-4DC6-BE9D-C2D91D8BBFEA}" type="presParOf" srcId="{09EBE11C-5242-8F49-8771-ED90EC2FFE8F}" destId="{4CBA02DF-80A6-DF4C-B079-D0B80C13622C}" srcOrd="2" destOrd="0" presId="urn:microsoft.com/office/officeart/2005/8/layout/hierarchy4"/>
    <dgm:cxn modelId="{C0863B12-A556-4EF8-BBDB-A5DEAB2377E4}" type="presParOf" srcId="{4CBA02DF-80A6-DF4C-B079-D0B80C13622C}" destId="{2780AD7B-0A6D-2941-80DC-2317344A8B98}" srcOrd="0" destOrd="0" presId="urn:microsoft.com/office/officeart/2005/8/layout/hierarchy4"/>
    <dgm:cxn modelId="{21752C33-FA66-4472-AE2A-A771CD2F7191}" type="presParOf" srcId="{2780AD7B-0A6D-2941-80DC-2317344A8B98}" destId="{2370C0BA-41DF-8E4E-A0F5-C7DD7412C71B}" srcOrd="0" destOrd="0" presId="urn:microsoft.com/office/officeart/2005/8/layout/hierarchy4"/>
    <dgm:cxn modelId="{C73830C6-451F-47AB-86C1-4E10B52192F4}" type="presParOf" srcId="{2780AD7B-0A6D-2941-80DC-2317344A8B98}" destId="{BF802667-06EC-BC4C-80AE-03F15077FCA1}" srcOrd="1" destOrd="0" presId="urn:microsoft.com/office/officeart/2005/8/layout/hierarchy4"/>
    <dgm:cxn modelId="{C4AA8C58-86F9-4009-AFBD-EC2E9C58972B}" type="presParOf" srcId="{4CBA02DF-80A6-DF4C-B079-D0B80C13622C}" destId="{AC17B9A3-534C-054F-B8ED-8C176CA2DEF2}" srcOrd="1" destOrd="0" presId="urn:microsoft.com/office/officeart/2005/8/layout/hierarchy4"/>
    <dgm:cxn modelId="{71E72D00-1D1C-4578-A26F-541A7CB7ADEC}" type="presParOf" srcId="{4CBA02DF-80A6-DF4C-B079-D0B80C13622C}" destId="{A2855D87-2DDA-404F-A08D-9CDE9E78933C}" srcOrd="2" destOrd="0" presId="urn:microsoft.com/office/officeart/2005/8/layout/hierarchy4"/>
    <dgm:cxn modelId="{3C6D0D2F-88A0-4CFC-A1B0-7F5EB89FEC32}" type="presParOf" srcId="{A2855D87-2DDA-404F-A08D-9CDE9E78933C}" destId="{1DAE6A80-999C-1E47-9BC6-F411B8C54555}" srcOrd="0" destOrd="0" presId="urn:microsoft.com/office/officeart/2005/8/layout/hierarchy4"/>
    <dgm:cxn modelId="{CEE3D35F-C265-44A1-811F-B611A1E954FC}" type="presParOf" srcId="{A2855D87-2DDA-404F-A08D-9CDE9E78933C}" destId="{2EA7B2E2-5761-5F47-A528-EC38DF52B437}" srcOrd="1" destOrd="0" presId="urn:microsoft.com/office/officeart/2005/8/layout/hierarchy4"/>
    <dgm:cxn modelId="{1B1CBD45-0C1B-4935-8796-FBFB780EAACC}" type="presParOf" srcId="{59F4C939-FC95-D14B-9DBE-065BFFA51B31}" destId="{803F1E3E-E287-594E-9CFA-F639AE7F2F87}" srcOrd="1" destOrd="0" presId="urn:microsoft.com/office/officeart/2005/8/layout/hierarchy4"/>
    <dgm:cxn modelId="{E8A712A7-5F0C-45E7-89D8-88737CD56EC1}" type="presParOf" srcId="{59F4C939-FC95-D14B-9DBE-065BFFA51B31}" destId="{CF13C766-CF7E-5A45-99C0-DA893FE5C0AD}" srcOrd="2" destOrd="0" presId="urn:microsoft.com/office/officeart/2005/8/layout/hierarchy4"/>
    <dgm:cxn modelId="{0BA09EC5-2875-4249-A9BC-485570701D4E}" type="presParOf" srcId="{CF13C766-CF7E-5A45-99C0-DA893FE5C0AD}" destId="{B4B73E60-A300-9F4B-9EE2-892D0EDE1821}" srcOrd="0" destOrd="0" presId="urn:microsoft.com/office/officeart/2005/8/layout/hierarchy4"/>
    <dgm:cxn modelId="{BF225C9D-4CEA-47D1-9A0E-EE36EC10CCDF}" type="presParOf" srcId="{CF13C766-CF7E-5A45-99C0-DA893FE5C0AD}" destId="{E559414C-2599-844A-BCBC-0F7E30A4021B}" srcOrd="1" destOrd="0" presId="urn:microsoft.com/office/officeart/2005/8/layout/hierarchy4"/>
    <dgm:cxn modelId="{944551C8-D753-4664-8EF8-66B356A88DF8}" type="presParOf" srcId="{CF13C766-CF7E-5A45-99C0-DA893FE5C0AD}" destId="{2ED063B4-1E78-F741-A53F-1076DD49A6A6}" srcOrd="2" destOrd="0" presId="urn:microsoft.com/office/officeart/2005/8/layout/hierarchy4"/>
    <dgm:cxn modelId="{49918DCC-06D1-45A0-A65E-80BC72DDB7CD}" type="presParOf" srcId="{2ED063B4-1E78-F741-A53F-1076DD49A6A6}" destId="{BF553F7F-5505-D142-823B-1577BF749F0F}" srcOrd="0" destOrd="0" presId="urn:microsoft.com/office/officeart/2005/8/layout/hierarchy4"/>
    <dgm:cxn modelId="{AE990A4A-86C7-44AF-AAE0-88CA4A172242}" type="presParOf" srcId="{BF553F7F-5505-D142-823B-1577BF749F0F}" destId="{BFD708D9-0A5C-5340-B66B-160BB616685D}" srcOrd="0" destOrd="0" presId="urn:microsoft.com/office/officeart/2005/8/layout/hierarchy4"/>
    <dgm:cxn modelId="{4BF329B0-F519-4817-A1D5-22F95BF9936F}" type="presParOf" srcId="{BF553F7F-5505-D142-823B-1577BF749F0F}" destId="{4BD4E344-8408-4440-9B9C-293E32D01B2B}" srcOrd="1" destOrd="0" presId="urn:microsoft.com/office/officeart/2005/8/layout/hierarchy4"/>
    <dgm:cxn modelId="{571FE8DE-F4E4-406C-AB4A-F9DB9ADDD632}" type="presParOf" srcId="{2ED063B4-1E78-F741-A53F-1076DD49A6A6}" destId="{2E81C71B-39DC-A745-BDC2-53E5B56EBAFE}" srcOrd="1" destOrd="0" presId="urn:microsoft.com/office/officeart/2005/8/layout/hierarchy4"/>
    <dgm:cxn modelId="{86C0508E-865D-4206-9074-C6D775D79D4E}" type="presParOf" srcId="{2ED063B4-1E78-F741-A53F-1076DD49A6A6}" destId="{E7A3C2AE-7816-C444-8114-5596C5A13778}" srcOrd="2" destOrd="0" presId="urn:microsoft.com/office/officeart/2005/8/layout/hierarchy4"/>
    <dgm:cxn modelId="{33FB5B2D-9A18-4135-9D3E-D4E510D6943C}" type="presParOf" srcId="{E7A3C2AE-7816-C444-8114-5596C5A13778}" destId="{27D97F64-6902-E344-994B-79B95AFA869D}" srcOrd="0" destOrd="0" presId="urn:microsoft.com/office/officeart/2005/8/layout/hierarchy4"/>
    <dgm:cxn modelId="{BD072BAC-6F61-4183-A9EA-9E5BF8B6B97E}" type="presParOf" srcId="{E7A3C2AE-7816-C444-8114-5596C5A13778}" destId="{BF26C40B-33B4-A540-B1BA-6CCEB1F7631A}"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003A451F-6083-4568-B66E-BCCF424D55BF}">
      <dgm:prSet phldrT="[Text]"/>
      <dgm:spPr/>
      <dgm:t>
        <a:bodyPr/>
        <a:lstStyle/>
        <a:p>
          <a:r>
            <a:rPr lang="en-US" noProof="0" dirty="0"/>
            <a:t>Non-Safety</a:t>
          </a:r>
        </a:p>
      </dgm:t>
    </dgm:pt>
    <dgm:pt modelId="{C29DEFDC-574E-40C3-82EE-3F4E0A71FABB}" type="parTrans" cxnId="{7BBA50FB-5F58-47DB-B941-510C69553E46}">
      <dgm:prSet/>
      <dgm:spPr/>
      <dgm:t>
        <a:bodyPr/>
        <a:lstStyle/>
        <a:p>
          <a:endParaRPr lang="en-US" noProof="0"/>
        </a:p>
      </dgm:t>
    </dgm:pt>
    <dgm:pt modelId="{3F67A94C-DC28-4361-9423-040A775EFB76}" type="sibTrans" cxnId="{7BBA50FB-5F58-47DB-B941-510C69553E46}">
      <dgm:prSet/>
      <dgm:spPr/>
      <dgm:t>
        <a:bodyPr/>
        <a:lstStyle/>
        <a:p>
          <a:endParaRPr lang="de-DE"/>
        </a:p>
      </dgm:t>
    </dgm:pt>
    <dgm:pt modelId="{A4EEA6F5-1C9D-4B5D-AAF5-7C4E621FD5B6}">
      <dgm:prSet phldrT="[Text]"/>
      <dgm:spPr/>
      <dgm:t>
        <a:bodyPr/>
        <a:lstStyle/>
        <a:p>
          <a:r>
            <a:rPr lang="en-US" noProof="0" dirty="0"/>
            <a:t>Safety</a:t>
          </a:r>
        </a:p>
      </dgm:t>
    </dgm:pt>
    <dgm:pt modelId="{84EA0500-B0E2-49DC-A5BE-CDB65373C3A1}" type="parTrans" cxnId="{B3ABB3AA-BDDE-4ED8-B6DE-EF7E9DBE6409}">
      <dgm:prSet/>
      <dgm:spPr/>
      <dgm:t>
        <a:bodyPr/>
        <a:lstStyle/>
        <a:p>
          <a:endParaRPr lang="en-US" noProof="0"/>
        </a:p>
      </dgm:t>
    </dgm:pt>
    <dgm:pt modelId="{A49DA47F-59B9-45DB-9308-4032DE87362B}" type="sibTrans" cxnId="{B3ABB3AA-BDDE-4ED8-B6DE-EF7E9DBE6409}">
      <dgm:prSet/>
      <dgm:spPr/>
      <dgm:t>
        <a:bodyPr/>
        <a:lstStyle/>
        <a:p>
          <a:endParaRPr lang="de-DE"/>
        </a:p>
      </dgm:t>
    </dgm:pt>
    <dgm:pt modelId="{BB3D1489-3624-4548-80D9-D9CF6289BB08}">
      <dgm:prSet phldrT="[Text]"/>
      <dgm:spPr/>
      <dgm:t>
        <a:bodyPr/>
        <a:lstStyle/>
        <a:p>
          <a:r>
            <a:rPr lang="en-US" noProof="0" dirty="0"/>
            <a:t>Vehicle-to-X</a:t>
          </a:r>
        </a:p>
      </dgm:t>
    </dgm:pt>
    <dgm:pt modelId="{60474C45-E0F5-4E92-8CA1-18266FB88F83}" type="sibTrans" cxnId="{7CDFE98F-E21E-42F8-A9BF-84F346507A0B}">
      <dgm:prSet/>
      <dgm:spPr/>
      <dgm:t>
        <a:bodyPr/>
        <a:lstStyle/>
        <a:p>
          <a:endParaRPr lang="de-DE"/>
        </a:p>
      </dgm:t>
    </dgm:pt>
    <dgm:pt modelId="{F8F06D65-317D-4762-8877-67314E15D506}" type="parTrans" cxnId="{7CDFE98F-E21E-42F8-A9BF-84F346507A0B}">
      <dgm:prSet/>
      <dgm:spPr/>
      <dgm:t>
        <a:bodyPr/>
        <a:lstStyle/>
        <a:p>
          <a:endParaRPr lang="de-DE"/>
        </a:p>
      </dgm:t>
    </dgm:pt>
    <dgm:pt modelId="{B1746EF7-BCE8-40C6-97FE-8E80B965390F}">
      <dgm:prSet phldrT="[Text]"/>
      <dgm:spPr>
        <a:noFill/>
        <a:ln>
          <a:noFill/>
        </a:ln>
      </dgm:spPr>
      <dgm:t>
        <a:bodyPr/>
        <a:lstStyle/>
        <a:p>
          <a:r>
            <a:rPr lang="en-US" noProof="0" dirty="0"/>
            <a:t>Many messages</a:t>
          </a:r>
        </a:p>
        <a:p>
          <a:r>
            <a:rPr lang="en-US" noProof="0" dirty="0"/>
            <a:t>High data rate</a:t>
          </a:r>
        </a:p>
      </dgm:t>
    </dgm:pt>
    <dgm:pt modelId="{F417FF0A-5320-4FBC-BEE7-E0806C8A75A0}" type="parTrans" cxnId="{DFF9B3A0-7E11-490C-A3E4-8A9443512D6A}">
      <dgm:prSet/>
      <dgm:spPr/>
      <dgm:t>
        <a:bodyPr/>
        <a:lstStyle/>
        <a:p>
          <a:endParaRPr lang="en-US"/>
        </a:p>
      </dgm:t>
    </dgm:pt>
    <dgm:pt modelId="{F06B3C84-262F-488F-BD87-2AC7B88637CA}" type="sibTrans" cxnId="{DFF9B3A0-7E11-490C-A3E4-8A9443512D6A}">
      <dgm:prSet/>
      <dgm:spPr/>
      <dgm:t>
        <a:bodyPr/>
        <a:lstStyle/>
        <a:p>
          <a:endParaRPr lang="en-US"/>
        </a:p>
      </dgm:t>
    </dgm:pt>
    <dgm:pt modelId="{A67BEEAD-4012-4E34-B950-432AB2C12F1D}">
      <dgm:prSet phldrT="[Text]"/>
      <dgm:spPr>
        <a:noFill/>
        <a:ln>
          <a:noFill/>
        </a:ln>
      </dgm:spPr>
      <dgm:t>
        <a:bodyPr/>
        <a:lstStyle/>
        <a:p>
          <a:r>
            <a:rPr lang="en-US" noProof="0" dirty="0"/>
            <a:t>Few messages</a:t>
          </a:r>
        </a:p>
        <a:p>
          <a:r>
            <a:rPr lang="en-US" noProof="0" dirty="0"/>
            <a:t>Small packet size</a:t>
          </a:r>
        </a:p>
      </dgm:t>
    </dgm:pt>
    <dgm:pt modelId="{AA55E90A-CC33-4D2A-BA32-A0E30F49684B}" type="parTrans" cxnId="{C90A8F73-C4C4-4A3E-89EF-9DC5932F6EA0}">
      <dgm:prSet/>
      <dgm:spPr/>
      <dgm:t>
        <a:bodyPr/>
        <a:lstStyle/>
        <a:p>
          <a:endParaRPr lang="en-US"/>
        </a:p>
      </dgm:t>
    </dgm:pt>
    <dgm:pt modelId="{D46070DC-760E-48DE-84B4-6502AAA77CBA}" type="sibTrans" cxnId="{C90A8F73-C4C4-4A3E-89EF-9DC5932F6EA0}">
      <dgm:prSet/>
      <dgm:spPr/>
      <dgm:t>
        <a:bodyPr/>
        <a:lstStyle/>
        <a:p>
          <a:endParaRPr lang="en-US"/>
        </a:p>
      </dgm:t>
    </dgm:pt>
    <dgm:pt modelId="{07414BDE-888F-425F-A394-F89DDBEC15EF}">
      <dgm:prSet phldrT="[Text]"/>
      <dgm:spPr>
        <a:noFill/>
        <a:ln>
          <a:noFill/>
        </a:ln>
      </dgm:spPr>
      <dgm:t>
        <a:bodyPr/>
        <a:lstStyle/>
        <a:p>
          <a:r>
            <a:rPr lang="en-US" noProof="0" dirty="0"/>
            <a:t>Low latency demands</a:t>
          </a:r>
        </a:p>
        <a:p>
          <a:r>
            <a:rPr lang="en-US" noProof="0" dirty="0"/>
            <a:t>Low reliability demands</a:t>
          </a:r>
        </a:p>
      </dgm:t>
    </dgm:pt>
    <dgm:pt modelId="{05EA5D1C-C52E-4FF7-953B-65F12CA35234}" type="parTrans" cxnId="{568EC24C-FED3-4FFB-BA78-8251A53EA958}">
      <dgm:prSet/>
      <dgm:spPr/>
      <dgm:t>
        <a:bodyPr/>
        <a:lstStyle/>
        <a:p>
          <a:endParaRPr lang="en-US"/>
        </a:p>
      </dgm:t>
    </dgm:pt>
    <dgm:pt modelId="{E31E2848-2C14-4D66-9E2F-08E3E5153805}" type="sibTrans" cxnId="{568EC24C-FED3-4FFB-BA78-8251A53EA958}">
      <dgm:prSet/>
      <dgm:spPr/>
      <dgm:t>
        <a:bodyPr/>
        <a:lstStyle/>
        <a:p>
          <a:endParaRPr lang="en-US"/>
        </a:p>
      </dgm:t>
    </dgm:pt>
    <dgm:pt modelId="{3999C40B-BCD0-4971-B08D-289903D71CC4}">
      <dgm:prSet phldrT="[Text]"/>
      <dgm:spPr>
        <a:noFill/>
        <a:ln>
          <a:noFill/>
        </a:ln>
      </dgm:spPr>
      <dgm:t>
        <a:bodyPr/>
        <a:lstStyle/>
        <a:p>
          <a:r>
            <a:rPr lang="en-US" noProof="0" dirty="0"/>
            <a:t>High latency demands</a:t>
          </a:r>
        </a:p>
        <a:p>
          <a:r>
            <a:rPr lang="en-US" noProof="0" dirty="0"/>
            <a:t>High reliability demands</a:t>
          </a:r>
        </a:p>
      </dgm:t>
    </dgm:pt>
    <dgm:pt modelId="{22E96251-4B03-407C-AEC4-E1DFF0FC0F06}" type="parTrans" cxnId="{E7D651A3-C4E4-4123-9DA4-3D1E3E826603}">
      <dgm:prSet/>
      <dgm:spPr/>
      <dgm:t>
        <a:bodyPr/>
        <a:lstStyle/>
        <a:p>
          <a:endParaRPr lang="en-US"/>
        </a:p>
      </dgm:t>
    </dgm:pt>
    <dgm:pt modelId="{61279B91-4C63-454E-82FB-836DBE553E53}" type="sibTrans" cxnId="{E7D651A3-C4E4-4123-9DA4-3D1E3E826603}">
      <dgm:prSet/>
      <dgm:spPr/>
      <dgm:t>
        <a:bodyPr/>
        <a:lstStyle/>
        <a:p>
          <a:endParaRPr lang="en-US"/>
        </a:p>
      </dgm:t>
    </dgm:pt>
    <dgm:pt modelId="{3EC2D5D7-4938-0340-8EA2-58E9C474D2A6}" type="pres">
      <dgm:prSet presAssocID="{3BDFE88F-E82D-41F4-B588-1DAB1F0D88D5}" presName="Name0" presStyleCnt="0">
        <dgm:presLayoutVars>
          <dgm:chPref val="1"/>
          <dgm:dir/>
          <dgm:animOne val="branch"/>
          <dgm:animLvl val="lvl"/>
          <dgm:resizeHandles/>
        </dgm:presLayoutVars>
      </dgm:prSet>
      <dgm:spPr/>
    </dgm:pt>
    <dgm:pt modelId="{3329BAF3-9078-D643-B59E-AD895F43164F}" type="pres">
      <dgm:prSet presAssocID="{BB3D1489-3624-4548-80D9-D9CF6289BB08}" presName="vertOne" presStyleCnt="0"/>
      <dgm:spPr/>
    </dgm:pt>
    <dgm:pt modelId="{E0054302-A87D-7A48-98D2-5FA733B32592}" type="pres">
      <dgm:prSet presAssocID="{BB3D1489-3624-4548-80D9-D9CF6289BB08}" presName="txOne" presStyleLbl="node0" presStyleIdx="0" presStyleCnt="1">
        <dgm:presLayoutVars>
          <dgm:chPref val="3"/>
        </dgm:presLayoutVars>
      </dgm:prSet>
      <dgm:spPr/>
    </dgm:pt>
    <dgm:pt modelId="{FE1D11D2-F258-0B4A-9462-CEABB11C5A1B}" type="pres">
      <dgm:prSet presAssocID="{BB3D1489-3624-4548-80D9-D9CF6289BB08}" presName="parTransOne" presStyleCnt="0"/>
      <dgm:spPr/>
    </dgm:pt>
    <dgm:pt modelId="{10979B16-C786-3241-AC8F-37F7529DCC7B}" type="pres">
      <dgm:prSet presAssocID="{BB3D1489-3624-4548-80D9-D9CF6289BB08}" presName="horzOne" presStyleCnt="0"/>
      <dgm:spPr/>
    </dgm:pt>
    <dgm:pt modelId="{CB4C9AE6-751D-A64A-BA3E-0A7055A95D87}" type="pres">
      <dgm:prSet presAssocID="{003A451F-6083-4568-B66E-BCCF424D55BF}" presName="vertTwo" presStyleCnt="0"/>
      <dgm:spPr/>
    </dgm:pt>
    <dgm:pt modelId="{468E4027-285D-0B42-B57B-5D8E7E478E95}" type="pres">
      <dgm:prSet presAssocID="{003A451F-6083-4568-B66E-BCCF424D55BF}" presName="txTwo" presStyleLbl="node2" presStyleIdx="0" presStyleCnt="2">
        <dgm:presLayoutVars>
          <dgm:chPref val="3"/>
        </dgm:presLayoutVars>
      </dgm:prSet>
      <dgm:spPr/>
    </dgm:pt>
    <dgm:pt modelId="{0181DF03-C15B-E043-8248-4DA343B56AFF}" type="pres">
      <dgm:prSet presAssocID="{003A451F-6083-4568-B66E-BCCF424D55BF}" presName="parTransTwo" presStyleCnt="0"/>
      <dgm:spPr/>
    </dgm:pt>
    <dgm:pt modelId="{4618F857-C7B9-FB4B-9781-DAB8DD8EC16F}" type="pres">
      <dgm:prSet presAssocID="{003A451F-6083-4568-B66E-BCCF424D55BF}" presName="horzTwo" presStyleCnt="0"/>
      <dgm:spPr/>
    </dgm:pt>
    <dgm:pt modelId="{6D5C0C9A-D763-4B87-BB78-D295285DB2C3}" type="pres">
      <dgm:prSet presAssocID="{B1746EF7-BCE8-40C6-97FE-8E80B965390F}" presName="vertThree" presStyleCnt="0"/>
      <dgm:spPr/>
    </dgm:pt>
    <dgm:pt modelId="{A5BE839D-6ECE-4B87-B935-C254EA4BDA97}" type="pres">
      <dgm:prSet presAssocID="{B1746EF7-BCE8-40C6-97FE-8E80B965390F}" presName="txThree" presStyleLbl="node3" presStyleIdx="0" presStyleCnt="2">
        <dgm:presLayoutVars>
          <dgm:chPref val="3"/>
        </dgm:presLayoutVars>
      </dgm:prSet>
      <dgm:spPr/>
    </dgm:pt>
    <dgm:pt modelId="{B4B06010-D752-435E-AFEA-B7E8713D2D2E}" type="pres">
      <dgm:prSet presAssocID="{B1746EF7-BCE8-40C6-97FE-8E80B965390F}" presName="parTransThree" presStyleCnt="0"/>
      <dgm:spPr/>
    </dgm:pt>
    <dgm:pt modelId="{7EC241CC-0537-4DB1-8C1D-040FF0DE3CB7}" type="pres">
      <dgm:prSet presAssocID="{B1746EF7-BCE8-40C6-97FE-8E80B965390F}" presName="horzThree" presStyleCnt="0"/>
      <dgm:spPr/>
    </dgm:pt>
    <dgm:pt modelId="{3DFE46C8-4D8C-42AE-B53C-29FD1C99EE35}" type="pres">
      <dgm:prSet presAssocID="{07414BDE-888F-425F-A394-F89DDBEC15EF}" presName="vertFour" presStyleCnt="0">
        <dgm:presLayoutVars>
          <dgm:chPref val="3"/>
        </dgm:presLayoutVars>
      </dgm:prSet>
      <dgm:spPr/>
    </dgm:pt>
    <dgm:pt modelId="{C28C6726-8B90-44A0-AF89-6507A90DC786}" type="pres">
      <dgm:prSet presAssocID="{07414BDE-888F-425F-A394-F89DDBEC15EF}" presName="txFour" presStyleLbl="node4" presStyleIdx="0" presStyleCnt="2">
        <dgm:presLayoutVars>
          <dgm:chPref val="3"/>
        </dgm:presLayoutVars>
      </dgm:prSet>
      <dgm:spPr/>
    </dgm:pt>
    <dgm:pt modelId="{FADA7C14-79B4-4B7D-BFDF-4B3A1550DA4D}" type="pres">
      <dgm:prSet presAssocID="{07414BDE-888F-425F-A394-F89DDBEC15EF}" presName="horzFour" presStyleCnt="0"/>
      <dgm:spPr/>
    </dgm:pt>
    <dgm:pt modelId="{4544551D-B5DD-3E44-9922-5266D727132C}" type="pres">
      <dgm:prSet presAssocID="{3F67A94C-DC28-4361-9423-040A775EFB76}" presName="sibSpaceTwo" presStyleCnt="0"/>
      <dgm:spPr/>
    </dgm:pt>
    <dgm:pt modelId="{CC38D5F8-A5AF-6647-865E-97497B3AEBF2}" type="pres">
      <dgm:prSet presAssocID="{A4EEA6F5-1C9D-4B5D-AAF5-7C4E621FD5B6}" presName="vertTwo" presStyleCnt="0"/>
      <dgm:spPr/>
    </dgm:pt>
    <dgm:pt modelId="{79FA0E43-2570-4B47-A9DE-303032675AB9}" type="pres">
      <dgm:prSet presAssocID="{A4EEA6F5-1C9D-4B5D-AAF5-7C4E621FD5B6}" presName="txTwo" presStyleLbl="node2" presStyleIdx="1" presStyleCnt="2">
        <dgm:presLayoutVars>
          <dgm:chPref val="3"/>
        </dgm:presLayoutVars>
      </dgm:prSet>
      <dgm:spPr/>
    </dgm:pt>
    <dgm:pt modelId="{D58D29D1-5542-564D-A8EE-61529BEC6766}" type="pres">
      <dgm:prSet presAssocID="{A4EEA6F5-1C9D-4B5D-AAF5-7C4E621FD5B6}" presName="parTransTwo" presStyleCnt="0"/>
      <dgm:spPr/>
    </dgm:pt>
    <dgm:pt modelId="{59F4C939-FC95-D14B-9DBE-065BFFA51B31}" type="pres">
      <dgm:prSet presAssocID="{A4EEA6F5-1C9D-4B5D-AAF5-7C4E621FD5B6}" presName="horzTwo" presStyleCnt="0"/>
      <dgm:spPr/>
    </dgm:pt>
    <dgm:pt modelId="{7C93D185-4900-47F1-93B7-40E7F2657062}" type="pres">
      <dgm:prSet presAssocID="{A67BEEAD-4012-4E34-B950-432AB2C12F1D}" presName="vertThree" presStyleCnt="0"/>
      <dgm:spPr/>
    </dgm:pt>
    <dgm:pt modelId="{765DE50D-9A1B-453A-96E3-F2542EDF1420}" type="pres">
      <dgm:prSet presAssocID="{A67BEEAD-4012-4E34-B950-432AB2C12F1D}" presName="txThree" presStyleLbl="node3" presStyleIdx="1" presStyleCnt="2">
        <dgm:presLayoutVars>
          <dgm:chPref val="3"/>
        </dgm:presLayoutVars>
      </dgm:prSet>
      <dgm:spPr/>
    </dgm:pt>
    <dgm:pt modelId="{8FFE1165-F6B4-4C1C-9302-4463C29A8E11}" type="pres">
      <dgm:prSet presAssocID="{A67BEEAD-4012-4E34-B950-432AB2C12F1D}" presName="parTransThree" presStyleCnt="0"/>
      <dgm:spPr/>
    </dgm:pt>
    <dgm:pt modelId="{3A8360BB-DDC4-4E90-BDFC-5F84248299A3}" type="pres">
      <dgm:prSet presAssocID="{A67BEEAD-4012-4E34-B950-432AB2C12F1D}" presName="horzThree" presStyleCnt="0"/>
      <dgm:spPr/>
    </dgm:pt>
    <dgm:pt modelId="{A88743CE-A288-426A-B99F-2BBB2EC6E138}" type="pres">
      <dgm:prSet presAssocID="{3999C40B-BCD0-4971-B08D-289903D71CC4}" presName="vertFour" presStyleCnt="0">
        <dgm:presLayoutVars>
          <dgm:chPref val="3"/>
        </dgm:presLayoutVars>
      </dgm:prSet>
      <dgm:spPr/>
    </dgm:pt>
    <dgm:pt modelId="{DF8D927D-1C70-4C9D-BD8B-F34ED777DF28}" type="pres">
      <dgm:prSet presAssocID="{3999C40B-BCD0-4971-B08D-289903D71CC4}" presName="txFour" presStyleLbl="node4" presStyleIdx="1" presStyleCnt="2">
        <dgm:presLayoutVars>
          <dgm:chPref val="3"/>
        </dgm:presLayoutVars>
      </dgm:prSet>
      <dgm:spPr/>
    </dgm:pt>
    <dgm:pt modelId="{77BA312E-20BC-4D77-884E-080DA4C1F7BF}" type="pres">
      <dgm:prSet presAssocID="{3999C40B-BCD0-4971-B08D-289903D71CC4}" presName="horzFour" presStyleCnt="0"/>
      <dgm:spPr/>
    </dgm:pt>
  </dgm:ptLst>
  <dgm:cxnLst>
    <dgm:cxn modelId="{900AAC0A-13BB-4434-A919-2DDF72DB6AF1}" type="presOf" srcId="{07414BDE-888F-425F-A394-F89DDBEC15EF}" destId="{C28C6726-8B90-44A0-AF89-6507A90DC786}" srcOrd="0" destOrd="0" presId="urn:microsoft.com/office/officeart/2005/8/layout/hierarchy4"/>
    <dgm:cxn modelId="{135B2C36-1947-464E-AEF8-1F052362CE87}" type="presOf" srcId="{003A451F-6083-4568-B66E-BCCF424D55BF}" destId="{468E4027-285D-0B42-B57B-5D8E7E478E95}" srcOrd="0" destOrd="0" presId="urn:microsoft.com/office/officeart/2005/8/layout/hierarchy4"/>
    <dgm:cxn modelId="{0999B740-5230-43D9-B0A2-9B6762C38C1A}" type="presOf" srcId="{A4EEA6F5-1C9D-4B5D-AAF5-7C4E621FD5B6}" destId="{79FA0E43-2570-4B47-A9DE-303032675AB9}" srcOrd="0" destOrd="0" presId="urn:microsoft.com/office/officeart/2005/8/layout/hierarchy4"/>
    <dgm:cxn modelId="{75B6BA6A-3DBE-4CED-930A-C39C55FD0DF3}" type="presOf" srcId="{BB3D1489-3624-4548-80D9-D9CF6289BB08}" destId="{E0054302-A87D-7A48-98D2-5FA733B32592}" srcOrd="0" destOrd="0" presId="urn:microsoft.com/office/officeart/2005/8/layout/hierarchy4"/>
    <dgm:cxn modelId="{568EC24C-FED3-4FFB-BA78-8251A53EA958}" srcId="{B1746EF7-BCE8-40C6-97FE-8E80B965390F}" destId="{07414BDE-888F-425F-A394-F89DDBEC15EF}" srcOrd="0" destOrd="0" parTransId="{05EA5D1C-C52E-4FF7-953B-65F12CA35234}" sibTransId="{E31E2848-2C14-4D66-9E2F-08E3E5153805}"/>
    <dgm:cxn modelId="{C90A8F73-C4C4-4A3E-89EF-9DC5932F6EA0}" srcId="{A4EEA6F5-1C9D-4B5D-AAF5-7C4E621FD5B6}" destId="{A67BEEAD-4012-4E34-B950-432AB2C12F1D}" srcOrd="0" destOrd="0" parTransId="{AA55E90A-CC33-4D2A-BA32-A0E30F49684B}" sibTransId="{D46070DC-760E-48DE-84B4-6502AAA77CBA}"/>
    <dgm:cxn modelId="{7CDFE98F-E21E-42F8-A9BF-84F346507A0B}" srcId="{3BDFE88F-E82D-41F4-B588-1DAB1F0D88D5}" destId="{BB3D1489-3624-4548-80D9-D9CF6289BB08}" srcOrd="0" destOrd="0" parTransId="{F8F06D65-317D-4762-8877-67314E15D506}" sibTransId="{60474C45-E0F5-4E92-8CA1-18266FB88F83}"/>
    <dgm:cxn modelId="{C5ADF99E-FC62-45A5-9AA1-7DAC7731A223}" type="presOf" srcId="{A67BEEAD-4012-4E34-B950-432AB2C12F1D}" destId="{765DE50D-9A1B-453A-96E3-F2542EDF1420}" srcOrd="0" destOrd="0" presId="urn:microsoft.com/office/officeart/2005/8/layout/hierarchy4"/>
    <dgm:cxn modelId="{DFF9B3A0-7E11-490C-A3E4-8A9443512D6A}" srcId="{003A451F-6083-4568-B66E-BCCF424D55BF}" destId="{B1746EF7-BCE8-40C6-97FE-8E80B965390F}" srcOrd="0" destOrd="0" parTransId="{F417FF0A-5320-4FBC-BEE7-E0806C8A75A0}" sibTransId="{F06B3C84-262F-488F-BD87-2AC7B88637CA}"/>
    <dgm:cxn modelId="{2A9F13A3-C8F2-40C6-BA56-489840EEB0AD}" type="presOf" srcId="{B1746EF7-BCE8-40C6-97FE-8E80B965390F}" destId="{A5BE839D-6ECE-4B87-B935-C254EA4BDA97}" srcOrd="0" destOrd="0" presId="urn:microsoft.com/office/officeart/2005/8/layout/hierarchy4"/>
    <dgm:cxn modelId="{E7D651A3-C4E4-4123-9DA4-3D1E3E826603}" srcId="{A67BEEAD-4012-4E34-B950-432AB2C12F1D}" destId="{3999C40B-BCD0-4971-B08D-289903D71CC4}" srcOrd="0" destOrd="0" parTransId="{22E96251-4B03-407C-AEC4-E1DFF0FC0F06}" sibTransId="{61279B91-4C63-454E-82FB-836DBE553E53}"/>
    <dgm:cxn modelId="{B3ABB3AA-BDDE-4ED8-B6DE-EF7E9DBE6409}" srcId="{BB3D1489-3624-4548-80D9-D9CF6289BB08}" destId="{A4EEA6F5-1C9D-4B5D-AAF5-7C4E621FD5B6}" srcOrd="1" destOrd="0" parTransId="{84EA0500-B0E2-49DC-A5BE-CDB65373C3A1}" sibTransId="{A49DA47F-59B9-45DB-9308-4032DE87362B}"/>
    <dgm:cxn modelId="{99EDE3DE-8780-428F-9C39-2AEF441C1B31}" type="presOf" srcId="{3999C40B-BCD0-4971-B08D-289903D71CC4}" destId="{DF8D927D-1C70-4C9D-BD8B-F34ED777DF28}" srcOrd="0" destOrd="0" presId="urn:microsoft.com/office/officeart/2005/8/layout/hierarchy4"/>
    <dgm:cxn modelId="{E057A0E3-7981-4931-921F-C39D753E7BD1}" type="presOf" srcId="{3BDFE88F-E82D-41F4-B588-1DAB1F0D88D5}" destId="{3EC2D5D7-4938-0340-8EA2-58E9C474D2A6}" srcOrd="0" destOrd="0" presId="urn:microsoft.com/office/officeart/2005/8/layout/hierarchy4"/>
    <dgm:cxn modelId="{7BBA50FB-5F58-47DB-B941-510C69553E46}" srcId="{BB3D1489-3624-4548-80D9-D9CF6289BB08}" destId="{003A451F-6083-4568-B66E-BCCF424D55BF}" srcOrd="0" destOrd="0" parTransId="{C29DEFDC-574E-40C3-82EE-3F4E0A71FABB}" sibTransId="{3F67A94C-DC28-4361-9423-040A775EFB76}"/>
    <dgm:cxn modelId="{9BF43D3A-0604-4C53-ACE7-BA624D8BD1F7}" type="presParOf" srcId="{3EC2D5D7-4938-0340-8EA2-58E9C474D2A6}" destId="{3329BAF3-9078-D643-B59E-AD895F43164F}" srcOrd="0" destOrd="0" presId="urn:microsoft.com/office/officeart/2005/8/layout/hierarchy4"/>
    <dgm:cxn modelId="{CEBA536A-9CDE-4282-96AA-C48A627573A1}" type="presParOf" srcId="{3329BAF3-9078-D643-B59E-AD895F43164F}" destId="{E0054302-A87D-7A48-98D2-5FA733B32592}" srcOrd="0" destOrd="0" presId="urn:microsoft.com/office/officeart/2005/8/layout/hierarchy4"/>
    <dgm:cxn modelId="{1B57B7CC-7F43-41B4-8481-E5737414CBDA}" type="presParOf" srcId="{3329BAF3-9078-D643-B59E-AD895F43164F}" destId="{FE1D11D2-F258-0B4A-9462-CEABB11C5A1B}" srcOrd="1" destOrd="0" presId="urn:microsoft.com/office/officeart/2005/8/layout/hierarchy4"/>
    <dgm:cxn modelId="{7D12B660-9CD8-4311-BDC7-B18EF04F9055}" type="presParOf" srcId="{3329BAF3-9078-D643-B59E-AD895F43164F}" destId="{10979B16-C786-3241-AC8F-37F7529DCC7B}" srcOrd="2" destOrd="0" presId="urn:microsoft.com/office/officeart/2005/8/layout/hierarchy4"/>
    <dgm:cxn modelId="{7B89A188-758B-4883-A3C9-D4E6C2053AEF}" type="presParOf" srcId="{10979B16-C786-3241-AC8F-37F7529DCC7B}" destId="{CB4C9AE6-751D-A64A-BA3E-0A7055A95D87}" srcOrd="0" destOrd="0" presId="urn:microsoft.com/office/officeart/2005/8/layout/hierarchy4"/>
    <dgm:cxn modelId="{640C80DE-6C7A-4554-AFEA-D57E326988A6}" type="presParOf" srcId="{CB4C9AE6-751D-A64A-BA3E-0A7055A95D87}" destId="{468E4027-285D-0B42-B57B-5D8E7E478E95}" srcOrd="0" destOrd="0" presId="urn:microsoft.com/office/officeart/2005/8/layout/hierarchy4"/>
    <dgm:cxn modelId="{8F6F0C5E-7BA4-44BB-967B-1FA3A0190141}" type="presParOf" srcId="{CB4C9AE6-751D-A64A-BA3E-0A7055A95D87}" destId="{0181DF03-C15B-E043-8248-4DA343B56AFF}" srcOrd="1" destOrd="0" presId="urn:microsoft.com/office/officeart/2005/8/layout/hierarchy4"/>
    <dgm:cxn modelId="{A0DDA154-78E7-4C47-A3DC-1B7277550A4A}" type="presParOf" srcId="{CB4C9AE6-751D-A64A-BA3E-0A7055A95D87}" destId="{4618F857-C7B9-FB4B-9781-DAB8DD8EC16F}" srcOrd="2" destOrd="0" presId="urn:microsoft.com/office/officeart/2005/8/layout/hierarchy4"/>
    <dgm:cxn modelId="{5388CAB2-CE1A-40E0-BA5F-A7429983644A}" type="presParOf" srcId="{4618F857-C7B9-FB4B-9781-DAB8DD8EC16F}" destId="{6D5C0C9A-D763-4B87-BB78-D295285DB2C3}" srcOrd="0" destOrd="0" presId="urn:microsoft.com/office/officeart/2005/8/layout/hierarchy4"/>
    <dgm:cxn modelId="{4C52A156-0EF4-473D-B1F1-556DA1D4164D}" type="presParOf" srcId="{6D5C0C9A-D763-4B87-BB78-D295285DB2C3}" destId="{A5BE839D-6ECE-4B87-B935-C254EA4BDA97}" srcOrd="0" destOrd="0" presId="urn:microsoft.com/office/officeart/2005/8/layout/hierarchy4"/>
    <dgm:cxn modelId="{54CC46D1-B76B-4F8D-AF53-07D61DD9EBA3}" type="presParOf" srcId="{6D5C0C9A-D763-4B87-BB78-D295285DB2C3}" destId="{B4B06010-D752-435E-AFEA-B7E8713D2D2E}" srcOrd="1" destOrd="0" presId="urn:microsoft.com/office/officeart/2005/8/layout/hierarchy4"/>
    <dgm:cxn modelId="{1B6B34C5-A185-4C47-B670-740E81DED1ED}" type="presParOf" srcId="{6D5C0C9A-D763-4B87-BB78-D295285DB2C3}" destId="{7EC241CC-0537-4DB1-8C1D-040FF0DE3CB7}" srcOrd="2" destOrd="0" presId="urn:microsoft.com/office/officeart/2005/8/layout/hierarchy4"/>
    <dgm:cxn modelId="{6B12DDB1-F920-425F-A6F2-B10AE00B39E1}" type="presParOf" srcId="{7EC241CC-0537-4DB1-8C1D-040FF0DE3CB7}" destId="{3DFE46C8-4D8C-42AE-B53C-29FD1C99EE35}" srcOrd="0" destOrd="0" presId="urn:microsoft.com/office/officeart/2005/8/layout/hierarchy4"/>
    <dgm:cxn modelId="{CC2AE946-BBC5-402B-BF2F-2A16B0404142}" type="presParOf" srcId="{3DFE46C8-4D8C-42AE-B53C-29FD1C99EE35}" destId="{C28C6726-8B90-44A0-AF89-6507A90DC786}" srcOrd="0" destOrd="0" presId="urn:microsoft.com/office/officeart/2005/8/layout/hierarchy4"/>
    <dgm:cxn modelId="{B7B7F8DD-4E34-4BD1-82BF-245CC60B9B5F}" type="presParOf" srcId="{3DFE46C8-4D8C-42AE-B53C-29FD1C99EE35}" destId="{FADA7C14-79B4-4B7D-BFDF-4B3A1550DA4D}" srcOrd="1" destOrd="0" presId="urn:microsoft.com/office/officeart/2005/8/layout/hierarchy4"/>
    <dgm:cxn modelId="{29ED4524-EFE1-4047-BF1F-21206269D53A}" type="presParOf" srcId="{10979B16-C786-3241-AC8F-37F7529DCC7B}" destId="{4544551D-B5DD-3E44-9922-5266D727132C}" srcOrd="1" destOrd="0" presId="urn:microsoft.com/office/officeart/2005/8/layout/hierarchy4"/>
    <dgm:cxn modelId="{5731814E-5B42-4ED9-B8E0-127E9C840840}" type="presParOf" srcId="{10979B16-C786-3241-AC8F-37F7529DCC7B}" destId="{CC38D5F8-A5AF-6647-865E-97497B3AEBF2}" srcOrd="2" destOrd="0" presId="urn:microsoft.com/office/officeart/2005/8/layout/hierarchy4"/>
    <dgm:cxn modelId="{A9F5AB6F-C0C0-498E-9DA0-DEDD8888B324}" type="presParOf" srcId="{CC38D5F8-A5AF-6647-865E-97497B3AEBF2}" destId="{79FA0E43-2570-4B47-A9DE-303032675AB9}" srcOrd="0" destOrd="0" presId="urn:microsoft.com/office/officeart/2005/8/layout/hierarchy4"/>
    <dgm:cxn modelId="{DF97E555-80C2-436D-9517-6F62EA8CBCDC}" type="presParOf" srcId="{CC38D5F8-A5AF-6647-865E-97497B3AEBF2}" destId="{D58D29D1-5542-564D-A8EE-61529BEC6766}" srcOrd="1" destOrd="0" presId="urn:microsoft.com/office/officeart/2005/8/layout/hierarchy4"/>
    <dgm:cxn modelId="{DC5355E3-A607-45C2-BDEF-4F9931979B11}" type="presParOf" srcId="{CC38D5F8-A5AF-6647-865E-97497B3AEBF2}" destId="{59F4C939-FC95-D14B-9DBE-065BFFA51B31}" srcOrd="2" destOrd="0" presId="urn:microsoft.com/office/officeart/2005/8/layout/hierarchy4"/>
    <dgm:cxn modelId="{DF22B4C1-5370-49DF-B6BD-85B55F0F136B}" type="presParOf" srcId="{59F4C939-FC95-D14B-9DBE-065BFFA51B31}" destId="{7C93D185-4900-47F1-93B7-40E7F2657062}" srcOrd="0" destOrd="0" presId="urn:microsoft.com/office/officeart/2005/8/layout/hierarchy4"/>
    <dgm:cxn modelId="{5111544C-4AB0-4BD8-A003-8225F7E3065F}" type="presParOf" srcId="{7C93D185-4900-47F1-93B7-40E7F2657062}" destId="{765DE50D-9A1B-453A-96E3-F2542EDF1420}" srcOrd="0" destOrd="0" presId="urn:microsoft.com/office/officeart/2005/8/layout/hierarchy4"/>
    <dgm:cxn modelId="{C59DFD42-6B70-4996-997F-A2945C445904}" type="presParOf" srcId="{7C93D185-4900-47F1-93B7-40E7F2657062}" destId="{8FFE1165-F6B4-4C1C-9302-4463C29A8E11}" srcOrd="1" destOrd="0" presId="urn:microsoft.com/office/officeart/2005/8/layout/hierarchy4"/>
    <dgm:cxn modelId="{34DBB201-DCAB-4809-A515-29316EF0BFE0}" type="presParOf" srcId="{7C93D185-4900-47F1-93B7-40E7F2657062}" destId="{3A8360BB-DDC4-4E90-BDFC-5F84248299A3}" srcOrd="2" destOrd="0" presId="urn:microsoft.com/office/officeart/2005/8/layout/hierarchy4"/>
    <dgm:cxn modelId="{8B81E65F-F3A5-4765-9905-80E5643820B4}" type="presParOf" srcId="{3A8360BB-DDC4-4E90-BDFC-5F84248299A3}" destId="{A88743CE-A288-426A-B99F-2BBB2EC6E138}" srcOrd="0" destOrd="0" presId="urn:microsoft.com/office/officeart/2005/8/layout/hierarchy4"/>
    <dgm:cxn modelId="{32F97DCB-A693-4A34-878A-01C0D2D76D17}" type="presParOf" srcId="{A88743CE-A288-426A-B99F-2BBB2EC6E138}" destId="{DF8D927D-1C70-4C9D-BD8B-F34ED777DF28}" srcOrd="0" destOrd="0" presId="urn:microsoft.com/office/officeart/2005/8/layout/hierarchy4"/>
    <dgm:cxn modelId="{FD237FCD-DB4D-470C-9645-F457DFF95413}" type="presParOf" srcId="{A88743CE-A288-426A-B99F-2BBB2EC6E138}" destId="{77BA312E-20BC-4D77-884E-080DA4C1F7BF}"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FCB0FD-3A43-418F-A087-3D0A978FFC12}" type="doc">
      <dgm:prSet loTypeId="urn:microsoft.com/office/officeart/2005/8/layout/vList5" loCatId="list" qsTypeId="urn:microsoft.com/office/officeart/2005/8/quickstyle/simple3" qsCatId="simple" csTypeId="urn:microsoft.com/office/officeart/2005/8/colors/accent1_2" csCatId="accent1" phldr="1"/>
      <dgm:spPr/>
      <dgm:t>
        <a:bodyPr/>
        <a:lstStyle/>
        <a:p>
          <a:endParaRPr lang="de-DE"/>
        </a:p>
      </dgm:t>
    </dgm:pt>
    <dgm:pt modelId="{FC493A89-3B02-4BE2-ADD0-7248C0E44CB4}">
      <dgm:prSet phldrT="[Text]"/>
      <dgm:spPr/>
      <dgm:t>
        <a:bodyPr/>
        <a:lstStyle/>
        <a:p>
          <a:r>
            <a:rPr lang="de-DE" noProof="0" dirty="0"/>
            <a:t>Communication</a:t>
          </a:r>
        </a:p>
      </dgm:t>
    </dgm:pt>
    <dgm:pt modelId="{9964F12A-70EB-40A5-9B08-B9D9739FAEC3}" type="parTrans" cxnId="{441E5B11-4B08-481C-9532-A78771C005E7}">
      <dgm:prSet/>
      <dgm:spPr/>
      <dgm:t>
        <a:bodyPr/>
        <a:lstStyle/>
        <a:p>
          <a:endParaRPr lang="en-US" noProof="0"/>
        </a:p>
      </dgm:t>
    </dgm:pt>
    <dgm:pt modelId="{EA1ADB77-3880-4FEF-A3E5-98C9406A4217}" type="sibTrans" cxnId="{441E5B11-4B08-481C-9532-A78771C005E7}">
      <dgm:prSet/>
      <dgm:spPr/>
      <dgm:t>
        <a:bodyPr/>
        <a:lstStyle/>
        <a:p>
          <a:endParaRPr lang="en-US" noProof="0"/>
        </a:p>
      </dgm:t>
    </dgm:pt>
    <dgm:pt modelId="{1B49A559-2C60-4353-ABA5-D0125A15581C}">
      <dgm:prSet phldrT="[Text]"/>
      <dgm:spPr/>
      <dgm:t>
        <a:bodyPr/>
        <a:lstStyle/>
        <a:p>
          <a:r>
            <a:rPr lang="de-DE" noProof="0" dirty="0"/>
            <a:t>Highly varying channel conditions</a:t>
          </a:r>
        </a:p>
      </dgm:t>
    </dgm:pt>
    <dgm:pt modelId="{B6CD0ABF-738F-4D7F-A97B-6D0C5F7443C4}" type="parTrans" cxnId="{1B4B9277-2727-40A2-BFB0-137015374C82}">
      <dgm:prSet/>
      <dgm:spPr/>
      <dgm:t>
        <a:bodyPr/>
        <a:lstStyle/>
        <a:p>
          <a:endParaRPr lang="en-US" noProof="0"/>
        </a:p>
      </dgm:t>
    </dgm:pt>
    <dgm:pt modelId="{C24651F0-2FA7-4344-92E5-692E71E230C5}" type="sibTrans" cxnId="{1B4B9277-2727-40A2-BFB0-137015374C82}">
      <dgm:prSet/>
      <dgm:spPr/>
      <dgm:t>
        <a:bodyPr/>
        <a:lstStyle/>
        <a:p>
          <a:endParaRPr lang="en-US" noProof="0"/>
        </a:p>
      </dgm:t>
    </dgm:pt>
    <dgm:pt modelId="{ACD415B4-F62A-467F-A233-1D184A21F60B}">
      <dgm:prSet phldrT="[Text]"/>
      <dgm:spPr/>
      <dgm:t>
        <a:bodyPr/>
        <a:lstStyle/>
        <a:p>
          <a:r>
            <a:rPr lang="de-DE" noProof="0" dirty="0"/>
            <a:t>Tightly limited channel capacity</a:t>
          </a:r>
        </a:p>
      </dgm:t>
    </dgm:pt>
    <dgm:pt modelId="{3FFFDCF4-34D7-419C-8EC3-DC83B8B9EDA4}" type="parTrans" cxnId="{EB0123C9-EC47-4EF1-908D-A916060F7B5C}">
      <dgm:prSet/>
      <dgm:spPr/>
      <dgm:t>
        <a:bodyPr/>
        <a:lstStyle/>
        <a:p>
          <a:endParaRPr lang="en-US" noProof="0"/>
        </a:p>
      </dgm:t>
    </dgm:pt>
    <dgm:pt modelId="{263098AE-FE6C-4A77-8BFA-6EAF3FF17636}" type="sibTrans" cxnId="{EB0123C9-EC47-4EF1-908D-A916060F7B5C}">
      <dgm:prSet/>
      <dgm:spPr/>
      <dgm:t>
        <a:bodyPr/>
        <a:lstStyle/>
        <a:p>
          <a:endParaRPr lang="en-US" noProof="0"/>
        </a:p>
      </dgm:t>
    </dgm:pt>
    <dgm:pt modelId="{A4C2FFFA-FFE0-41F8-B82A-CAE530B1E7EE}">
      <dgm:prSet phldrT="[Text]"/>
      <dgm:spPr/>
      <dgm:t>
        <a:bodyPr/>
        <a:lstStyle/>
        <a:p>
          <a:r>
            <a:rPr lang="de-DE" noProof="0" dirty="0"/>
            <a:t>Networking</a:t>
          </a:r>
        </a:p>
      </dgm:t>
    </dgm:pt>
    <dgm:pt modelId="{EA19354D-161D-450F-A9C6-9679C4F9337E}" type="parTrans" cxnId="{11B47E54-7C1D-4165-BA51-20E83A3D47CB}">
      <dgm:prSet/>
      <dgm:spPr/>
      <dgm:t>
        <a:bodyPr/>
        <a:lstStyle/>
        <a:p>
          <a:endParaRPr lang="en-US" noProof="0"/>
        </a:p>
      </dgm:t>
    </dgm:pt>
    <dgm:pt modelId="{FACCB3E5-9D1D-46B2-85FF-5366B78256DA}" type="sibTrans" cxnId="{11B47E54-7C1D-4165-BA51-20E83A3D47CB}">
      <dgm:prSet/>
      <dgm:spPr/>
      <dgm:t>
        <a:bodyPr/>
        <a:lstStyle/>
        <a:p>
          <a:endParaRPr lang="en-US" noProof="0"/>
        </a:p>
      </dgm:t>
    </dgm:pt>
    <dgm:pt modelId="{0ECF0D2F-0CD7-43C8-8421-265392E987D4}">
      <dgm:prSet phldrT="[Text]"/>
      <dgm:spPr/>
      <dgm:t>
        <a:bodyPr/>
        <a:lstStyle/>
        <a:p>
          <a:r>
            <a:rPr lang="de-DE" noProof="0" dirty="0"/>
            <a:t>Unidirectional Links (Broadcast, No Responce from Receiver)</a:t>
          </a:r>
        </a:p>
      </dgm:t>
    </dgm:pt>
    <dgm:pt modelId="{4D9F984B-DCC5-488D-81CA-00A9EC1B6DEB}" type="parTrans" cxnId="{7B6B4BFE-6667-4970-A231-8F0DF987C5C4}">
      <dgm:prSet/>
      <dgm:spPr/>
      <dgm:t>
        <a:bodyPr/>
        <a:lstStyle/>
        <a:p>
          <a:endParaRPr lang="en-US" noProof="0"/>
        </a:p>
      </dgm:t>
    </dgm:pt>
    <dgm:pt modelId="{0E83F362-7D01-4767-94F1-2EBDEB97D56A}" type="sibTrans" cxnId="{7B6B4BFE-6667-4970-A231-8F0DF987C5C4}">
      <dgm:prSet/>
      <dgm:spPr/>
      <dgm:t>
        <a:bodyPr/>
        <a:lstStyle/>
        <a:p>
          <a:endParaRPr lang="en-US" noProof="0"/>
        </a:p>
      </dgm:t>
    </dgm:pt>
    <dgm:pt modelId="{BA293ED4-1113-44D7-BF49-A355CB0ABAA0}">
      <dgm:prSet phldrT="[Text]"/>
      <dgm:spPr/>
      <dgm:t>
        <a:bodyPr/>
        <a:lstStyle/>
        <a:p>
          <a:r>
            <a:rPr lang="de-DE" noProof="0" dirty="0"/>
            <a:t>Mobility</a:t>
          </a:r>
        </a:p>
      </dgm:t>
    </dgm:pt>
    <dgm:pt modelId="{DDA18DC6-E3EC-4A65-BC4C-3A23F48600F1}" type="parTrans" cxnId="{92E9012B-D4A5-4FB0-934C-76057AC1E500}">
      <dgm:prSet/>
      <dgm:spPr/>
      <dgm:t>
        <a:bodyPr/>
        <a:lstStyle/>
        <a:p>
          <a:endParaRPr lang="en-US" noProof="0"/>
        </a:p>
      </dgm:t>
    </dgm:pt>
    <dgm:pt modelId="{8C69F3F7-D3C4-4208-841A-6CAF37E9FB6D}" type="sibTrans" cxnId="{92E9012B-D4A5-4FB0-934C-76057AC1E500}">
      <dgm:prSet/>
      <dgm:spPr/>
      <dgm:t>
        <a:bodyPr/>
        <a:lstStyle/>
        <a:p>
          <a:endParaRPr lang="en-US" noProof="0"/>
        </a:p>
      </dgm:t>
    </dgm:pt>
    <dgm:pt modelId="{A4821661-0A1D-497F-9DE6-9C42358BCC49}">
      <dgm:prSet phldrT="[Text]"/>
      <dgm:spPr/>
      <dgm:t>
        <a:bodyPr/>
        <a:lstStyle/>
        <a:p>
          <a:r>
            <a:rPr lang="de-DE" noProof="0" dirty="0"/>
            <a:t>Multi-Radio / Multi-Network</a:t>
          </a:r>
        </a:p>
      </dgm:t>
    </dgm:pt>
    <dgm:pt modelId="{11849D4F-DEA1-45F1-9F09-A94CCD4A6612}" type="parTrans" cxnId="{D1A2B013-4A81-42C9-BD84-511A59AED995}">
      <dgm:prSet/>
      <dgm:spPr/>
      <dgm:t>
        <a:bodyPr/>
        <a:lstStyle/>
        <a:p>
          <a:endParaRPr lang="en-US" noProof="0"/>
        </a:p>
      </dgm:t>
    </dgm:pt>
    <dgm:pt modelId="{19AB43EE-0F01-4B78-9126-67E8488BE0D8}" type="sibTrans" cxnId="{D1A2B013-4A81-42C9-BD84-511A59AED995}">
      <dgm:prSet/>
      <dgm:spPr/>
      <dgm:t>
        <a:bodyPr/>
        <a:lstStyle/>
        <a:p>
          <a:endParaRPr lang="en-US" noProof="0"/>
        </a:p>
      </dgm:t>
    </dgm:pt>
    <dgm:pt modelId="{32FFDA2B-A9D5-44B5-955D-9D65C9DBE0DF}">
      <dgm:prSet phldrT="[Text]"/>
      <dgm:spPr/>
      <dgm:t>
        <a:bodyPr/>
        <a:lstStyle/>
        <a:p>
          <a:r>
            <a:rPr lang="de-DE" noProof="0" dirty="0"/>
            <a:t>But: predictable mobility</a:t>
          </a:r>
        </a:p>
      </dgm:t>
    </dgm:pt>
    <dgm:pt modelId="{43E1133A-7433-409F-A8A0-0C01BF0210A7}" type="parTrans" cxnId="{FC15D3C6-D3DF-44D8-9928-A18674D6F3E7}">
      <dgm:prSet/>
      <dgm:spPr/>
      <dgm:t>
        <a:bodyPr/>
        <a:lstStyle/>
        <a:p>
          <a:endParaRPr lang="en-US" noProof="0"/>
        </a:p>
      </dgm:t>
    </dgm:pt>
    <dgm:pt modelId="{BDFE0419-1FF9-4F7A-9B9F-738B501D7435}" type="sibTrans" cxnId="{FC15D3C6-D3DF-44D8-9928-A18674D6F3E7}">
      <dgm:prSet/>
      <dgm:spPr/>
      <dgm:t>
        <a:bodyPr/>
        <a:lstStyle/>
        <a:p>
          <a:endParaRPr lang="en-US" noProof="0"/>
        </a:p>
      </dgm:t>
    </dgm:pt>
    <dgm:pt modelId="{5F3DCAC8-9979-493F-96C8-53240BDD4A99}">
      <dgm:prSet phldrT="[Text]"/>
      <dgm:spPr/>
      <dgm:t>
        <a:bodyPr/>
        <a:lstStyle/>
        <a:p>
          <a:r>
            <a:rPr lang="de-DE" noProof="0" dirty="0"/>
            <a:t>Security</a:t>
          </a:r>
        </a:p>
      </dgm:t>
    </dgm:pt>
    <dgm:pt modelId="{04ECE57D-E37B-4463-8832-0E219D8D6E09}" type="parTrans" cxnId="{6830547D-5C73-47FD-9A90-B562C5EA385A}">
      <dgm:prSet/>
      <dgm:spPr/>
      <dgm:t>
        <a:bodyPr/>
        <a:lstStyle/>
        <a:p>
          <a:endParaRPr lang="en-US" noProof="0"/>
        </a:p>
      </dgm:t>
    </dgm:pt>
    <dgm:pt modelId="{E8D08280-5914-4314-8788-6C1C388F6898}" type="sibTrans" cxnId="{6830547D-5C73-47FD-9A90-B562C5EA385A}">
      <dgm:prSet/>
      <dgm:spPr/>
      <dgm:t>
        <a:bodyPr/>
        <a:lstStyle/>
        <a:p>
          <a:endParaRPr lang="en-US" noProof="0"/>
        </a:p>
      </dgm:t>
    </dgm:pt>
    <dgm:pt modelId="{6909FB7B-121E-42B7-8943-D17DF3195BF9}">
      <dgm:prSet phldrT="[Text]"/>
      <dgm:spPr/>
      <dgm:t>
        <a:bodyPr/>
        <a:lstStyle/>
        <a:p>
          <a:r>
            <a:rPr lang="de-DE" noProof="0" dirty="0"/>
            <a:t>No (or no reliable) uplink to central infrastructure</a:t>
          </a:r>
        </a:p>
      </dgm:t>
    </dgm:pt>
    <dgm:pt modelId="{18E2B42A-6AB8-4EE9-8565-558EF4580BE0}" type="parTrans" cxnId="{212C82AD-5D2F-4F37-A618-6B3CDEE38527}">
      <dgm:prSet/>
      <dgm:spPr/>
      <dgm:t>
        <a:bodyPr/>
        <a:lstStyle/>
        <a:p>
          <a:endParaRPr lang="en-US" noProof="0"/>
        </a:p>
      </dgm:t>
    </dgm:pt>
    <dgm:pt modelId="{3EE297DE-3313-409C-998D-90E7520AF0BB}" type="sibTrans" cxnId="{212C82AD-5D2F-4F37-A618-6B3CDEE38527}">
      <dgm:prSet/>
      <dgm:spPr/>
      <dgm:t>
        <a:bodyPr/>
        <a:lstStyle/>
        <a:p>
          <a:endParaRPr lang="en-US" noProof="0"/>
        </a:p>
      </dgm:t>
    </dgm:pt>
    <dgm:pt modelId="{3D9508AE-3DC5-3F43-A225-F950C0BAB96E}">
      <dgm:prSet phldrT="[Text]"/>
      <dgm:spPr/>
      <dgm:t>
        <a:bodyPr/>
        <a:lstStyle/>
        <a:p>
          <a:r>
            <a:rPr lang="de-DE" noProof="0" dirty="0"/>
            <a:t>Highly dynamic topology</a:t>
          </a:r>
        </a:p>
      </dgm:t>
    </dgm:pt>
    <dgm:pt modelId="{21AC2484-085B-0245-AF22-95384C450372}" type="parTrans" cxnId="{FBAC2D43-9681-444F-B9D4-532EC31E2448}">
      <dgm:prSet/>
      <dgm:spPr/>
      <dgm:t>
        <a:bodyPr/>
        <a:lstStyle/>
        <a:p>
          <a:endParaRPr lang="de-DE"/>
        </a:p>
      </dgm:t>
    </dgm:pt>
    <dgm:pt modelId="{F2D3D8E9-D782-6644-9E05-FFEF63B675DB}" type="sibTrans" cxnId="{FBAC2D43-9681-444F-B9D4-532EC31E2448}">
      <dgm:prSet/>
      <dgm:spPr/>
      <dgm:t>
        <a:bodyPr/>
        <a:lstStyle/>
        <a:p>
          <a:endParaRPr lang="de-DE"/>
        </a:p>
      </dgm:t>
    </dgm:pt>
    <dgm:pt modelId="{0263247C-8A2B-A446-B40B-680F190D548E}">
      <dgm:prSet phldrT="[Text]"/>
      <dgm:spPr/>
      <dgm:t>
        <a:bodyPr/>
        <a:lstStyle/>
        <a:p>
          <a:r>
            <a:rPr lang="de-DE" noProof="0" dirty="0"/>
            <a:t>Heterogeneous equipment</a:t>
          </a:r>
        </a:p>
      </dgm:t>
    </dgm:pt>
    <dgm:pt modelId="{761F0729-B979-924B-B46D-A2D3B011E11E}" type="parTrans" cxnId="{DA4BB555-74CC-3F44-8179-7BF235CB562B}">
      <dgm:prSet/>
      <dgm:spPr/>
      <dgm:t>
        <a:bodyPr/>
        <a:lstStyle/>
        <a:p>
          <a:endParaRPr lang="de-DE"/>
        </a:p>
      </dgm:t>
    </dgm:pt>
    <dgm:pt modelId="{27879DBC-07C6-E547-AE5D-451B9D68BE5E}" type="sibTrans" cxnId="{DA4BB555-74CC-3F44-8179-7BF235CB562B}">
      <dgm:prSet/>
      <dgm:spPr/>
      <dgm:t>
        <a:bodyPr/>
        <a:lstStyle/>
        <a:p>
          <a:endParaRPr lang="de-DE"/>
        </a:p>
      </dgm:t>
    </dgm:pt>
    <dgm:pt modelId="{4A486E81-D795-F24A-9F88-38DD16ED2562}">
      <dgm:prSet phldrT="[Text]"/>
      <dgm:spPr/>
      <dgm:t>
        <a:bodyPr/>
        <a:lstStyle/>
        <a:p>
          <a:r>
            <a:rPr lang="de-DE" noProof="0" dirty="0"/>
            <a:t>Heterogeneous user base</a:t>
          </a:r>
        </a:p>
      </dgm:t>
    </dgm:pt>
    <dgm:pt modelId="{04020E8C-5860-1D41-86DD-01AEFD108970}" type="parTrans" cxnId="{12266A83-E6A2-2044-A024-BE491C31B071}">
      <dgm:prSet/>
      <dgm:spPr/>
      <dgm:t>
        <a:bodyPr/>
        <a:lstStyle/>
        <a:p>
          <a:endParaRPr lang="de-DE"/>
        </a:p>
      </dgm:t>
    </dgm:pt>
    <dgm:pt modelId="{70A6F989-FDF6-7047-89DA-3B6FEECBCB64}" type="sibTrans" cxnId="{12266A83-E6A2-2044-A024-BE491C31B071}">
      <dgm:prSet/>
      <dgm:spPr/>
      <dgm:t>
        <a:bodyPr/>
        <a:lstStyle/>
        <a:p>
          <a:endParaRPr lang="de-DE"/>
        </a:p>
      </dgm:t>
    </dgm:pt>
    <dgm:pt modelId="{A31616AC-EB44-AF45-BD18-8DC242948CAA}">
      <dgm:prSet phldrT="[Text]"/>
      <dgm:spPr/>
      <dgm:t>
        <a:bodyPr/>
        <a:lstStyle/>
        <a:p>
          <a:r>
            <a:rPr lang="de-DE" noProof="0" dirty="0"/>
            <a:t>Ensuring privacy</a:t>
          </a:r>
        </a:p>
      </dgm:t>
    </dgm:pt>
    <dgm:pt modelId="{2769755F-1342-4340-A925-8786DD88C99D}" type="parTrans" cxnId="{638B310B-0557-CB47-8F00-D35564FF8600}">
      <dgm:prSet/>
      <dgm:spPr/>
      <dgm:t>
        <a:bodyPr/>
        <a:lstStyle/>
        <a:p>
          <a:endParaRPr lang="de-DE"/>
        </a:p>
      </dgm:t>
    </dgm:pt>
    <dgm:pt modelId="{06D3AE4E-AF3E-2D48-8B4A-063132E43EC5}" type="sibTrans" cxnId="{638B310B-0557-CB47-8F00-D35564FF8600}">
      <dgm:prSet/>
      <dgm:spPr/>
      <dgm:t>
        <a:bodyPr/>
        <a:lstStyle/>
        <a:p>
          <a:endParaRPr lang="de-DE"/>
        </a:p>
      </dgm:t>
    </dgm:pt>
    <dgm:pt modelId="{D8B1DDAA-76D6-FA42-9D07-038F705D3169}">
      <dgm:prSet phldrT="[Text]"/>
      <dgm:spPr/>
      <dgm:t>
        <a:bodyPr/>
        <a:lstStyle/>
        <a:p>
          <a:r>
            <a:rPr lang="de-DE" noProof="0" dirty="0"/>
            <a:t>High congestion, contention, interference</a:t>
          </a:r>
        </a:p>
      </dgm:t>
    </dgm:pt>
    <dgm:pt modelId="{DCD4CF9C-4D56-1B44-B4D2-2152485E6724}" type="parTrans" cxnId="{AAF008AB-0459-D046-8D17-5F9254DA2216}">
      <dgm:prSet/>
      <dgm:spPr/>
      <dgm:t>
        <a:bodyPr/>
        <a:lstStyle/>
        <a:p>
          <a:endParaRPr lang="de-DE"/>
        </a:p>
      </dgm:t>
    </dgm:pt>
    <dgm:pt modelId="{F5F71D90-8CDB-9A4D-8F57-4FFDB4580908}" type="sibTrans" cxnId="{AAF008AB-0459-D046-8D17-5F9254DA2216}">
      <dgm:prSet/>
      <dgm:spPr/>
      <dgm:t>
        <a:bodyPr/>
        <a:lstStyle/>
        <a:p>
          <a:endParaRPr lang="de-DE"/>
        </a:p>
      </dgm:t>
    </dgm:pt>
    <dgm:pt modelId="{1470CC56-188B-493A-8F48-CD4A20811F42}">
      <dgm:prSet phldrT="[Text]"/>
      <dgm:spPr/>
      <dgm:t>
        <a:bodyPr/>
        <a:lstStyle/>
        <a:p>
          <a:r>
            <a:rPr lang="de-DE" noProof="0" dirty="0"/>
            <a:t>Heterogeneous environment</a:t>
          </a:r>
        </a:p>
      </dgm:t>
    </dgm:pt>
    <dgm:pt modelId="{4E76AAFA-C8F0-4215-A0AC-7298E0658526}" type="parTrans" cxnId="{BB3903FF-312C-4F91-AACD-AF61AE474BE7}">
      <dgm:prSet/>
      <dgm:spPr/>
      <dgm:t>
        <a:bodyPr/>
        <a:lstStyle/>
        <a:p>
          <a:endParaRPr lang="en-US"/>
        </a:p>
      </dgm:t>
    </dgm:pt>
    <dgm:pt modelId="{95F147D8-F1A1-400A-8165-A649E8BD1C4E}" type="sibTrans" cxnId="{BB3903FF-312C-4F91-AACD-AF61AE474BE7}">
      <dgm:prSet/>
      <dgm:spPr/>
      <dgm:t>
        <a:bodyPr/>
        <a:lstStyle/>
        <a:p>
          <a:endParaRPr lang="en-US"/>
        </a:p>
      </dgm:t>
    </dgm:pt>
    <dgm:pt modelId="{09D91CAA-E7F1-4875-8220-27C3D555CBDE}" type="pres">
      <dgm:prSet presAssocID="{49FCB0FD-3A43-418F-A087-3D0A978FFC12}" presName="Name0" presStyleCnt="0">
        <dgm:presLayoutVars>
          <dgm:dir/>
          <dgm:animLvl val="lvl"/>
          <dgm:resizeHandles val="exact"/>
        </dgm:presLayoutVars>
      </dgm:prSet>
      <dgm:spPr/>
    </dgm:pt>
    <dgm:pt modelId="{D8915737-3914-43DB-A45F-1091995E4D8C}" type="pres">
      <dgm:prSet presAssocID="{FC493A89-3B02-4BE2-ADD0-7248C0E44CB4}" presName="linNode" presStyleCnt="0"/>
      <dgm:spPr/>
    </dgm:pt>
    <dgm:pt modelId="{A8D54FFB-1F49-4ABC-8F4B-538866EFCE44}" type="pres">
      <dgm:prSet presAssocID="{FC493A89-3B02-4BE2-ADD0-7248C0E44CB4}" presName="parentText" presStyleLbl="node1" presStyleIdx="0" presStyleCnt="4">
        <dgm:presLayoutVars>
          <dgm:chMax val="1"/>
          <dgm:bulletEnabled val="1"/>
        </dgm:presLayoutVars>
      </dgm:prSet>
      <dgm:spPr/>
    </dgm:pt>
    <dgm:pt modelId="{BFE51121-753A-4749-9E6E-D3317DDF1A09}" type="pres">
      <dgm:prSet presAssocID="{FC493A89-3B02-4BE2-ADD0-7248C0E44CB4}" presName="descendantText" presStyleLbl="alignAccFollowNode1" presStyleIdx="0" presStyleCnt="4">
        <dgm:presLayoutVars>
          <dgm:bulletEnabled val="1"/>
        </dgm:presLayoutVars>
      </dgm:prSet>
      <dgm:spPr/>
    </dgm:pt>
    <dgm:pt modelId="{A02D2576-85EE-4BCD-98EE-29387B0CA25A}" type="pres">
      <dgm:prSet presAssocID="{EA1ADB77-3880-4FEF-A3E5-98C9406A4217}" presName="sp" presStyleCnt="0"/>
      <dgm:spPr/>
    </dgm:pt>
    <dgm:pt modelId="{4E792BCB-0767-4E57-9077-D54B7AD2D43A}" type="pres">
      <dgm:prSet presAssocID="{A4C2FFFA-FFE0-41F8-B82A-CAE530B1E7EE}" presName="linNode" presStyleCnt="0"/>
      <dgm:spPr/>
    </dgm:pt>
    <dgm:pt modelId="{027092D1-7DCF-4180-971D-96F5DFEFDFDF}" type="pres">
      <dgm:prSet presAssocID="{A4C2FFFA-FFE0-41F8-B82A-CAE530B1E7EE}" presName="parentText" presStyleLbl="node1" presStyleIdx="1" presStyleCnt="4">
        <dgm:presLayoutVars>
          <dgm:chMax val="1"/>
          <dgm:bulletEnabled val="1"/>
        </dgm:presLayoutVars>
      </dgm:prSet>
      <dgm:spPr/>
    </dgm:pt>
    <dgm:pt modelId="{02FD223A-5003-4377-AEE5-F4AD8F8E46F2}" type="pres">
      <dgm:prSet presAssocID="{A4C2FFFA-FFE0-41F8-B82A-CAE530B1E7EE}" presName="descendantText" presStyleLbl="alignAccFollowNode1" presStyleIdx="1" presStyleCnt="4">
        <dgm:presLayoutVars>
          <dgm:bulletEnabled val="1"/>
        </dgm:presLayoutVars>
      </dgm:prSet>
      <dgm:spPr/>
    </dgm:pt>
    <dgm:pt modelId="{2C3C05E3-A7B2-4FAC-9D1B-82D820830CBB}" type="pres">
      <dgm:prSet presAssocID="{FACCB3E5-9D1D-46B2-85FF-5366B78256DA}" presName="sp" presStyleCnt="0"/>
      <dgm:spPr/>
    </dgm:pt>
    <dgm:pt modelId="{73A2B7D9-7328-42C6-8961-EF7A82979859}" type="pres">
      <dgm:prSet presAssocID="{BA293ED4-1113-44D7-BF49-A355CB0ABAA0}" presName="linNode" presStyleCnt="0"/>
      <dgm:spPr/>
    </dgm:pt>
    <dgm:pt modelId="{339F3F69-34CB-46E6-A839-88C05BDDBB0B}" type="pres">
      <dgm:prSet presAssocID="{BA293ED4-1113-44D7-BF49-A355CB0ABAA0}" presName="parentText" presStyleLbl="node1" presStyleIdx="2" presStyleCnt="4">
        <dgm:presLayoutVars>
          <dgm:chMax val="1"/>
          <dgm:bulletEnabled val="1"/>
        </dgm:presLayoutVars>
      </dgm:prSet>
      <dgm:spPr/>
    </dgm:pt>
    <dgm:pt modelId="{0F1DC900-F9A3-4356-9FC4-F605DE7F2E56}" type="pres">
      <dgm:prSet presAssocID="{BA293ED4-1113-44D7-BF49-A355CB0ABAA0}" presName="descendantText" presStyleLbl="alignAccFollowNode1" presStyleIdx="2" presStyleCnt="4">
        <dgm:presLayoutVars>
          <dgm:bulletEnabled val="1"/>
        </dgm:presLayoutVars>
      </dgm:prSet>
      <dgm:spPr/>
    </dgm:pt>
    <dgm:pt modelId="{199E3E9B-7D9A-4968-94F0-D4E0DFB770C2}" type="pres">
      <dgm:prSet presAssocID="{8C69F3F7-D3C4-4208-841A-6CAF37E9FB6D}" presName="sp" presStyleCnt="0"/>
      <dgm:spPr/>
    </dgm:pt>
    <dgm:pt modelId="{53A85DF7-0663-4814-AEEA-D29FC89033AD}" type="pres">
      <dgm:prSet presAssocID="{5F3DCAC8-9979-493F-96C8-53240BDD4A99}" presName="linNode" presStyleCnt="0"/>
      <dgm:spPr/>
    </dgm:pt>
    <dgm:pt modelId="{68ADB5C1-572C-431E-8B4A-22FD4B378D65}" type="pres">
      <dgm:prSet presAssocID="{5F3DCAC8-9979-493F-96C8-53240BDD4A99}" presName="parentText" presStyleLbl="node1" presStyleIdx="3" presStyleCnt="4">
        <dgm:presLayoutVars>
          <dgm:chMax val="1"/>
          <dgm:bulletEnabled val="1"/>
        </dgm:presLayoutVars>
      </dgm:prSet>
      <dgm:spPr/>
    </dgm:pt>
    <dgm:pt modelId="{ABFF340C-6B18-46D7-8D2B-8409008ACF99}" type="pres">
      <dgm:prSet presAssocID="{5F3DCAC8-9979-493F-96C8-53240BDD4A99}" presName="descendantText" presStyleLbl="alignAccFollowNode1" presStyleIdx="3" presStyleCnt="4">
        <dgm:presLayoutVars>
          <dgm:bulletEnabled val="1"/>
        </dgm:presLayoutVars>
      </dgm:prSet>
      <dgm:spPr/>
    </dgm:pt>
  </dgm:ptLst>
  <dgm:cxnLst>
    <dgm:cxn modelId="{638B310B-0557-CB47-8F00-D35564FF8600}" srcId="{5F3DCAC8-9979-493F-96C8-53240BDD4A99}" destId="{A31616AC-EB44-AF45-BD18-8DC242948CAA}" srcOrd="1" destOrd="0" parTransId="{2769755F-1342-4340-A925-8786DD88C99D}" sibTransId="{06D3AE4E-AF3E-2D48-8B4A-063132E43EC5}"/>
    <dgm:cxn modelId="{E3B49E10-76D2-418F-A155-7725DDC26AEE}" type="presOf" srcId="{1B49A559-2C60-4353-ABA5-D0125A15581C}" destId="{BFE51121-753A-4749-9E6E-D3317DDF1A09}" srcOrd="0" destOrd="0" presId="urn:microsoft.com/office/officeart/2005/8/layout/vList5"/>
    <dgm:cxn modelId="{441E5B11-4B08-481C-9532-A78771C005E7}" srcId="{49FCB0FD-3A43-418F-A087-3D0A978FFC12}" destId="{FC493A89-3B02-4BE2-ADD0-7248C0E44CB4}" srcOrd="0" destOrd="0" parTransId="{9964F12A-70EB-40A5-9B08-B9D9739FAEC3}" sibTransId="{EA1ADB77-3880-4FEF-A3E5-98C9406A4217}"/>
    <dgm:cxn modelId="{D1A2B013-4A81-42C9-BD84-511A59AED995}" srcId="{A4C2FFFA-FFE0-41F8-B82A-CAE530B1E7EE}" destId="{A4821661-0A1D-497F-9DE6-9C42358BCC49}" srcOrd="1" destOrd="0" parTransId="{11849D4F-DEA1-45F1-9F09-A94CCD4A6612}" sibTransId="{19AB43EE-0F01-4B78-9126-67E8488BE0D8}"/>
    <dgm:cxn modelId="{D3AF861A-65B1-4BF6-A012-1304F49E0BD5}" type="presOf" srcId="{A4C2FFFA-FFE0-41F8-B82A-CAE530B1E7EE}" destId="{027092D1-7DCF-4180-971D-96F5DFEFDFDF}" srcOrd="0" destOrd="0" presId="urn:microsoft.com/office/officeart/2005/8/layout/vList5"/>
    <dgm:cxn modelId="{55284225-98DE-436D-B0F0-5FB426FADEE3}" type="presOf" srcId="{A31616AC-EB44-AF45-BD18-8DC242948CAA}" destId="{ABFF340C-6B18-46D7-8D2B-8409008ACF99}" srcOrd="0" destOrd="1" presId="urn:microsoft.com/office/officeart/2005/8/layout/vList5"/>
    <dgm:cxn modelId="{32CC9526-315D-48C6-9E90-F90D6E56A28B}" type="presOf" srcId="{1470CC56-188B-493A-8F48-CD4A20811F42}" destId="{0F1DC900-F9A3-4356-9FC4-F605DE7F2E56}" srcOrd="0" destOrd="2" presId="urn:microsoft.com/office/officeart/2005/8/layout/vList5"/>
    <dgm:cxn modelId="{92E9012B-D4A5-4FB0-934C-76057AC1E500}" srcId="{49FCB0FD-3A43-418F-A087-3D0A978FFC12}" destId="{BA293ED4-1113-44D7-BF49-A355CB0ABAA0}" srcOrd="2" destOrd="0" parTransId="{DDA18DC6-E3EC-4A65-BC4C-3A23F48600F1}" sibTransId="{8C69F3F7-D3C4-4208-841A-6CAF37E9FB6D}"/>
    <dgm:cxn modelId="{86283130-3A6E-47A7-8FE6-BAD33B27FD87}" type="presOf" srcId="{32FFDA2B-A9D5-44B5-955D-9D65C9DBE0DF}" destId="{0F1DC900-F9A3-4356-9FC4-F605DE7F2E56}" srcOrd="0" destOrd="1" presId="urn:microsoft.com/office/officeart/2005/8/layout/vList5"/>
    <dgm:cxn modelId="{FBAC2D43-9681-444F-B9D4-532EC31E2448}" srcId="{BA293ED4-1113-44D7-BF49-A355CB0ABAA0}" destId="{3D9508AE-3DC5-3F43-A225-F950C0BAB96E}" srcOrd="0" destOrd="0" parTransId="{21AC2484-085B-0245-AF22-95384C450372}" sibTransId="{F2D3D8E9-D782-6644-9E05-FFEF63B675DB}"/>
    <dgm:cxn modelId="{22D9A363-7503-46F6-B5C4-41069DC56837}" type="presOf" srcId="{ACD415B4-F62A-467F-A233-1D184A21F60B}" destId="{BFE51121-753A-4749-9E6E-D3317DDF1A09}" srcOrd="0" destOrd="2" presId="urn:microsoft.com/office/officeart/2005/8/layout/vList5"/>
    <dgm:cxn modelId="{1CADB667-CED0-42D3-8B5F-56F89975F631}" type="presOf" srcId="{0ECF0D2F-0CD7-43C8-8421-265392E987D4}" destId="{02FD223A-5003-4377-AEE5-F4AD8F8E46F2}" srcOrd="0" destOrd="0" presId="urn:microsoft.com/office/officeart/2005/8/layout/vList5"/>
    <dgm:cxn modelId="{D047E84B-4213-4412-8DDF-5D797DD27227}" type="presOf" srcId="{BA293ED4-1113-44D7-BF49-A355CB0ABAA0}" destId="{339F3F69-34CB-46E6-A839-88C05BDDBB0B}" srcOrd="0" destOrd="0" presId="urn:microsoft.com/office/officeart/2005/8/layout/vList5"/>
    <dgm:cxn modelId="{11B47E54-7C1D-4165-BA51-20E83A3D47CB}" srcId="{49FCB0FD-3A43-418F-A087-3D0A978FFC12}" destId="{A4C2FFFA-FFE0-41F8-B82A-CAE530B1E7EE}" srcOrd="1" destOrd="0" parTransId="{EA19354D-161D-450F-A9C6-9679C4F9337E}" sibTransId="{FACCB3E5-9D1D-46B2-85FF-5366B78256DA}"/>
    <dgm:cxn modelId="{DA4BB555-74CC-3F44-8179-7BF235CB562B}" srcId="{A4C2FFFA-FFE0-41F8-B82A-CAE530B1E7EE}" destId="{0263247C-8A2B-A446-B40B-680F190D548E}" srcOrd="2" destOrd="0" parTransId="{761F0729-B979-924B-B46D-A2D3B011E11E}" sibTransId="{27879DBC-07C6-E547-AE5D-451B9D68BE5E}"/>
    <dgm:cxn modelId="{1B4B9277-2727-40A2-BFB0-137015374C82}" srcId="{FC493A89-3B02-4BE2-ADD0-7248C0E44CB4}" destId="{1B49A559-2C60-4353-ABA5-D0125A15581C}" srcOrd="0" destOrd="0" parTransId="{B6CD0ABF-738F-4D7F-A97B-6D0C5F7443C4}" sibTransId="{C24651F0-2FA7-4344-92E5-692E71E230C5}"/>
    <dgm:cxn modelId="{E0575C58-6E2D-4D5C-AD5D-340FDF9B3856}" type="presOf" srcId="{3D9508AE-3DC5-3F43-A225-F950C0BAB96E}" destId="{0F1DC900-F9A3-4356-9FC4-F605DE7F2E56}" srcOrd="0" destOrd="0" presId="urn:microsoft.com/office/officeart/2005/8/layout/vList5"/>
    <dgm:cxn modelId="{6830547D-5C73-47FD-9A90-B562C5EA385A}" srcId="{49FCB0FD-3A43-418F-A087-3D0A978FFC12}" destId="{5F3DCAC8-9979-493F-96C8-53240BDD4A99}" srcOrd="3" destOrd="0" parTransId="{04ECE57D-E37B-4463-8832-0E219D8D6E09}" sibTransId="{E8D08280-5914-4314-8788-6C1C388F6898}"/>
    <dgm:cxn modelId="{BEFFC981-47B1-4E50-84AD-C50717858F54}" type="presOf" srcId="{D8B1DDAA-76D6-FA42-9D07-038F705D3169}" destId="{BFE51121-753A-4749-9E6E-D3317DDF1A09}" srcOrd="0" destOrd="1" presId="urn:microsoft.com/office/officeart/2005/8/layout/vList5"/>
    <dgm:cxn modelId="{12266A83-E6A2-2044-A024-BE491C31B071}" srcId="{5F3DCAC8-9979-493F-96C8-53240BDD4A99}" destId="{4A486E81-D795-F24A-9F88-38DD16ED2562}" srcOrd="2" destOrd="0" parTransId="{04020E8C-5860-1D41-86DD-01AEFD108970}" sibTransId="{70A6F989-FDF6-7047-89DA-3B6FEECBCB64}"/>
    <dgm:cxn modelId="{D4236D93-9391-444E-A286-2A5FC1F14E64}" type="presOf" srcId="{49FCB0FD-3A43-418F-A087-3D0A978FFC12}" destId="{09D91CAA-E7F1-4875-8220-27C3D555CBDE}" srcOrd="0" destOrd="0" presId="urn:microsoft.com/office/officeart/2005/8/layout/vList5"/>
    <dgm:cxn modelId="{AAF008AB-0459-D046-8D17-5F9254DA2216}" srcId="{FC493A89-3B02-4BE2-ADD0-7248C0E44CB4}" destId="{D8B1DDAA-76D6-FA42-9D07-038F705D3169}" srcOrd="1" destOrd="0" parTransId="{DCD4CF9C-4D56-1B44-B4D2-2152485E6724}" sibTransId="{F5F71D90-8CDB-9A4D-8F57-4FFDB4580908}"/>
    <dgm:cxn modelId="{D071EDAC-172A-4F7B-B286-630C73CFF27C}" type="presOf" srcId="{6909FB7B-121E-42B7-8943-D17DF3195BF9}" destId="{ABFF340C-6B18-46D7-8D2B-8409008ACF99}" srcOrd="0" destOrd="0" presId="urn:microsoft.com/office/officeart/2005/8/layout/vList5"/>
    <dgm:cxn modelId="{212C82AD-5D2F-4F37-A618-6B3CDEE38527}" srcId="{5F3DCAC8-9979-493F-96C8-53240BDD4A99}" destId="{6909FB7B-121E-42B7-8943-D17DF3195BF9}" srcOrd="0" destOrd="0" parTransId="{18E2B42A-6AB8-4EE9-8565-558EF4580BE0}" sibTransId="{3EE297DE-3313-409C-998D-90E7520AF0BB}"/>
    <dgm:cxn modelId="{081A7DBF-5EF2-45C2-AEF0-48A607755EA8}" type="presOf" srcId="{A4821661-0A1D-497F-9DE6-9C42358BCC49}" destId="{02FD223A-5003-4377-AEE5-F4AD8F8E46F2}" srcOrd="0" destOrd="1" presId="urn:microsoft.com/office/officeart/2005/8/layout/vList5"/>
    <dgm:cxn modelId="{C5ACD8C1-30F7-4BEC-BC4F-2AAA8E0AADAD}" type="presOf" srcId="{FC493A89-3B02-4BE2-ADD0-7248C0E44CB4}" destId="{A8D54FFB-1F49-4ABC-8F4B-538866EFCE44}" srcOrd="0" destOrd="0" presId="urn:microsoft.com/office/officeart/2005/8/layout/vList5"/>
    <dgm:cxn modelId="{FC15D3C6-D3DF-44D8-9928-A18674D6F3E7}" srcId="{BA293ED4-1113-44D7-BF49-A355CB0ABAA0}" destId="{32FFDA2B-A9D5-44B5-955D-9D65C9DBE0DF}" srcOrd="1" destOrd="0" parTransId="{43E1133A-7433-409F-A8A0-0C01BF0210A7}" sibTransId="{BDFE0419-1FF9-4F7A-9B9F-738B501D7435}"/>
    <dgm:cxn modelId="{EB0123C9-EC47-4EF1-908D-A916060F7B5C}" srcId="{FC493A89-3B02-4BE2-ADD0-7248C0E44CB4}" destId="{ACD415B4-F62A-467F-A233-1D184A21F60B}" srcOrd="2" destOrd="0" parTransId="{3FFFDCF4-34D7-419C-8EC3-DC83B8B9EDA4}" sibTransId="{263098AE-FE6C-4A77-8BFA-6EAF3FF17636}"/>
    <dgm:cxn modelId="{F3E622D0-6800-4F03-8407-D0F0F16D2870}" type="presOf" srcId="{5F3DCAC8-9979-493F-96C8-53240BDD4A99}" destId="{68ADB5C1-572C-431E-8B4A-22FD4B378D65}" srcOrd="0" destOrd="0" presId="urn:microsoft.com/office/officeart/2005/8/layout/vList5"/>
    <dgm:cxn modelId="{E157B1DA-D252-45D3-A4BB-C992189416A3}" type="presOf" srcId="{4A486E81-D795-F24A-9F88-38DD16ED2562}" destId="{ABFF340C-6B18-46D7-8D2B-8409008ACF99}" srcOrd="0" destOrd="2" presId="urn:microsoft.com/office/officeart/2005/8/layout/vList5"/>
    <dgm:cxn modelId="{EACEEFEF-5226-4FD6-987D-ACBCED8A7CFE}" type="presOf" srcId="{0263247C-8A2B-A446-B40B-680F190D548E}" destId="{02FD223A-5003-4377-AEE5-F4AD8F8E46F2}" srcOrd="0" destOrd="2" presId="urn:microsoft.com/office/officeart/2005/8/layout/vList5"/>
    <dgm:cxn modelId="{7B6B4BFE-6667-4970-A231-8F0DF987C5C4}" srcId="{A4C2FFFA-FFE0-41F8-B82A-CAE530B1E7EE}" destId="{0ECF0D2F-0CD7-43C8-8421-265392E987D4}" srcOrd="0" destOrd="0" parTransId="{4D9F984B-DCC5-488D-81CA-00A9EC1B6DEB}" sibTransId="{0E83F362-7D01-4767-94F1-2EBDEB97D56A}"/>
    <dgm:cxn modelId="{BB3903FF-312C-4F91-AACD-AF61AE474BE7}" srcId="{BA293ED4-1113-44D7-BF49-A355CB0ABAA0}" destId="{1470CC56-188B-493A-8F48-CD4A20811F42}" srcOrd="2" destOrd="0" parTransId="{4E76AAFA-C8F0-4215-A0AC-7298E0658526}" sibTransId="{95F147D8-F1A1-400A-8165-A649E8BD1C4E}"/>
    <dgm:cxn modelId="{BFDBB129-4890-4ED6-B9AE-5231EA162CBB}" type="presParOf" srcId="{09D91CAA-E7F1-4875-8220-27C3D555CBDE}" destId="{D8915737-3914-43DB-A45F-1091995E4D8C}" srcOrd="0" destOrd="0" presId="urn:microsoft.com/office/officeart/2005/8/layout/vList5"/>
    <dgm:cxn modelId="{150CFD42-730C-4FD1-9ECD-5E74D7805247}" type="presParOf" srcId="{D8915737-3914-43DB-A45F-1091995E4D8C}" destId="{A8D54FFB-1F49-4ABC-8F4B-538866EFCE44}" srcOrd="0" destOrd="0" presId="urn:microsoft.com/office/officeart/2005/8/layout/vList5"/>
    <dgm:cxn modelId="{F6865060-6D57-4ABE-9166-B4960E60504D}" type="presParOf" srcId="{D8915737-3914-43DB-A45F-1091995E4D8C}" destId="{BFE51121-753A-4749-9E6E-D3317DDF1A09}" srcOrd="1" destOrd="0" presId="urn:microsoft.com/office/officeart/2005/8/layout/vList5"/>
    <dgm:cxn modelId="{54AD69B1-8942-4805-95D0-E508E1CBF6B7}" type="presParOf" srcId="{09D91CAA-E7F1-4875-8220-27C3D555CBDE}" destId="{A02D2576-85EE-4BCD-98EE-29387B0CA25A}" srcOrd="1" destOrd="0" presId="urn:microsoft.com/office/officeart/2005/8/layout/vList5"/>
    <dgm:cxn modelId="{2A82AB28-0307-4523-BFB7-3719426EAEE9}" type="presParOf" srcId="{09D91CAA-E7F1-4875-8220-27C3D555CBDE}" destId="{4E792BCB-0767-4E57-9077-D54B7AD2D43A}" srcOrd="2" destOrd="0" presId="urn:microsoft.com/office/officeart/2005/8/layout/vList5"/>
    <dgm:cxn modelId="{C68910AF-C0B6-43EF-8C50-1A936220B57A}" type="presParOf" srcId="{4E792BCB-0767-4E57-9077-D54B7AD2D43A}" destId="{027092D1-7DCF-4180-971D-96F5DFEFDFDF}" srcOrd="0" destOrd="0" presId="urn:microsoft.com/office/officeart/2005/8/layout/vList5"/>
    <dgm:cxn modelId="{19D629C5-848B-41EC-89EC-7B4E095307CD}" type="presParOf" srcId="{4E792BCB-0767-4E57-9077-D54B7AD2D43A}" destId="{02FD223A-5003-4377-AEE5-F4AD8F8E46F2}" srcOrd="1" destOrd="0" presId="urn:microsoft.com/office/officeart/2005/8/layout/vList5"/>
    <dgm:cxn modelId="{2911213B-011E-4A31-9ED8-F663BB90E82A}" type="presParOf" srcId="{09D91CAA-E7F1-4875-8220-27C3D555CBDE}" destId="{2C3C05E3-A7B2-4FAC-9D1B-82D820830CBB}" srcOrd="3" destOrd="0" presId="urn:microsoft.com/office/officeart/2005/8/layout/vList5"/>
    <dgm:cxn modelId="{A3A2A202-C67B-411B-9F8D-261AB19271C9}" type="presParOf" srcId="{09D91CAA-E7F1-4875-8220-27C3D555CBDE}" destId="{73A2B7D9-7328-42C6-8961-EF7A82979859}" srcOrd="4" destOrd="0" presId="urn:microsoft.com/office/officeart/2005/8/layout/vList5"/>
    <dgm:cxn modelId="{E1DCA482-CCF8-4E65-A9FE-5F2E53849AAE}" type="presParOf" srcId="{73A2B7D9-7328-42C6-8961-EF7A82979859}" destId="{339F3F69-34CB-46E6-A839-88C05BDDBB0B}" srcOrd="0" destOrd="0" presId="urn:microsoft.com/office/officeart/2005/8/layout/vList5"/>
    <dgm:cxn modelId="{27E9BA9E-9AAC-4300-80DC-937D25DE338E}" type="presParOf" srcId="{73A2B7D9-7328-42C6-8961-EF7A82979859}" destId="{0F1DC900-F9A3-4356-9FC4-F605DE7F2E56}" srcOrd="1" destOrd="0" presId="urn:microsoft.com/office/officeart/2005/8/layout/vList5"/>
    <dgm:cxn modelId="{CBFF545A-18B5-4303-9627-016491B947A3}" type="presParOf" srcId="{09D91CAA-E7F1-4875-8220-27C3D555CBDE}" destId="{199E3E9B-7D9A-4968-94F0-D4E0DFB770C2}" srcOrd="5" destOrd="0" presId="urn:microsoft.com/office/officeart/2005/8/layout/vList5"/>
    <dgm:cxn modelId="{9673B1A5-3572-4AD4-B4EA-E747653B7A05}" type="presParOf" srcId="{09D91CAA-E7F1-4875-8220-27C3D555CBDE}" destId="{53A85DF7-0663-4814-AEEA-D29FC89033AD}" srcOrd="6" destOrd="0" presId="urn:microsoft.com/office/officeart/2005/8/layout/vList5"/>
    <dgm:cxn modelId="{B8A5B0F1-9AD2-4FE7-B764-86F6E2B229E3}" type="presParOf" srcId="{53A85DF7-0663-4814-AEEA-D29FC89033AD}" destId="{68ADB5C1-572C-431E-8B4A-22FD4B378D65}" srcOrd="0" destOrd="0" presId="urn:microsoft.com/office/officeart/2005/8/layout/vList5"/>
    <dgm:cxn modelId="{4543E673-6675-45D3-81AC-1A1CD706019A}" type="presParOf" srcId="{53A85DF7-0663-4814-AEEA-D29FC89033AD}" destId="{ABFF340C-6B18-46D7-8D2B-8409008ACF99}"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BDFE88F-E82D-41F4-B588-1DAB1F0D88D5}" type="doc">
      <dgm:prSet loTypeId="urn:microsoft.com/office/officeart/2005/8/layout/hierarchy4" loCatId="hierarchy" qsTypeId="urn:microsoft.com/office/officeart/2005/8/quickstyle/simple3" qsCatId="simple" csTypeId="urn:microsoft.com/office/officeart/2005/8/colors/accent1_3" csCatId="accent1" phldr="1"/>
      <dgm:spPr/>
      <dgm:t>
        <a:bodyPr/>
        <a:lstStyle/>
        <a:p>
          <a:endParaRPr lang="de-DE"/>
        </a:p>
      </dgm:t>
    </dgm:pt>
    <dgm:pt modelId="{402F2F36-5301-9449-92D2-45CB8A9A9C69}">
      <dgm:prSet phldrT="[Text]"/>
      <dgm:spPr/>
      <dgm:t>
        <a:bodyPr/>
        <a:lstStyle/>
        <a:p>
          <a:r>
            <a:rPr lang="en-US" noProof="0" dirty="0"/>
            <a:t>Infrastructure-based</a:t>
          </a:r>
        </a:p>
      </dgm:t>
    </dgm:pt>
    <dgm:pt modelId="{C62684CA-F193-6340-967D-81B618E7C5C0}" type="parTrans" cxnId="{E8164A00-2651-7A4D-AE9F-78523939C2B1}">
      <dgm:prSet/>
      <dgm:spPr/>
      <dgm:t>
        <a:bodyPr/>
        <a:lstStyle/>
        <a:p>
          <a:endParaRPr lang="de-DE"/>
        </a:p>
      </dgm:t>
    </dgm:pt>
    <dgm:pt modelId="{212DEBEF-B0F7-8C4D-928C-7EEE4F57691D}" type="sibTrans" cxnId="{E8164A00-2651-7A4D-AE9F-78523939C2B1}">
      <dgm:prSet/>
      <dgm:spPr/>
      <dgm:t>
        <a:bodyPr/>
        <a:lstStyle/>
        <a:p>
          <a:endParaRPr lang="de-DE"/>
        </a:p>
      </dgm:t>
    </dgm:pt>
    <dgm:pt modelId="{EBE2E248-E1CB-D040-9817-52C636A60803}">
      <dgm:prSet phldrT="[Text]"/>
      <dgm:spPr/>
      <dgm:t>
        <a:bodyPr/>
        <a:lstStyle/>
        <a:p>
          <a:r>
            <a:rPr lang="en-US" noProof="0" dirty="0"/>
            <a:t>GSM</a:t>
          </a:r>
          <a:br>
            <a:rPr lang="en-US" noProof="0" dirty="0"/>
          </a:br>
          <a:br>
            <a:rPr lang="en-US" noProof="0" dirty="0"/>
          </a:br>
          <a:r>
            <a:rPr lang="en-US" noProof="0" dirty="0"/>
            <a:t>2G Cellular</a:t>
          </a:r>
        </a:p>
      </dgm:t>
    </dgm:pt>
    <dgm:pt modelId="{8F9A4541-5A97-F440-8BA7-471737151283}" type="parTrans" cxnId="{1C96B78E-DF30-304E-9F72-E4303BB64957}">
      <dgm:prSet/>
      <dgm:spPr/>
      <dgm:t>
        <a:bodyPr/>
        <a:lstStyle/>
        <a:p>
          <a:endParaRPr lang="de-DE"/>
        </a:p>
      </dgm:t>
    </dgm:pt>
    <dgm:pt modelId="{DB5BFD1D-E627-864E-8EEC-CC810D6D6A96}" type="sibTrans" cxnId="{1C96B78E-DF30-304E-9F72-E4303BB64957}">
      <dgm:prSet/>
      <dgm:spPr/>
      <dgm:t>
        <a:bodyPr/>
        <a:lstStyle/>
        <a:p>
          <a:endParaRPr lang="de-DE"/>
        </a:p>
      </dgm:t>
    </dgm:pt>
    <dgm:pt modelId="{DED56B82-EDE9-A14D-B75E-00041184C504}">
      <dgm:prSet phldrT="[Text]"/>
      <dgm:spPr/>
      <dgm:t>
        <a:bodyPr/>
        <a:lstStyle/>
        <a:p>
          <a:r>
            <a:rPr lang="en-US" noProof="0" dirty="0"/>
            <a:t>Infrastructureless</a:t>
          </a:r>
        </a:p>
      </dgm:t>
    </dgm:pt>
    <dgm:pt modelId="{0E9D4B66-40BB-4D4F-AD4F-C0CEB6E26025}" type="parTrans" cxnId="{C637D0CA-E247-9E4C-8215-13B47EEFC970}">
      <dgm:prSet/>
      <dgm:spPr/>
      <dgm:t>
        <a:bodyPr/>
        <a:lstStyle/>
        <a:p>
          <a:endParaRPr lang="de-DE"/>
        </a:p>
      </dgm:t>
    </dgm:pt>
    <dgm:pt modelId="{4A91953C-0488-EF44-A170-CF2CD5B7F657}" type="sibTrans" cxnId="{C637D0CA-E247-9E4C-8215-13B47EEFC970}">
      <dgm:prSet/>
      <dgm:spPr/>
      <dgm:t>
        <a:bodyPr/>
        <a:lstStyle/>
        <a:p>
          <a:endParaRPr lang="de-DE"/>
        </a:p>
      </dgm:t>
    </dgm:pt>
    <dgm:pt modelId="{B5366B22-A096-5E4C-935B-40D31A2571F8}">
      <dgm:prSet phldrT="[Text]"/>
      <dgm:spPr/>
      <dgm:t>
        <a:bodyPr/>
        <a:lstStyle/>
        <a:p>
          <a:r>
            <a:rPr lang="en-US" noProof="0" dirty="0"/>
            <a:t>Millimeter,</a:t>
          </a:r>
          <a:br>
            <a:rPr lang="en-US" noProof="0" dirty="0"/>
          </a:br>
          <a:r>
            <a:rPr lang="en-US" noProof="0" dirty="0"/>
            <a:t>Infrared, Visible</a:t>
          </a:r>
        </a:p>
      </dgm:t>
    </dgm:pt>
    <dgm:pt modelId="{EC8499B4-01CB-DB47-A56A-011838FFFBC1}" type="parTrans" cxnId="{84604BFA-DB4E-8343-A31C-F38FD2F46EB4}">
      <dgm:prSet/>
      <dgm:spPr/>
      <dgm:t>
        <a:bodyPr/>
        <a:lstStyle/>
        <a:p>
          <a:endParaRPr lang="de-DE"/>
        </a:p>
      </dgm:t>
    </dgm:pt>
    <dgm:pt modelId="{CCFAAA22-FBEB-5347-9277-ED00F32E96F2}" type="sibTrans" cxnId="{84604BFA-DB4E-8343-A31C-F38FD2F46EB4}">
      <dgm:prSet/>
      <dgm:spPr/>
      <dgm:t>
        <a:bodyPr/>
        <a:lstStyle/>
        <a:p>
          <a:endParaRPr lang="de-DE"/>
        </a:p>
      </dgm:t>
    </dgm:pt>
    <dgm:pt modelId="{7C9BF9FF-237C-9548-8715-7180ECFA3B3E}">
      <dgm:prSet phldrT="[Text]"/>
      <dgm:spPr/>
      <dgm:t>
        <a:bodyPr/>
        <a:lstStyle/>
        <a:p>
          <a:r>
            <a:rPr lang="en-US" noProof="0" dirty="0"/>
            <a:t>802.15.1 Bluetooth</a:t>
          </a:r>
        </a:p>
      </dgm:t>
    </dgm:pt>
    <dgm:pt modelId="{52910E79-4D5C-1546-BBFD-3A04E6D2657D}" type="parTrans" cxnId="{BAF75F02-FBC3-2C4D-8CB2-E1172CBDB4B4}">
      <dgm:prSet/>
      <dgm:spPr/>
      <dgm:t>
        <a:bodyPr/>
        <a:lstStyle/>
        <a:p>
          <a:endParaRPr lang="de-DE"/>
        </a:p>
      </dgm:t>
    </dgm:pt>
    <dgm:pt modelId="{ADEFB53A-35C9-344D-89B9-64E3EAB778CD}" type="sibTrans" cxnId="{BAF75F02-FBC3-2C4D-8CB2-E1172CBDB4B4}">
      <dgm:prSet/>
      <dgm:spPr/>
      <dgm:t>
        <a:bodyPr/>
        <a:lstStyle/>
        <a:p>
          <a:endParaRPr lang="de-DE"/>
        </a:p>
      </dgm:t>
    </dgm:pt>
    <dgm:pt modelId="{CEB968E2-6826-1446-9D0F-239431044D91}">
      <dgm:prSet phldrT="[Text]"/>
      <dgm:spPr/>
      <dgm:t>
        <a:bodyPr/>
        <a:lstStyle/>
        <a:p>
          <a:r>
            <a:rPr lang="en-US" noProof="0" dirty="0"/>
            <a:t>802.15.4 ZigBee</a:t>
          </a:r>
        </a:p>
      </dgm:t>
    </dgm:pt>
    <dgm:pt modelId="{615C2DBF-9B19-5646-8316-AD72967946B1}" type="parTrans" cxnId="{84AF722C-A763-FB4D-8C85-5C7F985AC4E3}">
      <dgm:prSet/>
      <dgm:spPr/>
      <dgm:t>
        <a:bodyPr/>
        <a:lstStyle/>
        <a:p>
          <a:endParaRPr lang="de-DE"/>
        </a:p>
      </dgm:t>
    </dgm:pt>
    <dgm:pt modelId="{1405C912-EED5-E440-9FD3-70CBDF41891E}" type="sibTrans" cxnId="{84AF722C-A763-FB4D-8C85-5C7F985AC4E3}">
      <dgm:prSet/>
      <dgm:spPr/>
      <dgm:t>
        <a:bodyPr/>
        <a:lstStyle/>
        <a:p>
          <a:endParaRPr lang="de-DE"/>
        </a:p>
      </dgm:t>
    </dgm:pt>
    <dgm:pt modelId="{8616596B-8182-A543-9668-7A99CF9EFB02}">
      <dgm:prSet phldrT="[Text]"/>
      <dgm:spPr/>
      <dgm:t>
        <a:bodyPr/>
        <a:lstStyle/>
        <a:p>
          <a:r>
            <a:rPr lang="en-US" noProof="0" dirty="0"/>
            <a:t>DSRC / WAVE</a:t>
          </a:r>
        </a:p>
      </dgm:t>
    </dgm:pt>
    <dgm:pt modelId="{C63FF0BB-5D4C-3840-93EA-B519A75727B1}" type="parTrans" cxnId="{40C78625-B941-CA48-8789-CF40844136C3}">
      <dgm:prSet/>
      <dgm:spPr/>
      <dgm:t>
        <a:bodyPr/>
        <a:lstStyle/>
        <a:p>
          <a:endParaRPr lang="de-DE"/>
        </a:p>
      </dgm:t>
    </dgm:pt>
    <dgm:pt modelId="{F22C6DED-0FF6-B945-B3D9-76DB6510F36B}" type="sibTrans" cxnId="{40C78625-B941-CA48-8789-CF40844136C3}">
      <dgm:prSet/>
      <dgm:spPr/>
      <dgm:t>
        <a:bodyPr/>
        <a:lstStyle/>
        <a:p>
          <a:endParaRPr lang="de-DE"/>
        </a:p>
      </dgm:t>
    </dgm:pt>
    <dgm:pt modelId="{FD3825BC-5A63-2041-9295-32B33CAF2B73}">
      <dgm:prSet phldrT="[Text]"/>
      <dgm:spPr/>
      <dgm:t>
        <a:bodyPr/>
        <a:lstStyle/>
        <a:p>
          <a:r>
            <a:rPr lang="en-US" noProof="0" dirty="0"/>
            <a:t>UMTS</a:t>
          </a:r>
          <a:br>
            <a:rPr lang="en-US" noProof="0" dirty="0"/>
          </a:br>
          <a:br>
            <a:rPr lang="en-US" noProof="0" dirty="0"/>
          </a:br>
          <a:r>
            <a:rPr lang="en-US" noProof="0" dirty="0"/>
            <a:t>3G</a:t>
          </a:r>
          <a:br>
            <a:rPr lang="en-US" noProof="0" dirty="0"/>
          </a:br>
          <a:r>
            <a:rPr lang="en-US" noProof="0" dirty="0"/>
            <a:t>Cellular</a:t>
          </a:r>
        </a:p>
      </dgm:t>
    </dgm:pt>
    <dgm:pt modelId="{7AF13A8A-202C-6741-9BEF-08E4DBA9CB69}" type="parTrans" cxnId="{5B4DE513-63BF-4243-8AA7-021269F73D62}">
      <dgm:prSet/>
      <dgm:spPr/>
      <dgm:t>
        <a:bodyPr/>
        <a:lstStyle/>
        <a:p>
          <a:endParaRPr lang="de-DE"/>
        </a:p>
      </dgm:t>
    </dgm:pt>
    <dgm:pt modelId="{FE601B27-06B9-ED47-9DA6-23CDFCA1FB70}" type="sibTrans" cxnId="{5B4DE513-63BF-4243-8AA7-021269F73D62}">
      <dgm:prSet/>
      <dgm:spPr/>
      <dgm:t>
        <a:bodyPr/>
        <a:lstStyle/>
        <a:p>
          <a:endParaRPr lang="de-DE"/>
        </a:p>
      </dgm:t>
    </dgm:pt>
    <dgm:pt modelId="{E70DF569-0F4B-B047-AF35-52C42610AEE9}">
      <dgm:prSet phldrT="[Text]"/>
      <dgm:spPr/>
      <dgm:t>
        <a:bodyPr/>
        <a:lstStyle/>
        <a:p>
          <a:r>
            <a:rPr lang="en-US" noProof="0" dirty="0"/>
            <a:t>LTE / WiMAX</a:t>
          </a:r>
        </a:p>
        <a:p>
          <a:br>
            <a:rPr lang="en-US" noProof="0" dirty="0"/>
          </a:br>
          <a:r>
            <a:rPr lang="en-US" noProof="0" dirty="0"/>
            <a:t>4G Cell.</a:t>
          </a:r>
        </a:p>
      </dgm:t>
    </dgm:pt>
    <dgm:pt modelId="{E41AF851-AC65-7446-BFD6-97F9372B1F7B}" type="parTrans" cxnId="{5BC9A296-D1CA-1D40-B3A9-023741E82693}">
      <dgm:prSet/>
      <dgm:spPr/>
      <dgm:t>
        <a:bodyPr/>
        <a:lstStyle/>
        <a:p>
          <a:endParaRPr lang="de-DE"/>
        </a:p>
      </dgm:t>
    </dgm:pt>
    <dgm:pt modelId="{6AC008D1-1FF0-074F-9F0F-F4C30AFC4D2F}" type="sibTrans" cxnId="{5BC9A296-D1CA-1D40-B3A9-023741E82693}">
      <dgm:prSet/>
      <dgm:spPr/>
      <dgm:t>
        <a:bodyPr/>
        <a:lstStyle/>
        <a:p>
          <a:endParaRPr lang="de-DE"/>
        </a:p>
      </dgm:t>
    </dgm:pt>
    <dgm:pt modelId="{A1CD1C03-058D-BA48-84F1-572674EBE15A}">
      <dgm:prSet phldrT="[Text]"/>
      <dgm:spPr/>
      <dgm:t>
        <a:bodyPr/>
        <a:lstStyle/>
        <a:p>
          <a:r>
            <a:rPr lang="en-US" noProof="0" dirty="0"/>
            <a:t>802.11</a:t>
          </a:r>
          <a:br>
            <a:rPr lang="en-US" noProof="0" dirty="0"/>
          </a:br>
          <a:r>
            <a:rPr lang="en-US" noProof="0" dirty="0"/>
            <a:t>Wi-Fi</a:t>
          </a:r>
        </a:p>
      </dgm:t>
    </dgm:pt>
    <dgm:pt modelId="{0331DE75-409E-4D4B-9A24-B2121CA17229}" type="parTrans" cxnId="{5C01F899-4B32-3C49-AEE4-2E6AC02CE958}">
      <dgm:prSet/>
      <dgm:spPr/>
      <dgm:t>
        <a:bodyPr/>
        <a:lstStyle/>
        <a:p>
          <a:endParaRPr lang="de-DE"/>
        </a:p>
      </dgm:t>
    </dgm:pt>
    <dgm:pt modelId="{E0C4F617-D6C8-9643-834B-D997E97722EB}" type="sibTrans" cxnId="{5C01F899-4B32-3C49-AEE4-2E6AC02CE958}">
      <dgm:prSet/>
      <dgm:spPr/>
      <dgm:t>
        <a:bodyPr/>
        <a:lstStyle/>
        <a:p>
          <a:endParaRPr lang="de-DE"/>
        </a:p>
      </dgm:t>
    </dgm:pt>
    <dgm:pt modelId="{2B649030-5A46-924F-A1E8-85B6ACC58FAD}">
      <dgm:prSet phldrT="[Text]"/>
      <dgm:spPr/>
      <dgm:t>
        <a:bodyPr/>
        <a:lstStyle/>
        <a:p>
          <a:r>
            <a:rPr lang="en-US" noProof="0" dirty="0"/>
            <a:t>Broadcast</a:t>
          </a:r>
        </a:p>
      </dgm:t>
    </dgm:pt>
    <dgm:pt modelId="{6F05D5A1-261F-5243-B1D6-0FE1F47E00E8}" type="parTrans" cxnId="{0D45EB07-6690-FA4A-9ECC-021A6F70F11B}">
      <dgm:prSet/>
      <dgm:spPr/>
      <dgm:t>
        <a:bodyPr/>
        <a:lstStyle/>
        <a:p>
          <a:endParaRPr lang="de-DE"/>
        </a:p>
      </dgm:t>
    </dgm:pt>
    <dgm:pt modelId="{7E213196-8A08-3B47-B870-E6FDC70FFDC6}" type="sibTrans" cxnId="{0D45EB07-6690-FA4A-9ECC-021A6F70F11B}">
      <dgm:prSet/>
      <dgm:spPr/>
      <dgm:t>
        <a:bodyPr/>
        <a:lstStyle/>
        <a:p>
          <a:endParaRPr lang="de-DE"/>
        </a:p>
      </dgm:t>
    </dgm:pt>
    <dgm:pt modelId="{CE16396F-EDC9-B342-A364-D74BA2566694}">
      <dgm:prSet phldrT="[Text]"/>
      <dgm:spPr/>
      <dgm:t>
        <a:bodyPr/>
        <a:lstStyle/>
        <a:p>
          <a:r>
            <a:rPr lang="en-US" noProof="0" dirty="0"/>
            <a:t>Short Range</a:t>
          </a:r>
        </a:p>
      </dgm:t>
    </dgm:pt>
    <dgm:pt modelId="{4F012DE6-980B-5548-940C-5895A98649A9}" type="parTrans" cxnId="{53333AB0-438E-CC49-A8FE-9655CD3113DB}">
      <dgm:prSet/>
      <dgm:spPr/>
      <dgm:t>
        <a:bodyPr/>
        <a:lstStyle/>
        <a:p>
          <a:endParaRPr lang="de-DE"/>
        </a:p>
      </dgm:t>
    </dgm:pt>
    <dgm:pt modelId="{AEDA49EF-4BED-EA45-95E9-0467DFE671B0}" type="sibTrans" cxnId="{53333AB0-438E-CC49-A8FE-9655CD3113DB}">
      <dgm:prSet/>
      <dgm:spPr/>
      <dgm:t>
        <a:bodyPr/>
        <a:lstStyle/>
        <a:p>
          <a:endParaRPr lang="de-DE"/>
        </a:p>
      </dgm:t>
    </dgm:pt>
    <dgm:pt modelId="{54B4E0B7-0CAE-5D40-942C-EBECE61F2EC2}">
      <dgm:prSet phldrT="[Text]"/>
      <dgm:spPr/>
      <dgm:t>
        <a:bodyPr/>
        <a:lstStyle/>
        <a:p>
          <a:r>
            <a:rPr lang="en-US" noProof="0" dirty="0"/>
            <a:t>Medium Range</a:t>
          </a:r>
        </a:p>
      </dgm:t>
    </dgm:pt>
    <dgm:pt modelId="{C6797310-10D9-B948-A4D9-3AC250422C03}" type="parTrans" cxnId="{6290FA43-01B6-E848-A142-D6984A7EE43D}">
      <dgm:prSet/>
      <dgm:spPr/>
      <dgm:t>
        <a:bodyPr/>
        <a:lstStyle/>
        <a:p>
          <a:endParaRPr lang="de-DE"/>
        </a:p>
      </dgm:t>
    </dgm:pt>
    <dgm:pt modelId="{B812A3D7-21FC-8F4F-892A-9C31988C049E}" type="sibTrans" cxnId="{6290FA43-01B6-E848-A142-D6984A7EE43D}">
      <dgm:prSet/>
      <dgm:spPr/>
      <dgm:t>
        <a:bodyPr/>
        <a:lstStyle/>
        <a:p>
          <a:endParaRPr lang="de-DE"/>
        </a:p>
      </dgm:t>
    </dgm:pt>
    <dgm:pt modelId="{408306C7-519F-A543-9157-BD0565B714B4}">
      <dgm:prSet phldrT="[Text]"/>
      <dgm:spPr/>
      <dgm:t>
        <a:bodyPr/>
        <a:lstStyle/>
        <a:p>
          <a:r>
            <a:rPr lang="en-US" noProof="0" dirty="0"/>
            <a:t>FM Radio,</a:t>
          </a:r>
          <a:br>
            <a:rPr lang="en-US" noProof="0" dirty="0"/>
          </a:br>
          <a:r>
            <a:rPr lang="en-US" noProof="0" dirty="0"/>
            <a:t>DAB/DVB,</a:t>
          </a:r>
          <a:br>
            <a:rPr lang="en-US" noProof="0" dirty="0"/>
          </a:br>
          <a:r>
            <a:rPr lang="en-US" noProof="0" dirty="0"/>
            <a:t>…</a:t>
          </a:r>
        </a:p>
      </dgm:t>
    </dgm:pt>
    <dgm:pt modelId="{685BDEE8-393E-6F4A-8174-D05C82B6332A}" type="parTrans" cxnId="{057BE023-8EDF-CE4B-A97B-80E6A33AA33C}">
      <dgm:prSet/>
      <dgm:spPr/>
      <dgm:t>
        <a:bodyPr/>
        <a:lstStyle/>
        <a:p>
          <a:endParaRPr lang="de-DE"/>
        </a:p>
      </dgm:t>
    </dgm:pt>
    <dgm:pt modelId="{3C418DC7-5F91-C74B-BE29-369714D20C77}" type="sibTrans" cxnId="{057BE023-8EDF-CE4B-A97B-80E6A33AA33C}">
      <dgm:prSet/>
      <dgm:spPr/>
      <dgm:t>
        <a:bodyPr/>
        <a:lstStyle/>
        <a:p>
          <a:endParaRPr lang="de-DE"/>
        </a:p>
      </dgm:t>
    </dgm:pt>
    <dgm:pt modelId="{2A3814A6-D82F-E64D-816A-C74DA75F9DB6}">
      <dgm:prSet phldrT="[Text]"/>
      <dgm:spPr/>
      <dgm:t>
        <a:bodyPr/>
        <a:lstStyle/>
        <a:p>
          <a:r>
            <a:rPr lang="en-US" noProof="0" dirty="0"/>
            <a:t>Cellular</a:t>
          </a:r>
          <a:endParaRPr lang="de-DE" dirty="0"/>
        </a:p>
      </dgm:t>
    </dgm:pt>
    <dgm:pt modelId="{BBC184DF-223A-E54A-9643-506F60955F7F}" type="parTrans" cxnId="{F29C8728-B9E5-2F4E-BFA0-E95CE44600B8}">
      <dgm:prSet/>
      <dgm:spPr/>
      <dgm:t>
        <a:bodyPr/>
        <a:lstStyle/>
        <a:p>
          <a:endParaRPr lang="de-DE"/>
        </a:p>
      </dgm:t>
    </dgm:pt>
    <dgm:pt modelId="{E4D1DD2E-88F7-FC41-9E53-31255F9030C4}" type="sibTrans" cxnId="{F29C8728-B9E5-2F4E-BFA0-E95CE44600B8}">
      <dgm:prSet/>
      <dgm:spPr/>
      <dgm:t>
        <a:bodyPr/>
        <a:lstStyle/>
        <a:p>
          <a:endParaRPr lang="de-DE"/>
        </a:p>
      </dgm:t>
    </dgm:pt>
    <dgm:pt modelId="{BB3D1489-3624-4548-80D9-D9CF6289BB08}">
      <dgm:prSet phldrT="[Text]"/>
      <dgm:spPr/>
      <dgm:t>
        <a:bodyPr/>
        <a:lstStyle/>
        <a:p>
          <a:r>
            <a:rPr lang="en-US" noProof="0" dirty="0"/>
            <a:t>Wireless Communication Technologies</a:t>
          </a:r>
        </a:p>
      </dgm:t>
    </dgm:pt>
    <dgm:pt modelId="{60474C45-E0F5-4E92-8CA1-18266FB88F83}" type="sibTrans" cxnId="{7CDFE98F-E21E-42F8-A9BF-84F346507A0B}">
      <dgm:prSet/>
      <dgm:spPr/>
      <dgm:t>
        <a:bodyPr/>
        <a:lstStyle/>
        <a:p>
          <a:endParaRPr lang="de-DE"/>
        </a:p>
      </dgm:t>
    </dgm:pt>
    <dgm:pt modelId="{F8F06D65-317D-4762-8877-67314E15D506}" type="parTrans" cxnId="{7CDFE98F-E21E-42F8-A9BF-84F346507A0B}">
      <dgm:prSet/>
      <dgm:spPr/>
      <dgm:t>
        <a:bodyPr/>
        <a:lstStyle/>
        <a:p>
          <a:endParaRPr lang="de-DE"/>
        </a:p>
      </dgm:t>
    </dgm:pt>
    <dgm:pt modelId="{2E82F368-1B1A-D047-A7C7-AF9FEE55D007}" type="pres">
      <dgm:prSet presAssocID="{3BDFE88F-E82D-41F4-B588-1DAB1F0D88D5}" presName="Name0" presStyleCnt="0">
        <dgm:presLayoutVars>
          <dgm:chPref val="1"/>
          <dgm:dir/>
          <dgm:animOne val="branch"/>
          <dgm:animLvl val="lvl"/>
          <dgm:resizeHandles/>
        </dgm:presLayoutVars>
      </dgm:prSet>
      <dgm:spPr/>
    </dgm:pt>
    <dgm:pt modelId="{3D168F9E-25C7-1649-B63B-D619FEEEEF91}" type="pres">
      <dgm:prSet presAssocID="{BB3D1489-3624-4548-80D9-D9CF6289BB08}" presName="vertOne" presStyleCnt="0"/>
      <dgm:spPr/>
    </dgm:pt>
    <dgm:pt modelId="{CD570499-39F7-F247-8440-E05841EC9D1E}" type="pres">
      <dgm:prSet presAssocID="{BB3D1489-3624-4548-80D9-D9CF6289BB08}" presName="txOne" presStyleLbl="node0" presStyleIdx="0" presStyleCnt="1">
        <dgm:presLayoutVars>
          <dgm:chPref val="3"/>
        </dgm:presLayoutVars>
      </dgm:prSet>
      <dgm:spPr/>
    </dgm:pt>
    <dgm:pt modelId="{7DB9AA20-A22D-DB41-9703-EE9CE7FF641C}" type="pres">
      <dgm:prSet presAssocID="{BB3D1489-3624-4548-80D9-D9CF6289BB08}" presName="parTransOne" presStyleCnt="0"/>
      <dgm:spPr/>
    </dgm:pt>
    <dgm:pt modelId="{B386E317-4651-FE45-B9A0-0D460C582220}" type="pres">
      <dgm:prSet presAssocID="{BB3D1489-3624-4548-80D9-D9CF6289BB08}" presName="horzOne" presStyleCnt="0"/>
      <dgm:spPr/>
    </dgm:pt>
    <dgm:pt modelId="{78A77C4D-BDEE-F64E-A56F-8E3465BB90DB}" type="pres">
      <dgm:prSet presAssocID="{402F2F36-5301-9449-92D2-45CB8A9A9C69}" presName="vertTwo" presStyleCnt="0"/>
      <dgm:spPr/>
    </dgm:pt>
    <dgm:pt modelId="{5C062EB9-3D46-A741-A8F9-A54F2E911193}" type="pres">
      <dgm:prSet presAssocID="{402F2F36-5301-9449-92D2-45CB8A9A9C69}" presName="txTwo" presStyleLbl="node2" presStyleIdx="0" presStyleCnt="2">
        <dgm:presLayoutVars>
          <dgm:chPref val="3"/>
        </dgm:presLayoutVars>
      </dgm:prSet>
      <dgm:spPr/>
    </dgm:pt>
    <dgm:pt modelId="{431C90B7-8E80-924C-A457-D27C3D8D25DC}" type="pres">
      <dgm:prSet presAssocID="{402F2F36-5301-9449-92D2-45CB8A9A9C69}" presName="parTransTwo" presStyleCnt="0"/>
      <dgm:spPr/>
    </dgm:pt>
    <dgm:pt modelId="{C71737DB-BB0C-CF4E-897B-716EF57AFD77}" type="pres">
      <dgm:prSet presAssocID="{402F2F36-5301-9449-92D2-45CB8A9A9C69}" presName="horzTwo" presStyleCnt="0"/>
      <dgm:spPr/>
    </dgm:pt>
    <dgm:pt modelId="{86F8C3C0-C9C9-8047-8256-CCF23FFA6823}" type="pres">
      <dgm:prSet presAssocID="{2B649030-5A46-924F-A1E8-85B6ACC58FAD}" presName="vertThree" presStyleCnt="0"/>
      <dgm:spPr/>
    </dgm:pt>
    <dgm:pt modelId="{9BFB7000-494B-C54E-AC4F-69E8FF10A710}" type="pres">
      <dgm:prSet presAssocID="{2B649030-5A46-924F-A1E8-85B6ACC58FAD}" presName="txThree" presStyleLbl="node3" presStyleIdx="0" presStyleCnt="4">
        <dgm:presLayoutVars>
          <dgm:chPref val="3"/>
        </dgm:presLayoutVars>
      </dgm:prSet>
      <dgm:spPr/>
    </dgm:pt>
    <dgm:pt modelId="{ADAAFCA1-C34B-0E45-A2C5-01F32724A775}" type="pres">
      <dgm:prSet presAssocID="{2B649030-5A46-924F-A1E8-85B6ACC58FAD}" presName="parTransThree" presStyleCnt="0"/>
      <dgm:spPr/>
    </dgm:pt>
    <dgm:pt modelId="{9EC3E197-73B1-D544-8F19-934A6D955F4D}" type="pres">
      <dgm:prSet presAssocID="{2B649030-5A46-924F-A1E8-85B6ACC58FAD}" presName="horzThree" presStyleCnt="0"/>
      <dgm:spPr/>
    </dgm:pt>
    <dgm:pt modelId="{6879EF3A-499D-7144-8349-B222CF37321D}" type="pres">
      <dgm:prSet presAssocID="{408306C7-519F-A543-9157-BD0565B714B4}" presName="vertFour" presStyleCnt="0">
        <dgm:presLayoutVars>
          <dgm:chPref val="3"/>
        </dgm:presLayoutVars>
      </dgm:prSet>
      <dgm:spPr/>
    </dgm:pt>
    <dgm:pt modelId="{77B58599-1DD4-9F44-A4AD-D30B1DB8FA30}" type="pres">
      <dgm:prSet presAssocID="{408306C7-519F-A543-9157-BD0565B714B4}" presName="txFour" presStyleLbl="node4" presStyleIdx="0" presStyleCnt="9">
        <dgm:presLayoutVars>
          <dgm:chPref val="3"/>
        </dgm:presLayoutVars>
      </dgm:prSet>
      <dgm:spPr/>
    </dgm:pt>
    <dgm:pt modelId="{03901652-3783-6949-A6EA-7632BADC52F9}" type="pres">
      <dgm:prSet presAssocID="{408306C7-519F-A543-9157-BD0565B714B4}" presName="horzFour" presStyleCnt="0"/>
      <dgm:spPr/>
    </dgm:pt>
    <dgm:pt modelId="{241E2212-BFC9-2D49-891F-CED931B31630}" type="pres">
      <dgm:prSet presAssocID="{7E213196-8A08-3B47-B870-E6FDC70FFDC6}" presName="sibSpaceThree" presStyleCnt="0"/>
      <dgm:spPr/>
    </dgm:pt>
    <dgm:pt modelId="{8C3AAE30-3568-F24F-AE9D-89D1D6D0EC05}" type="pres">
      <dgm:prSet presAssocID="{2A3814A6-D82F-E64D-816A-C74DA75F9DB6}" presName="vertThree" presStyleCnt="0"/>
      <dgm:spPr/>
    </dgm:pt>
    <dgm:pt modelId="{B37C39C3-0D8F-A444-8BFC-E60A6B42FD33}" type="pres">
      <dgm:prSet presAssocID="{2A3814A6-D82F-E64D-816A-C74DA75F9DB6}" presName="txThree" presStyleLbl="node3" presStyleIdx="1" presStyleCnt="4">
        <dgm:presLayoutVars>
          <dgm:chPref val="3"/>
        </dgm:presLayoutVars>
      </dgm:prSet>
      <dgm:spPr/>
    </dgm:pt>
    <dgm:pt modelId="{6B76FED1-2801-F048-BC69-7EC70BEEE548}" type="pres">
      <dgm:prSet presAssocID="{2A3814A6-D82F-E64D-816A-C74DA75F9DB6}" presName="parTransThree" presStyleCnt="0"/>
      <dgm:spPr/>
    </dgm:pt>
    <dgm:pt modelId="{FE5D820C-9A76-4E44-8574-6F895C7D980C}" type="pres">
      <dgm:prSet presAssocID="{2A3814A6-D82F-E64D-816A-C74DA75F9DB6}" presName="horzThree" presStyleCnt="0"/>
      <dgm:spPr/>
    </dgm:pt>
    <dgm:pt modelId="{BDA2B107-EE17-524E-AA5A-A6ABAB50B42D}" type="pres">
      <dgm:prSet presAssocID="{EBE2E248-E1CB-D040-9817-52C636A60803}" presName="vertFour" presStyleCnt="0">
        <dgm:presLayoutVars>
          <dgm:chPref val="3"/>
        </dgm:presLayoutVars>
      </dgm:prSet>
      <dgm:spPr/>
    </dgm:pt>
    <dgm:pt modelId="{2D8F536A-C5B6-6147-939A-F97F4CBD1BA0}" type="pres">
      <dgm:prSet presAssocID="{EBE2E248-E1CB-D040-9817-52C636A60803}" presName="txFour" presStyleLbl="node4" presStyleIdx="1" presStyleCnt="9">
        <dgm:presLayoutVars>
          <dgm:chPref val="3"/>
        </dgm:presLayoutVars>
      </dgm:prSet>
      <dgm:spPr/>
    </dgm:pt>
    <dgm:pt modelId="{F07D25B7-21DD-0D4E-9FE5-0B8E49243C97}" type="pres">
      <dgm:prSet presAssocID="{EBE2E248-E1CB-D040-9817-52C636A60803}" presName="horzFour" presStyleCnt="0"/>
      <dgm:spPr/>
    </dgm:pt>
    <dgm:pt modelId="{2D8D483F-786C-9F47-8024-F9D9F05F5A5E}" type="pres">
      <dgm:prSet presAssocID="{DB5BFD1D-E627-864E-8EEC-CC810D6D6A96}" presName="sibSpaceFour" presStyleCnt="0"/>
      <dgm:spPr/>
    </dgm:pt>
    <dgm:pt modelId="{68DCE9E4-16BF-7343-8828-C0904D37F469}" type="pres">
      <dgm:prSet presAssocID="{FD3825BC-5A63-2041-9295-32B33CAF2B73}" presName="vertFour" presStyleCnt="0">
        <dgm:presLayoutVars>
          <dgm:chPref val="3"/>
        </dgm:presLayoutVars>
      </dgm:prSet>
      <dgm:spPr/>
    </dgm:pt>
    <dgm:pt modelId="{035695E5-5805-B94B-BD8A-9352029625C9}" type="pres">
      <dgm:prSet presAssocID="{FD3825BC-5A63-2041-9295-32B33CAF2B73}" presName="txFour" presStyleLbl="node4" presStyleIdx="2" presStyleCnt="9">
        <dgm:presLayoutVars>
          <dgm:chPref val="3"/>
        </dgm:presLayoutVars>
      </dgm:prSet>
      <dgm:spPr/>
    </dgm:pt>
    <dgm:pt modelId="{EFBA8D67-9A8C-0E4D-893C-37E52F86CC24}" type="pres">
      <dgm:prSet presAssocID="{FD3825BC-5A63-2041-9295-32B33CAF2B73}" presName="horzFour" presStyleCnt="0"/>
      <dgm:spPr/>
    </dgm:pt>
    <dgm:pt modelId="{A3092444-3D11-3248-9A73-FF51BE72D056}" type="pres">
      <dgm:prSet presAssocID="{FE601B27-06B9-ED47-9DA6-23CDFCA1FB70}" presName="sibSpaceFour" presStyleCnt="0"/>
      <dgm:spPr/>
    </dgm:pt>
    <dgm:pt modelId="{D097B2E4-61A7-0D44-8DE4-70DB353C7251}" type="pres">
      <dgm:prSet presAssocID="{E70DF569-0F4B-B047-AF35-52C42610AEE9}" presName="vertFour" presStyleCnt="0">
        <dgm:presLayoutVars>
          <dgm:chPref val="3"/>
        </dgm:presLayoutVars>
      </dgm:prSet>
      <dgm:spPr/>
    </dgm:pt>
    <dgm:pt modelId="{5B4A9678-7492-F24E-8ECC-9F1EA0540DB6}" type="pres">
      <dgm:prSet presAssocID="{E70DF569-0F4B-B047-AF35-52C42610AEE9}" presName="txFour" presStyleLbl="node4" presStyleIdx="3" presStyleCnt="9">
        <dgm:presLayoutVars>
          <dgm:chPref val="3"/>
        </dgm:presLayoutVars>
      </dgm:prSet>
      <dgm:spPr/>
    </dgm:pt>
    <dgm:pt modelId="{3B9AC8FE-810E-3A49-A2C5-7F46405306B3}" type="pres">
      <dgm:prSet presAssocID="{E70DF569-0F4B-B047-AF35-52C42610AEE9}" presName="horzFour" presStyleCnt="0"/>
      <dgm:spPr/>
    </dgm:pt>
    <dgm:pt modelId="{21581AE3-778C-7C47-AB03-7E0C6151E89D}" type="pres">
      <dgm:prSet presAssocID="{212DEBEF-B0F7-8C4D-928C-7EEE4F57691D}" presName="sibSpaceTwo" presStyleCnt="0"/>
      <dgm:spPr/>
    </dgm:pt>
    <dgm:pt modelId="{12CE91C5-24ED-FB47-AED0-95D503126E40}" type="pres">
      <dgm:prSet presAssocID="{DED56B82-EDE9-A14D-B75E-00041184C504}" presName="vertTwo" presStyleCnt="0"/>
      <dgm:spPr/>
    </dgm:pt>
    <dgm:pt modelId="{94860B26-A5C6-2D4F-86D5-6CF940FBC396}" type="pres">
      <dgm:prSet presAssocID="{DED56B82-EDE9-A14D-B75E-00041184C504}" presName="txTwo" presStyleLbl="node2" presStyleIdx="1" presStyleCnt="2">
        <dgm:presLayoutVars>
          <dgm:chPref val="3"/>
        </dgm:presLayoutVars>
      </dgm:prSet>
      <dgm:spPr/>
    </dgm:pt>
    <dgm:pt modelId="{B275B54D-2CDD-8B42-B034-5BB5C6E3ACB8}" type="pres">
      <dgm:prSet presAssocID="{DED56B82-EDE9-A14D-B75E-00041184C504}" presName="parTransTwo" presStyleCnt="0"/>
      <dgm:spPr/>
    </dgm:pt>
    <dgm:pt modelId="{C1E84367-0B21-B240-83BA-26B5697A1A2D}" type="pres">
      <dgm:prSet presAssocID="{DED56B82-EDE9-A14D-B75E-00041184C504}" presName="horzTwo" presStyleCnt="0"/>
      <dgm:spPr/>
    </dgm:pt>
    <dgm:pt modelId="{9669FC2B-EC70-F74A-96E9-B730C06C0151}" type="pres">
      <dgm:prSet presAssocID="{CE16396F-EDC9-B342-A364-D74BA2566694}" presName="vertThree" presStyleCnt="0"/>
      <dgm:spPr/>
    </dgm:pt>
    <dgm:pt modelId="{DB022E03-DE3E-0147-910D-8084B49F0D5E}" type="pres">
      <dgm:prSet presAssocID="{CE16396F-EDC9-B342-A364-D74BA2566694}" presName="txThree" presStyleLbl="node3" presStyleIdx="2" presStyleCnt="4">
        <dgm:presLayoutVars>
          <dgm:chPref val="3"/>
        </dgm:presLayoutVars>
      </dgm:prSet>
      <dgm:spPr/>
    </dgm:pt>
    <dgm:pt modelId="{3A301544-D25D-E44C-AD36-3F0443481B89}" type="pres">
      <dgm:prSet presAssocID="{CE16396F-EDC9-B342-A364-D74BA2566694}" presName="parTransThree" presStyleCnt="0"/>
      <dgm:spPr/>
    </dgm:pt>
    <dgm:pt modelId="{D4480E41-1E24-B44A-942F-53F6C6E35121}" type="pres">
      <dgm:prSet presAssocID="{CE16396F-EDC9-B342-A364-D74BA2566694}" presName="horzThree" presStyleCnt="0"/>
      <dgm:spPr/>
    </dgm:pt>
    <dgm:pt modelId="{1828B16B-E56D-E043-BB92-5A0E79E2FB46}" type="pres">
      <dgm:prSet presAssocID="{B5366B22-A096-5E4C-935B-40D31A2571F8}" presName="vertFour" presStyleCnt="0">
        <dgm:presLayoutVars>
          <dgm:chPref val="3"/>
        </dgm:presLayoutVars>
      </dgm:prSet>
      <dgm:spPr/>
    </dgm:pt>
    <dgm:pt modelId="{531C2F60-5BDD-AB4E-8781-E5288FAF606F}" type="pres">
      <dgm:prSet presAssocID="{B5366B22-A096-5E4C-935B-40D31A2571F8}" presName="txFour" presStyleLbl="node4" presStyleIdx="4" presStyleCnt="9">
        <dgm:presLayoutVars>
          <dgm:chPref val="3"/>
        </dgm:presLayoutVars>
      </dgm:prSet>
      <dgm:spPr/>
    </dgm:pt>
    <dgm:pt modelId="{7F9D4DFD-2182-E840-8A8B-CB01D9B73432}" type="pres">
      <dgm:prSet presAssocID="{B5366B22-A096-5E4C-935B-40D31A2571F8}" presName="horzFour" presStyleCnt="0"/>
      <dgm:spPr/>
    </dgm:pt>
    <dgm:pt modelId="{117D2FBB-E2AA-4645-8D7F-1F2D59F8D2E8}" type="pres">
      <dgm:prSet presAssocID="{CCFAAA22-FBEB-5347-9277-ED00F32E96F2}" presName="sibSpaceFour" presStyleCnt="0"/>
      <dgm:spPr/>
    </dgm:pt>
    <dgm:pt modelId="{CC45C642-06B0-8049-AC31-615666E02B2B}" type="pres">
      <dgm:prSet presAssocID="{7C9BF9FF-237C-9548-8715-7180ECFA3B3E}" presName="vertFour" presStyleCnt="0">
        <dgm:presLayoutVars>
          <dgm:chPref val="3"/>
        </dgm:presLayoutVars>
      </dgm:prSet>
      <dgm:spPr/>
    </dgm:pt>
    <dgm:pt modelId="{98F4AD80-926B-8E4B-AFE6-8CE260DBAFA5}" type="pres">
      <dgm:prSet presAssocID="{7C9BF9FF-237C-9548-8715-7180ECFA3B3E}" presName="txFour" presStyleLbl="node4" presStyleIdx="5" presStyleCnt="9">
        <dgm:presLayoutVars>
          <dgm:chPref val="3"/>
        </dgm:presLayoutVars>
      </dgm:prSet>
      <dgm:spPr/>
    </dgm:pt>
    <dgm:pt modelId="{59CCCBE5-5657-4649-88FE-FCC02441CBF1}" type="pres">
      <dgm:prSet presAssocID="{7C9BF9FF-237C-9548-8715-7180ECFA3B3E}" presName="horzFour" presStyleCnt="0"/>
      <dgm:spPr/>
    </dgm:pt>
    <dgm:pt modelId="{C1819B22-B8B1-AB4A-88DF-16B97BEBA6AA}" type="pres">
      <dgm:prSet presAssocID="{ADEFB53A-35C9-344D-89B9-64E3EAB778CD}" presName="sibSpaceFour" presStyleCnt="0"/>
      <dgm:spPr/>
    </dgm:pt>
    <dgm:pt modelId="{89731557-9F1A-CC43-A11D-566CE7CEDFD3}" type="pres">
      <dgm:prSet presAssocID="{CEB968E2-6826-1446-9D0F-239431044D91}" presName="vertFour" presStyleCnt="0">
        <dgm:presLayoutVars>
          <dgm:chPref val="3"/>
        </dgm:presLayoutVars>
      </dgm:prSet>
      <dgm:spPr/>
    </dgm:pt>
    <dgm:pt modelId="{8C91FDA0-612D-FF4B-A7C3-753E447FD2A5}" type="pres">
      <dgm:prSet presAssocID="{CEB968E2-6826-1446-9D0F-239431044D91}" presName="txFour" presStyleLbl="node4" presStyleIdx="6" presStyleCnt="9">
        <dgm:presLayoutVars>
          <dgm:chPref val="3"/>
        </dgm:presLayoutVars>
      </dgm:prSet>
      <dgm:spPr/>
    </dgm:pt>
    <dgm:pt modelId="{A58832D8-31C8-6144-B208-7373AC9492F1}" type="pres">
      <dgm:prSet presAssocID="{CEB968E2-6826-1446-9D0F-239431044D91}" presName="horzFour" presStyleCnt="0"/>
      <dgm:spPr/>
    </dgm:pt>
    <dgm:pt modelId="{F6783325-03AC-3A43-AD46-161BCDFE958A}" type="pres">
      <dgm:prSet presAssocID="{AEDA49EF-4BED-EA45-95E9-0467DFE671B0}" presName="sibSpaceThree" presStyleCnt="0"/>
      <dgm:spPr/>
    </dgm:pt>
    <dgm:pt modelId="{5BFBF4A5-7C64-6042-912D-457F9C2AAC75}" type="pres">
      <dgm:prSet presAssocID="{54B4E0B7-0CAE-5D40-942C-EBECE61F2EC2}" presName="vertThree" presStyleCnt="0"/>
      <dgm:spPr/>
    </dgm:pt>
    <dgm:pt modelId="{917AD195-6F8D-D64C-8DF5-55B823D1DCF2}" type="pres">
      <dgm:prSet presAssocID="{54B4E0B7-0CAE-5D40-942C-EBECE61F2EC2}" presName="txThree" presStyleLbl="node3" presStyleIdx="3" presStyleCnt="4">
        <dgm:presLayoutVars>
          <dgm:chPref val="3"/>
        </dgm:presLayoutVars>
      </dgm:prSet>
      <dgm:spPr/>
    </dgm:pt>
    <dgm:pt modelId="{C0218A50-5556-5F4A-AA90-633D3A0FECC6}" type="pres">
      <dgm:prSet presAssocID="{54B4E0B7-0CAE-5D40-942C-EBECE61F2EC2}" presName="parTransThree" presStyleCnt="0"/>
      <dgm:spPr/>
    </dgm:pt>
    <dgm:pt modelId="{1BCD4EB7-C687-8347-B3CB-BA4D3BBB4FC1}" type="pres">
      <dgm:prSet presAssocID="{54B4E0B7-0CAE-5D40-942C-EBECE61F2EC2}" presName="horzThree" presStyleCnt="0"/>
      <dgm:spPr/>
    </dgm:pt>
    <dgm:pt modelId="{176B99B5-E8A2-4D41-B3E5-E61720A3DB6B}" type="pres">
      <dgm:prSet presAssocID="{A1CD1C03-058D-BA48-84F1-572674EBE15A}" presName="vertFour" presStyleCnt="0">
        <dgm:presLayoutVars>
          <dgm:chPref val="3"/>
        </dgm:presLayoutVars>
      </dgm:prSet>
      <dgm:spPr/>
    </dgm:pt>
    <dgm:pt modelId="{2591A952-9B12-3A4D-9668-D93A7B342D9E}" type="pres">
      <dgm:prSet presAssocID="{A1CD1C03-058D-BA48-84F1-572674EBE15A}" presName="txFour" presStyleLbl="node4" presStyleIdx="7" presStyleCnt="9">
        <dgm:presLayoutVars>
          <dgm:chPref val="3"/>
        </dgm:presLayoutVars>
      </dgm:prSet>
      <dgm:spPr/>
    </dgm:pt>
    <dgm:pt modelId="{07C2AEDB-7645-6145-BA28-2F19C99C2C5E}" type="pres">
      <dgm:prSet presAssocID="{A1CD1C03-058D-BA48-84F1-572674EBE15A}" presName="horzFour" presStyleCnt="0"/>
      <dgm:spPr/>
    </dgm:pt>
    <dgm:pt modelId="{7E67B632-3458-5642-ADD6-110AEBC58668}" type="pres">
      <dgm:prSet presAssocID="{E0C4F617-D6C8-9643-834B-D997E97722EB}" presName="sibSpaceFour" presStyleCnt="0"/>
      <dgm:spPr/>
    </dgm:pt>
    <dgm:pt modelId="{3275EC8E-9070-8047-842E-BC5495A15CAF}" type="pres">
      <dgm:prSet presAssocID="{8616596B-8182-A543-9668-7A99CF9EFB02}" presName="vertFour" presStyleCnt="0">
        <dgm:presLayoutVars>
          <dgm:chPref val="3"/>
        </dgm:presLayoutVars>
      </dgm:prSet>
      <dgm:spPr/>
    </dgm:pt>
    <dgm:pt modelId="{8D68B647-3166-E246-AB34-E19DB173464B}" type="pres">
      <dgm:prSet presAssocID="{8616596B-8182-A543-9668-7A99CF9EFB02}" presName="txFour" presStyleLbl="node4" presStyleIdx="8" presStyleCnt="9">
        <dgm:presLayoutVars>
          <dgm:chPref val="3"/>
        </dgm:presLayoutVars>
      </dgm:prSet>
      <dgm:spPr/>
    </dgm:pt>
    <dgm:pt modelId="{EEF0D144-E13E-8743-8B03-532A2F145B19}" type="pres">
      <dgm:prSet presAssocID="{8616596B-8182-A543-9668-7A99CF9EFB02}" presName="horzFour" presStyleCnt="0"/>
      <dgm:spPr/>
    </dgm:pt>
  </dgm:ptLst>
  <dgm:cxnLst>
    <dgm:cxn modelId="{E8164A00-2651-7A4D-AE9F-78523939C2B1}" srcId="{BB3D1489-3624-4548-80D9-D9CF6289BB08}" destId="{402F2F36-5301-9449-92D2-45CB8A9A9C69}" srcOrd="0" destOrd="0" parTransId="{C62684CA-F193-6340-967D-81B618E7C5C0}" sibTransId="{212DEBEF-B0F7-8C4D-928C-7EEE4F57691D}"/>
    <dgm:cxn modelId="{B373F000-2141-4156-B24C-462F8745CD16}" type="presOf" srcId="{CE16396F-EDC9-B342-A364-D74BA2566694}" destId="{DB022E03-DE3E-0147-910D-8084B49F0D5E}" srcOrd="0" destOrd="0" presId="urn:microsoft.com/office/officeart/2005/8/layout/hierarchy4"/>
    <dgm:cxn modelId="{BAF75F02-FBC3-2C4D-8CB2-E1172CBDB4B4}" srcId="{CE16396F-EDC9-B342-A364-D74BA2566694}" destId="{7C9BF9FF-237C-9548-8715-7180ECFA3B3E}" srcOrd="1" destOrd="0" parTransId="{52910E79-4D5C-1546-BBFD-3A04E6D2657D}" sibTransId="{ADEFB53A-35C9-344D-89B9-64E3EAB778CD}"/>
    <dgm:cxn modelId="{0D45EB07-6690-FA4A-9ECC-021A6F70F11B}" srcId="{402F2F36-5301-9449-92D2-45CB8A9A9C69}" destId="{2B649030-5A46-924F-A1E8-85B6ACC58FAD}" srcOrd="0" destOrd="0" parTransId="{6F05D5A1-261F-5243-B1D6-0FE1F47E00E8}" sibTransId="{7E213196-8A08-3B47-B870-E6FDC70FFDC6}"/>
    <dgm:cxn modelId="{F910220A-470B-4CD2-873C-DF152D781D56}" type="presOf" srcId="{FD3825BC-5A63-2041-9295-32B33CAF2B73}" destId="{035695E5-5805-B94B-BD8A-9352029625C9}" srcOrd="0" destOrd="0" presId="urn:microsoft.com/office/officeart/2005/8/layout/hierarchy4"/>
    <dgm:cxn modelId="{5B4DE513-63BF-4243-8AA7-021269F73D62}" srcId="{2A3814A6-D82F-E64D-816A-C74DA75F9DB6}" destId="{FD3825BC-5A63-2041-9295-32B33CAF2B73}" srcOrd="1" destOrd="0" parTransId="{7AF13A8A-202C-6741-9BEF-08E4DBA9CB69}" sibTransId="{FE601B27-06B9-ED47-9DA6-23CDFCA1FB70}"/>
    <dgm:cxn modelId="{057BE023-8EDF-CE4B-A97B-80E6A33AA33C}" srcId="{2B649030-5A46-924F-A1E8-85B6ACC58FAD}" destId="{408306C7-519F-A543-9157-BD0565B714B4}" srcOrd="0" destOrd="0" parTransId="{685BDEE8-393E-6F4A-8174-D05C82B6332A}" sibTransId="{3C418DC7-5F91-C74B-BE29-369714D20C77}"/>
    <dgm:cxn modelId="{FD18F023-F500-4D5D-88D7-1A9A37ACB6F4}" type="presOf" srcId="{2B649030-5A46-924F-A1E8-85B6ACC58FAD}" destId="{9BFB7000-494B-C54E-AC4F-69E8FF10A710}" srcOrd="0" destOrd="0" presId="urn:microsoft.com/office/officeart/2005/8/layout/hierarchy4"/>
    <dgm:cxn modelId="{40C78625-B941-CA48-8789-CF40844136C3}" srcId="{54B4E0B7-0CAE-5D40-942C-EBECE61F2EC2}" destId="{8616596B-8182-A543-9668-7A99CF9EFB02}" srcOrd="1" destOrd="0" parTransId="{C63FF0BB-5D4C-3840-93EA-B519A75727B1}" sibTransId="{F22C6DED-0FF6-B945-B3D9-76DB6510F36B}"/>
    <dgm:cxn modelId="{F29C8728-B9E5-2F4E-BFA0-E95CE44600B8}" srcId="{402F2F36-5301-9449-92D2-45CB8A9A9C69}" destId="{2A3814A6-D82F-E64D-816A-C74DA75F9DB6}" srcOrd="1" destOrd="0" parTransId="{BBC184DF-223A-E54A-9643-506F60955F7F}" sibTransId="{E4D1DD2E-88F7-FC41-9E53-31255F9030C4}"/>
    <dgm:cxn modelId="{EEBB1029-1515-41EC-B813-3DA756AD0CA2}" type="presOf" srcId="{BB3D1489-3624-4548-80D9-D9CF6289BB08}" destId="{CD570499-39F7-F247-8440-E05841EC9D1E}" srcOrd="0" destOrd="0" presId="urn:microsoft.com/office/officeart/2005/8/layout/hierarchy4"/>
    <dgm:cxn modelId="{84AF722C-A763-FB4D-8C85-5C7F985AC4E3}" srcId="{CE16396F-EDC9-B342-A364-D74BA2566694}" destId="{CEB968E2-6826-1446-9D0F-239431044D91}" srcOrd="2" destOrd="0" parTransId="{615C2DBF-9B19-5646-8316-AD72967946B1}" sibTransId="{1405C912-EED5-E440-9FD3-70CBDF41891E}"/>
    <dgm:cxn modelId="{E5682340-6EF8-4A8D-A431-999FD554C377}" type="presOf" srcId="{8616596B-8182-A543-9668-7A99CF9EFB02}" destId="{8D68B647-3166-E246-AB34-E19DB173464B}" srcOrd="0" destOrd="0" presId="urn:microsoft.com/office/officeart/2005/8/layout/hierarchy4"/>
    <dgm:cxn modelId="{8239C860-2924-4C1D-BA18-FA588725C3F9}" type="presOf" srcId="{B5366B22-A096-5E4C-935B-40D31A2571F8}" destId="{531C2F60-5BDD-AB4E-8781-E5288FAF606F}" srcOrd="0" destOrd="0" presId="urn:microsoft.com/office/officeart/2005/8/layout/hierarchy4"/>
    <dgm:cxn modelId="{A9924E63-8C7D-480B-8F36-1C41BE367CE9}" type="presOf" srcId="{7C9BF9FF-237C-9548-8715-7180ECFA3B3E}" destId="{98F4AD80-926B-8E4B-AFE6-8CE260DBAFA5}" srcOrd="0" destOrd="0" presId="urn:microsoft.com/office/officeart/2005/8/layout/hierarchy4"/>
    <dgm:cxn modelId="{6290FA43-01B6-E848-A142-D6984A7EE43D}" srcId="{DED56B82-EDE9-A14D-B75E-00041184C504}" destId="{54B4E0B7-0CAE-5D40-942C-EBECE61F2EC2}" srcOrd="1" destOrd="0" parTransId="{C6797310-10D9-B948-A4D9-3AC250422C03}" sibTransId="{B812A3D7-21FC-8F4F-892A-9C31988C049E}"/>
    <dgm:cxn modelId="{142F584C-BD8F-4549-ACC0-4F4425D41510}" type="presOf" srcId="{CEB968E2-6826-1446-9D0F-239431044D91}" destId="{8C91FDA0-612D-FF4B-A7C3-753E447FD2A5}" srcOrd="0" destOrd="0" presId="urn:microsoft.com/office/officeart/2005/8/layout/hierarchy4"/>
    <dgm:cxn modelId="{66864854-85E7-4FCB-8EB6-DBE77D6FA6FF}" type="presOf" srcId="{E70DF569-0F4B-B047-AF35-52C42610AEE9}" destId="{5B4A9678-7492-F24E-8ECC-9F1EA0540DB6}" srcOrd="0" destOrd="0" presId="urn:microsoft.com/office/officeart/2005/8/layout/hierarchy4"/>
    <dgm:cxn modelId="{1AD5AD8A-170D-49BE-A9CC-E48BCD4822E9}" type="presOf" srcId="{54B4E0B7-0CAE-5D40-942C-EBECE61F2EC2}" destId="{917AD195-6F8D-D64C-8DF5-55B823D1DCF2}" srcOrd="0" destOrd="0" presId="urn:microsoft.com/office/officeart/2005/8/layout/hierarchy4"/>
    <dgm:cxn modelId="{5215408C-6D87-4532-801F-FC5B1F2A7094}" type="presOf" srcId="{EBE2E248-E1CB-D040-9817-52C636A60803}" destId="{2D8F536A-C5B6-6147-939A-F97F4CBD1BA0}" srcOrd="0" destOrd="0" presId="urn:microsoft.com/office/officeart/2005/8/layout/hierarchy4"/>
    <dgm:cxn modelId="{1C96B78E-DF30-304E-9F72-E4303BB64957}" srcId="{2A3814A6-D82F-E64D-816A-C74DA75F9DB6}" destId="{EBE2E248-E1CB-D040-9817-52C636A60803}" srcOrd="0" destOrd="0" parTransId="{8F9A4541-5A97-F440-8BA7-471737151283}" sibTransId="{DB5BFD1D-E627-864E-8EEC-CC810D6D6A96}"/>
    <dgm:cxn modelId="{7CDFE98F-E21E-42F8-A9BF-84F346507A0B}" srcId="{3BDFE88F-E82D-41F4-B588-1DAB1F0D88D5}" destId="{BB3D1489-3624-4548-80D9-D9CF6289BB08}" srcOrd="0" destOrd="0" parTransId="{F8F06D65-317D-4762-8877-67314E15D506}" sibTransId="{60474C45-E0F5-4E92-8CA1-18266FB88F83}"/>
    <dgm:cxn modelId="{5BC9A296-D1CA-1D40-B3A9-023741E82693}" srcId="{2A3814A6-D82F-E64D-816A-C74DA75F9DB6}" destId="{E70DF569-0F4B-B047-AF35-52C42610AEE9}" srcOrd="2" destOrd="0" parTransId="{E41AF851-AC65-7446-BFD6-97F9372B1F7B}" sibTransId="{6AC008D1-1FF0-074F-9F0F-F4C30AFC4D2F}"/>
    <dgm:cxn modelId="{5C01F899-4B32-3C49-AEE4-2E6AC02CE958}" srcId="{54B4E0B7-0CAE-5D40-942C-EBECE61F2EC2}" destId="{A1CD1C03-058D-BA48-84F1-572674EBE15A}" srcOrd="0" destOrd="0" parTransId="{0331DE75-409E-4D4B-9A24-B2121CA17229}" sibTransId="{E0C4F617-D6C8-9643-834B-D997E97722EB}"/>
    <dgm:cxn modelId="{3E8FB89D-023A-4EAF-8EE2-4E78A84B31BE}" type="presOf" srcId="{2A3814A6-D82F-E64D-816A-C74DA75F9DB6}" destId="{B37C39C3-0D8F-A444-8BFC-E60A6B42FD33}" srcOrd="0" destOrd="0" presId="urn:microsoft.com/office/officeart/2005/8/layout/hierarchy4"/>
    <dgm:cxn modelId="{33B49CAF-23F0-432F-9107-293EAA365953}" type="presOf" srcId="{402F2F36-5301-9449-92D2-45CB8A9A9C69}" destId="{5C062EB9-3D46-A741-A8F9-A54F2E911193}" srcOrd="0" destOrd="0" presId="urn:microsoft.com/office/officeart/2005/8/layout/hierarchy4"/>
    <dgm:cxn modelId="{53333AB0-438E-CC49-A8FE-9655CD3113DB}" srcId="{DED56B82-EDE9-A14D-B75E-00041184C504}" destId="{CE16396F-EDC9-B342-A364-D74BA2566694}" srcOrd="0" destOrd="0" parTransId="{4F012DE6-980B-5548-940C-5895A98649A9}" sibTransId="{AEDA49EF-4BED-EA45-95E9-0467DFE671B0}"/>
    <dgm:cxn modelId="{C76A72B9-0674-4A83-8A65-675C6953730B}" type="presOf" srcId="{408306C7-519F-A543-9157-BD0565B714B4}" destId="{77B58599-1DD4-9F44-A4AD-D30B1DB8FA30}" srcOrd="0" destOrd="0" presId="urn:microsoft.com/office/officeart/2005/8/layout/hierarchy4"/>
    <dgm:cxn modelId="{B14DDCC6-BA18-4386-B059-59FC3EB0303A}" type="presOf" srcId="{DED56B82-EDE9-A14D-B75E-00041184C504}" destId="{94860B26-A5C6-2D4F-86D5-6CF940FBC396}" srcOrd="0" destOrd="0" presId="urn:microsoft.com/office/officeart/2005/8/layout/hierarchy4"/>
    <dgm:cxn modelId="{C637D0CA-E247-9E4C-8215-13B47EEFC970}" srcId="{BB3D1489-3624-4548-80D9-D9CF6289BB08}" destId="{DED56B82-EDE9-A14D-B75E-00041184C504}" srcOrd="1" destOrd="0" parTransId="{0E9D4B66-40BB-4D4F-AD4F-C0CEB6E26025}" sibTransId="{4A91953C-0488-EF44-A170-CF2CD5B7F657}"/>
    <dgm:cxn modelId="{6C5E58CD-065D-4858-9790-E9866B611398}" type="presOf" srcId="{3BDFE88F-E82D-41F4-B588-1DAB1F0D88D5}" destId="{2E82F368-1B1A-D047-A7C7-AF9FEE55D007}" srcOrd="0" destOrd="0" presId="urn:microsoft.com/office/officeart/2005/8/layout/hierarchy4"/>
    <dgm:cxn modelId="{FBC0DDD4-2A5C-45A7-B75B-7388823BCB75}" type="presOf" srcId="{A1CD1C03-058D-BA48-84F1-572674EBE15A}" destId="{2591A952-9B12-3A4D-9668-D93A7B342D9E}" srcOrd="0" destOrd="0" presId="urn:microsoft.com/office/officeart/2005/8/layout/hierarchy4"/>
    <dgm:cxn modelId="{84604BFA-DB4E-8343-A31C-F38FD2F46EB4}" srcId="{CE16396F-EDC9-B342-A364-D74BA2566694}" destId="{B5366B22-A096-5E4C-935B-40D31A2571F8}" srcOrd="0" destOrd="0" parTransId="{EC8499B4-01CB-DB47-A56A-011838FFFBC1}" sibTransId="{CCFAAA22-FBEB-5347-9277-ED00F32E96F2}"/>
    <dgm:cxn modelId="{9B0520FE-E51C-4749-82EC-38C8735FC27D}" type="presParOf" srcId="{2E82F368-1B1A-D047-A7C7-AF9FEE55D007}" destId="{3D168F9E-25C7-1649-B63B-D619FEEEEF91}" srcOrd="0" destOrd="0" presId="urn:microsoft.com/office/officeart/2005/8/layout/hierarchy4"/>
    <dgm:cxn modelId="{DF7F0B85-734C-4DAC-B879-10BAEB811C09}" type="presParOf" srcId="{3D168F9E-25C7-1649-B63B-D619FEEEEF91}" destId="{CD570499-39F7-F247-8440-E05841EC9D1E}" srcOrd="0" destOrd="0" presId="urn:microsoft.com/office/officeart/2005/8/layout/hierarchy4"/>
    <dgm:cxn modelId="{0D486C5E-F2F9-4F2F-8C53-5AC72AEF10B5}" type="presParOf" srcId="{3D168F9E-25C7-1649-B63B-D619FEEEEF91}" destId="{7DB9AA20-A22D-DB41-9703-EE9CE7FF641C}" srcOrd="1" destOrd="0" presId="urn:microsoft.com/office/officeart/2005/8/layout/hierarchy4"/>
    <dgm:cxn modelId="{D7C51BFD-64EA-41E8-A3FB-8CE10F61113B}" type="presParOf" srcId="{3D168F9E-25C7-1649-B63B-D619FEEEEF91}" destId="{B386E317-4651-FE45-B9A0-0D460C582220}" srcOrd="2" destOrd="0" presId="urn:microsoft.com/office/officeart/2005/8/layout/hierarchy4"/>
    <dgm:cxn modelId="{EB5BB0E3-120C-448D-B4D9-A58969BDDF20}" type="presParOf" srcId="{B386E317-4651-FE45-B9A0-0D460C582220}" destId="{78A77C4D-BDEE-F64E-A56F-8E3465BB90DB}" srcOrd="0" destOrd="0" presId="urn:microsoft.com/office/officeart/2005/8/layout/hierarchy4"/>
    <dgm:cxn modelId="{545FA1BC-7ABD-4733-9A5A-147AE798E30E}" type="presParOf" srcId="{78A77C4D-BDEE-F64E-A56F-8E3465BB90DB}" destId="{5C062EB9-3D46-A741-A8F9-A54F2E911193}" srcOrd="0" destOrd="0" presId="urn:microsoft.com/office/officeart/2005/8/layout/hierarchy4"/>
    <dgm:cxn modelId="{686C4C15-CDE4-4943-952D-AFABE49652B6}" type="presParOf" srcId="{78A77C4D-BDEE-F64E-A56F-8E3465BB90DB}" destId="{431C90B7-8E80-924C-A457-D27C3D8D25DC}" srcOrd="1" destOrd="0" presId="urn:microsoft.com/office/officeart/2005/8/layout/hierarchy4"/>
    <dgm:cxn modelId="{83D23D5D-967C-4866-AE22-01282985BFDA}" type="presParOf" srcId="{78A77C4D-BDEE-F64E-A56F-8E3465BB90DB}" destId="{C71737DB-BB0C-CF4E-897B-716EF57AFD77}" srcOrd="2" destOrd="0" presId="urn:microsoft.com/office/officeart/2005/8/layout/hierarchy4"/>
    <dgm:cxn modelId="{6220A58F-07EB-40CD-8CD4-2807B84D38E6}" type="presParOf" srcId="{C71737DB-BB0C-CF4E-897B-716EF57AFD77}" destId="{86F8C3C0-C9C9-8047-8256-CCF23FFA6823}" srcOrd="0" destOrd="0" presId="urn:microsoft.com/office/officeart/2005/8/layout/hierarchy4"/>
    <dgm:cxn modelId="{84145964-2FB6-43A2-B3FF-087C2C3CFFB8}" type="presParOf" srcId="{86F8C3C0-C9C9-8047-8256-CCF23FFA6823}" destId="{9BFB7000-494B-C54E-AC4F-69E8FF10A710}" srcOrd="0" destOrd="0" presId="urn:microsoft.com/office/officeart/2005/8/layout/hierarchy4"/>
    <dgm:cxn modelId="{402AD536-A171-4FEC-9DF8-0014AA6B637D}" type="presParOf" srcId="{86F8C3C0-C9C9-8047-8256-CCF23FFA6823}" destId="{ADAAFCA1-C34B-0E45-A2C5-01F32724A775}" srcOrd="1" destOrd="0" presId="urn:microsoft.com/office/officeart/2005/8/layout/hierarchy4"/>
    <dgm:cxn modelId="{43219C67-9498-4783-A4F9-3482CC0A4C25}" type="presParOf" srcId="{86F8C3C0-C9C9-8047-8256-CCF23FFA6823}" destId="{9EC3E197-73B1-D544-8F19-934A6D955F4D}" srcOrd="2" destOrd="0" presId="urn:microsoft.com/office/officeart/2005/8/layout/hierarchy4"/>
    <dgm:cxn modelId="{382FB47D-8BC9-4912-9910-DEA561C49EA0}" type="presParOf" srcId="{9EC3E197-73B1-D544-8F19-934A6D955F4D}" destId="{6879EF3A-499D-7144-8349-B222CF37321D}" srcOrd="0" destOrd="0" presId="urn:microsoft.com/office/officeart/2005/8/layout/hierarchy4"/>
    <dgm:cxn modelId="{0F46426C-348A-4B7D-873D-A29F144868F6}" type="presParOf" srcId="{6879EF3A-499D-7144-8349-B222CF37321D}" destId="{77B58599-1DD4-9F44-A4AD-D30B1DB8FA30}" srcOrd="0" destOrd="0" presId="urn:microsoft.com/office/officeart/2005/8/layout/hierarchy4"/>
    <dgm:cxn modelId="{8177B85A-52CE-4E5D-80ED-F9F9786DB636}" type="presParOf" srcId="{6879EF3A-499D-7144-8349-B222CF37321D}" destId="{03901652-3783-6949-A6EA-7632BADC52F9}" srcOrd="1" destOrd="0" presId="urn:microsoft.com/office/officeart/2005/8/layout/hierarchy4"/>
    <dgm:cxn modelId="{B82DE20A-ACCF-4B41-A50D-68FD23FA1361}" type="presParOf" srcId="{C71737DB-BB0C-CF4E-897B-716EF57AFD77}" destId="{241E2212-BFC9-2D49-891F-CED931B31630}" srcOrd="1" destOrd="0" presId="urn:microsoft.com/office/officeart/2005/8/layout/hierarchy4"/>
    <dgm:cxn modelId="{B172E64D-6BC8-4485-BE8B-4029225C1507}" type="presParOf" srcId="{C71737DB-BB0C-CF4E-897B-716EF57AFD77}" destId="{8C3AAE30-3568-F24F-AE9D-89D1D6D0EC05}" srcOrd="2" destOrd="0" presId="urn:microsoft.com/office/officeart/2005/8/layout/hierarchy4"/>
    <dgm:cxn modelId="{B925E8EB-7F23-43B8-8872-2DF478A97EBC}" type="presParOf" srcId="{8C3AAE30-3568-F24F-AE9D-89D1D6D0EC05}" destId="{B37C39C3-0D8F-A444-8BFC-E60A6B42FD33}" srcOrd="0" destOrd="0" presId="urn:microsoft.com/office/officeart/2005/8/layout/hierarchy4"/>
    <dgm:cxn modelId="{F2D35628-91CF-4F76-BEB0-549AAB5580FC}" type="presParOf" srcId="{8C3AAE30-3568-F24F-AE9D-89D1D6D0EC05}" destId="{6B76FED1-2801-F048-BC69-7EC70BEEE548}" srcOrd="1" destOrd="0" presId="urn:microsoft.com/office/officeart/2005/8/layout/hierarchy4"/>
    <dgm:cxn modelId="{69AE795F-1A67-4909-A093-2691297DEC36}" type="presParOf" srcId="{8C3AAE30-3568-F24F-AE9D-89D1D6D0EC05}" destId="{FE5D820C-9A76-4E44-8574-6F895C7D980C}" srcOrd="2" destOrd="0" presId="urn:microsoft.com/office/officeart/2005/8/layout/hierarchy4"/>
    <dgm:cxn modelId="{E72D0C82-E8E1-44A4-BB5C-BE63430B42C5}" type="presParOf" srcId="{FE5D820C-9A76-4E44-8574-6F895C7D980C}" destId="{BDA2B107-EE17-524E-AA5A-A6ABAB50B42D}" srcOrd="0" destOrd="0" presId="urn:microsoft.com/office/officeart/2005/8/layout/hierarchy4"/>
    <dgm:cxn modelId="{FA67CFA3-0491-44A7-987F-E928F30ADDD4}" type="presParOf" srcId="{BDA2B107-EE17-524E-AA5A-A6ABAB50B42D}" destId="{2D8F536A-C5B6-6147-939A-F97F4CBD1BA0}" srcOrd="0" destOrd="0" presId="urn:microsoft.com/office/officeart/2005/8/layout/hierarchy4"/>
    <dgm:cxn modelId="{A779D3F8-054B-4D8B-AF25-5560FFBC87C8}" type="presParOf" srcId="{BDA2B107-EE17-524E-AA5A-A6ABAB50B42D}" destId="{F07D25B7-21DD-0D4E-9FE5-0B8E49243C97}" srcOrd="1" destOrd="0" presId="urn:microsoft.com/office/officeart/2005/8/layout/hierarchy4"/>
    <dgm:cxn modelId="{B4CCA8B2-EB7D-4516-9FCE-30BB405DE44F}" type="presParOf" srcId="{FE5D820C-9A76-4E44-8574-6F895C7D980C}" destId="{2D8D483F-786C-9F47-8024-F9D9F05F5A5E}" srcOrd="1" destOrd="0" presId="urn:microsoft.com/office/officeart/2005/8/layout/hierarchy4"/>
    <dgm:cxn modelId="{833F1F8D-810C-4517-BC4A-3AA7F717C854}" type="presParOf" srcId="{FE5D820C-9A76-4E44-8574-6F895C7D980C}" destId="{68DCE9E4-16BF-7343-8828-C0904D37F469}" srcOrd="2" destOrd="0" presId="urn:microsoft.com/office/officeart/2005/8/layout/hierarchy4"/>
    <dgm:cxn modelId="{10AC0635-6242-4DF7-A667-425AC1DF6D27}" type="presParOf" srcId="{68DCE9E4-16BF-7343-8828-C0904D37F469}" destId="{035695E5-5805-B94B-BD8A-9352029625C9}" srcOrd="0" destOrd="0" presId="urn:microsoft.com/office/officeart/2005/8/layout/hierarchy4"/>
    <dgm:cxn modelId="{3C5C0A69-BCCF-4648-BC6B-2D2C5D8AF5F9}" type="presParOf" srcId="{68DCE9E4-16BF-7343-8828-C0904D37F469}" destId="{EFBA8D67-9A8C-0E4D-893C-37E52F86CC24}" srcOrd="1" destOrd="0" presId="urn:microsoft.com/office/officeart/2005/8/layout/hierarchy4"/>
    <dgm:cxn modelId="{6562328D-E05D-4285-84BF-90D700C7A088}" type="presParOf" srcId="{FE5D820C-9A76-4E44-8574-6F895C7D980C}" destId="{A3092444-3D11-3248-9A73-FF51BE72D056}" srcOrd="3" destOrd="0" presId="urn:microsoft.com/office/officeart/2005/8/layout/hierarchy4"/>
    <dgm:cxn modelId="{357394EF-A2B2-4E11-8125-3B4B3A5F3103}" type="presParOf" srcId="{FE5D820C-9A76-4E44-8574-6F895C7D980C}" destId="{D097B2E4-61A7-0D44-8DE4-70DB353C7251}" srcOrd="4" destOrd="0" presId="urn:microsoft.com/office/officeart/2005/8/layout/hierarchy4"/>
    <dgm:cxn modelId="{DC207185-73BD-4DBA-838F-7284EFB9A8A4}" type="presParOf" srcId="{D097B2E4-61A7-0D44-8DE4-70DB353C7251}" destId="{5B4A9678-7492-F24E-8ECC-9F1EA0540DB6}" srcOrd="0" destOrd="0" presId="urn:microsoft.com/office/officeart/2005/8/layout/hierarchy4"/>
    <dgm:cxn modelId="{6E5141A0-EE85-4404-A513-22BBE83E238F}" type="presParOf" srcId="{D097B2E4-61A7-0D44-8DE4-70DB353C7251}" destId="{3B9AC8FE-810E-3A49-A2C5-7F46405306B3}" srcOrd="1" destOrd="0" presId="urn:microsoft.com/office/officeart/2005/8/layout/hierarchy4"/>
    <dgm:cxn modelId="{DD2425D0-CF67-494E-A0AD-CAF18462CBB2}" type="presParOf" srcId="{B386E317-4651-FE45-B9A0-0D460C582220}" destId="{21581AE3-778C-7C47-AB03-7E0C6151E89D}" srcOrd="1" destOrd="0" presId="urn:microsoft.com/office/officeart/2005/8/layout/hierarchy4"/>
    <dgm:cxn modelId="{7AF449E5-0170-423F-A2DB-3B72BBD811B0}" type="presParOf" srcId="{B386E317-4651-FE45-B9A0-0D460C582220}" destId="{12CE91C5-24ED-FB47-AED0-95D503126E40}" srcOrd="2" destOrd="0" presId="urn:microsoft.com/office/officeart/2005/8/layout/hierarchy4"/>
    <dgm:cxn modelId="{5F353285-2F2C-4F4D-A280-0E94DDDF6BE7}" type="presParOf" srcId="{12CE91C5-24ED-FB47-AED0-95D503126E40}" destId="{94860B26-A5C6-2D4F-86D5-6CF940FBC396}" srcOrd="0" destOrd="0" presId="urn:microsoft.com/office/officeart/2005/8/layout/hierarchy4"/>
    <dgm:cxn modelId="{0371BEC3-4165-4111-8A33-430A4CA69218}" type="presParOf" srcId="{12CE91C5-24ED-FB47-AED0-95D503126E40}" destId="{B275B54D-2CDD-8B42-B034-5BB5C6E3ACB8}" srcOrd="1" destOrd="0" presId="urn:microsoft.com/office/officeart/2005/8/layout/hierarchy4"/>
    <dgm:cxn modelId="{48153998-65F9-4795-903B-0A40B868BE87}" type="presParOf" srcId="{12CE91C5-24ED-FB47-AED0-95D503126E40}" destId="{C1E84367-0B21-B240-83BA-26B5697A1A2D}" srcOrd="2" destOrd="0" presId="urn:microsoft.com/office/officeart/2005/8/layout/hierarchy4"/>
    <dgm:cxn modelId="{2E3D0CAF-A97E-49EB-87EB-4C4B8DBBF14B}" type="presParOf" srcId="{C1E84367-0B21-B240-83BA-26B5697A1A2D}" destId="{9669FC2B-EC70-F74A-96E9-B730C06C0151}" srcOrd="0" destOrd="0" presId="urn:microsoft.com/office/officeart/2005/8/layout/hierarchy4"/>
    <dgm:cxn modelId="{3E1107BE-F1AA-45E8-8CDB-40411FAE50C5}" type="presParOf" srcId="{9669FC2B-EC70-F74A-96E9-B730C06C0151}" destId="{DB022E03-DE3E-0147-910D-8084B49F0D5E}" srcOrd="0" destOrd="0" presId="urn:microsoft.com/office/officeart/2005/8/layout/hierarchy4"/>
    <dgm:cxn modelId="{61DED9A6-EC9A-4A69-B3C8-FACFB5EF3EAF}" type="presParOf" srcId="{9669FC2B-EC70-F74A-96E9-B730C06C0151}" destId="{3A301544-D25D-E44C-AD36-3F0443481B89}" srcOrd="1" destOrd="0" presId="urn:microsoft.com/office/officeart/2005/8/layout/hierarchy4"/>
    <dgm:cxn modelId="{EA4AD514-7B21-49A3-8CF6-73A0D0E1B558}" type="presParOf" srcId="{9669FC2B-EC70-F74A-96E9-B730C06C0151}" destId="{D4480E41-1E24-B44A-942F-53F6C6E35121}" srcOrd="2" destOrd="0" presId="urn:microsoft.com/office/officeart/2005/8/layout/hierarchy4"/>
    <dgm:cxn modelId="{9E4FE040-3078-4723-AC25-135008532949}" type="presParOf" srcId="{D4480E41-1E24-B44A-942F-53F6C6E35121}" destId="{1828B16B-E56D-E043-BB92-5A0E79E2FB46}" srcOrd="0" destOrd="0" presId="urn:microsoft.com/office/officeart/2005/8/layout/hierarchy4"/>
    <dgm:cxn modelId="{A4B5785E-CA22-4D13-BABD-979D7CFDFC38}" type="presParOf" srcId="{1828B16B-E56D-E043-BB92-5A0E79E2FB46}" destId="{531C2F60-5BDD-AB4E-8781-E5288FAF606F}" srcOrd="0" destOrd="0" presId="urn:microsoft.com/office/officeart/2005/8/layout/hierarchy4"/>
    <dgm:cxn modelId="{5FBC50D1-864E-4F1D-8F83-EE601D149267}" type="presParOf" srcId="{1828B16B-E56D-E043-BB92-5A0E79E2FB46}" destId="{7F9D4DFD-2182-E840-8A8B-CB01D9B73432}" srcOrd="1" destOrd="0" presId="urn:microsoft.com/office/officeart/2005/8/layout/hierarchy4"/>
    <dgm:cxn modelId="{ED5CA361-6273-4C87-AC36-89A07763A1C3}" type="presParOf" srcId="{D4480E41-1E24-B44A-942F-53F6C6E35121}" destId="{117D2FBB-E2AA-4645-8D7F-1F2D59F8D2E8}" srcOrd="1" destOrd="0" presId="urn:microsoft.com/office/officeart/2005/8/layout/hierarchy4"/>
    <dgm:cxn modelId="{439FCA2C-ECA6-464F-9C0E-19F36DF789AF}" type="presParOf" srcId="{D4480E41-1E24-B44A-942F-53F6C6E35121}" destId="{CC45C642-06B0-8049-AC31-615666E02B2B}" srcOrd="2" destOrd="0" presId="urn:microsoft.com/office/officeart/2005/8/layout/hierarchy4"/>
    <dgm:cxn modelId="{60B3C953-34FF-4121-A8A0-06954FF6FCF6}" type="presParOf" srcId="{CC45C642-06B0-8049-AC31-615666E02B2B}" destId="{98F4AD80-926B-8E4B-AFE6-8CE260DBAFA5}" srcOrd="0" destOrd="0" presId="urn:microsoft.com/office/officeart/2005/8/layout/hierarchy4"/>
    <dgm:cxn modelId="{A1C332DF-0FF5-41DB-9C2D-16411AEE2C7C}" type="presParOf" srcId="{CC45C642-06B0-8049-AC31-615666E02B2B}" destId="{59CCCBE5-5657-4649-88FE-FCC02441CBF1}" srcOrd="1" destOrd="0" presId="urn:microsoft.com/office/officeart/2005/8/layout/hierarchy4"/>
    <dgm:cxn modelId="{6EFCB5FE-51AB-4D63-818C-6FBD2ECF8F47}" type="presParOf" srcId="{D4480E41-1E24-B44A-942F-53F6C6E35121}" destId="{C1819B22-B8B1-AB4A-88DF-16B97BEBA6AA}" srcOrd="3" destOrd="0" presId="urn:microsoft.com/office/officeart/2005/8/layout/hierarchy4"/>
    <dgm:cxn modelId="{A2351561-5A59-4CDE-8479-4F76BF55CAAB}" type="presParOf" srcId="{D4480E41-1E24-B44A-942F-53F6C6E35121}" destId="{89731557-9F1A-CC43-A11D-566CE7CEDFD3}" srcOrd="4" destOrd="0" presId="urn:microsoft.com/office/officeart/2005/8/layout/hierarchy4"/>
    <dgm:cxn modelId="{1DCD2816-B2F0-4642-A3A3-8693536529F0}" type="presParOf" srcId="{89731557-9F1A-CC43-A11D-566CE7CEDFD3}" destId="{8C91FDA0-612D-FF4B-A7C3-753E447FD2A5}" srcOrd="0" destOrd="0" presId="urn:microsoft.com/office/officeart/2005/8/layout/hierarchy4"/>
    <dgm:cxn modelId="{7D41F3B2-443D-4305-8AB2-D6486606C9F6}" type="presParOf" srcId="{89731557-9F1A-CC43-A11D-566CE7CEDFD3}" destId="{A58832D8-31C8-6144-B208-7373AC9492F1}" srcOrd="1" destOrd="0" presId="urn:microsoft.com/office/officeart/2005/8/layout/hierarchy4"/>
    <dgm:cxn modelId="{B1E5E7E7-7AF0-41D9-BE72-9383BAFA30B1}" type="presParOf" srcId="{C1E84367-0B21-B240-83BA-26B5697A1A2D}" destId="{F6783325-03AC-3A43-AD46-161BCDFE958A}" srcOrd="1" destOrd="0" presId="urn:microsoft.com/office/officeart/2005/8/layout/hierarchy4"/>
    <dgm:cxn modelId="{D396F2A3-5C79-4C11-B42B-1434B5C7881C}" type="presParOf" srcId="{C1E84367-0B21-B240-83BA-26B5697A1A2D}" destId="{5BFBF4A5-7C64-6042-912D-457F9C2AAC75}" srcOrd="2" destOrd="0" presId="urn:microsoft.com/office/officeart/2005/8/layout/hierarchy4"/>
    <dgm:cxn modelId="{C0191463-972D-47AF-8764-C830C32ED96F}" type="presParOf" srcId="{5BFBF4A5-7C64-6042-912D-457F9C2AAC75}" destId="{917AD195-6F8D-D64C-8DF5-55B823D1DCF2}" srcOrd="0" destOrd="0" presId="urn:microsoft.com/office/officeart/2005/8/layout/hierarchy4"/>
    <dgm:cxn modelId="{009922AA-25C9-4C20-AC6B-5E7C99304FAB}" type="presParOf" srcId="{5BFBF4A5-7C64-6042-912D-457F9C2AAC75}" destId="{C0218A50-5556-5F4A-AA90-633D3A0FECC6}" srcOrd="1" destOrd="0" presId="urn:microsoft.com/office/officeart/2005/8/layout/hierarchy4"/>
    <dgm:cxn modelId="{770BB313-506B-4B34-8FF6-98B22A7DA53F}" type="presParOf" srcId="{5BFBF4A5-7C64-6042-912D-457F9C2AAC75}" destId="{1BCD4EB7-C687-8347-B3CB-BA4D3BBB4FC1}" srcOrd="2" destOrd="0" presId="urn:microsoft.com/office/officeart/2005/8/layout/hierarchy4"/>
    <dgm:cxn modelId="{F6E80BD3-C3B3-40C0-8351-0F2628E3DCD7}" type="presParOf" srcId="{1BCD4EB7-C687-8347-B3CB-BA4D3BBB4FC1}" destId="{176B99B5-E8A2-4D41-B3E5-E61720A3DB6B}" srcOrd="0" destOrd="0" presId="urn:microsoft.com/office/officeart/2005/8/layout/hierarchy4"/>
    <dgm:cxn modelId="{93D861AF-3694-495B-88F1-216348B6F2E2}" type="presParOf" srcId="{176B99B5-E8A2-4D41-B3E5-E61720A3DB6B}" destId="{2591A952-9B12-3A4D-9668-D93A7B342D9E}" srcOrd="0" destOrd="0" presId="urn:microsoft.com/office/officeart/2005/8/layout/hierarchy4"/>
    <dgm:cxn modelId="{5A962053-6419-4521-A3DD-F70E7DE6ECF4}" type="presParOf" srcId="{176B99B5-E8A2-4D41-B3E5-E61720A3DB6B}" destId="{07C2AEDB-7645-6145-BA28-2F19C99C2C5E}" srcOrd="1" destOrd="0" presId="urn:microsoft.com/office/officeart/2005/8/layout/hierarchy4"/>
    <dgm:cxn modelId="{1585BE62-9D28-4C20-AF87-26F48CD067B0}" type="presParOf" srcId="{1BCD4EB7-C687-8347-B3CB-BA4D3BBB4FC1}" destId="{7E67B632-3458-5642-ADD6-110AEBC58668}" srcOrd="1" destOrd="0" presId="urn:microsoft.com/office/officeart/2005/8/layout/hierarchy4"/>
    <dgm:cxn modelId="{84246E76-71ED-440C-B07B-B13AFD66E2CA}" type="presParOf" srcId="{1BCD4EB7-C687-8347-B3CB-BA4D3BBB4FC1}" destId="{3275EC8E-9070-8047-842E-BC5495A15CAF}" srcOrd="2" destOrd="0" presId="urn:microsoft.com/office/officeart/2005/8/layout/hierarchy4"/>
    <dgm:cxn modelId="{AFCAEE2A-ACBA-48EB-B193-56E049AB36D4}" type="presParOf" srcId="{3275EC8E-9070-8047-842E-BC5495A15CAF}" destId="{8D68B647-3166-E246-AB34-E19DB173464B}" srcOrd="0" destOrd="0" presId="urn:microsoft.com/office/officeart/2005/8/layout/hierarchy4"/>
    <dgm:cxn modelId="{66236F2D-AD16-4A61-8750-7876EDDE8F47}" type="presParOf" srcId="{3275EC8E-9070-8047-842E-BC5495A15CAF}" destId="{EEF0D144-E13E-8743-8B03-532A2F145B19}" srcOrd="1" destOrd="0" presId="urn:microsoft.com/office/officeart/2005/8/layout/hierarchy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7B078F5-8F08-47E0-A4F8-94613BBABB9C}">
      <dsp:nvSpPr>
        <dsp:cNvPr id="0" name=""/>
        <dsp:cNvSpPr/>
      </dsp:nvSpPr>
      <dsp:spPr>
        <a:xfrm>
          <a:off x="-174107" y="0"/>
          <a:ext cx="4884725" cy="4188295"/>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D3BE9F0-0CAC-4157-9E46-0F0134B9F740}">
      <dsp:nvSpPr>
        <dsp:cNvPr id="0" name=""/>
        <dsp:cNvSpPr/>
      </dsp:nvSpPr>
      <dsp:spPr>
        <a:xfrm>
          <a:off x="2268255" y="0"/>
          <a:ext cx="5106652" cy="418829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Concept</a:t>
          </a:r>
        </a:p>
      </dsp:txBody>
      <dsp:txXfrm>
        <a:off x="2268255" y="0"/>
        <a:ext cx="2553326" cy="1256491"/>
      </dsp:txXfrm>
    </dsp:sp>
    <dsp:sp modelId="{CC0488D7-AB8B-4CB7-BE9B-5C470E029F54}">
      <dsp:nvSpPr>
        <dsp:cNvPr id="0" name=""/>
        <dsp:cNvSpPr/>
      </dsp:nvSpPr>
      <dsp:spPr>
        <a:xfrm>
          <a:off x="907060" y="1256491"/>
          <a:ext cx="2722389" cy="2722389"/>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F2D11CBB-27D3-4C6C-B610-9E25E398FE2B}">
      <dsp:nvSpPr>
        <dsp:cNvPr id="0" name=""/>
        <dsp:cNvSpPr/>
      </dsp:nvSpPr>
      <dsp:spPr>
        <a:xfrm>
          <a:off x="2268255" y="1256491"/>
          <a:ext cx="5106652" cy="2722389"/>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Opportunity</a:t>
          </a:r>
        </a:p>
      </dsp:txBody>
      <dsp:txXfrm>
        <a:off x="2268255" y="1256491"/>
        <a:ext cx="2553326" cy="1256487"/>
      </dsp:txXfrm>
    </dsp:sp>
    <dsp:sp modelId="{65ACC6ED-26AD-412F-A0DE-EF20BC771EE5}">
      <dsp:nvSpPr>
        <dsp:cNvPr id="0" name=""/>
        <dsp:cNvSpPr/>
      </dsp:nvSpPr>
      <dsp:spPr>
        <a:xfrm>
          <a:off x="1640011" y="2512978"/>
          <a:ext cx="1256487" cy="1256487"/>
        </a:xfrm>
        <a:prstGeom prst="pie">
          <a:avLst>
            <a:gd name="adj1" fmla="val 5400000"/>
            <a:gd name="adj2" fmla="val 16200000"/>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D617F1E-53C0-4096-832F-9EE948F88D6F}">
      <dsp:nvSpPr>
        <dsp:cNvPr id="0" name=""/>
        <dsp:cNvSpPr/>
      </dsp:nvSpPr>
      <dsp:spPr>
        <a:xfrm>
          <a:off x="2268255" y="2512978"/>
          <a:ext cx="5106652" cy="1256487"/>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33350" tIns="133350" rIns="133350" bIns="133350" numCol="1" spcCol="1270" anchor="ctr" anchorCtr="0">
          <a:noAutofit/>
        </a:bodyPr>
        <a:lstStyle/>
        <a:p>
          <a:pPr marL="0" lvl="0" indent="0" algn="ctr" defTabSz="1555750">
            <a:lnSpc>
              <a:spcPct val="90000"/>
            </a:lnSpc>
            <a:spcBef>
              <a:spcPct val="0"/>
            </a:spcBef>
            <a:spcAft>
              <a:spcPct val="35000"/>
            </a:spcAft>
            <a:buNone/>
          </a:pPr>
          <a:r>
            <a:rPr lang="en-US" sz="3500" kern="1200" dirty="0"/>
            <a:t>The Potentials</a:t>
          </a:r>
        </a:p>
      </dsp:txBody>
      <dsp:txXfrm>
        <a:off x="2268255" y="2512978"/>
        <a:ext cx="2553326" cy="1256487"/>
      </dsp:txXfrm>
    </dsp:sp>
    <dsp:sp modelId="{8C7249F5-6A43-4677-858A-4209B274B459}">
      <dsp:nvSpPr>
        <dsp:cNvPr id="0" name=""/>
        <dsp:cNvSpPr/>
      </dsp:nvSpPr>
      <dsp:spPr>
        <a:xfrm>
          <a:off x="4821581" y="0"/>
          <a:ext cx="2553326" cy="1256491"/>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vehicle-to-vehicle (V2V).</a:t>
          </a:r>
        </a:p>
      </dsp:txBody>
      <dsp:txXfrm>
        <a:off x="4821581" y="0"/>
        <a:ext cx="2553326" cy="1256491"/>
      </dsp:txXfrm>
    </dsp:sp>
    <dsp:sp modelId="{DBE3DE41-7537-4441-8B1C-5E8BE18ACA77}">
      <dsp:nvSpPr>
        <dsp:cNvPr id="0" name=""/>
        <dsp:cNvSpPr/>
      </dsp:nvSpPr>
      <dsp:spPr>
        <a:xfrm>
          <a:off x="4821581" y="1256491"/>
          <a:ext cx="2553326" cy="1256487"/>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Smart  Cars </a:t>
          </a:r>
        </a:p>
      </dsp:txBody>
      <dsp:txXfrm>
        <a:off x="4821581" y="1256491"/>
        <a:ext cx="2553326" cy="1256487"/>
      </dsp:txXfrm>
    </dsp:sp>
    <dsp:sp modelId="{6C8D26A5-DBB8-4E90-9DA9-227A2AD5DEB3}">
      <dsp:nvSpPr>
        <dsp:cNvPr id="0" name=""/>
        <dsp:cNvSpPr/>
      </dsp:nvSpPr>
      <dsp:spPr>
        <a:xfrm>
          <a:off x="4821581" y="2512978"/>
          <a:ext cx="2553326" cy="1256487"/>
        </a:xfrm>
        <a:prstGeom prst="rect">
          <a:avLst/>
        </a:prstGeom>
        <a:noFill/>
        <a:ln w="9525" cap="flat" cmpd="sng" algn="ctr">
          <a:noFill/>
          <a:prstDash val="solid"/>
        </a:ln>
        <a:effectLst/>
        <a:sp3d/>
      </dsp:spPr>
      <dsp:style>
        <a:lnRef idx="1">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228600" lvl="1" indent="-228600" algn="l" defTabSz="1022350">
            <a:lnSpc>
              <a:spcPct val="90000"/>
            </a:lnSpc>
            <a:spcBef>
              <a:spcPct val="0"/>
            </a:spcBef>
            <a:spcAft>
              <a:spcPct val="15000"/>
            </a:spcAft>
            <a:buChar char="•"/>
          </a:pPr>
          <a:r>
            <a:rPr lang="en-US" sz="2300" kern="1200" dirty="0"/>
            <a:t> Safer roads</a:t>
          </a:r>
        </a:p>
        <a:p>
          <a:pPr marL="228600" lvl="1" indent="-228600" algn="l" defTabSz="1022350">
            <a:lnSpc>
              <a:spcPct val="90000"/>
            </a:lnSpc>
            <a:spcBef>
              <a:spcPct val="0"/>
            </a:spcBef>
            <a:spcAft>
              <a:spcPct val="15000"/>
            </a:spcAft>
            <a:buChar char="•"/>
          </a:pPr>
          <a:r>
            <a:rPr lang="en-US" sz="2300" kern="1200" dirty="0"/>
            <a:t> Less traffic </a:t>
          </a:r>
        </a:p>
        <a:p>
          <a:pPr marL="228600" lvl="1" indent="-228600" algn="l" defTabSz="1022350">
            <a:lnSpc>
              <a:spcPct val="90000"/>
            </a:lnSpc>
            <a:spcBef>
              <a:spcPct val="0"/>
            </a:spcBef>
            <a:spcAft>
              <a:spcPct val="15000"/>
            </a:spcAft>
            <a:buChar char="•"/>
          </a:pPr>
          <a:r>
            <a:rPr lang="en-US" sz="2300" kern="1200" dirty="0"/>
            <a:t>Less fading </a:t>
          </a:r>
        </a:p>
      </dsp:txBody>
      <dsp:txXfrm>
        <a:off x="4821581" y="2512978"/>
        <a:ext cx="2553326" cy="12564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189" y="1160"/>
          <a:ext cx="8680420"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31" y="32702"/>
        <a:ext cx="8617336" cy="1013854"/>
      </dsp:txXfrm>
    </dsp:sp>
    <dsp:sp modelId="{468E4027-285D-0B42-B57B-5D8E7E478E95}">
      <dsp:nvSpPr>
        <dsp:cNvPr id="0" name=""/>
        <dsp:cNvSpPr/>
      </dsp:nvSpPr>
      <dsp:spPr>
        <a:xfrm>
          <a:off x="3189"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31" y="1222349"/>
        <a:ext cx="4232945" cy="1013854"/>
      </dsp:txXfrm>
    </dsp:sp>
    <dsp:sp modelId="{ABA769A8-9F72-6241-BCEC-E3CC66C0B3FD}">
      <dsp:nvSpPr>
        <dsp:cNvPr id="0" name=""/>
        <dsp:cNvSpPr/>
      </dsp:nvSpPr>
      <dsp:spPr>
        <a:xfrm>
          <a:off x="3189"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Comfort</a:t>
          </a:r>
        </a:p>
      </dsp:txBody>
      <dsp:txXfrm>
        <a:off x="34731" y="2411995"/>
        <a:ext cx="2062840" cy="1013854"/>
      </dsp:txXfrm>
    </dsp:sp>
    <dsp:sp modelId="{6483B6A3-6EE5-8A48-A184-1B36266D9B50}">
      <dsp:nvSpPr>
        <dsp:cNvPr id="0" name=""/>
        <dsp:cNvSpPr/>
      </dsp:nvSpPr>
      <dsp:spPr>
        <a:xfrm>
          <a:off x="3189"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Contextual Information</a:t>
          </a:r>
        </a:p>
      </dsp:txBody>
      <dsp:txXfrm>
        <a:off x="33999" y="3600910"/>
        <a:ext cx="990297" cy="1015318"/>
      </dsp:txXfrm>
    </dsp:sp>
    <dsp:sp modelId="{F0219164-AD4F-394D-AB1A-62FDFF059E4B}">
      <dsp:nvSpPr>
        <dsp:cNvPr id="0" name=""/>
        <dsp:cNvSpPr/>
      </dsp:nvSpPr>
      <dsp:spPr>
        <a:xfrm>
          <a:off x="107719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Entertainment</a:t>
          </a:r>
        </a:p>
      </dsp:txBody>
      <dsp:txXfrm>
        <a:off x="1108007" y="3600910"/>
        <a:ext cx="990297" cy="1015318"/>
      </dsp:txXfrm>
    </dsp:sp>
    <dsp:sp modelId="{67E6D66D-F025-DA42-A88C-773E18CFCFBD}">
      <dsp:nvSpPr>
        <dsp:cNvPr id="0" name=""/>
        <dsp:cNvSpPr/>
      </dsp:nvSpPr>
      <dsp:spPr>
        <a:xfrm>
          <a:off x="2173294"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Traffic Information Systems</a:t>
          </a:r>
        </a:p>
      </dsp:txBody>
      <dsp:txXfrm>
        <a:off x="2204836" y="2411995"/>
        <a:ext cx="2062840" cy="1013854"/>
      </dsp:txXfrm>
    </dsp:sp>
    <dsp:sp modelId="{4D42E0F1-0A23-E24B-9DF1-354A4F12A5CD}">
      <dsp:nvSpPr>
        <dsp:cNvPr id="0" name=""/>
        <dsp:cNvSpPr/>
      </dsp:nvSpPr>
      <dsp:spPr>
        <a:xfrm>
          <a:off x="2173294"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Optimal Speed Advisory</a:t>
          </a:r>
        </a:p>
      </dsp:txBody>
      <dsp:txXfrm>
        <a:off x="2204104" y="3600910"/>
        <a:ext cx="990297" cy="1015318"/>
      </dsp:txXfrm>
    </dsp:sp>
    <dsp:sp modelId="{7C430CE8-9E0F-BE41-A6AE-A333D2FF63BE}">
      <dsp:nvSpPr>
        <dsp:cNvPr id="0" name=""/>
        <dsp:cNvSpPr/>
      </dsp:nvSpPr>
      <dsp:spPr>
        <a:xfrm>
          <a:off x="3247302"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Congestion, Accident Information</a:t>
          </a:r>
        </a:p>
      </dsp:txBody>
      <dsp:txXfrm>
        <a:off x="3278112" y="3600910"/>
        <a:ext cx="990297" cy="1015318"/>
      </dsp:txXfrm>
    </dsp:sp>
    <dsp:sp modelId="{79FA0E43-2570-4B47-A9DE-303032675AB9}">
      <dsp:nvSpPr>
        <dsp:cNvPr id="0" name=""/>
        <dsp:cNvSpPr/>
      </dsp:nvSpPr>
      <dsp:spPr>
        <a:xfrm>
          <a:off x="4387580" y="1190807"/>
          <a:ext cx="4296029"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419122" y="1222349"/>
        <a:ext cx="4232945" cy="1013854"/>
      </dsp:txXfrm>
    </dsp:sp>
    <dsp:sp modelId="{20D2169B-5F4C-434A-AEEB-7895E1EA3C5A}">
      <dsp:nvSpPr>
        <dsp:cNvPr id="0" name=""/>
        <dsp:cNvSpPr/>
      </dsp:nvSpPr>
      <dsp:spPr>
        <a:xfrm>
          <a:off x="4387580"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Situation Awareness</a:t>
          </a:r>
        </a:p>
      </dsp:txBody>
      <dsp:txXfrm>
        <a:off x="4419122" y="2411995"/>
        <a:ext cx="2062840" cy="1013854"/>
      </dsp:txXfrm>
    </dsp:sp>
    <dsp:sp modelId="{2370C0BA-41DF-8E4E-A0F5-C7DD7412C71B}">
      <dsp:nvSpPr>
        <dsp:cNvPr id="0" name=""/>
        <dsp:cNvSpPr/>
      </dsp:nvSpPr>
      <dsp:spPr>
        <a:xfrm>
          <a:off x="4387580"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Adaptive Cruise Control</a:t>
          </a:r>
        </a:p>
      </dsp:txBody>
      <dsp:txXfrm>
        <a:off x="4418390" y="3600910"/>
        <a:ext cx="990297" cy="1015318"/>
      </dsp:txXfrm>
    </dsp:sp>
    <dsp:sp modelId="{1DAE6A80-999C-1E47-9BC6-F411B8C54555}">
      <dsp:nvSpPr>
        <dsp:cNvPr id="0" name=""/>
        <dsp:cNvSpPr/>
      </dsp:nvSpPr>
      <dsp:spPr>
        <a:xfrm>
          <a:off x="5461587"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Blind Spot Warning</a:t>
          </a:r>
        </a:p>
      </dsp:txBody>
      <dsp:txXfrm>
        <a:off x="5492397" y="3600910"/>
        <a:ext cx="990297" cy="1015318"/>
      </dsp:txXfrm>
    </dsp:sp>
    <dsp:sp modelId="{B4B73E60-A300-9F4B-9EE2-892D0EDE1821}">
      <dsp:nvSpPr>
        <dsp:cNvPr id="0" name=""/>
        <dsp:cNvSpPr/>
      </dsp:nvSpPr>
      <dsp:spPr>
        <a:xfrm>
          <a:off x="6557685" y="2380453"/>
          <a:ext cx="2125924" cy="1076938"/>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noProof="0" dirty="0"/>
            <a:t>Warning Messages</a:t>
          </a:r>
        </a:p>
      </dsp:txBody>
      <dsp:txXfrm>
        <a:off x="6589227" y="2411995"/>
        <a:ext cx="2062840" cy="1013854"/>
      </dsp:txXfrm>
    </dsp:sp>
    <dsp:sp modelId="{BFD708D9-0A5C-5340-B66B-160BB616685D}">
      <dsp:nvSpPr>
        <dsp:cNvPr id="0" name=""/>
        <dsp:cNvSpPr/>
      </dsp:nvSpPr>
      <dsp:spPr>
        <a:xfrm>
          <a:off x="6557685"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Traffic Light Violation</a:t>
          </a:r>
        </a:p>
      </dsp:txBody>
      <dsp:txXfrm>
        <a:off x="6588495" y="3600910"/>
        <a:ext cx="990297" cy="1015318"/>
      </dsp:txXfrm>
    </dsp:sp>
    <dsp:sp modelId="{27D97F64-6902-E344-994B-79B95AFA869D}">
      <dsp:nvSpPr>
        <dsp:cNvPr id="0" name=""/>
        <dsp:cNvSpPr/>
      </dsp:nvSpPr>
      <dsp:spPr>
        <a:xfrm>
          <a:off x="7631693" y="3570100"/>
          <a:ext cx="1051917" cy="1076938"/>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noProof="0" dirty="0"/>
            <a:t>Electronic Brake Light</a:t>
          </a:r>
        </a:p>
      </dsp:txBody>
      <dsp:txXfrm>
        <a:off x="7662503" y="3600910"/>
        <a:ext cx="990297" cy="10153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054302-A87D-7A48-98D2-5FA733B32592}">
      <dsp:nvSpPr>
        <dsp:cNvPr id="0" name=""/>
        <dsp:cNvSpPr/>
      </dsp:nvSpPr>
      <dsp:spPr>
        <a:xfrm>
          <a:off x="3206" y="1160"/>
          <a:ext cx="8680386" cy="1076938"/>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Vehicle-to-X</a:t>
          </a:r>
        </a:p>
      </dsp:txBody>
      <dsp:txXfrm>
        <a:off x="34748" y="32702"/>
        <a:ext cx="8617302" cy="1013854"/>
      </dsp:txXfrm>
    </dsp:sp>
    <dsp:sp modelId="{468E4027-285D-0B42-B57B-5D8E7E478E95}">
      <dsp:nvSpPr>
        <dsp:cNvPr id="0" name=""/>
        <dsp:cNvSpPr/>
      </dsp:nvSpPr>
      <dsp:spPr>
        <a:xfrm>
          <a:off x="3206"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Non-Safety</a:t>
          </a:r>
        </a:p>
      </dsp:txBody>
      <dsp:txXfrm>
        <a:off x="34748" y="1222349"/>
        <a:ext cx="4102168" cy="1013854"/>
      </dsp:txXfrm>
    </dsp:sp>
    <dsp:sp modelId="{A5BE839D-6ECE-4B87-B935-C254EA4BDA97}">
      <dsp:nvSpPr>
        <dsp:cNvPr id="0" name=""/>
        <dsp:cNvSpPr/>
      </dsp:nvSpPr>
      <dsp:spPr>
        <a:xfrm>
          <a:off x="3206"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Many messages</a:t>
          </a:r>
        </a:p>
        <a:p>
          <a:pPr marL="0" lvl="0" indent="0" algn="ctr" defTabSz="1066800">
            <a:lnSpc>
              <a:spcPct val="90000"/>
            </a:lnSpc>
            <a:spcBef>
              <a:spcPct val="0"/>
            </a:spcBef>
            <a:spcAft>
              <a:spcPct val="35000"/>
            </a:spcAft>
            <a:buNone/>
          </a:pPr>
          <a:r>
            <a:rPr lang="en-US" sz="2400" kern="1200" noProof="0" dirty="0"/>
            <a:t>High data rate</a:t>
          </a:r>
        </a:p>
      </dsp:txBody>
      <dsp:txXfrm>
        <a:off x="34748" y="2411995"/>
        <a:ext cx="4102168" cy="1013854"/>
      </dsp:txXfrm>
    </dsp:sp>
    <dsp:sp modelId="{C28C6726-8B90-44A0-AF89-6507A90DC786}">
      <dsp:nvSpPr>
        <dsp:cNvPr id="0" name=""/>
        <dsp:cNvSpPr/>
      </dsp:nvSpPr>
      <dsp:spPr>
        <a:xfrm>
          <a:off x="3206"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Low latency demands</a:t>
          </a:r>
        </a:p>
        <a:p>
          <a:pPr marL="0" lvl="0" indent="0" algn="ctr" defTabSz="1066800">
            <a:lnSpc>
              <a:spcPct val="90000"/>
            </a:lnSpc>
            <a:spcBef>
              <a:spcPct val="0"/>
            </a:spcBef>
            <a:spcAft>
              <a:spcPct val="35000"/>
            </a:spcAft>
            <a:buNone/>
          </a:pPr>
          <a:r>
            <a:rPr lang="en-US" sz="2400" kern="1200" noProof="0" dirty="0"/>
            <a:t>Low reliability demands</a:t>
          </a:r>
        </a:p>
      </dsp:txBody>
      <dsp:txXfrm>
        <a:off x="34748" y="3601642"/>
        <a:ext cx="4102168" cy="1013854"/>
      </dsp:txXfrm>
    </dsp:sp>
    <dsp:sp modelId="{79FA0E43-2570-4B47-A9DE-303032675AB9}">
      <dsp:nvSpPr>
        <dsp:cNvPr id="0" name=""/>
        <dsp:cNvSpPr/>
      </dsp:nvSpPr>
      <dsp:spPr>
        <a:xfrm>
          <a:off x="4518340" y="1190807"/>
          <a:ext cx="4165252" cy="1076938"/>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75260" tIns="175260" rIns="175260" bIns="175260" numCol="1" spcCol="1270" anchor="ctr" anchorCtr="0">
          <a:noAutofit/>
        </a:bodyPr>
        <a:lstStyle/>
        <a:p>
          <a:pPr marL="0" lvl="0" indent="0" algn="ctr" defTabSz="2044700">
            <a:lnSpc>
              <a:spcPct val="90000"/>
            </a:lnSpc>
            <a:spcBef>
              <a:spcPct val="0"/>
            </a:spcBef>
            <a:spcAft>
              <a:spcPct val="35000"/>
            </a:spcAft>
            <a:buNone/>
          </a:pPr>
          <a:r>
            <a:rPr lang="en-US" sz="4600" kern="1200" noProof="0" dirty="0"/>
            <a:t>Safety</a:t>
          </a:r>
        </a:p>
      </dsp:txBody>
      <dsp:txXfrm>
        <a:off x="4549882" y="1222349"/>
        <a:ext cx="4102168" cy="1013854"/>
      </dsp:txXfrm>
    </dsp:sp>
    <dsp:sp modelId="{765DE50D-9A1B-453A-96E3-F2542EDF1420}">
      <dsp:nvSpPr>
        <dsp:cNvPr id="0" name=""/>
        <dsp:cNvSpPr/>
      </dsp:nvSpPr>
      <dsp:spPr>
        <a:xfrm>
          <a:off x="4518340" y="2380453"/>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Few messages</a:t>
          </a:r>
        </a:p>
        <a:p>
          <a:pPr marL="0" lvl="0" indent="0" algn="ctr" defTabSz="1066800">
            <a:lnSpc>
              <a:spcPct val="90000"/>
            </a:lnSpc>
            <a:spcBef>
              <a:spcPct val="0"/>
            </a:spcBef>
            <a:spcAft>
              <a:spcPct val="35000"/>
            </a:spcAft>
            <a:buNone/>
          </a:pPr>
          <a:r>
            <a:rPr lang="en-US" sz="2400" kern="1200" noProof="0" dirty="0"/>
            <a:t>Small packet size</a:t>
          </a:r>
        </a:p>
      </dsp:txBody>
      <dsp:txXfrm>
        <a:off x="4549882" y="2411995"/>
        <a:ext cx="4102168" cy="1013854"/>
      </dsp:txXfrm>
    </dsp:sp>
    <dsp:sp modelId="{DF8D927D-1C70-4C9D-BD8B-F34ED777DF28}">
      <dsp:nvSpPr>
        <dsp:cNvPr id="0" name=""/>
        <dsp:cNvSpPr/>
      </dsp:nvSpPr>
      <dsp:spPr>
        <a:xfrm>
          <a:off x="4518340" y="3570100"/>
          <a:ext cx="4165252" cy="1076938"/>
        </a:xfrm>
        <a:prstGeom prst="roundRect">
          <a:avLst>
            <a:gd name="adj" fmla="val 10000"/>
          </a:avLst>
        </a:prstGeom>
        <a:no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noProof="0" dirty="0"/>
            <a:t>High latency demands</a:t>
          </a:r>
        </a:p>
        <a:p>
          <a:pPr marL="0" lvl="0" indent="0" algn="ctr" defTabSz="1066800">
            <a:lnSpc>
              <a:spcPct val="90000"/>
            </a:lnSpc>
            <a:spcBef>
              <a:spcPct val="0"/>
            </a:spcBef>
            <a:spcAft>
              <a:spcPct val="35000"/>
            </a:spcAft>
            <a:buNone/>
          </a:pPr>
          <a:r>
            <a:rPr lang="en-US" sz="2400" kern="1200" noProof="0" dirty="0"/>
            <a:t>High reliability demands</a:t>
          </a:r>
        </a:p>
      </dsp:txBody>
      <dsp:txXfrm>
        <a:off x="4549882" y="3601642"/>
        <a:ext cx="4102168" cy="101385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51121-753A-4749-9E6E-D3317DDF1A09}">
      <dsp:nvSpPr>
        <dsp:cNvPr id="0" name=""/>
        <dsp:cNvSpPr/>
      </dsp:nvSpPr>
      <dsp:spPr>
        <a:xfrm rot="5400000">
          <a:off x="5459453" y="-2217986"/>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varying channel conditions</a:t>
          </a:r>
        </a:p>
        <a:p>
          <a:pPr marL="171450" lvl="1" indent="-171450" algn="l" defTabSz="711200">
            <a:lnSpc>
              <a:spcPct val="90000"/>
            </a:lnSpc>
            <a:spcBef>
              <a:spcPct val="0"/>
            </a:spcBef>
            <a:spcAft>
              <a:spcPct val="15000"/>
            </a:spcAft>
            <a:buChar char="•"/>
          </a:pPr>
          <a:r>
            <a:rPr lang="de-DE" sz="1600" kern="1200" noProof="0" dirty="0"/>
            <a:t>High congestion, contention, interference</a:t>
          </a:r>
        </a:p>
        <a:p>
          <a:pPr marL="171450" lvl="1" indent="-171450" algn="l" defTabSz="711200">
            <a:lnSpc>
              <a:spcPct val="90000"/>
            </a:lnSpc>
            <a:spcBef>
              <a:spcPct val="0"/>
            </a:spcBef>
            <a:spcAft>
              <a:spcPct val="15000"/>
            </a:spcAft>
            <a:buChar char="•"/>
          </a:pPr>
          <a:r>
            <a:rPr lang="de-DE" sz="1600" kern="1200" noProof="0" dirty="0"/>
            <a:t>Tightly limited channel capacity</a:t>
          </a:r>
        </a:p>
      </dsp:txBody>
      <dsp:txXfrm rot="-5400000">
        <a:off x="3127248" y="157916"/>
        <a:ext cx="5515855" cy="807747"/>
      </dsp:txXfrm>
    </dsp:sp>
    <dsp:sp modelId="{A8D54FFB-1F49-4ABC-8F4B-538866EFCE44}">
      <dsp:nvSpPr>
        <dsp:cNvPr id="0" name=""/>
        <dsp:cNvSpPr/>
      </dsp:nvSpPr>
      <dsp:spPr>
        <a:xfrm>
          <a:off x="0" y="232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Communication</a:t>
          </a:r>
        </a:p>
      </dsp:txBody>
      <dsp:txXfrm>
        <a:off x="54622" y="56948"/>
        <a:ext cx="3018004" cy="1009683"/>
      </dsp:txXfrm>
    </dsp:sp>
    <dsp:sp modelId="{02FD223A-5003-4377-AEE5-F4AD8F8E46F2}">
      <dsp:nvSpPr>
        <dsp:cNvPr id="0" name=""/>
        <dsp:cNvSpPr/>
      </dsp:nvSpPr>
      <dsp:spPr>
        <a:xfrm rot="5400000">
          <a:off x="5459453" y="-1043112"/>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Unidirectional Links (Broadcast, No Responce from Receiver)</a:t>
          </a:r>
        </a:p>
        <a:p>
          <a:pPr marL="171450" lvl="1" indent="-171450" algn="l" defTabSz="711200">
            <a:lnSpc>
              <a:spcPct val="90000"/>
            </a:lnSpc>
            <a:spcBef>
              <a:spcPct val="0"/>
            </a:spcBef>
            <a:spcAft>
              <a:spcPct val="15000"/>
            </a:spcAft>
            <a:buChar char="•"/>
          </a:pPr>
          <a:r>
            <a:rPr lang="de-DE" sz="1600" kern="1200" noProof="0" dirty="0"/>
            <a:t>Multi-Radio / Multi-Network</a:t>
          </a:r>
        </a:p>
        <a:p>
          <a:pPr marL="171450" lvl="1" indent="-171450" algn="l" defTabSz="711200">
            <a:lnSpc>
              <a:spcPct val="90000"/>
            </a:lnSpc>
            <a:spcBef>
              <a:spcPct val="0"/>
            </a:spcBef>
            <a:spcAft>
              <a:spcPct val="15000"/>
            </a:spcAft>
            <a:buChar char="•"/>
          </a:pPr>
          <a:r>
            <a:rPr lang="de-DE" sz="1600" kern="1200" noProof="0" dirty="0"/>
            <a:t>Heterogeneous equipment</a:t>
          </a:r>
        </a:p>
      </dsp:txBody>
      <dsp:txXfrm rot="-5400000">
        <a:off x="3127248" y="1332790"/>
        <a:ext cx="5515855" cy="807747"/>
      </dsp:txXfrm>
    </dsp:sp>
    <dsp:sp modelId="{027092D1-7DCF-4180-971D-96F5DFEFDFDF}">
      <dsp:nvSpPr>
        <dsp:cNvPr id="0" name=""/>
        <dsp:cNvSpPr/>
      </dsp:nvSpPr>
      <dsp:spPr>
        <a:xfrm>
          <a:off x="0" y="1177199"/>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Networking</a:t>
          </a:r>
        </a:p>
      </dsp:txBody>
      <dsp:txXfrm>
        <a:off x="54622" y="1231821"/>
        <a:ext cx="3018004" cy="1009683"/>
      </dsp:txXfrm>
    </dsp:sp>
    <dsp:sp modelId="{0F1DC900-F9A3-4356-9FC4-F605DE7F2E56}">
      <dsp:nvSpPr>
        <dsp:cNvPr id="0" name=""/>
        <dsp:cNvSpPr/>
      </dsp:nvSpPr>
      <dsp:spPr>
        <a:xfrm rot="5400000">
          <a:off x="5459453" y="131760"/>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Highly dynamic topology</a:t>
          </a:r>
        </a:p>
        <a:p>
          <a:pPr marL="171450" lvl="1" indent="-171450" algn="l" defTabSz="711200">
            <a:lnSpc>
              <a:spcPct val="90000"/>
            </a:lnSpc>
            <a:spcBef>
              <a:spcPct val="0"/>
            </a:spcBef>
            <a:spcAft>
              <a:spcPct val="15000"/>
            </a:spcAft>
            <a:buChar char="•"/>
          </a:pPr>
          <a:r>
            <a:rPr lang="de-DE" sz="1600" kern="1200" noProof="0" dirty="0"/>
            <a:t>But: predictable mobility</a:t>
          </a:r>
        </a:p>
        <a:p>
          <a:pPr marL="171450" lvl="1" indent="-171450" algn="l" defTabSz="711200">
            <a:lnSpc>
              <a:spcPct val="90000"/>
            </a:lnSpc>
            <a:spcBef>
              <a:spcPct val="0"/>
            </a:spcBef>
            <a:spcAft>
              <a:spcPct val="15000"/>
            </a:spcAft>
            <a:buChar char="•"/>
          </a:pPr>
          <a:r>
            <a:rPr lang="de-DE" sz="1600" kern="1200" noProof="0" dirty="0"/>
            <a:t>Heterogeneous environment</a:t>
          </a:r>
        </a:p>
      </dsp:txBody>
      <dsp:txXfrm rot="-5400000">
        <a:off x="3127248" y="2507663"/>
        <a:ext cx="5515855" cy="807747"/>
      </dsp:txXfrm>
    </dsp:sp>
    <dsp:sp modelId="{339F3F69-34CB-46E6-A839-88C05BDDBB0B}">
      <dsp:nvSpPr>
        <dsp:cNvPr id="0" name=""/>
        <dsp:cNvSpPr/>
      </dsp:nvSpPr>
      <dsp:spPr>
        <a:xfrm>
          <a:off x="0" y="2352073"/>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Mobility</a:t>
          </a:r>
        </a:p>
      </dsp:txBody>
      <dsp:txXfrm>
        <a:off x="54622" y="2406695"/>
        <a:ext cx="3018004" cy="1009683"/>
      </dsp:txXfrm>
    </dsp:sp>
    <dsp:sp modelId="{ABFF340C-6B18-46D7-8D2B-8409008ACF99}">
      <dsp:nvSpPr>
        <dsp:cNvPr id="0" name=""/>
        <dsp:cNvSpPr/>
      </dsp:nvSpPr>
      <dsp:spPr>
        <a:xfrm rot="5400000">
          <a:off x="5459453" y="1306634"/>
          <a:ext cx="895141" cy="555955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de-DE" sz="1600" kern="1200" noProof="0" dirty="0"/>
            <a:t>No (or no reliable) uplink to central infrastructure</a:t>
          </a:r>
        </a:p>
        <a:p>
          <a:pPr marL="171450" lvl="1" indent="-171450" algn="l" defTabSz="711200">
            <a:lnSpc>
              <a:spcPct val="90000"/>
            </a:lnSpc>
            <a:spcBef>
              <a:spcPct val="0"/>
            </a:spcBef>
            <a:spcAft>
              <a:spcPct val="15000"/>
            </a:spcAft>
            <a:buChar char="•"/>
          </a:pPr>
          <a:r>
            <a:rPr lang="de-DE" sz="1600" kern="1200" noProof="0" dirty="0"/>
            <a:t>Ensuring privacy</a:t>
          </a:r>
        </a:p>
        <a:p>
          <a:pPr marL="171450" lvl="1" indent="-171450" algn="l" defTabSz="711200">
            <a:lnSpc>
              <a:spcPct val="90000"/>
            </a:lnSpc>
            <a:spcBef>
              <a:spcPct val="0"/>
            </a:spcBef>
            <a:spcAft>
              <a:spcPct val="15000"/>
            </a:spcAft>
            <a:buChar char="•"/>
          </a:pPr>
          <a:r>
            <a:rPr lang="de-DE" sz="1600" kern="1200" noProof="0" dirty="0"/>
            <a:t>Heterogeneous user base</a:t>
          </a:r>
        </a:p>
      </dsp:txBody>
      <dsp:txXfrm rot="-5400000">
        <a:off x="3127248" y="3682537"/>
        <a:ext cx="5515855" cy="807747"/>
      </dsp:txXfrm>
    </dsp:sp>
    <dsp:sp modelId="{68ADB5C1-572C-431E-8B4A-22FD4B378D65}">
      <dsp:nvSpPr>
        <dsp:cNvPr id="0" name=""/>
        <dsp:cNvSpPr/>
      </dsp:nvSpPr>
      <dsp:spPr>
        <a:xfrm>
          <a:off x="0" y="3526946"/>
          <a:ext cx="3127248" cy="1118927"/>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8110" tIns="59055" rIns="118110" bIns="59055" numCol="1" spcCol="1270" anchor="ctr" anchorCtr="0">
          <a:noAutofit/>
        </a:bodyPr>
        <a:lstStyle/>
        <a:p>
          <a:pPr marL="0" lvl="0" indent="0" algn="ctr" defTabSz="1377950">
            <a:lnSpc>
              <a:spcPct val="90000"/>
            </a:lnSpc>
            <a:spcBef>
              <a:spcPct val="0"/>
            </a:spcBef>
            <a:spcAft>
              <a:spcPct val="35000"/>
            </a:spcAft>
            <a:buNone/>
          </a:pPr>
          <a:r>
            <a:rPr lang="de-DE" sz="3100" kern="1200" noProof="0" dirty="0"/>
            <a:t>Security</a:t>
          </a:r>
        </a:p>
      </dsp:txBody>
      <dsp:txXfrm>
        <a:off x="54622" y="3581568"/>
        <a:ext cx="3018004" cy="10096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570499-39F7-F247-8440-E05841EC9D1E}">
      <dsp:nvSpPr>
        <dsp:cNvPr id="0" name=""/>
        <dsp:cNvSpPr/>
      </dsp:nvSpPr>
      <dsp:spPr>
        <a:xfrm>
          <a:off x="2089" y="326"/>
          <a:ext cx="8682620" cy="1039434"/>
        </a:xfrm>
        <a:prstGeom prst="roundRect">
          <a:avLst>
            <a:gd name="adj" fmla="val 10000"/>
          </a:avLst>
        </a:prstGeom>
        <a:gradFill rotWithShape="0">
          <a:gsLst>
            <a:gs pos="0">
              <a:schemeClr val="accent1">
                <a:shade val="80000"/>
                <a:hueOff val="0"/>
                <a:satOff val="0"/>
                <a:lumOff val="0"/>
                <a:alphaOff val="0"/>
                <a:tint val="50000"/>
                <a:satMod val="300000"/>
              </a:schemeClr>
            </a:gs>
            <a:gs pos="35000">
              <a:schemeClr val="accent1">
                <a:shade val="80000"/>
                <a:hueOff val="0"/>
                <a:satOff val="0"/>
                <a:lumOff val="0"/>
                <a:alphaOff val="0"/>
                <a:tint val="37000"/>
                <a:satMod val="300000"/>
              </a:schemeClr>
            </a:gs>
            <a:gs pos="100000">
              <a:schemeClr val="accent1">
                <a:shade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6210" tIns="156210" rIns="156210" bIns="156210" numCol="1" spcCol="1270" anchor="ctr" anchorCtr="0">
          <a:noAutofit/>
        </a:bodyPr>
        <a:lstStyle/>
        <a:p>
          <a:pPr marL="0" lvl="0" indent="0" algn="ctr" defTabSz="1822450">
            <a:lnSpc>
              <a:spcPct val="90000"/>
            </a:lnSpc>
            <a:spcBef>
              <a:spcPct val="0"/>
            </a:spcBef>
            <a:spcAft>
              <a:spcPct val="35000"/>
            </a:spcAft>
            <a:buNone/>
          </a:pPr>
          <a:r>
            <a:rPr lang="en-US" sz="4100" kern="1200" noProof="0" dirty="0"/>
            <a:t>Wireless Communication Technologies</a:t>
          </a:r>
        </a:p>
      </dsp:txBody>
      <dsp:txXfrm>
        <a:off x="32533" y="30770"/>
        <a:ext cx="8621732" cy="978546"/>
      </dsp:txXfrm>
    </dsp:sp>
    <dsp:sp modelId="{5C062EB9-3D46-A741-A8F9-A54F2E911193}">
      <dsp:nvSpPr>
        <dsp:cNvPr id="0" name=""/>
        <dsp:cNvSpPr/>
      </dsp:nvSpPr>
      <dsp:spPr>
        <a:xfrm>
          <a:off x="2089" y="1152230"/>
          <a:ext cx="3823986" cy="1039434"/>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noProof="0" dirty="0"/>
            <a:t>Infrastructure-based</a:t>
          </a:r>
        </a:p>
      </dsp:txBody>
      <dsp:txXfrm>
        <a:off x="32533" y="1182674"/>
        <a:ext cx="3763098" cy="978546"/>
      </dsp:txXfrm>
    </dsp:sp>
    <dsp:sp modelId="{9BFB7000-494B-C54E-AC4F-69E8FF10A710}">
      <dsp:nvSpPr>
        <dsp:cNvPr id="0" name=""/>
        <dsp:cNvSpPr/>
      </dsp:nvSpPr>
      <dsp:spPr>
        <a:xfrm>
          <a:off x="2089" y="2304135"/>
          <a:ext cx="936333"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Broadcast</a:t>
          </a:r>
        </a:p>
      </dsp:txBody>
      <dsp:txXfrm>
        <a:off x="29513" y="2331559"/>
        <a:ext cx="881485" cy="984586"/>
      </dsp:txXfrm>
    </dsp:sp>
    <dsp:sp modelId="{77B58599-1DD4-9F44-A4AD-D30B1DB8FA30}">
      <dsp:nvSpPr>
        <dsp:cNvPr id="0" name=""/>
        <dsp:cNvSpPr/>
      </dsp:nvSpPr>
      <dsp:spPr>
        <a:xfrm>
          <a:off x="2089"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FM Radio,</a:t>
          </a:r>
          <a:br>
            <a:rPr lang="en-US" sz="1300" kern="1200" noProof="0" dirty="0"/>
          </a:br>
          <a:r>
            <a:rPr lang="en-US" sz="1300" kern="1200" noProof="0" dirty="0"/>
            <a:t>DAB/DVB,</a:t>
          </a:r>
          <a:br>
            <a:rPr lang="en-US" sz="1300" kern="1200" noProof="0" dirty="0"/>
          </a:br>
          <a:r>
            <a:rPr lang="en-US" sz="1300" kern="1200" noProof="0" dirty="0"/>
            <a:t>…</a:t>
          </a:r>
        </a:p>
      </dsp:txBody>
      <dsp:txXfrm>
        <a:off x="29513" y="3483463"/>
        <a:ext cx="881485" cy="984586"/>
      </dsp:txXfrm>
    </dsp:sp>
    <dsp:sp modelId="{B37C39C3-0D8F-A444-8BFC-E60A6B42FD33}">
      <dsp:nvSpPr>
        <dsp:cNvPr id="0" name=""/>
        <dsp:cNvSpPr/>
      </dsp:nvSpPr>
      <dsp:spPr>
        <a:xfrm>
          <a:off x="977749" y="2304135"/>
          <a:ext cx="2848326"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Cellular</a:t>
          </a:r>
          <a:endParaRPr lang="de-DE" sz="1500" kern="1200" dirty="0"/>
        </a:p>
      </dsp:txBody>
      <dsp:txXfrm>
        <a:off x="1008193" y="2334579"/>
        <a:ext cx="2787438" cy="978546"/>
      </dsp:txXfrm>
    </dsp:sp>
    <dsp:sp modelId="{2D8F536A-C5B6-6147-939A-F97F4CBD1BA0}">
      <dsp:nvSpPr>
        <dsp:cNvPr id="0" name=""/>
        <dsp:cNvSpPr/>
      </dsp:nvSpPr>
      <dsp:spPr>
        <a:xfrm>
          <a:off x="977749"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GSM</a:t>
          </a:r>
          <a:br>
            <a:rPr lang="en-US" sz="1300" kern="1200" noProof="0" dirty="0"/>
          </a:br>
          <a:br>
            <a:rPr lang="en-US" sz="1300" kern="1200" noProof="0" dirty="0"/>
          </a:br>
          <a:r>
            <a:rPr lang="en-US" sz="1300" kern="1200" noProof="0" dirty="0"/>
            <a:t>2G Cellular</a:t>
          </a:r>
        </a:p>
      </dsp:txBody>
      <dsp:txXfrm>
        <a:off x="1005173" y="3483463"/>
        <a:ext cx="881485" cy="984586"/>
      </dsp:txXfrm>
    </dsp:sp>
    <dsp:sp modelId="{035695E5-5805-B94B-BD8A-9352029625C9}">
      <dsp:nvSpPr>
        <dsp:cNvPr id="0" name=""/>
        <dsp:cNvSpPr/>
      </dsp:nvSpPr>
      <dsp:spPr>
        <a:xfrm>
          <a:off x="1933745"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UMTS</a:t>
          </a:r>
          <a:br>
            <a:rPr lang="en-US" sz="1300" kern="1200" noProof="0" dirty="0"/>
          </a:br>
          <a:br>
            <a:rPr lang="en-US" sz="1300" kern="1200" noProof="0" dirty="0"/>
          </a:br>
          <a:r>
            <a:rPr lang="en-US" sz="1300" kern="1200" noProof="0" dirty="0"/>
            <a:t>3G</a:t>
          </a:r>
          <a:br>
            <a:rPr lang="en-US" sz="1300" kern="1200" noProof="0" dirty="0"/>
          </a:br>
          <a:r>
            <a:rPr lang="en-US" sz="1300" kern="1200" noProof="0" dirty="0"/>
            <a:t>Cellular</a:t>
          </a:r>
        </a:p>
      </dsp:txBody>
      <dsp:txXfrm>
        <a:off x="1961169" y="3483463"/>
        <a:ext cx="881485" cy="984586"/>
      </dsp:txXfrm>
    </dsp:sp>
    <dsp:sp modelId="{5B4A9678-7492-F24E-8ECC-9F1EA0540DB6}">
      <dsp:nvSpPr>
        <dsp:cNvPr id="0" name=""/>
        <dsp:cNvSpPr/>
      </dsp:nvSpPr>
      <dsp:spPr>
        <a:xfrm>
          <a:off x="2889742"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LTE / WiMAX</a:t>
          </a:r>
        </a:p>
        <a:p>
          <a:pPr marL="0" lvl="0" indent="0" algn="ctr" defTabSz="577850">
            <a:lnSpc>
              <a:spcPct val="90000"/>
            </a:lnSpc>
            <a:spcBef>
              <a:spcPct val="0"/>
            </a:spcBef>
            <a:spcAft>
              <a:spcPct val="35000"/>
            </a:spcAft>
            <a:buNone/>
          </a:pPr>
          <a:br>
            <a:rPr lang="en-US" sz="1300" kern="1200" noProof="0" dirty="0"/>
          </a:br>
          <a:r>
            <a:rPr lang="en-US" sz="1300" kern="1200" noProof="0" dirty="0"/>
            <a:t>4G Cell.</a:t>
          </a:r>
        </a:p>
      </dsp:txBody>
      <dsp:txXfrm>
        <a:off x="2917166" y="3483463"/>
        <a:ext cx="881485" cy="984586"/>
      </dsp:txXfrm>
    </dsp:sp>
    <dsp:sp modelId="{94860B26-A5C6-2D4F-86D5-6CF940FBC396}">
      <dsp:nvSpPr>
        <dsp:cNvPr id="0" name=""/>
        <dsp:cNvSpPr/>
      </dsp:nvSpPr>
      <dsp:spPr>
        <a:xfrm>
          <a:off x="3904727" y="1152230"/>
          <a:ext cx="4779982" cy="1039434"/>
        </a:xfrm>
        <a:prstGeom prst="roundRect">
          <a:avLst>
            <a:gd name="adj" fmla="val 10000"/>
          </a:avLst>
        </a:prstGeom>
        <a:gradFill rotWithShape="0">
          <a:gsLst>
            <a:gs pos="0">
              <a:schemeClr val="accent1">
                <a:tint val="99000"/>
                <a:hueOff val="0"/>
                <a:satOff val="0"/>
                <a:lumOff val="0"/>
                <a:alphaOff val="0"/>
                <a:tint val="50000"/>
                <a:satMod val="300000"/>
              </a:schemeClr>
            </a:gs>
            <a:gs pos="35000">
              <a:schemeClr val="accent1">
                <a:tint val="99000"/>
                <a:hueOff val="0"/>
                <a:satOff val="0"/>
                <a:lumOff val="0"/>
                <a:alphaOff val="0"/>
                <a:tint val="37000"/>
                <a:satMod val="300000"/>
              </a:schemeClr>
            </a:gs>
            <a:gs pos="100000">
              <a:schemeClr val="accent1">
                <a:tint val="99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noProof="0" dirty="0"/>
            <a:t>Infrastructureless</a:t>
          </a:r>
        </a:p>
      </dsp:txBody>
      <dsp:txXfrm>
        <a:off x="3935171" y="1182674"/>
        <a:ext cx="4719094" cy="978546"/>
      </dsp:txXfrm>
    </dsp:sp>
    <dsp:sp modelId="{DB022E03-DE3E-0147-910D-8084B49F0D5E}">
      <dsp:nvSpPr>
        <dsp:cNvPr id="0" name=""/>
        <dsp:cNvSpPr/>
      </dsp:nvSpPr>
      <dsp:spPr>
        <a:xfrm>
          <a:off x="3904727" y="2304135"/>
          <a:ext cx="2848326"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Short Range</a:t>
          </a:r>
        </a:p>
      </dsp:txBody>
      <dsp:txXfrm>
        <a:off x="3935171" y="2334579"/>
        <a:ext cx="2787438" cy="978546"/>
      </dsp:txXfrm>
    </dsp:sp>
    <dsp:sp modelId="{531C2F60-5BDD-AB4E-8781-E5288FAF606F}">
      <dsp:nvSpPr>
        <dsp:cNvPr id="0" name=""/>
        <dsp:cNvSpPr/>
      </dsp:nvSpPr>
      <dsp:spPr>
        <a:xfrm>
          <a:off x="3904727"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Millimeter,</a:t>
          </a:r>
          <a:br>
            <a:rPr lang="en-US" sz="1300" kern="1200" noProof="0" dirty="0"/>
          </a:br>
          <a:r>
            <a:rPr lang="en-US" sz="1300" kern="1200" noProof="0" dirty="0"/>
            <a:t>Infrared, Visible</a:t>
          </a:r>
        </a:p>
      </dsp:txBody>
      <dsp:txXfrm>
        <a:off x="3932151" y="3483463"/>
        <a:ext cx="881485" cy="984586"/>
      </dsp:txXfrm>
    </dsp:sp>
    <dsp:sp modelId="{98F4AD80-926B-8E4B-AFE6-8CE260DBAFA5}">
      <dsp:nvSpPr>
        <dsp:cNvPr id="0" name=""/>
        <dsp:cNvSpPr/>
      </dsp:nvSpPr>
      <dsp:spPr>
        <a:xfrm>
          <a:off x="4860724"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802.15.1 Bluetooth</a:t>
          </a:r>
        </a:p>
      </dsp:txBody>
      <dsp:txXfrm>
        <a:off x="4888148" y="3483463"/>
        <a:ext cx="881485" cy="984586"/>
      </dsp:txXfrm>
    </dsp:sp>
    <dsp:sp modelId="{8C91FDA0-612D-FF4B-A7C3-753E447FD2A5}">
      <dsp:nvSpPr>
        <dsp:cNvPr id="0" name=""/>
        <dsp:cNvSpPr/>
      </dsp:nvSpPr>
      <dsp:spPr>
        <a:xfrm>
          <a:off x="5816720"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802.15.4 ZigBee</a:t>
          </a:r>
        </a:p>
      </dsp:txBody>
      <dsp:txXfrm>
        <a:off x="5844144" y="3483463"/>
        <a:ext cx="881485" cy="984586"/>
      </dsp:txXfrm>
    </dsp:sp>
    <dsp:sp modelId="{917AD195-6F8D-D64C-8DF5-55B823D1DCF2}">
      <dsp:nvSpPr>
        <dsp:cNvPr id="0" name=""/>
        <dsp:cNvSpPr/>
      </dsp:nvSpPr>
      <dsp:spPr>
        <a:xfrm>
          <a:off x="6792380" y="2304135"/>
          <a:ext cx="1892330" cy="1039434"/>
        </a:xfrm>
        <a:prstGeom prst="roundRect">
          <a:avLst>
            <a:gd name="adj" fmla="val 10000"/>
          </a:avLst>
        </a:prstGeom>
        <a:gradFill rotWithShape="0">
          <a:gsLst>
            <a:gs pos="0">
              <a:schemeClr val="accent1">
                <a:tint val="80000"/>
                <a:hueOff val="0"/>
                <a:satOff val="0"/>
                <a:lumOff val="0"/>
                <a:alphaOff val="0"/>
                <a:tint val="50000"/>
                <a:satMod val="300000"/>
              </a:schemeClr>
            </a:gs>
            <a:gs pos="35000">
              <a:schemeClr val="accent1">
                <a:tint val="80000"/>
                <a:hueOff val="0"/>
                <a:satOff val="0"/>
                <a:lumOff val="0"/>
                <a:alphaOff val="0"/>
                <a:tint val="37000"/>
                <a:satMod val="300000"/>
              </a:schemeClr>
            </a:gs>
            <a:gs pos="100000">
              <a:schemeClr val="accent1">
                <a:tint val="8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noProof="0" dirty="0"/>
            <a:t>Medium Range</a:t>
          </a:r>
        </a:p>
      </dsp:txBody>
      <dsp:txXfrm>
        <a:off x="6822824" y="2334579"/>
        <a:ext cx="1831442" cy="978546"/>
      </dsp:txXfrm>
    </dsp:sp>
    <dsp:sp modelId="{2591A952-9B12-3A4D-9668-D93A7B342D9E}">
      <dsp:nvSpPr>
        <dsp:cNvPr id="0" name=""/>
        <dsp:cNvSpPr/>
      </dsp:nvSpPr>
      <dsp:spPr>
        <a:xfrm>
          <a:off x="6792380"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802.11</a:t>
          </a:r>
          <a:br>
            <a:rPr lang="en-US" sz="1300" kern="1200" noProof="0" dirty="0"/>
          </a:br>
          <a:r>
            <a:rPr lang="en-US" sz="1300" kern="1200" noProof="0" dirty="0"/>
            <a:t>Wi-Fi</a:t>
          </a:r>
        </a:p>
      </dsp:txBody>
      <dsp:txXfrm>
        <a:off x="6819804" y="3483463"/>
        <a:ext cx="881485" cy="984586"/>
      </dsp:txXfrm>
    </dsp:sp>
    <dsp:sp modelId="{8D68B647-3166-E246-AB34-E19DB173464B}">
      <dsp:nvSpPr>
        <dsp:cNvPr id="0" name=""/>
        <dsp:cNvSpPr/>
      </dsp:nvSpPr>
      <dsp:spPr>
        <a:xfrm>
          <a:off x="7748376" y="3456039"/>
          <a:ext cx="936333" cy="1039434"/>
        </a:xfrm>
        <a:prstGeom prst="roundRect">
          <a:avLst>
            <a:gd name="adj" fmla="val 10000"/>
          </a:avLst>
        </a:prstGeom>
        <a:gradFill rotWithShape="0">
          <a:gsLst>
            <a:gs pos="0">
              <a:schemeClr val="accent1">
                <a:tint val="70000"/>
                <a:hueOff val="0"/>
                <a:satOff val="0"/>
                <a:lumOff val="0"/>
                <a:alphaOff val="0"/>
                <a:tint val="50000"/>
                <a:satMod val="300000"/>
              </a:schemeClr>
            </a:gs>
            <a:gs pos="35000">
              <a:schemeClr val="accent1">
                <a:tint val="70000"/>
                <a:hueOff val="0"/>
                <a:satOff val="0"/>
                <a:lumOff val="0"/>
                <a:alphaOff val="0"/>
                <a:tint val="37000"/>
                <a:satMod val="300000"/>
              </a:schemeClr>
            </a:gs>
            <a:gs pos="100000">
              <a:schemeClr val="accent1">
                <a:tint val="70000"/>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US" sz="1300" kern="1200" noProof="0" dirty="0"/>
            <a:t>DSRC / WAVE</a:t>
          </a:r>
        </a:p>
      </dsp:txBody>
      <dsp:txXfrm>
        <a:off x="7775800" y="3483463"/>
        <a:ext cx="881485" cy="984586"/>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14650" cy="465138"/>
          </a:xfrm>
          <a:prstGeom prst="rect">
            <a:avLst/>
          </a:prstGeom>
          <a:noFill/>
          <a:ln w="9525">
            <a:noFill/>
            <a:miter lim="800000"/>
            <a:headEnd/>
            <a:tailEnd/>
          </a:ln>
          <a:effectLst/>
        </p:spPr>
        <p:txBody>
          <a:bodyPr vert="horz" wrap="square" lIns="89961" tIns="44982" rIns="89961" bIns="44982" numCol="1" anchor="t" anchorCtr="0" compatLnSpc="1">
            <a:prstTxWarp prst="textNoShape">
              <a:avLst/>
            </a:prstTxWarp>
          </a:bodyPr>
          <a:lstStyle>
            <a:lvl1pPr defTabSz="900113" eaLnBrk="0" hangingPunct="0">
              <a:defRPr sz="1100" smtClean="0"/>
            </a:lvl1pPr>
          </a:lstStyle>
          <a:p>
            <a:pPr>
              <a:defRPr/>
            </a:pPr>
            <a:endParaRPr lang="en-US"/>
          </a:p>
        </p:txBody>
      </p:sp>
      <p:sp>
        <p:nvSpPr>
          <p:cNvPr id="38915" name="Rectangle 3"/>
          <p:cNvSpPr>
            <a:spLocks noGrp="1" noChangeArrowheads="1"/>
          </p:cNvSpPr>
          <p:nvPr>
            <p:ph type="dt" sz="quarter" idx="1"/>
          </p:nvPr>
        </p:nvSpPr>
        <p:spPr bwMode="auto">
          <a:xfrm>
            <a:off x="3746500" y="0"/>
            <a:ext cx="2909888" cy="465138"/>
          </a:xfrm>
          <a:prstGeom prst="rect">
            <a:avLst/>
          </a:prstGeom>
          <a:noFill/>
          <a:ln w="9525">
            <a:noFill/>
            <a:miter lim="800000"/>
            <a:headEnd/>
            <a:tailEnd/>
          </a:ln>
          <a:effectLst/>
        </p:spPr>
        <p:txBody>
          <a:bodyPr vert="horz" wrap="square" lIns="89961" tIns="44982" rIns="89961" bIns="44982" numCol="1" anchor="t" anchorCtr="0" compatLnSpc="1">
            <a:prstTxWarp prst="textNoShape">
              <a:avLst/>
            </a:prstTxWarp>
          </a:bodyPr>
          <a:lstStyle>
            <a:lvl1pPr algn="r" defTabSz="900113" eaLnBrk="0" hangingPunct="0">
              <a:defRPr sz="1100" smtClean="0"/>
            </a:lvl1pPr>
          </a:lstStyle>
          <a:p>
            <a:pPr>
              <a:defRPr/>
            </a:pPr>
            <a:endParaRPr lang="en-US"/>
          </a:p>
        </p:txBody>
      </p:sp>
      <p:sp>
        <p:nvSpPr>
          <p:cNvPr id="38916" name="Rectangle 4"/>
          <p:cNvSpPr>
            <a:spLocks noGrp="1" noChangeArrowheads="1"/>
          </p:cNvSpPr>
          <p:nvPr>
            <p:ph type="ftr" sz="quarter" idx="2"/>
          </p:nvPr>
        </p:nvSpPr>
        <p:spPr bwMode="auto">
          <a:xfrm>
            <a:off x="0" y="9326563"/>
            <a:ext cx="2914650" cy="465137"/>
          </a:xfrm>
          <a:prstGeom prst="rect">
            <a:avLst/>
          </a:prstGeom>
          <a:noFill/>
          <a:ln w="9525">
            <a:noFill/>
            <a:miter lim="800000"/>
            <a:headEnd/>
            <a:tailEnd/>
          </a:ln>
          <a:effectLst/>
        </p:spPr>
        <p:txBody>
          <a:bodyPr vert="horz" wrap="square" lIns="89961" tIns="44982" rIns="89961" bIns="44982" numCol="1" anchor="b" anchorCtr="0" compatLnSpc="1">
            <a:prstTxWarp prst="textNoShape">
              <a:avLst/>
            </a:prstTxWarp>
          </a:bodyPr>
          <a:lstStyle>
            <a:lvl1pPr defTabSz="900113" eaLnBrk="0" hangingPunct="0">
              <a:defRPr sz="1100" smtClean="0"/>
            </a:lvl1pPr>
          </a:lstStyle>
          <a:p>
            <a:pPr>
              <a:defRPr/>
            </a:pPr>
            <a:endParaRPr lang="en-US"/>
          </a:p>
        </p:txBody>
      </p:sp>
      <p:sp>
        <p:nvSpPr>
          <p:cNvPr id="38917" name="Rectangle 5"/>
          <p:cNvSpPr>
            <a:spLocks noGrp="1" noChangeArrowheads="1"/>
          </p:cNvSpPr>
          <p:nvPr>
            <p:ph type="sldNum" sz="quarter" idx="3"/>
          </p:nvPr>
        </p:nvSpPr>
        <p:spPr bwMode="auto">
          <a:xfrm>
            <a:off x="3746500" y="9326563"/>
            <a:ext cx="2909888" cy="465137"/>
          </a:xfrm>
          <a:prstGeom prst="rect">
            <a:avLst/>
          </a:prstGeom>
          <a:noFill/>
          <a:ln w="9525">
            <a:noFill/>
            <a:miter lim="800000"/>
            <a:headEnd/>
            <a:tailEnd/>
          </a:ln>
          <a:effectLst/>
        </p:spPr>
        <p:txBody>
          <a:bodyPr vert="horz" wrap="square" lIns="89961" tIns="44982" rIns="89961" bIns="44982" numCol="1" anchor="b" anchorCtr="0" compatLnSpc="1">
            <a:prstTxWarp prst="textNoShape">
              <a:avLst/>
            </a:prstTxWarp>
          </a:bodyPr>
          <a:lstStyle>
            <a:lvl1pPr algn="r" defTabSz="900113" eaLnBrk="0" hangingPunct="0">
              <a:defRPr sz="1100" smtClean="0"/>
            </a:lvl1pPr>
          </a:lstStyle>
          <a:p>
            <a:pPr>
              <a:defRPr/>
            </a:pPr>
            <a:r>
              <a:rPr lang="en-US"/>
              <a:t> </a:t>
            </a:r>
          </a:p>
        </p:txBody>
      </p:sp>
    </p:spTree>
    <p:extLst>
      <p:ext uri="{BB962C8B-B14F-4D97-AF65-F5344CB8AC3E}">
        <p14:creationId xmlns:p14="http://schemas.microsoft.com/office/powerpoint/2010/main" val="795577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879725" cy="4889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lvl1pPr defTabSz="866775" eaLnBrk="0" hangingPunct="0">
              <a:defRPr sz="1100" smtClean="0">
                <a:latin typeface="Times New Roman" pitchFamily="18" charset="0"/>
              </a:defRPr>
            </a:lvl1pPr>
          </a:lstStyle>
          <a:p>
            <a:pPr>
              <a:defRPr/>
            </a:pPr>
            <a:endParaRPr lang="de-DE"/>
          </a:p>
        </p:txBody>
      </p:sp>
      <p:sp>
        <p:nvSpPr>
          <p:cNvPr id="52227" name="Rectangle 3"/>
          <p:cNvSpPr>
            <a:spLocks noGrp="1" noChangeArrowheads="1"/>
          </p:cNvSpPr>
          <p:nvPr>
            <p:ph type="dt" idx="1"/>
          </p:nvPr>
        </p:nvSpPr>
        <p:spPr bwMode="auto">
          <a:xfrm>
            <a:off x="3763963" y="0"/>
            <a:ext cx="2879725" cy="4889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lvl1pPr algn="r" defTabSz="866775" eaLnBrk="0" hangingPunct="0">
              <a:defRPr sz="1100" smtClean="0">
                <a:latin typeface="Times New Roman" pitchFamily="18" charset="0"/>
              </a:defRPr>
            </a:lvl1pPr>
          </a:lstStyle>
          <a:p>
            <a:pPr>
              <a:defRPr/>
            </a:pPr>
            <a:endParaRPr lang="de-DE"/>
          </a:p>
        </p:txBody>
      </p:sp>
      <p:sp>
        <p:nvSpPr>
          <p:cNvPr id="29700" name="Rectangle 4"/>
          <p:cNvSpPr>
            <a:spLocks noGrp="1" noRot="1" noChangeAspect="1" noChangeArrowheads="1" noTextEdit="1"/>
          </p:cNvSpPr>
          <p:nvPr>
            <p:ph type="sldImg" idx="2"/>
          </p:nvPr>
        </p:nvSpPr>
        <p:spPr bwMode="auto">
          <a:xfrm>
            <a:off x="877888" y="733425"/>
            <a:ext cx="4889500" cy="3667125"/>
          </a:xfrm>
          <a:prstGeom prst="rect">
            <a:avLst/>
          </a:prstGeom>
          <a:noFill/>
          <a:ln w="9525">
            <a:solidFill>
              <a:srgbClr val="000000"/>
            </a:solidFill>
            <a:miter lim="800000"/>
            <a:headEnd/>
            <a:tailEnd/>
          </a:ln>
        </p:spPr>
      </p:sp>
      <p:sp>
        <p:nvSpPr>
          <p:cNvPr id="52229" name="Rectangle 5"/>
          <p:cNvSpPr>
            <a:spLocks noGrp="1" noChangeArrowheads="1"/>
          </p:cNvSpPr>
          <p:nvPr>
            <p:ph type="body" sz="quarter" idx="3"/>
          </p:nvPr>
        </p:nvSpPr>
        <p:spPr bwMode="auto">
          <a:xfrm>
            <a:off x="663575" y="4645025"/>
            <a:ext cx="5318125" cy="4400550"/>
          </a:xfrm>
          <a:prstGeom prst="rect">
            <a:avLst/>
          </a:prstGeom>
          <a:noFill/>
          <a:ln w="9525">
            <a:noFill/>
            <a:miter lim="800000"/>
            <a:headEnd/>
            <a:tailEnd/>
          </a:ln>
          <a:effectLst/>
        </p:spPr>
        <p:txBody>
          <a:bodyPr vert="horz" wrap="square" lIns="86639" tIns="43320" rIns="86639" bIns="43320" numCol="1" anchor="t" anchorCtr="0" compatLnSpc="1">
            <a:prstTxWarp prst="textNoShape">
              <a:avLst/>
            </a:prstTxWarp>
          </a:bodyPr>
          <a:lstStyle/>
          <a:p>
            <a:pPr lvl="0"/>
            <a:r>
              <a:rPr lang="de-DE" noProof="0"/>
              <a:t>Textmasterformate durch Klicken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52230" name="Rectangle 6"/>
          <p:cNvSpPr>
            <a:spLocks noGrp="1" noChangeArrowheads="1"/>
          </p:cNvSpPr>
          <p:nvPr>
            <p:ph type="ftr" sz="quarter" idx="4"/>
          </p:nvPr>
        </p:nvSpPr>
        <p:spPr bwMode="auto">
          <a:xfrm>
            <a:off x="0" y="9288463"/>
            <a:ext cx="2879725" cy="488950"/>
          </a:xfrm>
          <a:prstGeom prst="rect">
            <a:avLst/>
          </a:prstGeom>
          <a:noFill/>
          <a:ln w="9525">
            <a:noFill/>
            <a:miter lim="800000"/>
            <a:headEnd/>
            <a:tailEnd/>
          </a:ln>
          <a:effectLst/>
        </p:spPr>
        <p:txBody>
          <a:bodyPr vert="horz" wrap="square" lIns="86639" tIns="43320" rIns="86639" bIns="43320" numCol="1" anchor="b" anchorCtr="0" compatLnSpc="1">
            <a:prstTxWarp prst="textNoShape">
              <a:avLst/>
            </a:prstTxWarp>
          </a:bodyPr>
          <a:lstStyle>
            <a:lvl1pPr defTabSz="866775" eaLnBrk="0" hangingPunct="0">
              <a:defRPr sz="1100" smtClean="0">
                <a:latin typeface="Times New Roman" pitchFamily="18" charset="0"/>
              </a:defRPr>
            </a:lvl1pPr>
          </a:lstStyle>
          <a:p>
            <a:pPr>
              <a:defRPr/>
            </a:pPr>
            <a:endParaRPr lang="de-DE"/>
          </a:p>
        </p:txBody>
      </p:sp>
      <p:sp>
        <p:nvSpPr>
          <p:cNvPr id="52231" name="Rectangle 7"/>
          <p:cNvSpPr>
            <a:spLocks noGrp="1" noChangeArrowheads="1"/>
          </p:cNvSpPr>
          <p:nvPr>
            <p:ph type="sldNum" sz="quarter" idx="5"/>
          </p:nvPr>
        </p:nvSpPr>
        <p:spPr bwMode="auto">
          <a:xfrm>
            <a:off x="3763963" y="9288463"/>
            <a:ext cx="2879725" cy="488950"/>
          </a:xfrm>
          <a:prstGeom prst="rect">
            <a:avLst/>
          </a:prstGeom>
          <a:noFill/>
          <a:ln w="9525">
            <a:noFill/>
            <a:miter lim="800000"/>
            <a:headEnd/>
            <a:tailEnd/>
          </a:ln>
          <a:effectLst/>
        </p:spPr>
        <p:txBody>
          <a:bodyPr vert="horz" wrap="square" lIns="86639" tIns="43320" rIns="86639" bIns="43320" numCol="1" anchor="b" anchorCtr="0" compatLnSpc="1">
            <a:prstTxWarp prst="textNoShape">
              <a:avLst/>
            </a:prstTxWarp>
          </a:bodyPr>
          <a:lstStyle>
            <a:lvl1pPr algn="r" defTabSz="866775" eaLnBrk="0" hangingPunct="0">
              <a:defRPr sz="1100" smtClean="0">
                <a:latin typeface="Times New Roman" pitchFamily="18" charset="0"/>
              </a:defRPr>
            </a:lvl1pPr>
          </a:lstStyle>
          <a:p>
            <a:pPr>
              <a:defRPr/>
            </a:pPr>
            <a:fld id="{EE26D5DE-EB0E-4900-B609-6C5B993D43FC}" type="slidenum">
              <a:rPr lang="de-DE"/>
              <a:pPr>
                <a:defRPr/>
              </a:pPr>
              <a:t>‹#›</a:t>
            </a:fld>
            <a:endParaRPr lang="de-DE"/>
          </a:p>
        </p:txBody>
      </p:sp>
    </p:spTree>
    <p:extLst>
      <p:ext uri="{BB962C8B-B14F-4D97-AF65-F5344CB8AC3E}">
        <p14:creationId xmlns:p14="http://schemas.microsoft.com/office/powerpoint/2010/main" val="39392944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E26D5DE-EB0E-4900-B609-6C5B993D43FC}" type="slidenum">
              <a:rPr lang="de-DE" smtClean="0"/>
              <a:pPr>
                <a:defRPr/>
              </a:pPr>
              <a:t>2</a:t>
            </a:fld>
            <a:endParaRPr lang="de-DE"/>
          </a:p>
        </p:txBody>
      </p:sp>
    </p:spTree>
    <p:extLst>
      <p:ext uri="{BB962C8B-B14F-4D97-AF65-F5344CB8AC3E}">
        <p14:creationId xmlns:p14="http://schemas.microsoft.com/office/powerpoint/2010/main" val="3951700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3</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2080655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EE26D5DE-EB0E-4900-B609-6C5B993D43FC}" type="slidenum">
              <a:rPr lang="de-DE" smtClean="0"/>
              <a:pPr>
                <a:defRPr/>
              </a:pPr>
              <a:t>4</a:t>
            </a:fld>
            <a:endParaRPr lang="de-DE"/>
          </a:p>
        </p:txBody>
      </p:sp>
    </p:spTree>
    <p:extLst>
      <p:ext uri="{BB962C8B-B14F-4D97-AF65-F5344CB8AC3E}">
        <p14:creationId xmlns:p14="http://schemas.microsoft.com/office/powerpoint/2010/main" val="2515953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5</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22432897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8</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11</a:t>
            </a:fld>
            <a:endParaRPr lang="en-US"/>
          </a:p>
        </p:txBody>
      </p:sp>
    </p:spTree>
    <p:extLst>
      <p:ext uri="{BB962C8B-B14F-4D97-AF65-F5344CB8AC3E}">
        <p14:creationId xmlns:p14="http://schemas.microsoft.com/office/powerpoint/2010/main" val="41412010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E09AD2F3-C73F-4387-4BC8-4357D5781F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1E0211A7-A40C-F225-0235-132B5975CCF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5604" name="Slide Number Placeholder 3">
            <a:extLst>
              <a:ext uri="{FF2B5EF4-FFF2-40B4-BE49-F238E27FC236}">
                <a16:creationId xmlns:a16="http://schemas.microsoft.com/office/drawing/2014/main" id="{74CBB9C9-E277-A207-5261-7C7CA59373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25702FE-A4F1-4894-B1E0-905BAF7E0FEF}" type="slidenum">
              <a:rPr lang="en-US" altLang="en-US">
                <a:latin typeface="Calibri" panose="020F0502020204030204" pitchFamily="34" charset="0"/>
              </a:rPr>
              <a:pPr eaLnBrk="1" hangingPunct="1"/>
              <a:t>17</a:t>
            </a:fld>
            <a:endParaRPr lang="en-US"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20</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Including road-side warning and Probe data (floating</a:t>
            </a:r>
            <a:r>
              <a:rPr lang="en-US" baseline="0" dirty="0"/>
              <a:t> car data)</a:t>
            </a:r>
            <a:endParaRPr lang="en-US" dirty="0"/>
          </a:p>
        </p:txBody>
      </p:sp>
      <p:sp>
        <p:nvSpPr>
          <p:cNvPr id="4" name="Slide Number Placeholder 3"/>
          <p:cNvSpPr>
            <a:spLocks noGrp="1"/>
          </p:cNvSpPr>
          <p:nvPr>
            <p:ph type="sldNum" sz="quarter" idx="10"/>
          </p:nvPr>
        </p:nvSpPr>
        <p:spPr/>
        <p:txBody>
          <a:bodyPr/>
          <a:lstStyle/>
          <a:p>
            <a:fld id="{DB31B4A4-2E42-4B06-A1FD-A29A0E66878A}" type="slidenum">
              <a:rPr lang="en-US" smtClean="0"/>
              <a:t>24</a:t>
            </a:fld>
            <a:endParaRPr lang="en-US"/>
          </a:p>
        </p:txBody>
      </p:sp>
    </p:spTree>
    <p:extLst>
      <p:ext uri="{BB962C8B-B14F-4D97-AF65-F5344CB8AC3E}">
        <p14:creationId xmlns:p14="http://schemas.microsoft.com/office/powerpoint/2010/main" val="938245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B87A5AC-665F-4A9A-BB03-0879FB28B5E2}" type="slidenum">
              <a:rPr lang="en-US" smtClean="0"/>
              <a:pPr/>
              <a:t>28</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33</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96422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48</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777573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European Union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Cooperative Vehicles and Infrastructure Systems is in charge of traffic control systems and implements a variety of driver</a:t>
            </a:r>
          </a:p>
          <a:p>
            <a:r>
              <a:rPr lang="en-US" sz="1200" b="0" i="0" u="none" strike="noStrike" kern="1200" baseline="0" dirty="0">
                <a:solidFill>
                  <a:schemeClr val="tx1"/>
                </a:solidFill>
                <a:latin typeface="+mn-lt"/>
                <a:ea typeface="+mn-ea"/>
                <a:cs typeface="+mn-cs"/>
              </a:rPr>
              <a:t>routing systems based on hazardous conditions.</a:t>
            </a:r>
          </a:p>
          <a:p>
            <a:r>
              <a:rPr lang="en-US" sz="1200" b="0" i="0" u="none" strike="noStrike" kern="1200" baseline="0" dirty="0">
                <a:solidFill>
                  <a:schemeClr val="tx1"/>
                </a:solidFill>
                <a:latin typeface="+mn-lt"/>
                <a:ea typeface="+mn-ea"/>
                <a:cs typeface="+mn-cs"/>
              </a:rPr>
              <a:t>The main objectives of this trial are to develop standards for V2V and V2I communications,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6" name="Slide Number Placeholder 5"/>
          <p:cNvSpPr>
            <a:spLocks noGrp="1"/>
          </p:cNvSpPr>
          <p:nvPr>
            <p:ph type="sldNum" sz="quarter" idx="10"/>
          </p:nvPr>
        </p:nvSpPr>
        <p:spPr/>
        <p:txBody>
          <a:bodyPr/>
          <a:lstStyle/>
          <a:p>
            <a:fld id="{65254872-DDF8-4DF0-B047-704919E84BEE}" type="slidenum">
              <a:rPr lang="en-GB" smtClean="0"/>
              <a:pPr/>
              <a:t>51</a:t>
            </a:fld>
            <a:endParaRPr lang="en-GB"/>
          </a:p>
        </p:txBody>
      </p:sp>
    </p:spTree>
    <p:extLst>
      <p:ext uri="{BB962C8B-B14F-4D97-AF65-F5344CB8AC3E}">
        <p14:creationId xmlns:p14="http://schemas.microsoft.com/office/powerpoint/2010/main" val="21755074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A2160-85B8-C9DE-6015-E81E9D9E8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497B0F-A519-CEA6-E0FB-B8D7830861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E8B4BC-8898-73BE-3B46-650B120208A8}"/>
              </a:ext>
            </a:extLst>
          </p:cNvPr>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European Union</a:t>
            </a:r>
          </a:p>
          <a:p>
            <a:endParaRPr lang="en-US" sz="1200" b="0" i="0" u="none" strike="noStrike" kern="1200" baseline="0" dirty="0">
              <a:solidFill>
                <a:schemeClr val="tx1"/>
              </a:solidFill>
              <a:latin typeface="+mn-lt"/>
              <a:ea typeface="+mn-ea"/>
              <a:cs typeface="+mn-cs"/>
            </a:endParaRPr>
          </a:p>
          <a:p>
            <a:r>
              <a:rPr lang="en-US" sz="1200" b="0" i="0" u="none" strike="noStrike" kern="1200" baseline="0" dirty="0">
                <a:solidFill>
                  <a:schemeClr val="tx1"/>
                </a:solidFill>
                <a:latin typeface="+mn-lt"/>
                <a:ea typeface="+mn-ea"/>
                <a:cs typeface="+mn-cs"/>
              </a:rPr>
              <a:t>Cooperative Vehicles and Infrastructure Systems is in charge of traffic control systems and implements a variety of driver</a:t>
            </a:r>
          </a:p>
          <a:p>
            <a:r>
              <a:rPr lang="en-US" sz="1200" b="0" i="0" u="none" strike="noStrike" kern="1200" baseline="0" dirty="0">
                <a:solidFill>
                  <a:schemeClr val="tx1"/>
                </a:solidFill>
                <a:latin typeface="+mn-lt"/>
                <a:ea typeface="+mn-ea"/>
                <a:cs typeface="+mn-cs"/>
              </a:rPr>
              <a:t>routing systems based on hazardous conditions.</a:t>
            </a:r>
          </a:p>
          <a:p>
            <a:r>
              <a:rPr lang="en-US" sz="1200" b="0" i="0" u="none" strike="noStrike" kern="1200" baseline="0" dirty="0">
                <a:solidFill>
                  <a:schemeClr val="tx1"/>
                </a:solidFill>
                <a:latin typeface="+mn-lt"/>
                <a:ea typeface="+mn-ea"/>
                <a:cs typeface="+mn-cs"/>
              </a:rPr>
              <a:t>The main objectives of this trial are to develop standards for V2V and V2I communications,</a:t>
            </a: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a:p>
            <a:endParaRPr lang="en-US" sz="1200" b="0" i="0" u="none" strike="noStrike" kern="1200" baseline="0" dirty="0">
              <a:solidFill>
                <a:schemeClr val="tx1"/>
              </a:solidFill>
              <a:latin typeface="+mn-lt"/>
              <a:ea typeface="+mn-ea"/>
              <a:cs typeface="+mn-cs"/>
            </a:endParaRPr>
          </a:p>
        </p:txBody>
      </p:sp>
      <p:sp>
        <p:nvSpPr>
          <p:cNvPr id="6" name="Slide Number Placeholder 5">
            <a:extLst>
              <a:ext uri="{FF2B5EF4-FFF2-40B4-BE49-F238E27FC236}">
                <a16:creationId xmlns:a16="http://schemas.microsoft.com/office/drawing/2014/main" id="{B346AB20-084F-69B1-5A6F-76C0ECDEAF36}"/>
              </a:ext>
            </a:extLst>
          </p:cNvPr>
          <p:cNvSpPr>
            <a:spLocks noGrp="1"/>
          </p:cNvSpPr>
          <p:nvPr>
            <p:ph type="sldNum" sz="quarter" idx="10"/>
          </p:nvPr>
        </p:nvSpPr>
        <p:spPr/>
        <p:txBody>
          <a:bodyPr/>
          <a:lstStyle/>
          <a:p>
            <a:fld id="{65254872-DDF8-4DF0-B047-704919E84BEE}" type="slidenum">
              <a:rPr lang="en-GB" smtClean="0"/>
              <a:pPr/>
              <a:t>54</a:t>
            </a:fld>
            <a:endParaRPr lang="en-GB"/>
          </a:p>
        </p:txBody>
      </p:sp>
    </p:spTree>
    <p:extLst>
      <p:ext uri="{BB962C8B-B14F-4D97-AF65-F5344CB8AC3E}">
        <p14:creationId xmlns:p14="http://schemas.microsoft.com/office/powerpoint/2010/main" val="38752055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67</a:t>
            </a:fld>
            <a:endParaRPr lang="de-DE"/>
          </a:p>
        </p:txBody>
      </p:sp>
    </p:spTree>
    <p:extLst>
      <p:ext uri="{BB962C8B-B14F-4D97-AF65-F5344CB8AC3E}">
        <p14:creationId xmlns:p14="http://schemas.microsoft.com/office/powerpoint/2010/main" val="40639811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68</a:t>
            </a:fld>
            <a:endParaRPr lang="de-DE"/>
          </a:p>
        </p:txBody>
      </p:sp>
    </p:spTree>
    <p:extLst>
      <p:ext uri="{BB962C8B-B14F-4D97-AF65-F5344CB8AC3E}">
        <p14:creationId xmlns:p14="http://schemas.microsoft.com/office/powerpoint/2010/main" val="21354868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a:p>
        </p:txBody>
      </p:sp>
      <p:sp>
        <p:nvSpPr>
          <p:cNvPr id="4" name="Foliennummernplatzhalter 3"/>
          <p:cNvSpPr>
            <a:spLocks noGrp="1"/>
          </p:cNvSpPr>
          <p:nvPr>
            <p:ph type="sldNum" sz="quarter" idx="10"/>
          </p:nvPr>
        </p:nvSpPr>
        <p:spPr/>
        <p:txBody>
          <a:bodyPr/>
          <a:lstStyle/>
          <a:p>
            <a:pPr>
              <a:defRPr/>
            </a:pPr>
            <a:fld id="{B30A55DB-5872-4F03-80B5-E8D8F5234685}" type="slidenum">
              <a:rPr lang="de-DE" smtClean="0"/>
              <a:pPr>
                <a:defRPr/>
              </a:pPr>
              <a:t>69</a:t>
            </a:fld>
            <a:endParaRPr lang="de-DE"/>
          </a:p>
        </p:txBody>
      </p:sp>
    </p:spTree>
    <p:extLst>
      <p:ext uri="{BB962C8B-B14F-4D97-AF65-F5344CB8AC3E}">
        <p14:creationId xmlns:p14="http://schemas.microsoft.com/office/powerpoint/2010/main" val="11796781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fld id="{CC3A162D-9C1C-4805-89F8-59F1E9175598}" type="slidenum">
              <a:rPr lang="de-DE"/>
              <a:pPr/>
              <a:t>97</a:t>
            </a:fld>
            <a:endParaRPr lang="de-DE" dirty="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p:spPr>
        <p:txBody>
          <a:bodyPr/>
          <a:lstStyle/>
          <a:p>
            <a:endParaRPr lang="de-DE" dirty="0"/>
          </a:p>
        </p:txBody>
      </p:sp>
    </p:spTree>
    <p:extLst>
      <p:ext uri="{BB962C8B-B14F-4D97-AF65-F5344CB8AC3E}">
        <p14:creationId xmlns:p14="http://schemas.microsoft.com/office/powerpoint/2010/main" val="3926961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8"/>
          <p:cNvSpPr>
            <a:spLocks noGrp="1"/>
          </p:cNvSpPr>
          <p:nvPr>
            <p:ph type="title"/>
          </p:nvPr>
        </p:nvSpPr>
        <p:spPr>
          <a:xfrm>
            <a:off x="457200" y="1143000"/>
            <a:ext cx="8229600" cy="4953000"/>
          </a:xfrm>
        </p:spPr>
        <p:txBody>
          <a:bodyPr>
            <a:normAutofit/>
          </a:bodyPr>
          <a:lstStyle>
            <a:lvl1pPr>
              <a:defRPr sz="3600">
                <a:solidFill>
                  <a:schemeClr val="accent2"/>
                </a:solidFill>
              </a:defRPr>
            </a:lvl1pPr>
          </a:lstStyle>
          <a:p>
            <a:r>
              <a:rPr lang="en-US" dirty="0"/>
              <a:t>Click to edit Master title style</a:t>
            </a:r>
          </a:p>
        </p:txBody>
      </p:sp>
      <p:grpSp>
        <p:nvGrpSpPr>
          <p:cNvPr id="5" name="Group 4"/>
          <p:cNvGrpSpPr/>
          <p:nvPr userDrawn="1"/>
        </p:nvGrpSpPr>
        <p:grpSpPr>
          <a:xfrm>
            <a:off x="0" y="620688"/>
            <a:ext cx="9144000" cy="5990344"/>
            <a:chOff x="0" y="620688"/>
            <a:chExt cx="9144000" cy="5990344"/>
          </a:xfrm>
        </p:grpSpPr>
        <p:cxnSp>
          <p:nvCxnSpPr>
            <p:cNvPr id="6" name="Straight Connector 5"/>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3864669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558551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Recap">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86868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dirty="0">
                <a:solidFill>
                  <a:prstClr val="black"/>
                </a:solidFill>
              </a:rPr>
              <a:t>Vehicular Networking</a:t>
            </a: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4" name="Group 3"/>
          <p:cNvGrpSpPr/>
          <p:nvPr userDrawn="1"/>
        </p:nvGrpSpPr>
        <p:grpSpPr>
          <a:xfrm>
            <a:off x="0" y="620688"/>
            <a:ext cx="9144000" cy="5990344"/>
            <a:chOff x="0" y="620688"/>
            <a:chExt cx="9144000" cy="5990344"/>
          </a:xfrm>
        </p:grpSpPr>
        <p:cxnSp>
          <p:nvCxnSpPr>
            <p:cNvPr id="7" name="Straight Connector 6"/>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09672008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wo-Column Content">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dirty="0"/>
              <a:t>Click to edit Master title style</a:t>
            </a:r>
          </a:p>
        </p:txBody>
      </p:sp>
      <p:sp>
        <p:nvSpPr>
          <p:cNvPr id="3" name="Content Placeholder 2"/>
          <p:cNvSpPr>
            <a:spLocks noGrp="1"/>
          </p:cNvSpPr>
          <p:nvPr>
            <p:ph idx="1"/>
          </p:nvPr>
        </p:nvSpPr>
        <p:spPr>
          <a:xfrm>
            <a:off x="228600" y="1600200"/>
            <a:ext cx="4343400" cy="46482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11" name="Content Placeholder 10"/>
          <p:cNvSpPr>
            <a:spLocks noGrp="1"/>
          </p:cNvSpPr>
          <p:nvPr>
            <p:ph sz="quarter" idx="14"/>
          </p:nvPr>
        </p:nvSpPr>
        <p:spPr>
          <a:xfrm>
            <a:off x="4572000" y="1600199"/>
            <a:ext cx="4343399" cy="4648199"/>
          </a:xfrm>
        </p:spPr>
        <p:txBody>
          <a:bodyPr vert="horz" lIns="91440" tIns="45720" rIns="91440" bIns="45720" rtlCol="0">
            <a:normAutofit/>
          </a:bodyPr>
          <a:lstStyle>
            <a:lvl1pPr>
              <a:defRPr lang="en-US" sz="2800" dirty="0" smtClean="0"/>
            </a:lvl1pPr>
            <a:lvl2pPr>
              <a:defRPr lang="en-US" sz="2400" dirty="0" smtClean="0"/>
            </a:lvl2pPr>
            <a:lvl3pPr>
              <a:defRPr lang="en-US" sz="2000" dirty="0" smtClean="0"/>
            </a:lvl3pPr>
            <a:lvl4pPr>
              <a:defRPr lang="en-US" dirty="0" smtClean="0"/>
            </a:lvl4pPr>
            <a:lvl5pPr>
              <a:defRPr lang="en-US" dirty="0"/>
            </a:lvl5pPr>
          </a:lstStyle>
          <a:p>
            <a:pPr lvl="0">
              <a:buClr>
                <a:srgbClr val="C00000"/>
              </a:buClr>
              <a:buSzPct val="100000"/>
              <a:buFont typeface="Calibri" pitchFamily="34" charset="0"/>
              <a:buChar char="▪"/>
            </a:pPr>
            <a:r>
              <a:rPr lang="en-US" dirty="0"/>
              <a:t>Click to edit Master text styles</a:t>
            </a:r>
          </a:p>
          <a:p>
            <a:pPr lvl="1">
              <a:buClr>
                <a:srgbClr val="C00000"/>
              </a:buClr>
              <a:buSzPct val="100000"/>
              <a:buFont typeface="Calibri" pitchFamily="34" charset="0"/>
              <a:buChar char="▪"/>
            </a:pPr>
            <a:r>
              <a:rPr lang="en-US" dirty="0"/>
              <a:t>Second level</a:t>
            </a:r>
          </a:p>
          <a:p>
            <a:pPr lvl="2">
              <a:buClr>
                <a:srgbClr val="C00000"/>
              </a:buClr>
              <a:buSzPct val="100000"/>
              <a:buFont typeface="Calibri" pitchFamily="34" charset="0"/>
              <a:buChar char="▪"/>
            </a:pPr>
            <a:r>
              <a:rPr lang="en-US" dirty="0"/>
              <a:t>Third level</a:t>
            </a:r>
          </a:p>
          <a:p>
            <a:pPr lvl="3">
              <a:buClr>
                <a:srgbClr val="C00000"/>
              </a:buClr>
              <a:buSzPct val="100000"/>
              <a:buFont typeface="Calibri" pitchFamily="34" charset="0"/>
              <a:buChar char="▪"/>
            </a:pPr>
            <a:r>
              <a:rPr lang="en-US" dirty="0"/>
              <a:t>Fourth level</a:t>
            </a:r>
          </a:p>
          <a:p>
            <a:pPr lvl="4">
              <a:buClr>
                <a:srgbClr val="C00000"/>
              </a:buClr>
              <a:buSzPct val="100000"/>
              <a:buFont typeface="Calibri" pitchFamily="34" charset="0"/>
              <a:buChar char="▪"/>
            </a:pPr>
            <a:r>
              <a:rPr lang="en-US" dirty="0"/>
              <a:t>Fifth level</a:t>
            </a:r>
          </a:p>
        </p:txBody>
      </p:sp>
      <p:grpSp>
        <p:nvGrpSpPr>
          <p:cNvPr id="8" name="Group 7"/>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843027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ection Title">
    <p:spTree>
      <p:nvGrpSpPr>
        <p:cNvPr id="1" name=""/>
        <p:cNvGrpSpPr/>
        <p:nvPr/>
      </p:nvGrpSpPr>
      <p:grpSpPr>
        <a:xfrm>
          <a:off x="0" y="0"/>
          <a:ext cx="0" cy="0"/>
          <a:chOff x="0" y="0"/>
          <a:chExt cx="0" cy="0"/>
        </a:xfrm>
      </p:grpSpPr>
      <p:sp>
        <p:nvSpPr>
          <p:cNvPr id="2" name="Title 1"/>
          <p:cNvSpPr>
            <a:spLocks noGrp="1"/>
          </p:cNvSpPr>
          <p:nvPr>
            <p:ph type="title"/>
          </p:nvPr>
        </p:nvSpPr>
        <p:spPr>
          <a:xfrm>
            <a:off x="228600" y="914400"/>
            <a:ext cx="8686800" cy="3429000"/>
          </a:xfrm>
        </p:spPr>
        <p:txBody>
          <a:bodyPr lIns="182880" rIns="182880" anchor="b" anchorCtr="0">
            <a:noAutofit/>
          </a:bodyPr>
          <a:lstStyle>
            <a:lvl1pPr marL="0" algn="l" defTabSz="914400" rtl="0" eaLnBrk="1" latinLnBrk="0" hangingPunct="1">
              <a:spcBef>
                <a:spcPct val="0"/>
              </a:spcBef>
              <a:buNone/>
              <a:defRPr lang="en-US" sz="3600" kern="1200" dirty="0">
                <a:solidFill>
                  <a:schemeClr val="accent2"/>
                </a:solidFill>
                <a:latin typeface="+mj-lt"/>
                <a:ea typeface="+mj-ea"/>
                <a:cs typeface="+mj-cs"/>
              </a:defRPr>
            </a:lvl1pPr>
          </a:lstStyle>
          <a:p>
            <a:r>
              <a:rPr lang="en-US" dirty="0"/>
              <a:t>Click to edit Master title style</a:t>
            </a:r>
          </a:p>
        </p:txBody>
      </p:sp>
      <p:sp>
        <p:nvSpPr>
          <p:cNvPr id="3" name="Content Placeholder 2"/>
          <p:cNvSpPr>
            <a:spLocks noGrp="1"/>
          </p:cNvSpPr>
          <p:nvPr>
            <p:ph idx="1"/>
          </p:nvPr>
        </p:nvSpPr>
        <p:spPr>
          <a:xfrm>
            <a:off x="228600" y="4343400"/>
            <a:ext cx="8686800" cy="1905000"/>
          </a:xfrm>
        </p:spPr>
        <p:txBody>
          <a:bodyPr vert="horz" lIns="182880" tIns="45720" rIns="182880" bIns="45720" rtlCol="0" anchor="t" anchorCtr="0">
            <a:normAutofit/>
          </a:bodyPr>
          <a:lstStyle>
            <a:lvl1pPr>
              <a:defRPr lang="en-US" dirty="0" smtClean="0">
                <a:latin typeface="+mj-lt"/>
                <a:ea typeface="+mj-ea"/>
                <a:cs typeface="+mj-cs"/>
              </a:defRPr>
            </a:lvl1pPr>
          </a:lstStyle>
          <a:p>
            <a:pPr lvl="0">
              <a:spcBef>
                <a:spcPct val="0"/>
              </a:spcBef>
              <a:buNone/>
            </a:pPr>
            <a:r>
              <a:rPr lang="en-US" dirty="0"/>
              <a:t>Click to edit Master text styles</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grpSp>
        <p:nvGrpSpPr>
          <p:cNvPr id="7" name="Group 6"/>
          <p:cNvGrpSpPr/>
          <p:nvPr userDrawn="1"/>
        </p:nvGrpSpPr>
        <p:grpSpPr>
          <a:xfrm>
            <a:off x="0" y="620688"/>
            <a:ext cx="9144000" cy="5990344"/>
            <a:chOff x="0" y="620688"/>
            <a:chExt cx="9144000" cy="5990344"/>
          </a:xfrm>
        </p:grpSpPr>
        <p:cxnSp>
          <p:nvCxnSpPr>
            <p:cNvPr id="9" name="Straight Connector 8"/>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39749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86868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4268647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Picture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2177368"/>
            <a:ext cx="8686800" cy="3918632"/>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grpSp>
        <p:nvGrpSpPr>
          <p:cNvPr id="13" name="Group 12"/>
          <p:cNvGrpSpPr/>
          <p:nvPr userDrawn="1"/>
        </p:nvGrpSpPr>
        <p:grpSpPr>
          <a:xfrm>
            <a:off x="0" y="620688"/>
            <a:ext cx="9144000" cy="5990344"/>
            <a:chOff x="0" y="620688"/>
            <a:chExt cx="9144000" cy="5990344"/>
          </a:xfrm>
        </p:grpSpPr>
        <p:cxnSp>
          <p:nvCxnSpPr>
            <p:cNvPr id="14" name="Straight Connector 13"/>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
        <p:nvSpPr>
          <p:cNvPr id="12" name="Content Placeholder 2"/>
          <p:cNvSpPr>
            <a:spLocks noGrp="1"/>
          </p:cNvSpPr>
          <p:nvPr>
            <p:ph idx="14"/>
          </p:nvPr>
        </p:nvSpPr>
        <p:spPr>
          <a:xfrm>
            <a:off x="228600" y="1614190"/>
            <a:ext cx="8686800" cy="54481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8192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Column Content and Refs">
    <p:spTree>
      <p:nvGrpSpPr>
        <p:cNvPr id="1" name=""/>
        <p:cNvGrpSpPr/>
        <p:nvPr/>
      </p:nvGrpSpPr>
      <p:grpSpPr>
        <a:xfrm>
          <a:off x="0" y="0"/>
          <a:ext cx="0" cy="0"/>
          <a:chOff x="0" y="0"/>
          <a:chExt cx="0" cy="0"/>
        </a:xfrm>
      </p:grpSpPr>
      <p:sp>
        <p:nvSpPr>
          <p:cNvPr id="2" name="Title 1"/>
          <p:cNvSpPr>
            <a:spLocks noGrp="1"/>
          </p:cNvSpPr>
          <p:nvPr>
            <p:ph type="title"/>
          </p:nvPr>
        </p:nvSpPr>
        <p:spPr>
          <a:xfrm>
            <a:off x="0" y="685800"/>
            <a:ext cx="9144000" cy="731838"/>
          </a:xfrm>
        </p:spPr>
        <p:txBody>
          <a:bodyPr lIns="182880" rIns="182880">
            <a:normAutofit/>
          </a:bodyPr>
          <a:lstStyle>
            <a:lvl1pPr algn="l">
              <a:defRPr sz="3200"/>
            </a:lvl1pPr>
          </a:lstStyle>
          <a:p>
            <a:r>
              <a:rPr lang="en-US"/>
              <a:t>Click to edit Master title style</a:t>
            </a:r>
          </a:p>
        </p:txBody>
      </p:sp>
      <p:sp>
        <p:nvSpPr>
          <p:cNvPr id="3" name="Content Placeholder 2"/>
          <p:cNvSpPr>
            <a:spLocks noGrp="1"/>
          </p:cNvSpPr>
          <p:nvPr>
            <p:ph idx="1"/>
          </p:nvPr>
        </p:nvSpPr>
        <p:spPr>
          <a:xfrm>
            <a:off x="228600" y="1600200"/>
            <a:ext cx="4343400" cy="4495800"/>
          </a:xfrm>
        </p:spPr>
        <p:txBody>
          <a:bodyPr/>
          <a:lstStyle>
            <a:lvl1pPr marL="342900" indent="-342900">
              <a:buClr>
                <a:srgbClr val="C00000"/>
              </a:buClr>
              <a:buSzPct val="100000"/>
              <a:buFont typeface="Calibri" pitchFamily="34" charset="0"/>
              <a:buChar char="▪"/>
              <a:defRPr sz="2800"/>
            </a:lvl1pPr>
            <a:lvl2pPr marL="742950" indent="-285750">
              <a:buClr>
                <a:srgbClr val="C00000"/>
              </a:buClr>
              <a:buSzPct val="100000"/>
              <a:buFont typeface="Calibri" pitchFamily="34" charset="0"/>
              <a:buChar char="▪"/>
              <a:defRPr sz="2400"/>
            </a:lvl2pPr>
            <a:lvl3pPr marL="1143000" indent="-228600">
              <a:buClr>
                <a:srgbClr val="C00000"/>
              </a:buClr>
              <a:buSzPct val="100000"/>
              <a:buFont typeface="Calibri" pitchFamily="34" charset="0"/>
              <a:buChar char="▪"/>
              <a:defRPr sz="2000"/>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0" y="6629400"/>
            <a:ext cx="9144000" cy="228600"/>
          </a:xfrm>
        </p:spPr>
        <p:txBody>
          <a:bodyPr lIns="91440"/>
          <a:lstStyle>
            <a:lvl1pPr algn="l">
              <a:defRPr sz="1200">
                <a:solidFill>
                  <a:schemeClr val="tx1"/>
                </a:solidFill>
              </a:defRPr>
            </a:lvl1p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a:xfrm>
            <a:off x="8077199" y="6629400"/>
            <a:ext cx="1056861" cy="228600"/>
          </a:xfrm>
        </p:spPr>
        <p:txBody>
          <a:bodyPr rIns="91440"/>
          <a:lstStyle>
            <a:lvl1pPr>
              <a:defRPr>
                <a:solidFill>
                  <a:schemeClr val="tx1"/>
                </a:solidFill>
              </a:defRPr>
            </a:lvl1pPr>
          </a:lstStyle>
          <a:p>
            <a:fld id="{73ED8BC7-2E15-43DB-8EF0-8ED7667633CE}" type="slidenum">
              <a:rPr lang="en-US" smtClean="0">
                <a:solidFill>
                  <a:prstClr val="black"/>
                </a:solidFill>
              </a:rPr>
              <a:pPr/>
              <a:t>‹#›</a:t>
            </a:fld>
            <a:endParaRPr lang="en-US" dirty="0">
              <a:solidFill>
                <a:prstClr val="black"/>
              </a:solidFill>
            </a:endParaRPr>
          </a:p>
        </p:txBody>
      </p:sp>
      <p:sp>
        <p:nvSpPr>
          <p:cNvPr id="7" name="Content Placeholder 2"/>
          <p:cNvSpPr>
            <a:spLocks noGrp="1"/>
          </p:cNvSpPr>
          <p:nvPr>
            <p:ph idx="13"/>
          </p:nvPr>
        </p:nvSpPr>
        <p:spPr>
          <a:xfrm>
            <a:off x="228600" y="5562600"/>
            <a:ext cx="8686800" cy="838200"/>
          </a:xfrm>
        </p:spPr>
        <p:txBody>
          <a:bodyPr anchor="b" anchorCtr="0">
            <a:normAutofit/>
          </a:bodyPr>
          <a:lstStyle>
            <a:lvl1pPr marL="0" indent="0">
              <a:buClr>
                <a:srgbClr val="C00000"/>
              </a:buClr>
              <a:buSzPct val="100000"/>
              <a:buFont typeface="Calibri" pitchFamily="34" charset="0"/>
              <a:buNone/>
              <a:defRPr sz="1050"/>
            </a:lvl1pPr>
            <a:lvl2pPr marL="742950" indent="-285750">
              <a:buClr>
                <a:srgbClr val="C00000"/>
              </a:buClr>
              <a:buSzPct val="100000"/>
              <a:buFont typeface="Calibri" pitchFamily="34" charset="0"/>
              <a:buChar char="▪"/>
              <a:defRPr/>
            </a:lvl2pPr>
            <a:lvl3pPr marL="1143000" indent="-228600">
              <a:buClr>
                <a:srgbClr val="C00000"/>
              </a:buClr>
              <a:buSzPct val="100000"/>
              <a:buFont typeface="Calibri" pitchFamily="34" charset="0"/>
              <a:buChar char="▪"/>
              <a:defRPr/>
            </a:lvl3pPr>
            <a:lvl4pPr marL="1600200" indent="-228600">
              <a:buClr>
                <a:srgbClr val="C00000"/>
              </a:buClr>
              <a:buSzPct val="100000"/>
              <a:buFont typeface="Calibri" pitchFamily="34" charset="0"/>
              <a:buChar char="▪"/>
              <a:defRPr/>
            </a:lvl4pPr>
            <a:lvl5pPr marL="2057400" indent="-228600">
              <a:buClr>
                <a:srgbClr val="C00000"/>
              </a:buClr>
              <a:buSzPct val="100000"/>
              <a:buFont typeface="Calibri" pitchFamily="34" charset="0"/>
              <a:buChar char="▪"/>
              <a:defRPr/>
            </a:lvl5pPr>
          </a:lstStyle>
          <a:p>
            <a:pPr lvl="0"/>
            <a:r>
              <a:rPr lang="en-US" dirty="0"/>
              <a:t>Click to edit Master text styles</a:t>
            </a:r>
          </a:p>
        </p:txBody>
      </p:sp>
      <p:sp>
        <p:nvSpPr>
          <p:cNvPr id="8" name="Content Placeholder 7"/>
          <p:cNvSpPr>
            <a:spLocks noGrp="1"/>
          </p:cNvSpPr>
          <p:nvPr>
            <p:ph sz="quarter" idx="14"/>
          </p:nvPr>
        </p:nvSpPr>
        <p:spPr>
          <a:xfrm>
            <a:off x="4572000" y="1600200"/>
            <a:ext cx="4343400" cy="4495800"/>
          </a:xfrm>
        </p:spPr>
        <p:txBody>
          <a:bodyPr vert="horz" lIns="91440" tIns="45720" rIns="91440" bIns="45720" rtlCol="0">
            <a:normAutofit/>
          </a:bodyPr>
          <a:lstStyle>
            <a:lvl1pPr>
              <a:defRPr lang="en-US" sz="2800" smtClean="0"/>
            </a:lvl1pPr>
            <a:lvl2pPr>
              <a:defRPr lang="en-US" sz="2400" smtClean="0"/>
            </a:lvl2pPr>
            <a:lvl3pPr>
              <a:defRPr lang="en-US" sz="2000" smtClean="0"/>
            </a:lvl3pPr>
            <a:lvl4pPr>
              <a:defRPr lang="en-US" smtClean="0"/>
            </a:lvl4pPr>
            <a:lvl5pPr>
              <a:defRPr lang="en-US"/>
            </a:lvl5pPr>
          </a:lstStyle>
          <a:p>
            <a:pPr lvl="0">
              <a:buClr>
                <a:srgbClr val="C00000"/>
              </a:buClr>
              <a:buSzPct val="100000"/>
              <a:buFont typeface="Calibri" pitchFamily="34" charset="0"/>
              <a:buChar char="▪"/>
            </a:pPr>
            <a:r>
              <a:rPr lang="en-US"/>
              <a:t>Click to edit Master text styles</a:t>
            </a:r>
          </a:p>
          <a:p>
            <a:pPr lvl="1">
              <a:buClr>
                <a:srgbClr val="C00000"/>
              </a:buClr>
              <a:buSzPct val="100000"/>
              <a:buFont typeface="Calibri" pitchFamily="34" charset="0"/>
              <a:buChar char="▪"/>
            </a:pPr>
            <a:r>
              <a:rPr lang="en-US"/>
              <a:t>Second level</a:t>
            </a:r>
          </a:p>
          <a:p>
            <a:pPr lvl="2">
              <a:buClr>
                <a:srgbClr val="C00000"/>
              </a:buClr>
              <a:buSzPct val="100000"/>
              <a:buFont typeface="Calibri" pitchFamily="34" charset="0"/>
              <a:buChar char="▪"/>
            </a:pPr>
            <a:r>
              <a:rPr lang="en-US"/>
              <a:t>Third level</a:t>
            </a:r>
          </a:p>
          <a:p>
            <a:pPr lvl="3">
              <a:buClr>
                <a:srgbClr val="C00000"/>
              </a:buClr>
              <a:buSzPct val="100000"/>
              <a:buFont typeface="Calibri" pitchFamily="34" charset="0"/>
              <a:buChar char="▪"/>
            </a:pPr>
            <a:r>
              <a:rPr lang="en-US"/>
              <a:t>Fourth level</a:t>
            </a:r>
          </a:p>
          <a:p>
            <a:pPr lvl="4">
              <a:buClr>
                <a:srgbClr val="C00000"/>
              </a:buClr>
              <a:buSzPct val="100000"/>
              <a:buFont typeface="Calibri" pitchFamily="34" charset="0"/>
              <a:buChar char="▪"/>
            </a:pPr>
            <a:r>
              <a:rPr lang="en-US"/>
              <a:t>Fifth level</a:t>
            </a:r>
          </a:p>
        </p:txBody>
      </p:sp>
      <p:grpSp>
        <p:nvGrpSpPr>
          <p:cNvPr id="9" name="Group 8"/>
          <p:cNvGrpSpPr/>
          <p:nvPr userDrawn="1"/>
        </p:nvGrpSpPr>
        <p:grpSpPr>
          <a:xfrm>
            <a:off x="0" y="620688"/>
            <a:ext cx="9144000" cy="5990344"/>
            <a:chOff x="0" y="620688"/>
            <a:chExt cx="9144000" cy="5990344"/>
          </a:xfrm>
        </p:grpSpPr>
        <p:cxnSp>
          <p:nvCxnSpPr>
            <p:cNvPr id="10" name="Straight Connector 9"/>
            <p:cNvCxnSpPr/>
            <p:nvPr userDrawn="1"/>
          </p:nvCxnSpPr>
          <p:spPr>
            <a:xfrm flipV="1">
              <a:off x="0" y="6597352"/>
              <a:ext cx="9144000" cy="13680"/>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userDrawn="1"/>
          </p:nvCxnSpPr>
          <p:spPr>
            <a:xfrm flipV="1">
              <a:off x="0" y="620688"/>
              <a:ext cx="9144000" cy="13681"/>
            </a:xfrm>
            <a:prstGeom prst="line">
              <a:avLst/>
            </a:prstGeom>
            <a:ln w="38100" cmpd="sng">
              <a:solidFill>
                <a:srgbClr val="002060"/>
              </a:solidFill>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79873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NL"/>
          </a:p>
        </p:txBody>
      </p:sp>
      <p:sp>
        <p:nvSpPr>
          <p:cNvPr id="3" name="Rectangle 4"/>
          <p:cNvSpPr>
            <a:spLocks noGrp="1" noChangeArrowheads="1"/>
          </p:cNvSpPr>
          <p:nvPr>
            <p:ph type="dt" sz="half" idx="10"/>
          </p:nvPr>
        </p:nvSpPr>
        <p:spPr>
          <a:ln/>
        </p:spPr>
        <p:txBody>
          <a:bodyPr/>
          <a:lstStyle>
            <a:lvl1pPr>
              <a:defRPr/>
            </a:lvl1pPr>
          </a:lstStyle>
          <a:p>
            <a:pPr>
              <a:defRPr/>
            </a:pPr>
            <a:fld id="{68F6B299-6E86-4A13-9335-BC11E37C49B7}" type="datetime5">
              <a:rPr lang="en-US"/>
              <a:pPr>
                <a:defRPr/>
              </a:pPr>
              <a:t>14-Aug-25</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Johan J. Lukkien, j.j.lukkien@tue.nl</a:t>
            </a:r>
          </a:p>
          <a:p>
            <a:pPr>
              <a:defRPr/>
            </a:pPr>
            <a:r>
              <a:rPr lang="en-GB"/>
              <a:t>TU/e Informatica, System Architecture and Networking</a:t>
            </a: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57923A2D-505A-4C2B-A97B-FA20F34B56CE}" type="slidenum">
              <a:rPr lang="en-US"/>
              <a:pPr>
                <a:defRPr/>
              </a:pPr>
              <a:t>‹#›</a:t>
            </a:fld>
            <a:endParaRPr lang="en-US"/>
          </a:p>
        </p:txBody>
      </p:sp>
    </p:spTree>
    <p:extLst>
      <p:ext uri="{BB962C8B-B14F-4D97-AF65-F5344CB8AC3E}">
        <p14:creationId xmlns:p14="http://schemas.microsoft.com/office/powerpoint/2010/main" val="7310633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5CEC94A9-4732-4906-BAA2-9ECF7BE9F5C4}" type="datetime5">
              <a:rPr lang="en-US"/>
              <a:pPr>
                <a:defRPr/>
              </a:pPr>
              <a:t>14-Aug-25</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Johan J. Lukkien, j.j.lukkien@tue.nl</a:t>
            </a:r>
          </a:p>
          <a:p>
            <a:pPr>
              <a:defRPr/>
            </a:pPr>
            <a:r>
              <a:rPr lang="en-GB"/>
              <a:t>TU/e Informatica, System Architecture and Networking</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9D2C3173-7E31-497A-8489-E04D648A4046}" type="slidenum">
              <a:rPr lang="en-US"/>
              <a:pPr>
                <a:defRPr/>
              </a:pPr>
              <a:t>‹#›</a:t>
            </a:fld>
            <a:endParaRPr lang="en-US"/>
          </a:p>
        </p:txBody>
      </p:sp>
    </p:spTree>
    <p:extLst>
      <p:ext uri="{BB962C8B-B14F-4D97-AF65-F5344CB8AC3E}">
        <p14:creationId xmlns:p14="http://schemas.microsoft.com/office/powerpoint/2010/main" val="25802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fontAlgn="auto">
              <a:spcBef>
                <a:spcPts val="0"/>
              </a:spcBef>
              <a:spcAft>
                <a:spcPts val="0"/>
              </a:spcAft>
            </a:pPr>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fontAlgn="auto">
              <a:spcBef>
                <a:spcPts val="0"/>
              </a:spcBef>
              <a:spcAft>
                <a:spcPts val="0"/>
              </a:spcAft>
            </a:pPr>
            <a:r>
              <a:rPr lang="en-US">
                <a:solidFill>
                  <a:prstClr val="black">
                    <a:tint val="75000"/>
                  </a:prstClr>
                </a:solidFill>
                <a:latin typeface="Calibri"/>
              </a:rPr>
              <a:t>Vehicular Networking</a:t>
            </a:r>
            <a:endParaRPr lang="en-US" dirty="0">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auto">
              <a:spcBef>
                <a:spcPts val="0"/>
              </a:spcBef>
              <a:spcAft>
                <a:spcPts val="0"/>
              </a:spcAft>
            </a:pPr>
            <a:fld id="{73ED8BC7-2E15-43DB-8EF0-8ED7667633CE}" type="slidenum">
              <a:rPr lang="en-US" smtClean="0">
                <a:solidFill>
                  <a:prstClr val="black">
                    <a:tint val="75000"/>
                  </a:prstClr>
                </a:solidFill>
                <a:latin typeface="Calibri"/>
              </a:rPr>
              <a:pPr fontAlgn="auto">
                <a:spcBef>
                  <a:spcPts val="0"/>
                </a:spcBef>
                <a:spcAft>
                  <a:spcPts val="0"/>
                </a:spcAft>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207897082"/>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6" r:id="rId3"/>
    <p:sldLayoutId id="2147483731" r:id="rId4"/>
    <p:sldLayoutId id="2147483732" r:id="rId5"/>
    <p:sldLayoutId id="2147483733" r:id="rId6"/>
    <p:sldLayoutId id="2147483735" r:id="rId7"/>
    <p:sldLayoutId id="2147483734" r:id="rId8"/>
    <p:sldLayoutId id="2147483737" r:id="rId9"/>
    <p:sldLayoutId id="2147483738" r:id="rId10"/>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9.xml"/><Relationship Id="rId5" Type="http://schemas.openxmlformats.org/officeDocument/2006/relationships/image" Target="../media/image13.png"/><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jpeg"/><Relationship Id="rId1" Type="http://schemas.openxmlformats.org/officeDocument/2006/relationships/slideLayout" Target="../slideLayouts/slideLayout9.xml"/><Relationship Id="rId6" Type="http://schemas.openxmlformats.org/officeDocument/2006/relationships/image" Target="../media/image22.jpeg"/><Relationship Id="rId11" Type="http://schemas.openxmlformats.org/officeDocument/2006/relationships/image" Target="../media/image27.gif"/><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www.youtube.com/watch?v=Johmxw3cspA" TargetMode="Externa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8.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a:extLst>
              <a:ext uri="{FF2B5EF4-FFF2-40B4-BE49-F238E27FC236}">
                <a16:creationId xmlns:a16="http://schemas.microsoft.com/office/drawing/2014/main" id="{01E6652F-FF96-CE61-CCD4-E2F4164594FA}"/>
              </a:ext>
            </a:extLst>
          </p:cNvPr>
          <p:cNvSpPr/>
          <p:nvPr/>
        </p:nvSpPr>
        <p:spPr>
          <a:xfrm>
            <a:off x="404348" y="4291272"/>
            <a:ext cx="8263447" cy="0"/>
          </a:xfrm>
          <a:custGeom>
            <a:avLst/>
            <a:gdLst/>
            <a:ahLst/>
            <a:cxnLst/>
            <a:rect l="l" t="t" r="r" b="b"/>
            <a:pathLst>
              <a:path w="8763000">
                <a:moveTo>
                  <a:pt x="0" y="0"/>
                </a:moveTo>
                <a:lnTo>
                  <a:pt x="8763000" y="1"/>
                </a:lnTo>
              </a:path>
            </a:pathLst>
          </a:custGeom>
          <a:ln w="25400">
            <a:solidFill>
              <a:srgbClr val="FF6600"/>
            </a:solidFill>
          </a:ln>
        </p:spPr>
        <p:txBody>
          <a:bodyPr lIns="0" tIns="0" rIns="0" bIns="0"/>
          <a:lstStyle/>
          <a:p>
            <a:pPr defTabSz="862293">
              <a:defRPr/>
            </a:pPr>
            <a:endParaRPr sz="1697" kern="0">
              <a:solidFill>
                <a:sysClr val="windowText" lastClr="000000"/>
              </a:solidFill>
              <a:latin typeface="Calibri" panose="020F0502020204030204" pitchFamily="34" charset="0"/>
              <a:cs typeface="Arial" panose="020B0604020202020204" pitchFamily="34" charset="0"/>
            </a:endParaRPr>
          </a:p>
        </p:txBody>
      </p:sp>
      <p:sp>
        <p:nvSpPr>
          <p:cNvPr id="8195" name="object 4">
            <a:extLst>
              <a:ext uri="{FF2B5EF4-FFF2-40B4-BE49-F238E27FC236}">
                <a16:creationId xmlns:a16="http://schemas.microsoft.com/office/drawing/2014/main" id="{DE35F216-38CB-6A9B-C7D1-6DD7FE79AE9A}"/>
              </a:ext>
            </a:extLst>
          </p:cNvPr>
          <p:cNvSpPr>
            <a:spLocks noGrp="1" noChangeArrowheads="1"/>
          </p:cNvSpPr>
          <p:nvPr>
            <p:ph type="title"/>
          </p:nvPr>
        </p:nvSpPr>
        <p:spPr>
          <a:xfrm>
            <a:off x="1652849" y="842182"/>
            <a:ext cx="6654170" cy="501258"/>
          </a:xfrm>
        </p:spPr>
        <p:txBody>
          <a:bodyPr vert="horz" wrap="square" lIns="0" tIns="25748" rIns="0" bIns="0" numCol="1" rtlCol="0" anchor="t" anchorCtr="0" compatLnSpc="1">
            <a:prstTxWarp prst="textNoShape">
              <a:avLst/>
            </a:prstTxWarp>
            <a:spAutoFit/>
          </a:bodyPr>
          <a:lstStyle/>
          <a:p>
            <a:pPr marL="11977" indent="1017985">
              <a:lnSpc>
                <a:spcPts val="4055"/>
              </a:lnSpc>
              <a:spcBef>
                <a:spcPts val="201"/>
              </a:spcBef>
            </a:pPr>
            <a:r>
              <a:rPr lang="en-US" altLang="en-US" sz="2641">
                <a:solidFill>
                  <a:srgbClr val="7030A0"/>
                </a:solidFill>
                <a:latin typeface="Amasis MT Pro Medium" panose="02040604050005020304" pitchFamily="18" charset="0"/>
                <a:cs typeface="ADLaM Display" panose="02010000000000000000" pitchFamily="2" charset="0"/>
              </a:rPr>
              <a:t>CSE 4615:: Wireless Networks</a:t>
            </a:r>
            <a:endParaRPr lang="en-US" altLang="en-US" sz="2641">
              <a:latin typeface="Amasis MT Pro Medium" panose="02040604050005020304" pitchFamily="18" charset="0"/>
              <a:cs typeface="ADLaM Display" panose="02010000000000000000" pitchFamily="2" charset="0"/>
            </a:endParaRPr>
          </a:p>
        </p:txBody>
      </p:sp>
      <p:sp>
        <p:nvSpPr>
          <p:cNvPr id="5" name="object 5">
            <a:extLst>
              <a:ext uri="{FF2B5EF4-FFF2-40B4-BE49-F238E27FC236}">
                <a16:creationId xmlns:a16="http://schemas.microsoft.com/office/drawing/2014/main" id="{E2EDAAF6-A143-D81D-BCC2-82A54A6A81D3}"/>
              </a:ext>
            </a:extLst>
          </p:cNvPr>
          <p:cNvSpPr txBox="1"/>
          <p:nvPr/>
        </p:nvSpPr>
        <p:spPr>
          <a:xfrm>
            <a:off x="2329492" y="3569720"/>
            <a:ext cx="4413160" cy="476515"/>
          </a:xfrm>
          <a:prstGeom prst="rect">
            <a:avLst/>
          </a:prstGeom>
        </p:spPr>
        <p:txBody>
          <a:bodyPr lIns="0" tIns="11976" rIns="0" bIns="0">
            <a:spAutoFit/>
          </a:bodyPr>
          <a:lstStyle/>
          <a:p>
            <a:pPr algn="ctr" defTabSz="862293">
              <a:spcBef>
                <a:spcPts val="94"/>
              </a:spcBef>
              <a:defRPr/>
            </a:pPr>
            <a:r>
              <a:rPr sz="2263" kern="0" spc="-52" dirty="0">
                <a:solidFill>
                  <a:sysClr val="windowText" lastClr="000000"/>
                </a:solidFill>
                <a:latin typeface="Aharoni" panose="02010803020104030203" pitchFamily="2" charset="-79"/>
                <a:cs typeface="Aharoni" panose="02010803020104030203" pitchFamily="2" charset="-79"/>
              </a:rPr>
              <a:t>Lecture</a:t>
            </a:r>
            <a:r>
              <a:rPr sz="2263" kern="0" spc="-122" dirty="0">
                <a:solidFill>
                  <a:sysClr val="windowText" lastClr="000000"/>
                </a:solidFill>
                <a:latin typeface="Aharoni" panose="02010803020104030203" pitchFamily="2" charset="-79"/>
                <a:cs typeface="Aharoni" panose="02010803020104030203" pitchFamily="2" charset="-79"/>
              </a:rPr>
              <a:t> </a:t>
            </a:r>
            <a:r>
              <a:rPr lang="en-US" sz="3018" kern="0" spc="-24" dirty="0">
                <a:solidFill>
                  <a:sysClr val="windowText" lastClr="000000"/>
                </a:solidFill>
                <a:latin typeface="Aharoni" panose="02010803020104030203" pitchFamily="2" charset="-79"/>
                <a:cs typeface="Aharoni" panose="02010803020104030203" pitchFamily="2" charset="-79"/>
              </a:rPr>
              <a:t>8.2</a:t>
            </a:r>
            <a:endParaRPr sz="1697" kern="0" dirty="0">
              <a:solidFill>
                <a:srgbClr val="FF0000"/>
              </a:solidFill>
              <a:latin typeface="Aharoni" panose="02010803020104030203" pitchFamily="2" charset="-79"/>
              <a:cs typeface="Aharoni" panose="02010803020104030203" pitchFamily="2" charset="-79"/>
            </a:endParaRPr>
          </a:p>
        </p:txBody>
      </p:sp>
      <p:sp>
        <p:nvSpPr>
          <p:cNvPr id="6" name="object 5">
            <a:extLst>
              <a:ext uri="{FF2B5EF4-FFF2-40B4-BE49-F238E27FC236}">
                <a16:creationId xmlns:a16="http://schemas.microsoft.com/office/drawing/2014/main" id="{01B4DBDD-E4AD-4282-BFCC-B2EC286410A8}"/>
              </a:ext>
            </a:extLst>
          </p:cNvPr>
          <p:cNvSpPr txBox="1"/>
          <p:nvPr/>
        </p:nvSpPr>
        <p:spPr>
          <a:xfrm>
            <a:off x="3621256" y="4323339"/>
            <a:ext cx="5389204" cy="273255"/>
          </a:xfrm>
          <a:prstGeom prst="rect">
            <a:avLst/>
          </a:prstGeom>
        </p:spPr>
        <p:txBody>
          <a:bodyPr lIns="0" tIns="11976" rIns="0" bIns="0">
            <a:spAutoFit/>
          </a:bodyPr>
          <a:lstStyle/>
          <a:p>
            <a:pPr defTabSz="862293">
              <a:spcBef>
                <a:spcPts val="108"/>
              </a:spcBef>
              <a:defRPr/>
            </a:pPr>
            <a:r>
              <a:rPr lang="en-US" sz="1697" kern="0" dirty="0">
                <a:solidFill>
                  <a:srgbClr val="7030A0"/>
                </a:solidFill>
                <a:latin typeface="Arial MT"/>
                <a:cs typeface="Arial MT"/>
              </a:rPr>
              <a:t>Content Contributors:</a:t>
            </a:r>
          </a:p>
        </p:txBody>
      </p:sp>
      <p:sp>
        <p:nvSpPr>
          <p:cNvPr id="8" name="TextBox 7">
            <a:extLst>
              <a:ext uri="{FF2B5EF4-FFF2-40B4-BE49-F238E27FC236}">
                <a16:creationId xmlns:a16="http://schemas.microsoft.com/office/drawing/2014/main" id="{4D304417-5885-B135-88B8-F3BEE72404CE}"/>
              </a:ext>
            </a:extLst>
          </p:cNvPr>
          <p:cNvSpPr txBox="1"/>
          <p:nvPr/>
        </p:nvSpPr>
        <p:spPr>
          <a:xfrm>
            <a:off x="404350" y="4291273"/>
            <a:ext cx="2946098" cy="846835"/>
          </a:xfrm>
          <a:prstGeom prst="rect">
            <a:avLst/>
          </a:prstGeom>
          <a:noFill/>
        </p:spPr>
        <p:txBody>
          <a:bodyPr>
            <a:spAutoFit/>
          </a:bodyPr>
          <a:lstStyle/>
          <a:p>
            <a:pPr defTabSz="862293">
              <a:defRPr/>
            </a:pPr>
            <a:r>
              <a:rPr lang="en-US" sz="1886" kern="0" dirty="0">
                <a:solidFill>
                  <a:srgbClr val="7030A0"/>
                </a:solidFill>
                <a:latin typeface="Arial MT"/>
                <a:cs typeface="Arial" panose="020B0604020202020204" pitchFamily="34" charset="0"/>
              </a:rPr>
              <a:t>Course Teacher:</a:t>
            </a:r>
          </a:p>
          <a:p>
            <a:pPr defTabSz="862293">
              <a:defRPr/>
            </a:pPr>
            <a:r>
              <a:rPr lang="en-US" sz="1697" kern="0" dirty="0">
                <a:solidFill>
                  <a:sysClr val="windowText" lastClr="000000"/>
                </a:solidFill>
                <a:latin typeface="Calibri" panose="020F0502020204030204" pitchFamily="34" charset="0"/>
                <a:cs typeface="Arial" panose="020B0604020202020204" pitchFamily="34" charset="0"/>
              </a:rPr>
              <a:t>Ashraful Alam Khan</a:t>
            </a:r>
          </a:p>
          <a:p>
            <a:pPr defTabSz="862293">
              <a:defRPr/>
            </a:pPr>
            <a:r>
              <a:rPr lang="en-US" sz="1320" kern="0" dirty="0">
                <a:solidFill>
                  <a:sysClr val="windowText" lastClr="000000"/>
                </a:solidFill>
                <a:latin typeface="Calibri" panose="020F0502020204030204" pitchFamily="34" charset="0"/>
                <a:cs typeface="Arial" panose="020B0604020202020204" pitchFamily="34" charset="0"/>
              </a:rPr>
              <a:t>Assistant Professor, CSE, IUT</a:t>
            </a:r>
          </a:p>
        </p:txBody>
      </p:sp>
      <p:sp>
        <p:nvSpPr>
          <p:cNvPr id="2" name="TextBox 1">
            <a:extLst>
              <a:ext uri="{FF2B5EF4-FFF2-40B4-BE49-F238E27FC236}">
                <a16:creationId xmlns:a16="http://schemas.microsoft.com/office/drawing/2014/main" id="{0B8735C7-6BF5-78B4-A9C0-4032D0902677}"/>
              </a:ext>
            </a:extLst>
          </p:cNvPr>
          <p:cNvSpPr txBox="1"/>
          <p:nvPr/>
        </p:nvSpPr>
        <p:spPr>
          <a:xfrm>
            <a:off x="583990" y="1543552"/>
            <a:ext cx="8263447" cy="845488"/>
          </a:xfrm>
          <a:prstGeom prst="rect">
            <a:avLst/>
          </a:prstGeom>
          <a:noFill/>
        </p:spPr>
        <p:txBody>
          <a:bodyPr wrap="square" rtlCol="0">
            <a:spAutoFit/>
          </a:bodyPr>
          <a:lstStyle/>
          <a:p>
            <a:endParaRPr lang="en-US" dirty="0"/>
          </a:p>
          <a:p>
            <a:pPr algn="ctr" defTabSz="862293"/>
            <a:r>
              <a:rPr lang="en-US" sz="3094" b="1" dirty="0">
                <a:solidFill>
                  <a:srgbClr val="0070C0"/>
                </a:solidFill>
              </a:rPr>
              <a:t>Understanding Vehicular Communication</a:t>
            </a:r>
            <a:endParaRPr lang="en-US" sz="2812" b="1" dirty="0">
              <a:solidFill>
                <a:srgbClr val="C00000"/>
              </a:solidFill>
            </a:endParaRPr>
          </a:p>
        </p:txBody>
      </p:sp>
      <p:sp>
        <p:nvSpPr>
          <p:cNvPr id="7" name="Slide Number Placeholder 6">
            <a:extLst>
              <a:ext uri="{FF2B5EF4-FFF2-40B4-BE49-F238E27FC236}">
                <a16:creationId xmlns:a16="http://schemas.microsoft.com/office/drawing/2014/main" id="{FE0AE207-D50B-E99D-3A63-F675E82AC0F6}"/>
              </a:ext>
            </a:extLst>
          </p:cNvPr>
          <p:cNvSpPr>
            <a:spLocks noGrp="1"/>
          </p:cNvSpPr>
          <p:nvPr>
            <p:ph type="sldNum" sz="quarter" idx="12"/>
          </p:nvPr>
        </p:nvSpPr>
        <p:spPr/>
        <p:txBody>
          <a:bodyPr/>
          <a:lstStyle/>
          <a:p>
            <a:pPr>
              <a:defRPr/>
            </a:pPr>
            <a:fld id="{CCDF45C3-4FE8-4BE9-ACE9-7C71073E8B13}" type="slidenum">
              <a:rPr lang="en-US" smtClean="0"/>
              <a:pPr>
                <a:defRPr/>
              </a:pPr>
              <a:t>1</a:t>
            </a:fld>
            <a:endParaRPr lang="en-US"/>
          </a:p>
        </p:txBody>
      </p:sp>
      <p:pic>
        <p:nvPicPr>
          <p:cNvPr id="29" name="Picture 28">
            <a:extLst>
              <a:ext uri="{FF2B5EF4-FFF2-40B4-BE49-F238E27FC236}">
                <a16:creationId xmlns:a16="http://schemas.microsoft.com/office/drawing/2014/main" id="{169D0D4E-7F1D-6B57-FCDA-B5CA7C3E33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9317" y="4365009"/>
            <a:ext cx="2015764" cy="1959070"/>
          </a:xfrm>
          <a:prstGeom prst="rect">
            <a:avLst/>
          </a:prstGeom>
        </p:spPr>
      </p:pic>
      <p:sp>
        <p:nvSpPr>
          <p:cNvPr id="31" name="TextBox 30">
            <a:extLst>
              <a:ext uri="{FF2B5EF4-FFF2-40B4-BE49-F238E27FC236}">
                <a16:creationId xmlns:a16="http://schemas.microsoft.com/office/drawing/2014/main" id="{E7B3B672-AF37-4CE0-8D97-43C5C7EDB4BF}"/>
              </a:ext>
            </a:extLst>
          </p:cNvPr>
          <p:cNvSpPr txBox="1"/>
          <p:nvPr/>
        </p:nvSpPr>
        <p:spPr>
          <a:xfrm>
            <a:off x="2882030" y="4741054"/>
            <a:ext cx="4586908" cy="1754326"/>
          </a:xfrm>
          <a:prstGeom prst="rect">
            <a:avLst/>
          </a:prstGeom>
          <a:noFill/>
        </p:spPr>
        <p:txBody>
          <a:bodyPr wrap="square">
            <a:spAutoFit/>
          </a:bodyPr>
          <a:lstStyle/>
          <a:p>
            <a:pPr fontAlgn="ctr"/>
            <a:r>
              <a:rPr lang="en-US" b="1" dirty="0"/>
              <a:t>Christoph Sommer and Falko Dressler</a:t>
            </a:r>
            <a:endParaRPr lang="en-US" dirty="0"/>
          </a:p>
          <a:p>
            <a:pPr fontAlgn="ctr"/>
            <a:r>
              <a:rPr lang="en-US" dirty="0"/>
              <a:t>Cambridge University</a:t>
            </a:r>
          </a:p>
          <a:p>
            <a:pPr>
              <a:defRPr/>
            </a:pPr>
            <a:endParaRPr lang="en-US" dirty="0"/>
          </a:p>
          <a:p>
            <a:pPr>
              <a:defRPr/>
            </a:pPr>
            <a:r>
              <a:rPr lang="en-US" b="1" dirty="0"/>
              <a:t>Johan J. </a:t>
            </a:r>
            <a:r>
              <a:rPr lang="en-US" b="1" dirty="0" err="1"/>
              <a:t>Lukkien</a:t>
            </a:r>
            <a:endParaRPr lang="en-US" b="1" dirty="0"/>
          </a:p>
          <a:p>
            <a:pPr>
              <a:defRPr/>
            </a:pPr>
            <a:r>
              <a:rPr lang="en-GB" dirty="0"/>
              <a:t>TU/e Informatica, System Architecture and Networking</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Course Material</a:t>
            </a:r>
          </a:p>
        </p:txBody>
      </p:sp>
      <p:sp>
        <p:nvSpPr>
          <p:cNvPr id="13" name="Content Placeholder 12"/>
          <p:cNvSpPr>
            <a:spLocks noGrp="1"/>
          </p:cNvSpPr>
          <p:nvPr>
            <p:ph idx="1"/>
          </p:nvPr>
        </p:nvSpPr>
        <p:spPr/>
        <p:txBody>
          <a:bodyPr/>
          <a:lstStyle/>
          <a:p>
            <a:endParaRPr lang="en-US" dirty="0"/>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4" name="Slide Number Placeholder 3"/>
          <p:cNvSpPr>
            <a:spLocks noGrp="1"/>
          </p:cNvSpPr>
          <p:nvPr>
            <p:ph type="sldNum" sz="quarter" idx="12"/>
          </p:nvPr>
        </p:nvSpPr>
        <p:spPr/>
        <p:txBody>
          <a:bodyPr/>
          <a:lstStyle/>
          <a:p>
            <a:fld id="{73ED8BC7-2E15-43DB-8EF0-8ED7667633CE}" type="slidenum">
              <a:rPr lang="en-US" smtClean="0">
                <a:solidFill>
                  <a:prstClr val="black"/>
                </a:solidFill>
              </a:rPr>
              <a:pPr/>
              <a:t>2</a:t>
            </a:fld>
            <a:endParaRPr lang="en-US" dirty="0">
              <a:solidFill>
                <a:prstClr val="black"/>
              </a:solidFill>
            </a:endParaRPr>
          </a:p>
        </p:txBody>
      </p:sp>
      <p:sp>
        <p:nvSpPr>
          <p:cNvPr id="14" name="Content Placeholder 13"/>
          <p:cNvSpPr>
            <a:spLocks noGrp="1"/>
          </p:cNvSpPr>
          <p:nvPr>
            <p:ph idx="13"/>
          </p:nvPr>
        </p:nvSpPr>
        <p:spPr/>
        <p:txBody>
          <a:bodyPr/>
          <a:lstStyle/>
          <a:p>
            <a:pPr algn="r"/>
            <a:r>
              <a:rPr lang="en-US" dirty="0"/>
              <a:t>Book design © 2014 Cambridge University Press</a:t>
            </a:r>
          </a:p>
        </p:txBody>
      </p:sp>
      <p:sp>
        <p:nvSpPr>
          <p:cNvPr id="5" name="Inhaltsplatzhalter 2"/>
          <p:cNvSpPr txBox="1">
            <a:spLocks/>
          </p:cNvSpPr>
          <p:nvPr/>
        </p:nvSpPr>
        <p:spPr bwMode="auto">
          <a:xfrm>
            <a:off x="179512" y="4869159"/>
            <a:ext cx="8784976" cy="129669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SzPct val="80000"/>
              <a:buBlip>
                <a:blip r:embed="rId3"/>
              </a:buBlip>
              <a:defRPr sz="2400">
                <a:solidFill>
                  <a:schemeClr val="tx1"/>
                </a:solidFill>
                <a:latin typeface="Calibri" pitchFamily="34" charset="0"/>
                <a:ea typeface="+mn-ea"/>
                <a:cs typeface="Calibri" pitchFamily="34" charset="0"/>
              </a:defRPr>
            </a:lvl1pPr>
            <a:lvl2pPr marL="742950" indent="-285750" algn="l" rtl="0" eaLnBrk="1" fontAlgn="base" hangingPunct="1">
              <a:spcBef>
                <a:spcPct val="20000"/>
              </a:spcBef>
              <a:spcAft>
                <a:spcPct val="0"/>
              </a:spcAft>
              <a:buSzPct val="80000"/>
              <a:buBlip>
                <a:blip r:embed="rId4"/>
              </a:buBlip>
              <a:defRPr sz="2000">
                <a:solidFill>
                  <a:schemeClr val="tx1"/>
                </a:solidFill>
                <a:latin typeface="Calibri" pitchFamily="34" charset="0"/>
                <a:cs typeface="Calibri" pitchFamily="34" charset="0"/>
              </a:defRPr>
            </a:lvl2pPr>
            <a:lvl3pPr marL="1143000" indent="-228600" algn="l" rtl="0" eaLnBrk="1" fontAlgn="base" hangingPunct="1">
              <a:spcBef>
                <a:spcPct val="20000"/>
              </a:spcBef>
              <a:spcAft>
                <a:spcPct val="0"/>
              </a:spcAft>
              <a:buBlip>
                <a:blip r:embed="rId5"/>
              </a:buBlip>
              <a:defRPr>
                <a:solidFill>
                  <a:schemeClr val="tx1"/>
                </a:solidFill>
                <a:latin typeface="Calibri" pitchFamily="34" charset="0"/>
                <a:cs typeface="Calibri" pitchFamily="34" charset="0"/>
              </a:defRPr>
            </a:lvl3pPr>
            <a:lvl4pPr marL="1600200" indent="-228600" algn="l" rtl="0" eaLnBrk="1" fontAlgn="base" hangingPunct="1">
              <a:spcBef>
                <a:spcPct val="20000"/>
              </a:spcBef>
              <a:spcAft>
                <a:spcPct val="0"/>
              </a:spcAft>
              <a:buChar char="–"/>
              <a:defRPr sz="1600">
                <a:solidFill>
                  <a:schemeClr val="tx1"/>
                </a:solidFill>
                <a:latin typeface="Calibri" pitchFamily="34" charset="0"/>
                <a:cs typeface="Calibri" pitchFamily="34" charset="0"/>
              </a:defRPr>
            </a:lvl4pPr>
            <a:lvl5pPr marL="2057400" indent="-228600" algn="l" rtl="0" eaLnBrk="1" fontAlgn="base" hangingPunct="1">
              <a:spcBef>
                <a:spcPct val="20000"/>
              </a:spcBef>
              <a:spcAft>
                <a:spcPct val="0"/>
              </a:spcAft>
              <a:buChar char="»"/>
              <a:defRPr sz="1600">
                <a:solidFill>
                  <a:schemeClr val="tx1"/>
                </a:solidFill>
                <a:latin typeface="Calibri" pitchFamily="34" charset="0"/>
                <a:cs typeface="Calibri" pitchFamily="34" charset="0"/>
              </a:defRPr>
            </a:lvl5pPr>
            <a:lvl6pPr marL="2514600" indent="-228600" algn="l" rtl="0" eaLnBrk="1" fontAlgn="base" hangingPunct="1">
              <a:spcBef>
                <a:spcPct val="20000"/>
              </a:spcBef>
              <a:spcAft>
                <a:spcPct val="0"/>
              </a:spcAft>
              <a:buChar char="»"/>
              <a:defRPr sz="1600">
                <a:solidFill>
                  <a:schemeClr val="tx1"/>
                </a:solidFill>
                <a:latin typeface="+mn-lt"/>
              </a:defRPr>
            </a:lvl6pPr>
            <a:lvl7pPr marL="2971800" indent="-228600" algn="l" rtl="0" eaLnBrk="1" fontAlgn="base" hangingPunct="1">
              <a:spcBef>
                <a:spcPct val="20000"/>
              </a:spcBef>
              <a:spcAft>
                <a:spcPct val="0"/>
              </a:spcAft>
              <a:buChar char="»"/>
              <a:defRPr sz="1600">
                <a:solidFill>
                  <a:schemeClr val="tx1"/>
                </a:solidFill>
                <a:latin typeface="+mn-lt"/>
              </a:defRPr>
            </a:lvl7pPr>
            <a:lvl8pPr marL="3429000" indent="-228600" algn="l" rtl="0" eaLnBrk="1" fontAlgn="base" hangingPunct="1">
              <a:spcBef>
                <a:spcPct val="20000"/>
              </a:spcBef>
              <a:spcAft>
                <a:spcPct val="0"/>
              </a:spcAft>
              <a:buChar char="»"/>
              <a:defRPr sz="1600">
                <a:solidFill>
                  <a:schemeClr val="tx1"/>
                </a:solidFill>
                <a:latin typeface="+mn-lt"/>
              </a:defRPr>
            </a:lvl8pPr>
            <a:lvl9pPr marL="3886200" indent="-228600" algn="l" rtl="0" eaLnBrk="1" fontAlgn="base" hangingPunct="1">
              <a:spcBef>
                <a:spcPct val="20000"/>
              </a:spcBef>
              <a:spcAft>
                <a:spcPct val="0"/>
              </a:spcAft>
              <a:buChar char="»"/>
              <a:defRPr sz="1600">
                <a:solidFill>
                  <a:schemeClr val="tx1"/>
                </a:solidFill>
                <a:latin typeface="+mn-lt"/>
              </a:defRPr>
            </a:lvl9pPr>
          </a:lstStyle>
          <a:p>
            <a:pPr marL="457200" lvl="1" indent="0">
              <a:buNone/>
            </a:pP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2681557983"/>
              </p:ext>
            </p:extLst>
          </p:nvPr>
        </p:nvGraphicFramePr>
        <p:xfrm>
          <a:off x="228600" y="3385799"/>
          <a:ext cx="5743575" cy="2966720"/>
        </p:xfrm>
        <a:graphic>
          <a:graphicData uri="http://schemas.openxmlformats.org/drawingml/2006/table">
            <a:tbl>
              <a:tblPr firstRow="1" bandRow="1">
                <a:tableStyleId>{5C22544A-7EE6-4342-B048-85BDC9FD1C3A}</a:tableStyleId>
              </a:tblPr>
              <a:tblGrid>
                <a:gridCol w="1507688">
                  <a:extLst>
                    <a:ext uri="{9D8B030D-6E8A-4147-A177-3AD203B41FA5}">
                      <a16:colId xmlns:a16="http://schemas.microsoft.com/office/drawing/2014/main" val="20000"/>
                    </a:ext>
                  </a:extLst>
                </a:gridCol>
                <a:gridCol w="4235887">
                  <a:extLst>
                    <a:ext uri="{9D8B030D-6E8A-4147-A177-3AD203B41FA5}">
                      <a16:colId xmlns:a16="http://schemas.microsoft.com/office/drawing/2014/main" val="20001"/>
                    </a:ext>
                  </a:extLst>
                </a:gridCol>
              </a:tblGrid>
              <a:tr h="370840">
                <a:tc>
                  <a:txBody>
                    <a:bodyPr/>
                    <a:lstStyle/>
                    <a:p>
                      <a:pPr>
                        <a:lnSpc>
                          <a:spcPct val="107000"/>
                        </a:lnSpc>
                        <a:spcAft>
                          <a:spcPts val="0"/>
                        </a:spcAft>
                      </a:pPr>
                      <a:r>
                        <a:rPr lang="en-US" dirty="0"/>
                        <a:t>Title</a:t>
                      </a:r>
                    </a:p>
                  </a:txBody>
                  <a:tcPr marL="68580" marR="68580" marT="0" marB="0" anchor="ctr"/>
                </a:tc>
                <a:tc>
                  <a:txBody>
                    <a:bodyPr/>
                    <a:lstStyle/>
                    <a:p>
                      <a:pPr>
                        <a:lnSpc>
                          <a:spcPct val="107000"/>
                        </a:lnSpc>
                        <a:spcAft>
                          <a:spcPts val="0"/>
                        </a:spcAft>
                      </a:pPr>
                      <a:r>
                        <a:rPr lang="en-US" dirty="0"/>
                        <a:t>Vehicular Networking</a:t>
                      </a:r>
                    </a:p>
                  </a:txBody>
                  <a:tcPr marL="68580" marR="68580" marT="0" marB="0" anchor="ctr"/>
                </a:tc>
                <a:extLst>
                  <a:ext uri="{0D108BD9-81ED-4DB2-BD59-A6C34878D82A}">
                    <a16:rowId xmlns:a16="http://schemas.microsoft.com/office/drawing/2014/main" val="10000"/>
                  </a:ext>
                </a:extLst>
              </a:tr>
              <a:tr h="370840">
                <a:tc>
                  <a:txBody>
                    <a:bodyPr/>
                    <a:lstStyle/>
                    <a:p>
                      <a:pPr>
                        <a:lnSpc>
                          <a:spcPct val="107000"/>
                        </a:lnSpc>
                        <a:spcAft>
                          <a:spcPts val="0"/>
                        </a:spcAft>
                      </a:pPr>
                      <a:r>
                        <a:rPr lang="en-US" dirty="0"/>
                        <a:t>Authors</a:t>
                      </a:r>
                    </a:p>
                  </a:txBody>
                  <a:tcPr marL="68580" marR="68580" marT="0" marB="0" anchor="ctr"/>
                </a:tc>
                <a:tc>
                  <a:txBody>
                    <a:bodyPr/>
                    <a:lstStyle/>
                    <a:p>
                      <a:pPr>
                        <a:lnSpc>
                          <a:spcPct val="107000"/>
                        </a:lnSpc>
                        <a:spcAft>
                          <a:spcPts val="0"/>
                        </a:spcAft>
                      </a:pPr>
                      <a:r>
                        <a:rPr lang="en-US" dirty="0"/>
                        <a:t>Christoph Sommer and Falko Dressler</a:t>
                      </a:r>
                    </a:p>
                  </a:txBody>
                  <a:tcPr marL="68580" marR="68580" marT="0" marB="0" anchor="ctr"/>
                </a:tc>
                <a:extLst>
                  <a:ext uri="{0D108BD9-81ED-4DB2-BD59-A6C34878D82A}">
                    <a16:rowId xmlns:a16="http://schemas.microsoft.com/office/drawing/2014/main" val="10001"/>
                  </a:ext>
                </a:extLst>
              </a:tr>
              <a:tr h="370840">
                <a:tc>
                  <a:txBody>
                    <a:bodyPr/>
                    <a:lstStyle/>
                    <a:p>
                      <a:pPr>
                        <a:lnSpc>
                          <a:spcPct val="107000"/>
                        </a:lnSpc>
                        <a:spcAft>
                          <a:spcPts val="0"/>
                        </a:spcAft>
                      </a:pPr>
                      <a:r>
                        <a:rPr lang="en-US" dirty="0"/>
                        <a:t>Publisher</a:t>
                      </a:r>
                    </a:p>
                  </a:txBody>
                  <a:tcPr marL="68580" marR="68580" marT="0" marB="0" anchor="ctr"/>
                </a:tc>
                <a:tc>
                  <a:txBody>
                    <a:bodyPr/>
                    <a:lstStyle/>
                    <a:p>
                      <a:pPr>
                        <a:lnSpc>
                          <a:spcPct val="107000"/>
                        </a:lnSpc>
                        <a:spcAft>
                          <a:spcPts val="0"/>
                        </a:spcAft>
                      </a:pPr>
                      <a:r>
                        <a:rPr lang="en-US" dirty="0"/>
                        <a:t>Cambridge University Press</a:t>
                      </a:r>
                    </a:p>
                  </a:txBody>
                  <a:tcPr marL="68580" marR="68580" marT="0" marB="0" anchor="ctr"/>
                </a:tc>
                <a:extLst>
                  <a:ext uri="{0D108BD9-81ED-4DB2-BD59-A6C34878D82A}">
                    <a16:rowId xmlns:a16="http://schemas.microsoft.com/office/drawing/2014/main" val="10002"/>
                  </a:ext>
                </a:extLst>
              </a:tr>
              <a:tr h="370840">
                <a:tc>
                  <a:txBody>
                    <a:bodyPr/>
                    <a:lstStyle/>
                    <a:p>
                      <a:pPr>
                        <a:lnSpc>
                          <a:spcPct val="107000"/>
                        </a:lnSpc>
                        <a:spcAft>
                          <a:spcPts val="0"/>
                        </a:spcAft>
                      </a:pPr>
                      <a:r>
                        <a:rPr lang="en-US" dirty="0"/>
                        <a:t>Date</a:t>
                      </a:r>
                    </a:p>
                  </a:txBody>
                  <a:tcPr marL="68580" marR="68580" marT="0" marB="0" anchor="ctr"/>
                </a:tc>
                <a:tc>
                  <a:txBody>
                    <a:bodyPr/>
                    <a:lstStyle/>
                    <a:p>
                      <a:pPr>
                        <a:lnSpc>
                          <a:spcPct val="107000"/>
                        </a:lnSpc>
                        <a:spcAft>
                          <a:spcPts val="0"/>
                        </a:spcAft>
                      </a:pPr>
                      <a:r>
                        <a:rPr lang="en-US" dirty="0"/>
                        <a:t>December 2014</a:t>
                      </a:r>
                    </a:p>
                  </a:txBody>
                  <a:tcPr marL="68580" marR="68580" marT="0" marB="0" anchor="ctr"/>
                </a:tc>
                <a:extLst>
                  <a:ext uri="{0D108BD9-81ED-4DB2-BD59-A6C34878D82A}">
                    <a16:rowId xmlns:a16="http://schemas.microsoft.com/office/drawing/2014/main" val="10003"/>
                  </a:ext>
                </a:extLst>
              </a:tr>
              <a:tr h="370840">
                <a:tc>
                  <a:txBody>
                    <a:bodyPr/>
                    <a:lstStyle/>
                    <a:p>
                      <a:pPr>
                        <a:lnSpc>
                          <a:spcPct val="107000"/>
                        </a:lnSpc>
                        <a:spcAft>
                          <a:spcPts val="0"/>
                        </a:spcAft>
                      </a:pPr>
                      <a:r>
                        <a:rPr lang="en-US"/>
                        <a:t>Format</a:t>
                      </a:r>
                    </a:p>
                  </a:txBody>
                  <a:tcPr marL="68580" marR="68580" marT="0" marB="0" anchor="ctr"/>
                </a:tc>
                <a:tc>
                  <a:txBody>
                    <a:bodyPr/>
                    <a:lstStyle/>
                    <a:p>
                      <a:pPr>
                        <a:lnSpc>
                          <a:spcPct val="107000"/>
                        </a:lnSpc>
                        <a:spcAft>
                          <a:spcPts val="0"/>
                        </a:spcAft>
                      </a:pPr>
                      <a:r>
                        <a:rPr lang="en-US" dirty="0"/>
                        <a:t>Hardback (also available as eBook)</a:t>
                      </a:r>
                    </a:p>
                  </a:txBody>
                  <a:tcPr marL="68580" marR="68580" marT="0" marB="0" anchor="ctr"/>
                </a:tc>
                <a:extLst>
                  <a:ext uri="{0D108BD9-81ED-4DB2-BD59-A6C34878D82A}">
                    <a16:rowId xmlns:a16="http://schemas.microsoft.com/office/drawing/2014/main" val="10004"/>
                  </a:ext>
                </a:extLst>
              </a:tr>
              <a:tr h="370840">
                <a:tc>
                  <a:txBody>
                    <a:bodyPr/>
                    <a:lstStyle/>
                    <a:p>
                      <a:pPr>
                        <a:lnSpc>
                          <a:spcPct val="107000"/>
                        </a:lnSpc>
                        <a:spcAft>
                          <a:spcPts val="0"/>
                        </a:spcAft>
                      </a:pPr>
                      <a:r>
                        <a:rPr lang="en-US" dirty="0"/>
                        <a:t>ISBN-10</a:t>
                      </a:r>
                    </a:p>
                  </a:txBody>
                  <a:tcPr marL="68580" marR="68580" marT="0" marB="0" anchor="ctr"/>
                </a:tc>
                <a:tc>
                  <a:txBody>
                    <a:bodyPr/>
                    <a:lstStyle/>
                    <a:p>
                      <a:pPr>
                        <a:lnSpc>
                          <a:spcPct val="107000"/>
                        </a:lnSpc>
                        <a:spcAft>
                          <a:spcPts val="0"/>
                        </a:spcAft>
                      </a:pPr>
                      <a:r>
                        <a:rPr lang="en-US" dirty="0"/>
                        <a:t>1107046718</a:t>
                      </a:r>
                    </a:p>
                  </a:txBody>
                  <a:tcPr marL="68580" marR="68580" marT="0" marB="0" anchor="ctr"/>
                </a:tc>
                <a:extLst>
                  <a:ext uri="{0D108BD9-81ED-4DB2-BD59-A6C34878D82A}">
                    <a16:rowId xmlns:a16="http://schemas.microsoft.com/office/drawing/2014/main" val="10005"/>
                  </a:ext>
                </a:extLst>
              </a:tr>
              <a:tr h="370840">
                <a:tc>
                  <a:txBody>
                    <a:bodyPr/>
                    <a:lstStyle/>
                    <a:p>
                      <a:pPr>
                        <a:lnSpc>
                          <a:spcPct val="107000"/>
                        </a:lnSpc>
                        <a:spcAft>
                          <a:spcPts val="0"/>
                        </a:spcAft>
                      </a:pPr>
                      <a:r>
                        <a:rPr lang="en-US"/>
                        <a:t>ISBN-13</a:t>
                      </a:r>
                    </a:p>
                  </a:txBody>
                  <a:tcPr marL="68580" marR="68580" marT="0" marB="0" anchor="ctr"/>
                </a:tc>
                <a:tc>
                  <a:txBody>
                    <a:bodyPr/>
                    <a:lstStyle/>
                    <a:p>
                      <a:pPr>
                        <a:lnSpc>
                          <a:spcPct val="107000"/>
                        </a:lnSpc>
                        <a:spcAft>
                          <a:spcPts val="0"/>
                        </a:spcAft>
                      </a:pPr>
                      <a:r>
                        <a:rPr lang="en-US" dirty="0"/>
                        <a:t>9781107046719</a:t>
                      </a:r>
                    </a:p>
                  </a:txBody>
                  <a:tcPr marL="68580" marR="68580" marT="0" marB="0" anchor="ctr"/>
                </a:tc>
                <a:extLst>
                  <a:ext uri="{0D108BD9-81ED-4DB2-BD59-A6C34878D82A}">
                    <a16:rowId xmlns:a16="http://schemas.microsoft.com/office/drawing/2014/main" val="10006"/>
                  </a:ext>
                </a:extLst>
              </a:tr>
              <a:tr h="370840">
                <a:tc>
                  <a:txBody>
                    <a:bodyPr/>
                    <a:lstStyle/>
                    <a:p>
                      <a:pPr>
                        <a:lnSpc>
                          <a:spcPct val="107000"/>
                        </a:lnSpc>
                        <a:spcAft>
                          <a:spcPts val="0"/>
                        </a:spcAft>
                      </a:pPr>
                      <a:r>
                        <a:rPr lang="en-US" dirty="0"/>
                        <a:t>Website</a:t>
                      </a:r>
                    </a:p>
                  </a:txBody>
                  <a:tcPr marL="68580" marR="68580" marT="0" marB="0" anchor="ctr"/>
                </a:tc>
                <a:tc>
                  <a:txBody>
                    <a:bodyPr/>
                    <a:lstStyle/>
                    <a:p>
                      <a:pPr>
                        <a:lnSpc>
                          <a:spcPct val="107000"/>
                        </a:lnSpc>
                        <a:spcAft>
                          <a:spcPts val="0"/>
                        </a:spcAft>
                      </a:pPr>
                      <a:r>
                        <a:rPr lang="en-US" dirty="0"/>
                        <a:t>http://book.car2x.org</a:t>
                      </a:r>
                    </a:p>
                  </a:txBody>
                  <a:tcPr marL="68580" marR="68580" marT="0" marB="0" anchor="ctr"/>
                </a:tc>
                <a:extLst>
                  <a:ext uri="{0D108BD9-81ED-4DB2-BD59-A6C34878D82A}">
                    <a16:rowId xmlns:a16="http://schemas.microsoft.com/office/drawing/2014/main" val="10007"/>
                  </a:ext>
                </a:extLst>
              </a:tr>
            </a:tbl>
          </a:graphicData>
        </a:graphic>
      </p:graphicFrame>
      <p:pic>
        <p:nvPicPr>
          <p:cNvPr id="11" name="Picture 1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68570" y="2250766"/>
            <a:ext cx="3050921" cy="2965114"/>
          </a:xfrm>
          <a:prstGeom prst="rect">
            <a:avLst/>
          </a:prstGeom>
        </p:spPr>
      </p:pic>
    </p:spTree>
    <p:extLst>
      <p:ext uri="{BB962C8B-B14F-4D97-AF65-F5344CB8AC3E}">
        <p14:creationId xmlns:p14="http://schemas.microsoft.com/office/powerpoint/2010/main" val="3368921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a:xfrm>
            <a:off x="3867463" y="2627025"/>
            <a:ext cx="5141626" cy="1750102"/>
          </a:xfrm>
        </p:spPr>
        <p:txBody>
          <a:bodyPr anchor="b" anchorCtr="0">
            <a:normAutofit/>
          </a:bodyPr>
          <a:lstStyle/>
          <a:p>
            <a:pPr algn="l"/>
            <a:r>
              <a:rPr lang="en-US" sz="5400" dirty="0"/>
              <a:t>Vehicular Networking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endParaRPr lang="en-US" sz="4400" dirty="0"/>
          </a:p>
        </p:txBody>
      </p:sp>
      <p:sp>
        <p:nvSpPr>
          <p:cNvPr id="9" name="Content Placeholder 13"/>
          <p:cNvSpPr txBox="1">
            <a:spLocks/>
          </p:cNvSpPr>
          <p:nvPr/>
        </p:nvSpPr>
        <p:spPr>
          <a:xfrm>
            <a:off x="228600" y="5562600"/>
            <a:ext cx="8686800" cy="838200"/>
          </a:xfrm>
          <a:prstGeom prst="rect">
            <a:avLst/>
          </a:prstGeom>
        </p:spPr>
        <p:txBody>
          <a:bodyPr anchor="b" anchorCtr="0"/>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r" fontAlgn="auto">
              <a:spcAft>
                <a:spcPts val="0"/>
              </a:spcAft>
              <a:buClr>
                <a:srgbClr val="C00000"/>
              </a:buClr>
              <a:buSzPct val="100000"/>
              <a:buNone/>
            </a:pPr>
            <a:r>
              <a:rPr lang="en-US" sz="1600" b="1" dirty="0">
                <a:solidFill>
                  <a:prstClr val="black"/>
                </a:solidFill>
              </a:rPr>
              <a:t>Book design © 2014 Cambridge University Press</a:t>
            </a:r>
          </a:p>
        </p:txBody>
      </p:sp>
    </p:spTree>
    <p:extLst>
      <p:ext uri="{BB962C8B-B14F-4D97-AF65-F5344CB8AC3E}">
        <p14:creationId xmlns:p14="http://schemas.microsoft.com/office/powerpoint/2010/main" val="118284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About this slide deck</a:t>
            </a:r>
          </a:p>
        </p:txBody>
      </p:sp>
      <p:sp>
        <p:nvSpPr>
          <p:cNvPr id="3" name="Content Placeholder 2"/>
          <p:cNvSpPr>
            <a:spLocks noGrp="1"/>
          </p:cNvSpPr>
          <p:nvPr>
            <p:ph idx="1"/>
          </p:nvPr>
        </p:nvSpPr>
        <p:spPr/>
        <p:txBody>
          <a:bodyPr>
            <a:normAutofit fontScale="70000" lnSpcReduction="20000"/>
          </a:bodyPr>
          <a:lstStyle/>
          <a:p>
            <a:r>
              <a:rPr lang="en-US" altLang="en-US" dirty="0"/>
              <a:t>These slides are designed to accompany a lecture based on the textbook “Vehicular Networking” by Christoph Sommer and Falko Dressler, published in December 2014 by Cambridge University Press.</a:t>
            </a:r>
          </a:p>
          <a:p>
            <a:r>
              <a:rPr lang="en-US" dirty="0"/>
              <a:t>Except where otherwise noted (e.g., logos and cited works) this slide deck is Copyright © 2009-2015 Christoph Sommer, but made available to you under </a:t>
            </a:r>
            <a:r>
              <a:rPr lang="en-US" altLang="en-US" dirty="0"/>
              <a:t>a </a:t>
            </a:r>
            <a:r>
              <a:rPr lang="en-US" altLang="en-US" i="1" dirty="0"/>
              <a:t>Creative Commons Attribution-</a:t>
            </a:r>
            <a:r>
              <a:rPr lang="en-US" altLang="en-US" i="1" dirty="0" err="1"/>
              <a:t>ShareAlike</a:t>
            </a:r>
            <a:r>
              <a:rPr lang="en-US" altLang="en-US" i="1" dirty="0"/>
              <a:t> 4.0 International License</a:t>
            </a:r>
            <a:r>
              <a:rPr lang="en-US" altLang="en-US" dirty="0"/>
              <a:t>.</a:t>
            </a:r>
          </a:p>
          <a:p>
            <a:r>
              <a:rPr lang="en-US" altLang="en-US" dirty="0"/>
              <a:t>In brief, this means you can share and adapt the slides as long as you follow the terms set out in this license [1]. If you split this slide deck into multiple parts, make sure to include appropriate attribution in each part.</a:t>
            </a:r>
          </a:p>
          <a:p>
            <a:r>
              <a:rPr lang="en-US" altLang="en-US" dirty="0"/>
              <a:t>This slide deck would not have been possible without the contributions of Falko Dressler, David Eckhoff, Reinhard German, and Kai-Steffen Jens </a:t>
            </a:r>
            <a:r>
              <a:rPr lang="en-US" altLang="en-US" dirty="0" err="1"/>
              <a:t>Hielscher</a:t>
            </a:r>
            <a:r>
              <a:rPr lang="en-US" altLang="en-US" dirty="0"/>
              <a:t>.</a:t>
            </a:r>
          </a:p>
          <a:p>
            <a:r>
              <a:rPr lang="en-US" altLang="en-US" dirty="0"/>
              <a:t>Please leave this slide intact, but indicate modifications below.</a:t>
            </a:r>
          </a:p>
          <a:p>
            <a:pPr lvl="1"/>
            <a:r>
              <a:rPr lang="en-US" altLang="en-US" dirty="0"/>
              <a:t>Version 2015-02</a:t>
            </a:r>
          </a:p>
          <a:p>
            <a:pPr lvl="2"/>
            <a:r>
              <a:rPr lang="en-US" altLang="en-US" dirty="0"/>
              <a:t>Improved version for release on book website (Christoph Sommer)</a:t>
            </a:r>
          </a:p>
          <a:p>
            <a:r>
              <a:rPr lang="en-US" altLang="en-US" dirty="0"/>
              <a:t>Updated versions of the original slide deck are available online [2].</a:t>
            </a:r>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a:t>
            </a:fld>
            <a:endParaRPr lang="en-US" dirty="0">
              <a:solidFill>
                <a:prstClr val="black"/>
              </a:solidFill>
            </a:endParaRPr>
          </a:p>
        </p:txBody>
      </p:sp>
      <p:sp>
        <p:nvSpPr>
          <p:cNvPr id="7" name="Content Placeholder 6"/>
          <p:cNvSpPr>
            <a:spLocks noGrp="1"/>
          </p:cNvSpPr>
          <p:nvPr>
            <p:ph idx="13"/>
          </p:nvPr>
        </p:nvSpPr>
        <p:spPr/>
        <p:txBody>
          <a:bodyPr/>
          <a:lstStyle/>
          <a:p>
            <a:r>
              <a:rPr lang="en-US" dirty="0"/>
              <a:t>[1] http://creativecommons.org/licenses/by-sa/4.0/</a:t>
            </a:r>
          </a:p>
          <a:p>
            <a:r>
              <a:rPr lang="en-US" dirty="0"/>
              <a:t>[2] http://book.car2x.org/</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18848" y="5993329"/>
            <a:ext cx="1458062" cy="510141"/>
          </a:xfrm>
          <a:prstGeom prst="rect">
            <a:avLst/>
          </a:prstGeom>
        </p:spPr>
      </p:pic>
    </p:spTree>
    <p:extLst>
      <p:ext uri="{BB962C8B-B14F-4D97-AF65-F5344CB8AC3E}">
        <p14:creationId xmlns:p14="http://schemas.microsoft.com/office/powerpoint/2010/main" val="10970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p:txBody>
          <a:bodyPr/>
          <a:lstStyle/>
          <a:p>
            <a:r>
              <a:rPr lang="en-US" dirty="0"/>
              <a:t>A Short Introduction</a:t>
            </a:r>
          </a:p>
        </p:txBody>
      </p:sp>
      <p:sp>
        <p:nvSpPr>
          <p:cNvPr id="4099" name="Rectangle 10"/>
          <p:cNvSpPr>
            <a:spLocks noGrp="1" noChangeArrowheads="1"/>
          </p:cNvSpPr>
          <p:nvPr>
            <p:ph idx="1"/>
          </p:nvPr>
        </p:nvSpPr>
        <p:spPr/>
        <p:txBody>
          <a:bodyPr/>
          <a:lstStyle/>
          <a:p>
            <a:pPr marL="0" indent="0">
              <a:buNone/>
            </a:pPr>
            <a:r>
              <a:rPr lang="en-US" dirty="0"/>
              <a:t>…to Vehicular Networking</a:t>
            </a:r>
          </a:p>
        </p:txBody>
      </p:sp>
      <p:sp>
        <p:nvSpPr>
          <p:cNvPr id="2" name="Footer Placeholder 1"/>
          <p:cNvSpPr>
            <a:spLocks noGrp="1"/>
          </p:cNvSpPr>
          <p:nvPr>
            <p:ph type="ftr" sz="quarter" idx="11"/>
          </p:nvPr>
        </p:nvSpPr>
        <p:spPr/>
        <p:txBody>
          <a:bodyPr/>
          <a:lstStyle/>
          <a:p>
            <a:r>
              <a:rPr lang="en-US"/>
              <a:t>Vehicular Networking</a:t>
            </a:r>
            <a:endParaRPr lang="en-US" dirty="0"/>
          </a:p>
        </p:txBody>
      </p:sp>
      <p:sp>
        <p:nvSpPr>
          <p:cNvPr id="3" name="Slide Number Placeholder 2"/>
          <p:cNvSpPr>
            <a:spLocks noGrp="1"/>
          </p:cNvSpPr>
          <p:nvPr>
            <p:ph type="sldNum" sz="quarter" idx="12"/>
          </p:nvPr>
        </p:nvSpPr>
        <p:spPr/>
        <p:txBody>
          <a:bodyPr/>
          <a:lstStyle/>
          <a:p>
            <a:fld id="{73ED8BC7-2E15-43DB-8EF0-8ED7667633CE}" type="slidenum">
              <a:rPr lang="en-US" smtClean="0"/>
              <a:pPr/>
              <a:t>5</a:t>
            </a:fld>
            <a:endParaRPr lang="en-US" dirty="0"/>
          </a:p>
        </p:txBody>
      </p:sp>
      <p:sp>
        <p:nvSpPr>
          <p:cNvPr id="4" name="Content Placeholder 16">
            <a:extLst>
              <a:ext uri="{FF2B5EF4-FFF2-40B4-BE49-F238E27FC236}">
                <a16:creationId xmlns:a16="http://schemas.microsoft.com/office/drawing/2014/main" id="{49902E19-8AAC-4017-ACA3-58A411618944}"/>
              </a:ext>
            </a:extLst>
          </p:cNvPr>
          <p:cNvSpPr txBox="1">
            <a:spLocks/>
          </p:cNvSpPr>
          <p:nvPr/>
        </p:nvSpPr>
        <p:spPr>
          <a:xfrm>
            <a:off x="228600" y="5562600"/>
            <a:ext cx="8686800" cy="838200"/>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8" algn="r"/>
            <a:r>
              <a:rPr lang="en-US" dirty="0"/>
              <a:t>Illustration © 2010 Christoph Sommer</a:t>
            </a:r>
          </a:p>
        </p:txBody>
      </p:sp>
      <p:pic>
        <p:nvPicPr>
          <p:cNvPr id="5" name="Bild 18" descr="cover2.png">
            <a:extLst>
              <a:ext uri="{FF2B5EF4-FFF2-40B4-BE49-F238E27FC236}">
                <a16:creationId xmlns:a16="http://schemas.microsoft.com/office/drawing/2014/main" id="{D67C9E22-CDAE-2D7D-D852-5EA53093BE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4790660" y="885825"/>
            <a:ext cx="4343400" cy="3257550"/>
          </a:xfrm>
          <a:prstGeom prst="rect">
            <a:avLst/>
          </a:prstGeom>
          <a:noFill/>
          <a:ln w="9525">
            <a:noFill/>
            <a:miter lim="800000"/>
            <a:headEnd/>
            <a:tailEnd/>
          </a:ln>
        </p:spPr>
      </p:pic>
    </p:spTree>
    <p:extLst>
      <p:ext uri="{BB962C8B-B14F-4D97-AF65-F5344CB8AC3E}">
        <p14:creationId xmlns:p14="http://schemas.microsoft.com/office/powerpoint/2010/main" val="35694235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3600" dirty="0">
                <a:latin typeface="Times New Roman" pitchFamily="18" charset="0"/>
                <a:cs typeface="Times New Roman" pitchFamily="18" charset="0"/>
              </a:rPr>
              <a:t>Introduction of VANET </a:t>
            </a:r>
          </a:p>
        </p:txBody>
      </p:sp>
      <p:sp>
        <p:nvSpPr>
          <p:cNvPr id="5" name="Content Placeholder 4"/>
          <p:cNvSpPr>
            <a:spLocks noGrp="1"/>
          </p:cNvSpPr>
          <p:nvPr>
            <p:ph sz="quarter" idx="1"/>
          </p:nvPr>
        </p:nvSpPr>
        <p:spPr>
          <a:xfrm>
            <a:off x="405384" y="1468691"/>
            <a:ext cx="8229600" cy="4525963"/>
          </a:xfrm>
        </p:spPr>
        <p:txBody>
          <a:bodyPr>
            <a:normAutofit/>
          </a:bodyPr>
          <a:lstStyle/>
          <a:p>
            <a:pPr algn="just"/>
            <a:r>
              <a:rPr lang="en-US" sz="2000" b="1" dirty="0">
                <a:solidFill>
                  <a:srgbClr val="000000"/>
                </a:solidFill>
                <a:latin typeface="Times New Roman" pitchFamily="18" charset="0"/>
                <a:cs typeface="Times New Roman" pitchFamily="18" charset="0"/>
              </a:rPr>
              <a:t>Vehicular Ad-Hoc Network</a:t>
            </a:r>
            <a:r>
              <a:rPr lang="en-US" sz="2000" dirty="0">
                <a:solidFill>
                  <a:srgbClr val="000000"/>
                </a:solidFill>
                <a:latin typeface="Times New Roman" pitchFamily="18" charset="0"/>
                <a:cs typeface="Times New Roman" pitchFamily="18" charset="0"/>
              </a:rPr>
              <a:t> or </a:t>
            </a:r>
            <a:r>
              <a:rPr lang="en-US" sz="2000" b="1" dirty="0">
                <a:solidFill>
                  <a:srgbClr val="000000"/>
                </a:solidFill>
                <a:latin typeface="Times New Roman" pitchFamily="18" charset="0"/>
                <a:cs typeface="Times New Roman" pitchFamily="18" charset="0"/>
              </a:rPr>
              <a:t>VANET</a:t>
            </a:r>
            <a:r>
              <a:rPr lang="en-US" sz="2000" dirty="0">
                <a:solidFill>
                  <a:srgbClr val="000000"/>
                </a:solidFill>
                <a:latin typeface="Times New Roman" pitchFamily="18" charset="0"/>
                <a:cs typeface="Times New Roman" pitchFamily="18" charset="0"/>
              </a:rPr>
              <a:t> is an application of MANET that uses moving vehicles as nodes to create a mobile network [1].</a:t>
            </a:r>
          </a:p>
          <a:p>
            <a:pPr algn="just"/>
            <a:endParaRPr lang="en-US" sz="2000" dirty="0">
              <a:solidFill>
                <a:srgbClr val="000000"/>
              </a:solidFill>
              <a:latin typeface="Times New Roman" pitchFamily="18" charset="0"/>
              <a:cs typeface="Times New Roman" pitchFamily="18" charset="0"/>
            </a:endParaRPr>
          </a:p>
          <a:p>
            <a:pPr algn="just"/>
            <a:endParaRPr lang="en-US" sz="2000" dirty="0">
              <a:latin typeface="Times New Roman" pitchFamily="18" charset="0"/>
              <a:cs typeface="Times New Roman" pitchFamily="18" charset="0"/>
            </a:endParaRPr>
          </a:p>
          <a:p>
            <a:pPr algn="just"/>
            <a:endParaRPr lang="en-US" sz="2000" dirty="0"/>
          </a:p>
          <a:p>
            <a:endParaRPr lang="en-US" sz="2000" dirty="0"/>
          </a:p>
        </p:txBody>
      </p:sp>
      <p:sp>
        <p:nvSpPr>
          <p:cNvPr id="6" name="Slide Number Placeholder 5"/>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6</a:t>
            </a:fld>
            <a:endParaRPr lang="en-US" dirty="0"/>
          </a:p>
        </p:txBody>
      </p:sp>
      <p:sp>
        <p:nvSpPr>
          <p:cNvPr id="8" name="TextBox 7"/>
          <p:cNvSpPr txBox="1"/>
          <p:nvPr/>
        </p:nvSpPr>
        <p:spPr>
          <a:xfrm>
            <a:off x="3114675" y="6070592"/>
            <a:ext cx="3962400" cy="307777"/>
          </a:xfrm>
          <a:prstGeom prst="rect">
            <a:avLst/>
          </a:prstGeom>
          <a:noFill/>
        </p:spPr>
        <p:txBody>
          <a:bodyPr wrap="square" rtlCol="0">
            <a:spAutoFit/>
          </a:bodyPr>
          <a:lstStyle/>
          <a:p>
            <a:r>
              <a:rPr lang="en-US" sz="1400" dirty="0"/>
              <a:t>Fig. 1.  Types of Networks</a:t>
            </a:r>
          </a:p>
        </p:txBody>
      </p:sp>
      <p:pic>
        <p:nvPicPr>
          <p:cNvPr id="10" name="Picture 2"/>
          <p:cNvPicPr>
            <a:picLocks noChangeAspect="1" noChangeArrowheads="1"/>
          </p:cNvPicPr>
          <p:nvPr/>
        </p:nvPicPr>
        <p:blipFill>
          <a:blip r:embed="rId2" cstate="print"/>
          <a:srcRect/>
          <a:stretch>
            <a:fillRect/>
          </a:stretch>
        </p:blipFill>
        <p:spPr bwMode="auto">
          <a:xfrm>
            <a:off x="2209800" y="3124200"/>
            <a:ext cx="4867275" cy="27432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itchFamily="18" charset="0"/>
                <a:cs typeface="Times New Roman" pitchFamily="18" charset="0"/>
              </a:rPr>
              <a:t>Cont…</a:t>
            </a:r>
          </a:p>
        </p:txBody>
      </p:sp>
      <p:sp>
        <p:nvSpPr>
          <p:cNvPr id="3" name="Content Placeholder 2"/>
          <p:cNvSpPr>
            <a:spLocks noGrp="1"/>
          </p:cNvSpPr>
          <p:nvPr>
            <p:ph sz="quarter" idx="1"/>
          </p:nvPr>
        </p:nvSpPr>
        <p:spPr>
          <a:xfrm>
            <a:off x="457200" y="1600200"/>
            <a:ext cx="8229600" cy="5029200"/>
          </a:xfrm>
        </p:spPr>
        <p:txBody>
          <a:bodyPr>
            <a:noAutofit/>
          </a:bodyPr>
          <a:lstStyle/>
          <a:p>
            <a:pPr algn="just"/>
            <a:r>
              <a:rPr lang="en-US" sz="1800" dirty="0">
                <a:solidFill>
                  <a:srgbClr val="000000"/>
                </a:solidFill>
                <a:latin typeface="Times New Roman" pitchFamily="18" charset="0"/>
                <a:cs typeface="Times New Roman" pitchFamily="18" charset="0"/>
              </a:rPr>
              <a:t>VANET turns every participating vehicle into a wireless router or node, allowing vehicles approximately 300m to 1 km of each other to connect and, in turn, create a network with a wide range. </a:t>
            </a:r>
          </a:p>
          <a:p>
            <a:pPr algn="just"/>
            <a:endParaRPr lang="en-US" sz="1800" dirty="0">
              <a:solidFill>
                <a:srgbClr val="000000"/>
              </a:solidFill>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VANET enables communication among the vehicles and roadside infrastructures. It makes transportation systems more intelligent. </a:t>
            </a:r>
            <a:r>
              <a:rPr lang="en-US" sz="1800" dirty="0">
                <a:solidFill>
                  <a:srgbClr val="000000"/>
                </a:solidFill>
                <a:latin typeface="Times New Roman" pitchFamily="18" charset="0"/>
                <a:cs typeface="Times New Roman" pitchFamily="18" charset="0"/>
              </a:rPr>
              <a:t>Since the movement of vehicles are restricted by roads, traffic regulations we can deploy fixed infrastructure at critical locations [2].</a:t>
            </a: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1800" dirty="0">
              <a:solidFill>
                <a:srgbClr val="000000"/>
              </a:solidFill>
              <a:latin typeface="Times New Roman" pitchFamily="18" charset="0"/>
              <a:cs typeface="Times New Roman" pitchFamily="18" charset="0"/>
            </a:endParaRP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r>
              <a:rPr lang="en-US" sz="1800" dirty="0">
                <a:solidFill>
                  <a:srgbClr val="000000"/>
                </a:solidFill>
                <a:latin typeface="Times New Roman" pitchFamily="18" charset="0"/>
                <a:cs typeface="Times New Roman" pitchFamily="18" charset="0"/>
              </a:rPr>
              <a:t>The primary goal of VANET is to provide road safety measures where information about vehicle’s current speed, location coordinates are passed with or without the deployment of infrastructure. Apart from safety measures, VANET also provides value added services like email, audio/video sharing </a:t>
            </a:r>
            <a:r>
              <a:rPr lang="en-US" sz="1800" dirty="0" err="1">
                <a:solidFill>
                  <a:srgbClr val="000000"/>
                </a:solidFill>
                <a:latin typeface="Times New Roman" pitchFamily="18" charset="0"/>
                <a:cs typeface="Times New Roman" pitchFamily="18" charset="0"/>
              </a:rPr>
              <a:t>etc</a:t>
            </a:r>
            <a:r>
              <a:rPr lang="en-US" sz="1800" dirty="0">
                <a:solidFill>
                  <a:srgbClr val="000000"/>
                </a:solidFill>
                <a:latin typeface="Times New Roman" pitchFamily="18" charset="0"/>
                <a:cs typeface="Times New Roman" pitchFamily="18" charset="0"/>
              </a:rPr>
              <a:t> [3].</a:t>
            </a:r>
          </a:p>
          <a:p>
            <a:pPr marL="333375" indent="-333375" algn="just">
              <a:spcBef>
                <a:spcPts val="600"/>
              </a:spcBef>
              <a:tabLst>
                <a:tab pos="333375" algn="l"/>
                <a:tab pos="790575" algn="l"/>
                <a:tab pos="1247775" algn="l"/>
                <a:tab pos="1704975" algn="l"/>
                <a:tab pos="2162175" algn="l"/>
                <a:tab pos="2619375" algn="l"/>
                <a:tab pos="3076575" algn="l"/>
                <a:tab pos="3533775" algn="l"/>
                <a:tab pos="3990975" algn="l"/>
                <a:tab pos="4448175" algn="l"/>
                <a:tab pos="4905375" algn="l"/>
                <a:tab pos="5362575" algn="l"/>
                <a:tab pos="5819775" algn="l"/>
                <a:tab pos="6276975" algn="l"/>
                <a:tab pos="6734175" algn="l"/>
                <a:tab pos="7191375" algn="l"/>
                <a:tab pos="7648575" algn="l"/>
                <a:tab pos="8105775" algn="l"/>
                <a:tab pos="8562975" algn="l"/>
                <a:tab pos="9020175" algn="l"/>
                <a:tab pos="9477375" algn="l"/>
              </a:tabLst>
            </a:pPr>
            <a:endParaRPr lang="en-US" sz="1800" dirty="0">
              <a:solidFill>
                <a:srgbClr val="000000"/>
              </a:solidFill>
              <a:latin typeface="Times New Roman" pitchFamily="18" charset="0"/>
              <a:cs typeface="Times New Roman" pitchFamily="18" charset="0"/>
            </a:endParaRPr>
          </a:p>
          <a:p>
            <a:pPr algn="just"/>
            <a:r>
              <a:rPr lang="en-US" sz="1800" dirty="0">
                <a:latin typeface="Times New Roman" pitchFamily="18" charset="0"/>
                <a:cs typeface="Times New Roman" pitchFamily="18" charset="0"/>
              </a:rPr>
              <a:t>The best example of VANET is Transport System of any travel agency or any company which is joined internally.</a:t>
            </a:r>
            <a:endParaRPr lang="en-US" sz="1800" dirty="0">
              <a:solidFill>
                <a:srgbClr val="000000"/>
              </a:solidFill>
              <a:latin typeface="Times New Roman" pitchFamily="18" charset="0"/>
              <a:cs typeface="Times New Roman" pitchFamily="18" charset="0"/>
            </a:endParaRPr>
          </a:p>
          <a:p>
            <a:endParaRPr lang="en-US" sz="1800" dirty="0">
              <a:latin typeface="Times New Roman" pitchFamily="18" charset="0"/>
              <a:cs typeface="Times New Roman" pitchFamily="18" charset="0"/>
            </a:endParaRP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Components of VANET</a:t>
            </a:r>
            <a:endParaRPr lang="en-US" sz="3600" dirty="0"/>
          </a:p>
        </p:txBody>
      </p:sp>
      <p:sp>
        <p:nvSpPr>
          <p:cNvPr id="7" name="Content Placeholder 6"/>
          <p:cNvSpPr>
            <a:spLocks noGrp="1"/>
          </p:cNvSpPr>
          <p:nvPr>
            <p:ph sz="quarter" idx="1"/>
          </p:nvPr>
        </p:nvSpPr>
        <p:spPr/>
        <p:txBody>
          <a:bodyPr>
            <a:normAutofit/>
          </a:bodyPr>
          <a:lstStyle/>
          <a:p>
            <a:endParaRPr lang="en-US" sz="1900" dirty="0"/>
          </a:p>
          <a:p>
            <a:r>
              <a:rPr lang="en-US" sz="2400" dirty="0">
                <a:latin typeface="Times New Roman" pitchFamily="18" charset="0"/>
                <a:cs typeface="Times New Roman" pitchFamily="18" charset="0"/>
              </a:rPr>
              <a:t>The major components of a VANET are :</a:t>
            </a:r>
          </a:p>
          <a:p>
            <a:pPr lvl="1"/>
            <a:r>
              <a:rPr lang="en-US" sz="1800" dirty="0">
                <a:latin typeface="Times New Roman" pitchFamily="18" charset="0"/>
                <a:cs typeface="Times New Roman" pitchFamily="18" charset="0"/>
              </a:rPr>
              <a:t>On-Board Unit (OBU)</a:t>
            </a:r>
          </a:p>
          <a:p>
            <a:pPr lvl="1"/>
            <a:r>
              <a:rPr lang="en-US" sz="1800" dirty="0">
                <a:latin typeface="Times New Roman" pitchFamily="18" charset="0"/>
                <a:cs typeface="Times New Roman" pitchFamily="18" charset="0"/>
              </a:rPr>
              <a:t>Road Side Unit (RSU)</a:t>
            </a:r>
          </a:p>
          <a:p>
            <a:pPr lvl="1"/>
            <a:r>
              <a:rPr lang="en-US" sz="1800" dirty="0">
                <a:latin typeface="Times New Roman" pitchFamily="18" charset="0"/>
                <a:cs typeface="Times New Roman" pitchFamily="18" charset="0"/>
              </a:rPr>
              <a:t>Trusted Authority (TA)</a:t>
            </a:r>
          </a:p>
          <a:p>
            <a:pPr lvl="1">
              <a:buNone/>
            </a:pPr>
            <a:endParaRPr lang="en-US" sz="1800" dirty="0"/>
          </a:p>
          <a:p>
            <a:pPr>
              <a:buNone/>
            </a:pPr>
            <a:endParaRPr lang="en-US" sz="1900" dirty="0"/>
          </a:p>
          <a:p>
            <a:endParaRPr lang="en-US"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8</a:t>
            </a:fld>
            <a:endParaRPr lang="en-US"/>
          </a:p>
        </p:txBody>
      </p:sp>
      <p:sp>
        <p:nvSpPr>
          <p:cNvPr id="9" name="TextBox 8"/>
          <p:cNvSpPr txBox="1"/>
          <p:nvPr/>
        </p:nvSpPr>
        <p:spPr>
          <a:xfrm>
            <a:off x="4523232" y="6101834"/>
            <a:ext cx="3429000" cy="276999"/>
          </a:xfrm>
          <a:prstGeom prst="rect">
            <a:avLst/>
          </a:prstGeom>
          <a:noFill/>
        </p:spPr>
        <p:txBody>
          <a:bodyPr wrap="square" rtlCol="0">
            <a:spAutoFit/>
          </a:bodyPr>
          <a:lstStyle/>
          <a:p>
            <a:r>
              <a:rPr lang="en-US" sz="1200" dirty="0"/>
              <a:t>Fig. 2. </a:t>
            </a:r>
            <a:r>
              <a:rPr lang="en-US" sz="1200" dirty="0">
                <a:latin typeface="Times New Roman" pitchFamily="18" charset="0"/>
                <a:cs typeface="Times New Roman" pitchFamily="18" charset="0"/>
              </a:rPr>
              <a:t>VANET Architecture[4]</a:t>
            </a:r>
            <a:endParaRPr lang="en-US" sz="1200" dirty="0"/>
          </a:p>
        </p:txBody>
      </p:sp>
      <p:pic>
        <p:nvPicPr>
          <p:cNvPr id="10" name="Picture 2"/>
          <p:cNvPicPr>
            <a:picLocks noChangeAspect="1" noChangeArrowheads="1"/>
          </p:cNvPicPr>
          <p:nvPr/>
        </p:nvPicPr>
        <p:blipFill>
          <a:blip r:embed="rId3" cstate="print"/>
          <a:srcRect/>
          <a:stretch>
            <a:fillRect/>
          </a:stretch>
        </p:blipFill>
        <p:spPr bwMode="auto">
          <a:xfrm>
            <a:off x="3480816" y="2819400"/>
            <a:ext cx="4953000" cy="33528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rmAutofit/>
          </a:bodyPr>
          <a:lstStyle/>
          <a:p>
            <a:pPr algn="just"/>
            <a:r>
              <a:rPr lang="en-US" sz="1800" dirty="0"/>
              <a:t>OBUs are installed in vehicles to provide wireless communication capability.</a:t>
            </a:r>
          </a:p>
          <a:p>
            <a:pPr algn="just"/>
            <a:endParaRPr lang="en-US" sz="1800" dirty="0"/>
          </a:p>
          <a:p>
            <a:pPr algn="just"/>
            <a:r>
              <a:rPr lang="en-US" sz="1800" dirty="0"/>
              <a:t>While RSUs are deployed on intersections or hotspots as an infrastructure to provide information or access to the Internet for vehicles within their radio coverage. </a:t>
            </a:r>
          </a:p>
          <a:p>
            <a:pPr algn="just"/>
            <a:endParaRPr lang="en-US" sz="1800" dirty="0"/>
          </a:p>
          <a:p>
            <a:pPr algn="just"/>
            <a:r>
              <a:rPr lang="en-US" sz="1800" dirty="0"/>
              <a:t>The AS is responsible for installing the secure parameters in the OBU to authenticate the user</a:t>
            </a:r>
          </a:p>
          <a:p>
            <a:endParaRPr lang="en-US" sz="18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457200" y="1600200"/>
            <a:ext cx="7467600" cy="4724400"/>
          </a:xfrm>
        </p:spPr>
        <p:txBody>
          <a:bodyPr>
            <a:noAutofit/>
          </a:bodyPr>
          <a:lstStyle/>
          <a:p>
            <a:pPr algn="just"/>
            <a:r>
              <a:rPr lang="en-US" sz="1500" dirty="0"/>
              <a:t>DSRC (Dedicated Short Range Communications), WAVE (Wireless Access in Vehicular Environments) or even IEEE 802.11p are used to designate the entire protocol stack of standards dealing with VANETs.</a:t>
            </a:r>
          </a:p>
          <a:p>
            <a:pPr algn="just"/>
            <a:endParaRPr lang="en-US" sz="1500" dirty="0"/>
          </a:p>
          <a:p>
            <a:pPr algn="just"/>
            <a:r>
              <a:rPr lang="en-US" sz="1500" dirty="0"/>
              <a:t>An intelligent vehicle as it was designed in incorporates basically a set of sensors (front radar, reversing radar, etc.) that receive useful environmental information that generally the driver alone is unable to perceive. We find also a positioning system such as GPS (Global Positioning System) for example, which is essential for locating and driving assistance. A smart vehicle is obviously equipped with a communication system (can be multi-interface), a computing system, an event recording device which is a device whose functioning is similar to the black box of an aircraft.</a:t>
            </a:r>
          </a:p>
          <a:p>
            <a:pPr algn="just"/>
            <a:endParaRPr lang="en-US" sz="1500" dirty="0"/>
          </a:p>
          <a:p>
            <a:pPr algn="just"/>
            <a:r>
              <a:rPr lang="en-US" sz="1500" dirty="0"/>
              <a:t>Mainly, and for security measures, a smart vehicle must be equipped with an ELP (Electronic License Plate) or with ECN (Electronic Chassis Number) which represent the electronic identity of the vehicle instead of the conventional identification by license plates. The ITS current terminology includes some features such as </a:t>
            </a:r>
            <a:r>
              <a:rPr lang="en-US" sz="1500" dirty="0" err="1"/>
              <a:t>transceiving</a:t>
            </a:r>
            <a:r>
              <a:rPr lang="en-US" sz="1500" dirty="0"/>
              <a:t>, display and interactivity with the driver in a single unit called OBU.</a:t>
            </a:r>
          </a:p>
          <a:p>
            <a:pPr algn="just"/>
            <a:endParaRPr lang="en-US" sz="15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Smart Vehicle</a:t>
            </a:r>
          </a:p>
        </p:txBody>
      </p:sp>
      <p:pic>
        <p:nvPicPr>
          <p:cNvPr id="1026" name="Picture 2"/>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tretch>
            <a:fillRect/>
          </a:stretch>
        </p:blipFill>
        <p:spPr bwMode="auto">
          <a:xfrm>
            <a:off x="457200" y="2432165"/>
            <a:ext cx="7467600" cy="32096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11</a:t>
            </a:fld>
            <a:endParaRPr lang="en-US"/>
          </a:p>
        </p:txBody>
      </p:sp>
    </p:spTree>
    <p:extLst>
      <p:ext uri="{BB962C8B-B14F-4D97-AF65-F5344CB8AC3E}">
        <p14:creationId xmlns:p14="http://schemas.microsoft.com/office/powerpoint/2010/main" val="698796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066800"/>
          </a:xfrm>
          <a:noFill/>
        </p:spPr>
        <p:txBody>
          <a:bodyPr>
            <a:normAutofit/>
          </a:bodyPr>
          <a:lstStyle/>
          <a:p>
            <a:r>
              <a:rPr lang="en-GB" dirty="0"/>
              <a:t>Components of VANET</a:t>
            </a:r>
          </a:p>
        </p:txBody>
      </p:sp>
      <p:sp>
        <p:nvSpPr>
          <p:cNvPr id="3" name="Content Placeholder 2"/>
          <p:cNvSpPr>
            <a:spLocks noGrp="1"/>
          </p:cNvSpPr>
          <p:nvPr>
            <p:ph idx="1"/>
          </p:nvPr>
        </p:nvSpPr>
        <p:spPr>
          <a:xfrm>
            <a:off x="457200" y="1139035"/>
            <a:ext cx="8229600" cy="5261765"/>
          </a:xfrm>
        </p:spPr>
        <p:txBody>
          <a:bodyPr>
            <a:normAutofit fontScale="25000" lnSpcReduction="20000"/>
          </a:bodyPr>
          <a:lstStyle/>
          <a:p>
            <a:pPr>
              <a:lnSpc>
                <a:spcPct val="170000"/>
              </a:lnSpc>
            </a:pPr>
            <a:r>
              <a:rPr lang="en-GB" sz="7100" b="1" dirty="0">
                <a:solidFill>
                  <a:schemeClr val="accent2">
                    <a:lumMod val="75000"/>
                  </a:schemeClr>
                </a:solidFill>
                <a:latin typeface="+mn-lt"/>
              </a:rPr>
              <a:t>Vehicles</a:t>
            </a:r>
            <a:endParaRPr lang="en-US" sz="7100" b="1" dirty="0">
              <a:solidFill>
                <a:schemeClr val="accent2">
                  <a:lumMod val="75000"/>
                </a:schemeClr>
              </a:solidFill>
              <a:latin typeface="+mn-lt"/>
            </a:endParaRPr>
          </a:p>
          <a:p>
            <a:pPr>
              <a:lnSpc>
                <a:spcPct val="170000"/>
              </a:lnSpc>
            </a:pPr>
            <a:r>
              <a:rPr lang="en-GB" sz="7200" b="1" dirty="0">
                <a:solidFill>
                  <a:schemeClr val="accent2">
                    <a:lumMod val="75000"/>
                  </a:schemeClr>
                </a:solidFill>
              </a:rPr>
              <a:t>E</a:t>
            </a:r>
            <a:r>
              <a:rPr lang="en-GB" sz="7100" b="1" dirty="0">
                <a:solidFill>
                  <a:schemeClr val="accent2">
                    <a:lumMod val="75000"/>
                  </a:schemeClr>
                </a:solidFill>
                <a:latin typeface="+mn-lt"/>
              </a:rPr>
              <a:t>lectronic</a:t>
            </a:r>
            <a:r>
              <a:rPr lang="en-GB" sz="7100" dirty="0">
                <a:latin typeface="+mn-lt"/>
              </a:rPr>
              <a:t> and </a:t>
            </a:r>
            <a:r>
              <a:rPr lang="en-GB" sz="7100" b="1" dirty="0">
                <a:solidFill>
                  <a:schemeClr val="accent2">
                    <a:lumMod val="75000"/>
                  </a:schemeClr>
                </a:solidFill>
                <a:latin typeface="+mn-lt"/>
              </a:rPr>
              <a:t>hardware</a:t>
            </a:r>
            <a:r>
              <a:rPr lang="en-GB" sz="7100" dirty="0">
                <a:latin typeface="+mn-lt"/>
              </a:rPr>
              <a:t> components like sensors and actuators, also </a:t>
            </a:r>
            <a:r>
              <a:rPr lang="en-GB" sz="7100" b="1" dirty="0">
                <a:solidFill>
                  <a:schemeClr val="accent2">
                    <a:lumMod val="75000"/>
                  </a:schemeClr>
                </a:solidFill>
                <a:latin typeface="+mn-lt"/>
              </a:rPr>
              <a:t>software</a:t>
            </a:r>
            <a:r>
              <a:rPr lang="en-GB" sz="7100" dirty="0">
                <a:latin typeface="+mn-lt"/>
              </a:rPr>
              <a:t> components like operating systems, diagnostics software, peripheral drivers and so on.</a:t>
            </a:r>
            <a:endParaRPr lang="en-US" sz="7100" b="1" dirty="0">
              <a:solidFill>
                <a:schemeClr val="accent2">
                  <a:lumMod val="75000"/>
                </a:schemeClr>
              </a:solidFill>
              <a:latin typeface="+mn-lt"/>
            </a:endParaRPr>
          </a:p>
          <a:p>
            <a:pPr>
              <a:lnSpc>
                <a:spcPct val="170000"/>
              </a:lnSpc>
            </a:pPr>
            <a:r>
              <a:rPr lang="en-GB" sz="7100" b="1" dirty="0">
                <a:solidFill>
                  <a:schemeClr val="accent2">
                    <a:lumMod val="75000"/>
                  </a:schemeClr>
                </a:solidFill>
                <a:latin typeface="+mn-lt"/>
              </a:rPr>
              <a:t>Intelligent Actuators </a:t>
            </a:r>
            <a:r>
              <a:rPr lang="en-GB" sz="7100" dirty="0">
                <a:latin typeface="+mn-lt"/>
              </a:rPr>
              <a:t>are five separate  main units of the vehicle</a:t>
            </a:r>
          </a:p>
          <a:p>
            <a:pPr lvl="1">
              <a:lnSpc>
                <a:spcPct val="170000"/>
              </a:lnSpc>
              <a:buNone/>
            </a:pPr>
            <a:r>
              <a:rPr lang="en-GB" sz="6200" i="1" dirty="0">
                <a:latin typeface="+mn-lt"/>
              </a:rPr>
              <a:t>(Engine, Transmission, Suspension, Brake system</a:t>
            </a:r>
            <a:r>
              <a:rPr lang="en-GB" sz="6200" dirty="0">
                <a:latin typeface="+mn-lt"/>
              </a:rPr>
              <a:t>  and </a:t>
            </a:r>
            <a:r>
              <a:rPr lang="en-GB" sz="6200" i="1" dirty="0">
                <a:latin typeface="+mn-lt"/>
              </a:rPr>
              <a:t>Steering system</a:t>
            </a:r>
            <a:r>
              <a:rPr lang="en-GB" sz="6200" dirty="0">
                <a:latin typeface="+mn-lt"/>
              </a:rPr>
              <a:t> )</a:t>
            </a:r>
          </a:p>
          <a:p>
            <a:pPr>
              <a:lnSpc>
                <a:spcPct val="170000"/>
              </a:lnSpc>
            </a:pPr>
            <a:r>
              <a:rPr lang="en-GB" sz="7100" b="1" dirty="0">
                <a:solidFill>
                  <a:schemeClr val="accent2">
                    <a:lumMod val="75000"/>
                  </a:schemeClr>
                </a:solidFill>
                <a:latin typeface="+mn-lt"/>
              </a:rPr>
              <a:t>Integrated Vehicle Control </a:t>
            </a:r>
            <a:r>
              <a:rPr lang="en-GB" sz="7100" dirty="0">
                <a:latin typeface="+mn-lt"/>
              </a:rPr>
              <a:t>which has an influence on the movement of the whole vehicle.</a:t>
            </a:r>
          </a:p>
          <a:p>
            <a:pPr>
              <a:lnSpc>
                <a:spcPct val="170000"/>
              </a:lnSpc>
            </a:pPr>
            <a:r>
              <a:rPr lang="en-GB" sz="7100" b="1" dirty="0">
                <a:solidFill>
                  <a:schemeClr val="accent2">
                    <a:lumMod val="75000"/>
                  </a:schemeClr>
                </a:solidFill>
                <a:latin typeface="+mn-lt"/>
              </a:rPr>
              <a:t>Sensor devices </a:t>
            </a:r>
          </a:p>
          <a:p>
            <a:pPr lvl="1">
              <a:lnSpc>
                <a:spcPct val="170000"/>
              </a:lnSpc>
              <a:buNone/>
            </a:pPr>
            <a:r>
              <a:rPr lang="en-GB" sz="6200" i="1" dirty="0">
                <a:latin typeface="+mn-lt"/>
              </a:rPr>
              <a:t>(Radar, Video Camera, and Lidar “static laser Scanner, in 1 direction”)  </a:t>
            </a:r>
            <a:endParaRPr lang="en-GB" sz="7100" dirty="0">
              <a:latin typeface="+mn-lt"/>
            </a:endParaRPr>
          </a:p>
          <a:p>
            <a:pPr>
              <a:lnSpc>
                <a:spcPct val="170000"/>
              </a:lnSpc>
            </a:pPr>
            <a:r>
              <a:rPr lang="en-US" sz="7100" b="1" dirty="0">
                <a:solidFill>
                  <a:schemeClr val="accent2">
                    <a:lumMod val="75000"/>
                  </a:schemeClr>
                </a:solidFill>
                <a:latin typeface="+mn-lt"/>
              </a:rPr>
              <a:t>Road side Unites.</a:t>
            </a:r>
            <a:r>
              <a:rPr lang="en-US" sz="7100" dirty="0">
                <a:latin typeface="+mn-lt"/>
              </a:rPr>
              <a:t> </a:t>
            </a:r>
            <a:endParaRPr lang="en-GB" sz="7100" dirty="0">
              <a:latin typeface="+mn-lt"/>
            </a:endParaRPr>
          </a:p>
          <a:p>
            <a:pPr>
              <a:lnSpc>
                <a:spcPct val="170000"/>
              </a:lnSpc>
            </a:pPr>
            <a:r>
              <a:rPr lang="en-GB" sz="7100" b="1" dirty="0">
                <a:solidFill>
                  <a:schemeClr val="accent2">
                    <a:lumMod val="75000"/>
                  </a:schemeClr>
                </a:solidFill>
                <a:latin typeface="+mn-lt"/>
              </a:rPr>
              <a:t>Control of Vehicle Groups and Fleets</a:t>
            </a:r>
            <a:endParaRPr lang="en-GB" sz="7100" dirty="0">
              <a:latin typeface="+mn-lt"/>
            </a:endParaRPr>
          </a:p>
          <a:p>
            <a:pPr>
              <a:lnSpc>
                <a:spcPct val="170000"/>
              </a:lnSpc>
            </a:pPr>
            <a:endParaRPr lang="en-GB" dirty="0">
              <a:latin typeface="+mn-lt"/>
            </a:endParaRPr>
          </a:p>
        </p:txBody>
      </p:sp>
      <p:sp>
        <p:nvSpPr>
          <p:cNvPr id="4" name="Slide Number Placeholder 3"/>
          <p:cNvSpPr>
            <a:spLocks noGrp="1"/>
          </p:cNvSpPr>
          <p:nvPr>
            <p:ph type="sldNum" sz="quarter" idx="12"/>
          </p:nvPr>
        </p:nvSpPr>
        <p:spPr/>
        <p:txBody>
          <a:bodyPr/>
          <a:lstStyle/>
          <a:p>
            <a:fld id="{F1BC1D28-2A14-4E9A-AF06-251561F5AADC}" type="slidenum">
              <a:rPr lang="en-GB" smtClean="0"/>
              <a:pPr/>
              <a:t>12</a:t>
            </a:fld>
            <a:endParaRPr lang="en-GB"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59"/>
          <p:cNvSpPr>
            <a:spLocks noGrp="1"/>
          </p:cNvSpPr>
          <p:nvPr>
            <p:ph type="title"/>
          </p:nvPr>
        </p:nvSpPr>
        <p:spPr>
          <a:xfrm>
            <a:off x="762000" y="228600"/>
            <a:ext cx="7543800" cy="762000"/>
          </a:xfrm>
        </p:spPr>
        <p:txBody>
          <a:bodyPr>
            <a:noAutofit/>
          </a:bodyPr>
          <a:lstStyle/>
          <a:p>
            <a:r>
              <a:rPr lang="en-US" altLang="en-US" sz="3600" dirty="0"/>
              <a:t>Vehicles operate using networked ICT</a:t>
            </a:r>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49B5B4-FD97-4837-B049-0E40BC853519}" type="slidenum">
              <a:rPr lang="en-US" smtClean="0"/>
              <a:pPr>
                <a:defRPr/>
              </a:pPr>
              <a:t>13</a:t>
            </a:fld>
            <a:endParaRPr lang="en-US"/>
          </a:p>
        </p:txBody>
      </p:sp>
      <p:grpSp>
        <p:nvGrpSpPr>
          <p:cNvPr id="5126" name="Group 42"/>
          <p:cNvGrpSpPr>
            <a:grpSpLocks/>
          </p:cNvGrpSpPr>
          <p:nvPr/>
        </p:nvGrpSpPr>
        <p:grpSpPr bwMode="auto">
          <a:xfrm>
            <a:off x="2286000" y="990600"/>
            <a:ext cx="4075113" cy="5089525"/>
            <a:chOff x="287524" y="1587523"/>
            <a:chExt cx="4075309" cy="5089976"/>
          </a:xfrm>
        </p:grpSpPr>
        <p:pic>
          <p:nvPicPr>
            <p:cNvPr id="44" name="Picture 43"/>
            <p:cNvPicPr>
              <a:picLocks noChangeAspect="1"/>
            </p:cNvPicPr>
            <p:nvPr/>
          </p:nvPicPr>
          <p:blipFill>
            <a:blip r:embed="rId2"/>
            <a:stretch>
              <a:fillRect/>
            </a:stretch>
          </p:blipFill>
          <p:spPr>
            <a:xfrm>
              <a:off x="1852874" y="5780483"/>
              <a:ext cx="1152580" cy="865264"/>
            </a:xfrm>
            <a:prstGeom prst="rect">
              <a:avLst/>
            </a:prstGeom>
          </p:spPr>
          <p:style>
            <a:lnRef idx="1">
              <a:schemeClr val="dk1"/>
            </a:lnRef>
            <a:fillRef idx="2">
              <a:schemeClr val="dk1"/>
            </a:fillRef>
            <a:effectRef idx="1">
              <a:schemeClr val="dk1"/>
            </a:effectRef>
            <a:fontRef idx="minor">
              <a:schemeClr val="dk1"/>
            </a:fontRef>
          </p:style>
        </p:pic>
        <p:pic>
          <p:nvPicPr>
            <p:cNvPr id="45" name="Picture 44"/>
            <p:cNvPicPr>
              <a:picLocks noChangeAspect="1"/>
            </p:cNvPicPr>
            <p:nvPr/>
          </p:nvPicPr>
          <p:blipFill>
            <a:blip r:embed="rId3"/>
            <a:stretch>
              <a:fillRect/>
            </a:stretch>
          </p:blipFill>
          <p:spPr>
            <a:xfrm>
              <a:off x="287524" y="5763018"/>
              <a:ext cx="1224022" cy="914481"/>
            </a:xfrm>
            <a:prstGeom prst="rect">
              <a:avLst/>
            </a:prstGeom>
          </p:spPr>
          <p:style>
            <a:lnRef idx="1">
              <a:schemeClr val="dk1"/>
            </a:lnRef>
            <a:fillRef idx="2">
              <a:schemeClr val="dk1"/>
            </a:fillRef>
            <a:effectRef idx="1">
              <a:schemeClr val="dk1"/>
            </a:effectRef>
            <a:fontRef idx="minor">
              <a:schemeClr val="dk1"/>
            </a:fontRef>
          </p:style>
        </p:pic>
        <p:pic>
          <p:nvPicPr>
            <p:cNvPr id="46" name="Picture 45"/>
            <p:cNvPicPr>
              <a:picLocks noChangeAspect="1"/>
            </p:cNvPicPr>
            <p:nvPr/>
          </p:nvPicPr>
          <p:blipFill>
            <a:blip r:embed="rId4"/>
            <a:stretch>
              <a:fillRect/>
            </a:stretch>
          </p:blipFill>
          <p:spPr>
            <a:xfrm>
              <a:off x="3348371" y="5759843"/>
              <a:ext cx="850941" cy="850975"/>
            </a:xfrm>
            <a:prstGeom prst="rect">
              <a:avLst/>
            </a:prstGeom>
          </p:spPr>
          <p:style>
            <a:lnRef idx="1">
              <a:schemeClr val="dk1"/>
            </a:lnRef>
            <a:fillRef idx="2">
              <a:schemeClr val="dk1"/>
            </a:fillRef>
            <a:effectRef idx="1">
              <a:schemeClr val="dk1"/>
            </a:effectRef>
            <a:fontRef idx="minor">
              <a:schemeClr val="dk1"/>
            </a:fontRef>
          </p:style>
        </p:pic>
        <p:sp>
          <p:nvSpPr>
            <p:cNvPr id="47" name="Rounded Rectangle 46"/>
            <p:cNvSpPr/>
            <p:nvPr/>
          </p:nvSpPr>
          <p:spPr>
            <a:xfrm>
              <a:off x="324039" y="4797732"/>
              <a:ext cx="1150992"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sp>
          <p:nvSpPr>
            <p:cNvPr id="48" name="Rounded Rectangle 47"/>
            <p:cNvSpPr/>
            <p:nvPr/>
          </p:nvSpPr>
          <p:spPr>
            <a:xfrm>
              <a:off x="1852874" y="4797732"/>
              <a:ext cx="1152580"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sp>
          <p:nvSpPr>
            <p:cNvPr id="49" name="Rounded Rectangle 48"/>
            <p:cNvSpPr/>
            <p:nvPr/>
          </p:nvSpPr>
          <p:spPr>
            <a:xfrm>
              <a:off x="3197552" y="4797732"/>
              <a:ext cx="1150992" cy="68427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Local </a:t>
              </a:r>
            </a:p>
            <a:p>
              <a:pPr>
                <a:defRPr/>
              </a:pPr>
              <a:r>
                <a:rPr lang="en-US" b="0" dirty="0"/>
                <a:t>Control</a:t>
              </a:r>
              <a:endParaRPr lang="nl-NL" b="0" dirty="0"/>
            </a:p>
          </p:txBody>
        </p:sp>
        <p:pic>
          <p:nvPicPr>
            <p:cNvPr id="50" name="Picture 49"/>
            <p:cNvPicPr>
              <a:picLocks noChangeAspect="1"/>
            </p:cNvPicPr>
            <p:nvPr/>
          </p:nvPicPr>
          <p:blipFill rotWithShape="1">
            <a:blip r:embed="rId5"/>
            <a:srcRect t="15410" b="16096"/>
            <a:stretch/>
          </p:blipFill>
          <p:spPr>
            <a:xfrm>
              <a:off x="1205143" y="2147961"/>
              <a:ext cx="2273409" cy="1600342"/>
            </a:xfrm>
            <a:prstGeom prst="rect">
              <a:avLst/>
            </a:prstGeom>
          </p:spPr>
          <p:style>
            <a:lnRef idx="1">
              <a:schemeClr val="dk1"/>
            </a:lnRef>
            <a:fillRef idx="2">
              <a:schemeClr val="dk1"/>
            </a:fillRef>
            <a:effectRef idx="1">
              <a:schemeClr val="dk1"/>
            </a:effectRef>
            <a:fontRef idx="minor">
              <a:schemeClr val="dk1"/>
            </a:fontRef>
          </p:style>
        </p:pic>
        <p:sp>
          <p:nvSpPr>
            <p:cNvPr id="51" name="Rounded Rectangle 50"/>
            <p:cNvSpPr/>
            <p:nvPr/>
          </p:nvSpPr>
          <p:spPr>
            <a:xfrm>
              <a:off x="320864" y="4051541"/>
              <a:ext cx="4041969" cy="457241"/>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In-car network</a:t>
              </a:r>
              <a:endParaRPr lang="nl-NL" b="0" dirty="0"/>
            </a:p>
          </p:txBody>
        </p:sp>
        <p:cxnSp>
          <p:nvCxnSpPr>
            <p:cNvPr id="52" name="Straight Arrow Connector 51"/>
            <p:cNvCxnSpPr>
              <a:stCxn id="51" idx="0"/>
              <a:endCxn id="50" idx="2"/>
            </p:cNvCxnSpPr>
            <p:nvPr/>
          </p:nvCxnSpPr>
          <p:spPr>
            <a:xfrm flipV="1">
              <a:off x="2341848" y="3748302"/>
              <a:ext cx="0" cy="30323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a:stCxn id="47" idx="0"/>
            </p:cNvCxnSpPr>
            <p:nvPr/>
          </p:nvCxnSpPr>
          <p:spPr>
            <a:xfrm flipV="1">
              <a:off x="900328" y="4508782"/>
              <a:ext cx="0"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a:stCxn id="48" idx="0"/>
            </p:cNvCxnSpPr>
            <p:nvPr/>
          </p:nvCxnSpPr>
          <p:spPr>
            <a:xfrm flipV="1">
              <a:off x="2429165" y="4508782"/>
              <a:ext cx="9525"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a:stCxn id="49" idx="0"/>
            </p:cNvCxnSpPr>
            <p:nvPr/>
          </p:nvCxnSpPr>
          <p:spPr>
            <a:xfrm flipV="1">
              <a:off x="3773842" y="4508782"/>
              <a:ext cx="0" cy="288951"/>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a:stCxn id="45" idx="0"/>
              <a:endCxn id="47" idx="2"/>
            </p:cNvCxnSpPr>
            <p:nvPr/>
          </p:nvCxnSpPr>
          <p:spPr>
            <a:xfrm flipV="1">
              <a:off x="900328" y="5482006"/>
              <a:ext cx="0" cy="281012"/>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a:stCxn id="44" idx="0"/>
              <a:endCxn id="48" idx="2"/>
            </p:cNvCxnSpPr>
            <p:nvPr/>
          </p:nvCxnSpPr>
          <p:spPr>
            <a:xfrm flipH="1" flipV="1">
              <a:off x="2429165" y="5482006"/>
              <a:ext cx="0" cy="298476"/>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a:stCxn id="46" idx="0"/>
              <a:endCxn id="49" idx="2"/>
            </p:cNvCxnSpPr>
            <p:nvPr/>
          </p:nvCxnSpPr>
          <p:spPr>
            <a:xfrm flipV="1">
              <a:off x="3773842" y="5482006"/>
              <a:ext cx="0" cy="277837"/>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9" name="Rounded Rectangle 58"/>
            <p:cNvSpPr/>
            <p:nvPr/>
          </p:nvSpPr>
          <p:spPr>
            <a:xfrm>
              <a:off x="1097188" y="1587523"/>
              <a:ext cx="2489320" cy="503283"/>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1006475" y="488950"/>
            <a:ext cx="7543800" cy="762000"/>
          </a:xfrm>
        </p:spPr>
        <p:txBody>
          <a:bodyPr/>
          <a:lstStyle/>
          <a:p>
            <a:r>
              <a:rPr lang="en-US" altLang="en-US" sz="2800" dirty="0"/>
              <a:t> Vehicles become parts of a larger whole</a:t>
            </a:r>
          </a:p>
        </p:txBody>
      </p:sp>
      <p:sp>
        <p:nvSpPr>
          <p:cNvPr id="7171" name="Content Placeholder 23"/>
          <p:cNvSpPr>
            <a:spLocks noGrp="1"/>
          </p:cNvSpPr>
          <p:nvPr>
            <p:ph idx="1"/>
          </p:nvPr>
        </p:nvSpPr>
        <p:spPr>
          <a:xfrm>
            <a:off x="609600" y="1295400"/>
            <a:ext cx="2981325" cy="4724400"/>
          </a:xfrm>
        </p:spPr>
        <p:txBody>
          <a:bodyPr/>
          <a:lstStyle/>
          <a:p>
            <a:r>
              <a:rPr lang="en-US" altLang="en-US" sz="2000" dirty="0"/>
              <a:t>Vehicle to Vehicle (V2V) communication</a:t>
            </a:r>
          </a:p>
          <a:p>
            <a:pPr lvl="1"/>
            <a:r>
              <a:rPr lang="en-US" altLang="en-US" sz="1800" dirty="0"/>
              <a:t>ad-hoc</a:t>
            </a:r>
          </a:p>
          <a:p>
            <a:pPr lvl="1"/>
            <a:r>
              <a:rPr lang="en-US" altLang="en-US" sz="1800" dirty="0"/>
              <a:t>collaborative applications</a:t>
            </a:r>
          </a:p>
          <a:p>
            <a:pPr lvl="1"/>
            <a:endParaRPr lang="en-US" altLang="en-US" sz="1800" dirty="0"/>
          </a:p>
          <a:p>
            <a:r>
              <a:rPr lang="en-US" altLang="en-US" sz="2000" dirty="0"/>
              <a:t>Applications are distributed</a:t>
            </a:r>
          </a:p>
          <a:p>
            <a:endParaRPr lang="en-US" altLang="en-US" sz="2000" dirty="0"/>
          </a:p>
          <a:p>
            <a:r>
              <a:rPr lang="en-US" altLang="en-US" sz="2000" dirty="0"/>
              <a:t>Actuation may pass by driver control</a:t>
            </a:r>
          </a:p>
          <a:p>
            <a:endParaRPr lang="en-US" altLang="en-US" sz="2200" dirty="0"/>
          </a:p>
          <a:p>
            <a:endParaRPr lang="en-US" altLang="en-US" sz="2200" dirty="0"/>
          </a:p>
          <a:p>
            <a:pPr lvl="1"/>
            <a:endParaRPr lang="en-US" altLang="en-US" sz="1800" dirty="0"/>
          </a:p>
        </p:txBody>
      </p:sp>
      <p:sp>
        <p:nvSpPr>
          <p:cNvPr id="5" name="Slide Number Placeholder 4"/>
          <p:cNvSpPr>
            <a:spLocks noGrp="1"/>
          </p:cNvSpPr>
          <p:nvPr>
            <p:ph type="sldNum" sz="quarter" idx="12"/>
          </p:nvPr>
        </p:nvSpPr>
        <p:spPr/>
        <p:txBody>
          <a:bodyPr/>
          <a:lstStyle/>
          <a:p>
            <a:pPr>
              <a:defRPr/>
            </a:pPr>
            <a:fld id="{F3DC7B30-F1B8-4914-A995-433885925143}" type="slidenum">
              <a:rPr lang="en-US" smtClean="0"/>
              <a:pPr>
                <a:defRPr/>
              </a:pPr>
              <a:t>14</a:t>
            </a:fld>
            <a:endParaRPr lang="en-US"/>
          </a:p>
        </p:txBody>
      </p:sp>
      <p:grpSp>
        <p:nvGrpSpPr>
          <p:cNvPr id="7175" name="Group 5"/>
          <p:cNvGrpSpPr>
            <a:grpSpLocks/>
          </p:cNvGrpSpPr>
          <p:nvPr/>
        </p:nvGrpSpPr>
        <p:grpSpPr bwMode="auto">
          <a:xfrm>
            <a:off x="3590925" y="1266825"/>
            <a:ext cx="4078288" cy="4981575"/>
            <a:chOff x="4709174" y="1398706"/>
            <a:chExt cx="4078820" cy="4981800"/>
          </a:xfrm>
        </p:grpSpPr>
        <p:pic>
          <p:nvPicPr>
            <p:cNvPr id="7" name="Picture 6"/>
            <p:cNvPicPr>
              <a:picLocks noChangeAspect="1"/>
            </p:cNvPicPr>
            <p:nvPr/>
          </p:nvPicPr>
          <p:blipFill>
            <a:blip r:embed="rId2"/>
            <a:stretch>
              <a:fillRect/>
            </a:stretch>
          </p:blipFill>
          <p:spPr>
            <a:xfrm>
              <a:off x="6274653" y="5678799"/>
              <a:ext cx="1152675" cy="690594"/>
            </a:xfrm>
            <a:prstGeom prst="rect">
              <a:avLst/>
            </a:prstGeom>
          </p:spPr>
          <p:style>
            <a:lnRef idx="1">
              <a:schemeClr val="dk1"/>
            </a:lnRef>
            <a:fillRef idx="2">
              <a:schemeClr val="dk1"/>
            </a:fillRef>
            <a:effectRef idx="1">
              <a:schemeClr val="dk1"/>
            </a:effectRef>
            <a:fontRef idx="minor">
              <a:schemeClr val="dk1"/>
            </a:fontRef>
          </p:style>
        </p:pic>
        <p:pic>
          <p:nvPicPr>
            <p:cNvPr id="8" name="Picture 7"/>
            <p:cNvPicPr>
              <a:picLocks noChangeAspect="1"/>
            </p:cNvPicPr>
            <p:nvPr/>
          </p:nvPicPr>
          <p:blipFill>
            <a:blip r:embed="rId3"/>
            <a:stretch>
              <a:fillRect/>
            </a:stretch>
          </p:blipFill>
          <p:spPr>
            <a:xfrm>
              <a:off x="4709174" y="5681974"/>
              <a:ext cx="1224123" cy="698532"/>
            </a:xfrm>
            <a:prstGeom prst="rect">
              <a:avLst/>
            </a:prstGeom>
          </p:spPr>
          <p:style>
            <a:lnRef idx="1">
              <a:schemeClr val="dk1"/>
            </a:lnRef>
            <a:fillRef idx="2">
              <a:schemeClr val="dk1"/>
            </a:fillRef>
            <a:effectRef idx="1">
              <a:schemeClr val="dk1"/>
            </a:effectRef>
            <a:fontRef idx="minor">
              <a:schemeClr val="dk1"/>
            </a:fontRef>
          </p:style>
        </p:pic>
        <p:pic>
          <p:nvPicPr>
            <p:cNvPr id="9" name="Picture 8"/>
            <p:cNvPicPr>
              <a:picLocks noChangeAspect="1"/>
            </p:cNvPicPr>
            <p:nvPr/>
          </p:nvPicPr>
          <p:blipFill>
            <a:blip r:embed="rId4"/>
            <a:stretch>
              <a:fillRect/>
            </a:stretch>
          </p:blipFill>
          <p:spPr>
            <a:xfrm>
              <a:off x="7609915" y="5672449"/>
              <a:ext cx="1178079" cy="696944"/>
            </a:xfrm>
            <a:prstGeom prst="rect">
              <a:avLst/>
            </a:prstGeom>
          </p:spPr>
          <p:style>
            <a:lnRef idx="1">
              <a:schemeClr val="dk1"/>
            </a:lnRef>
            <a:fillRef idx="2">
              <a:schemeClr val="dk1"/>
            </a:fillRef>
            <a:effectRef idx="1">
              <a:schemeClr val="dk1"/>
            </a:effectRef>
            <a:fontRef idx="minor">
              <a:schemeClr val="dk1"/>
            </a:fontRef>
          </p:style>
        </p:pic>
        <p:sp>
          <p:nvSpPr>
            <p:cNvPr id="10" name="Rounded Rectangle 9"/>
            <p:cNvSpPr/>
            <p:nvPr/>
          </p:nvSpPr>
          <p:spPr>
            <a:xfrm>
              <a:off x="4745692" y="4608776"/>
              <a:ext cx="1151087"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sp>
          <p:nvSpPr>
            <p:cNvPr id="11" name="Rounded Rectangle 10"/>
            <p:cNvSpPr/>
            <p:nvPr/>
          </p:nvSpPr>
          <p:spPr>
            <a:xfrm>
              <a:off x="6274653" y="4608776"/>
              <a:ext cx="1152675"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sp>
          <p:nvSpPr>
            <p:cNvPr id="12" name="Rounded Rectangle 11"/>
            <p:cNvSpPr/>
            <p:nvPr/>
          </p:nvSpPr>
          <p:spPr>
            <a:xfrm>
              <a:off x="7619442" y="4608776"/>
              <a:ext cx="1151087" cy="684244"/>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Driver</a:t>
              </a:r>
            </a:p>
            <a:p>
              <a:pPr>
                <a:defRPr/>
              </a:pPr>
              <a:r>
                <a:rPr lang="en-US" b="0" dirty="0"/>
                <a:t>Control</a:t>
              </a:r>
              <a:endParaRPr lang="nl-NL" b="0" dirty="0"/>
            </a:p>
          </p:txBody>
        </p:sp>
        <p:pic>
          <p:nvPicPr>
            <p:cNvPr id="13" name="Picture 12"/>
            <p:cNvPicPr>
              <a:picLocks noChangeAspect="1"/>
            </p:cNvPicPr>
            <p:nvPr/>
          </p:nvPicPr>
          <p:blipFill>
            <a:blip r:embed="rId5"/>
            <a:stretch>
              <a:fillRect/>
            </a:stretch>
          </p:blipFill>
          <p:spPr>
            <a:xfrm>
              <a:off x="5477624" y="1973407"/>
              <a:ext cx="2572085" cy="1598685"/>
            </a:xfrm>
            <a:prstGeom prst="rect">
              <a:avLst/>
            </a:prstGeom>
          </p:spPr>
          <p:style>
            <a:lnRef idx="1">
              <a:schemeClr val="dk1"/>
            </a:lnRef>
            <a:fillRef idx="2">
              <a:schemeClr val="dk1"/>
            </a:fillRef>
            <a:effectRef idx="1">
              <a:schemeClr val="dk1"/>
            </a:effectRef>
            <a:fontRef idx="minor">
              <a:schemeClr val="dk1"/>
            </a:fontRef>
          </p:style>
        </p:pic>
        <p:sp>
          <p:nvSpPr>
            <p:cNvPr id="14" name="Rounded Rectangle 13"/>
            <p:cNvSpPr/>
            <p:nvPr/>
          </p:nvSpPr>
          <p:spPr>
            <a:xfrm>
              <a:off x="4742516" y="3862617"/>
              <a:ext cx="4042302" cy="457221"/>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V2V network</a:t>
              </a:r>
              <a:endParaRPr lang="nl-NL" b="0" dirty="0"/>
            </a:p>
          </p:txBody>
        </p:sp>
        <p:cxnSp>
          <p:nvCxnSpPr>
            <p:cNvPr id="15" name="Straight Arrow Connector 14"/>
            <p:cNvCxnSpPr>
              <a:stCxn id="14" idx="0"/>
              <a:endCxn id="13" idx="2"/>
            </p:cNvCxnSpPr>
            <p:nvPr/>
          </p:nvCxnSpPr>
          <p:spPr>
            <a:xfrm flipH="1" flipV="1">
              <a:off x="6763667" y="3572092"/>
              <a:ext cx="0" cy="290525"/>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0" idx="0"/>
            </p:cNvCxnSpPr>
            <p:nvPr/>
          </p:nvCxnSpPr>
          <p:spPr>
            <a:xfrm flipV="1">
              <a:off x="5322029" y="4319838"/>
              <a:ext cx="0"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11" idx="0"/>
            </p:cNvCxnSpPr>
            <p:nvPr/>
          </p:nvCxnSpPr>
          <p:spPr>
            <a:xfrm flipV="1">
              <a:off x="6850991" y="4319838"/>
              <a:ext cx="9526"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2" idx="0"/>
            </p:cNvCxnSpPr>
            <p:nvPr/>
          </p:nvCxnSpPr>
          <p:spPr>
            <a:xfrm flipV="1">
              <a:off x="8194192" y="4319838"/>
              <a:ext cx="0" cy="288938"/>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8" idx="0"/>
              <a:endCxn id="10" idx="2"/>
            </p:cNvCxnSpPr>
            <p:nvPr/>
          </p:nvCxnSpPr>
          <p:spPr>
            <a:xfrm flipV="1">
              <a:off x="5322029" y="5293020"/>
              <a:ext cx="0" cy="388955"/>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7" idx="0"/>
              <a:endCxn id="11" idx="2"/>
            </p:cNvCxnSpPr>
            <p:nvPr/>
          </p:nvCxnSpPr>
          <p:spPr>
            <a:xfrm flipH="1" flipV="1">
              <a:off x="6850991" y="5293020"/>
              <a:ext cx="0" cy="38577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9" idx="0"/>
              <a:endCxn id="12" idx="2"/>
            </p:cNvCxnSpPr>
            <p:nvPr/>
          </p:nvCxnSpPr>
          <p:spPr>
            <a:xfrm flipH="1" flipV="1">
              <a:off x="8194192" y="5293020"/>
              <a:ext cx="4763" cy="379429"/>
            </a:xfrm>
            <a:prstGeom prst="straightConnector1">
              <a:avLst/>
            </a:prstGeom>
            <a:ln w="38100">
              <a:solidFill>
                <a:srgbClr val="002060"/>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Rounded Rectangle 21"/>
            <p:cNvSpPr/>
            <p:nvPr/>
          </p:nvSpPr>
          <p:spPr>
            <a:xfrm>
              <a:off x="5518905" y="1398706"/>
              <a:ext cx="2489525" cy="504848"/>
            </a:xfrm>
            <a:prstGeom prst="round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0" dirty="0"/>
                <a:t>Accident prevention</a:t>
              </a:r>
              <a:endParaRPr lang="nl-NL" b="0" dirty="0"/>
            </a:p>
          </p:txBody>
        </p:sp>
      </p:grpSp>
      <p:sp>
        <p:nvSpPr>
          <p:cNvPr id="23" name="Arc 22"/>
          <p:cNvSpPr/>
          <p:nvPr/>
        </p:nvSpPr>
        <p:spPr>
          <a:xfrm>
            <a:off x="4791075" y="1519238"/>
            <a:ext cx="4200525" cy="4237037"/>
          </a:xfrm>
          <a:prstGeom prst="arc">
            <a:avLst>
              <a:gd name="adj1" fmla="val 16200000"/>
              <a:gd name="adj2" fmla="val 4167259"/>
            </a:avLst>
          </a:prstGeom>
          <a:ln>
            <a:headEnd type="none" w="med" len="med"/>
            <a:tailEnd type="triangle" w="med" len="med"/>
          </a:ln>
        </p:spPr>
        <p:style>
          <a:lnRef idx="3">
            <a:schemeClr val="accent2"/>
          </a:lnRef>
          <a:fillRef idx="0">
            <a:schemeClr val="accent2"/>
          </a:fillRef>
          <a:effectRef idx="2">
            <a:schemeClr val="accent2"/>
          </a:effectRef>
          <a:fontRef idx="minor">
            <a:schemeClr val="tx1"/>
          </a:fontRef>
        </p:style>
        <p:txBody>
          <a:bodyPr anchor="ctr"/>
          <a:lstStyle/>
          <a:p>
            <a:pPr>
              <a:defRPr/>
            </a:pPr>
            <a:endParaRPr lang="en-US"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17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Title 112"/>
          <p:cNvSpPr>
            <a:spLocks noGrp="1"/>
          </p:cNvSpPr>
          <p:nvPr>
            <p:ph type="title"/>
          </p:nvPr>
        </p:nvSpPr>
        <p:spPr/>
        <p:txBody>
          <a:bodyPr/>
          <a:lstStyle/>
          <a:p>
            <a:pPr algn="l"/>
            <a:r>
              <a:rPr lang="en-US" dirty="0"/>
              <a:t>A conceptual view</a:t>
            </a:r>
          </a:p>
        </p:txBody>
      </p:sp>
      <p:sp>
        <p:nvSpPr>
          <p:cNvPr id="2" name="Date Placeholder 1"/>
          <p:cNvSpPr>
            <a:spLocks noGrp="1"/>
          </p:cNvSpPr>
          <p:nvPr>
            <p:ph type="dt" sz="half" idx="10"/>
          </p:nvPr>
        </p:nvSpPr>
        <p:spPr/>
        <p:txBody>
          <a:bodyPr/>
          <a:lstStyle/>
          <a:p>
            <a:pPr>
              <a:defRPr/>
            </a:pPr>
            <a:fld id="{5CEC94A9-4732-4906-BAA2-9ECF7BE9F5C4}" type="datetime5">
              <a:rPr lang="en-US" smtClean="0"/>
              <a:pPr>
                <a:defRPr/>
              </a:pPr>
              <a:t>14-Aug-25</a:t>
            </a:fld>
            <a:endParaRPr lang="en-US"/>
          </a:p>
        </p:txBody>
      </p:sp>
      <p:sp>
        <p:nvSpPr>
          <p:cNvPr id="4" name="Slide Number Placeholder 3"/>
          <p:cNvSpPr>
            <a:spLocks noGrp="1"/>
          </p:cNvSpPr>
          <p:nvPr>
            <p:ph type="sldNum" sz="quarter" idx="12"/>
          </p:nvPr>
        </p:nvSpPr>
        <p:spPr/>
        <p:txBody>
          <a:bodyPr/>
          <a:lstStyle/>
          <a:p>
            <a:pPr>
              <a:defRPr/>
            </a:pPr>
            <a:fld id="{9D2C3173-7E31-497A-8489-E04D648A4046}" type="slidenum">
              <a:rPr lang="en-US" smtClean="0"/>
              <a:pPr>
                <a:defRPr/>
              </a:pPr>
              <a:t>15</a:t>
            </a:fld>
            <a:endParaRPr lang="en-US"/>
          </a:p>
        </p:txBody>
      </p:sp>
      <p:grpSp>
        <p:nvGrpSpPr>
          <p:cNvPr id="59" name="Group 58"/>
          <p:cNvGrpSpPr/>
          <p:nvPr/>
        </p:nvGrpSpPr>
        <p:grpSpPr>
          <a:xfrm>
            <a:off x="3920050" y="46611"/>
            <a:ext cx="4919150" cy="6735189"/>
            <a:chOff x="2115726" y="4200"/>
            <a:chExt cx="4919150" cy="6735189"/>
          </a:xfrm>
        </p:grpSpPr>
        <p:grpSp>
          <p:nvGrpSpPr>
            <p:cNvPr id="60" name="Group 59"/>
            <p:cNvGrpSpPr/>
            <p:nvPr/>
          </p:nvGrpSpPr>
          <p:grpSpPr>
            <a:xfrm>
              <a:off x="3611560" y="4200"/>
              <a:ext cx="3423316" cy="3615373"/>
              <a:chOff x="2359062" y="1462232"/>
              <a:chExt cx="4188212" cy="4885974"/>
            </a:xfrm>
          </p:grpSpPr>
          <p:pic>
            <p:nvPicPr>
              <p:cNvPr id="92" name="Picture 9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93902" y="5656930"/>
                <a:ext cx="1039512" cy="69127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93" name="Picture 9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04368" y="5650460"/>
                <a:ext cx="1114455" cy="69774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94" name="Rounded Rectangle 93"/>
              <p:cNvSpPr/>
              <p:nvPr/>
            </p:nvSpPr>
            <p:spPr>
              <a:xfrm>
                <a:off x="4037517" y="4586621"/>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V2V</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sp>
            <p:nvSpPr>
              <p:cNvPr id="95" name="Rounded Rectangle 94"/>
              <p:cNvSpPr/>
              <p:nvPr/>
            </p:nvSpPr>
            <p:spPr>
              <a:xfrm>
                <a:off x="5381609" y="4586621"/>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V2V</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pic>
            <p:nvPicPr>
              <p:cNvPr id="96" name="Picture 9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9062" y="1683345"/>
                <a:ext cx="1449942" cy="159865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97" name="Rounded Rectangle 96"/>
              <p:cNvSpPr/>
              <p:nvPr/>
            </p:nvSpPr>
            <p:spPr>
              <a:xfrm>
                <a:off x="2504637" y="3840538"/>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Internet, V2I</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98" name="Straight Arrow Connector 97"/>
              <p:cNvCxnSpPr>
                <a:stCxn id="97" idx="0"/>
              </p:cNvCxnSpPr>
              <p:nvPr/>
            </p:nvCxnSpPr>
            <p:spPr>
              <a:xfrm flipH="1" flipV="1">
                <a:off x="4525955" y="3503112"/>
                <a:ext cx="1" cy="337426"/>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99" name="Straight Arrow Connector 98"/>
              <p:cNvCxnSpPr/>
              <p:nvPr/>
            </p:nvCxnSpPr>
            <p:spPr>
              <a:xfrm flipV="1">
                <a:off x="3084033" y="4298590"/>
                <a:ext cx="0" cy="288031"/>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0" name="Straight Arrow Connector 99"/>
              <p:cNvCxnSpPr>
                <a:stCxn id="94" idx="0"/>
              </p:cNvCxnSpPr>
              <p:nvPr/>
            </p:nvCxnSpPr>
            <p:spPr>
              <a:xfrm flipV="1">
                <a:off x="4613581" y="4298591"/>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1" name="Straight Arrow Connector 100"/>
              <p:cNvCxnSpPr>
                <a:stCxn id="95" idx="0"/>
              </p:cNvCxnSpPr>
              <p:nvPr/>
            </p:nvCxnSpPr>
            <p:spPr>
              <a:xfrm flipV="1">
                <a:off x="5957673" y="4298591"/>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2" name="Straight Arrow Connector 101"/>
              <p:cNvCxnSpPr>
                <a:stCxn id="92" idx="0"/>
                <a:endCxn id="94" idx="2"/>
              </p:cNvCxnSpPr>
              <p:nvPr/>
            </p:nvCxnSpPr>
            <p:spPr>
              <a:xfrm flipH="1" flipV="1">
                <a:off x="4613581" y="5271530"/>
                <a:ext cx="77" cy="38540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103" name="Straight Arrow Connector 102"/>
              <p:cNvCxnSpPr>
                <a:stCxn id="93" idx="0"/>
                <a:endCxn id="95" idx="2"/>
              </p:cNvCxnSpPr>
              <p:nvPr/>
            </p:nvCxnSpPr>
            <p:spPr>
              <a:xfrm flipH="1" flipV="1">
                <a:off x="5957673" y="5271530"/>
                <a:ext cx="3923" cy="378930"/>
              </a:xfrm>
              <a:prstGeom prst="straightConnector1">
                <a:avLst/>
              </a:prstGeom>
              <a:noFill/>
              <a:ln w="9525" cap="flat" cmpd="sng" algn="ctr">
                <a:solidFill>
                  <a:srgbClr val="002060"/>
                </a:solidFill>
                <a:prstDash val="solid"/>
                <a:headEnd type="triangle" w="med" len="med"/>
                <a:tailEnd type="triangle" w="med" len="med"/>
              </a:ln>
              <a:effectLst/>
            </p:spPr>
          </p:cxnSp>
          <p:sp>
            <p:nvSpPr>
              <p:cNvPr id="104" name="Rounded Rectangle 103"/>
              <p:cNvSpPr/>
              <p:nvPr/>
            </p:nvSpPr>
            <p:spPr>
              <a:xfrm>
                <a:off x="3888910" y="1462232"/>
                <a:ext cx="2489008" cy="2040880"/>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Congestion control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Road maintenance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Environment control</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Calibri"/>
                  <a:ea typeface="+mn-ea"/>
                  <a:cs typeface="+mn-cs"/>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End-user applications</a:t>
                </a:r>
              </a:p>
              <a:p>
                <a:pPr marL="0" marR="0" lvl="0" indent="0" defTabSz="914400" eaLnBrk="1" fontAlgn="auto" latinLnBrk="0" hangingPunct="1">
                  <a:lnSpc>
                    <a:spcPct val="100000"/>
                  </a:lnSpc>
                  <a:spcBef>
                    <a:spcPts val="0"/>
                  </a:spcBef>
                  <a:spcAft>
                    <a:spcPts val="0"/>
                  </a:spcAft>
                  <a:buClrTx/>
                  <a:buSzTx/>
                  <a:buFontTx/>
                  <a:buNone/>
                  <a:tabLst/>
                  <a:defRPr/>
                </a:pPr>
                <a:r>
                  <a:rPr lang="en-US" sz="1400" b="0" kern="0" dirty="0">
                    <a:solidFill>
                      <a:prstClr val="black"/>
                    </a:solidFill>
                    <a:latin typeface="Calibri"/>
                  </a:rPr>
                  <a:t>Car sharing</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black"/>
                    </a:solidFill>
                    <a:effectLst/>
                    <a:uLnTx/>
                    <a:uFillTx/>
                    <a:latin typeface="Calibri"/>
                    <a:ea typeface="+mn-ea"/>
                    <a:cs typeface="+mn-cs"/>
                  </a:rPr>
                  <a:t>Event management</a:t>
                </a:r>
                <a:endParaRPr kumimoji="0" lang="nl-NL" sz="1400" b="0" i="0" u="none" strike="noStrike" kern="0" cap="none" spc="0" normalizeH="0" baseline="0" noProof="0" dirty="0">
                  <a:ln>
                    <a:noFill/>
                  </a:ln>
                  <a:solidFill>
                    <a:prstClr val="black"/>
                  </a:solidFill>
                  <a:effectLst/>
                  <a:uLnTx/>
                  <a:uFillTx/>
                  <a:latin typeface="Calibri"/>
                  <a:ea typeface="+mn-ea"/>
                  <a:cs typeface="+mn-cs"/>
                </a:endParaRPr>
              </a:p>
            </p:txBody>
          </p:sp>
        </p:grpSp>
        <p:grpSp>
          <p:nvGrpSpPr>
            <p:cNvPr id="61" name="Group 60"/>
            <p:cNvGrpSpPr/>
            <p:nvPr/>
          </p:nvGrpSpPr>
          <p:grpSpPr>
            <a:xfrm>
              <a:off x="2880391" y="2316090"/>
              <a:ext cx="2446798" cy="3045444"/>
              <a:chOff x="4741846" y="1398706"/>
              <a:chExt cx="4046148" cy="4971214"/>
            </a:xfrm>
          </p:grpSpPr>
          <p:pic>
            <p:nvPicPr>
              <p:cNvPr id="79" name="Picture 7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274803" y="5678644"/>
                <a:ext cx="1152128" cy="69127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80" name="Picture 7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09616" y="5672174"/>
                <a:ext cx="1178378" cy="69774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81" name="Rounded Rectangle 80"/>
              <p:cNvSpPr/>
              <p:nvPr/>
            </p:nvSpPr>
            <p:spPr>
              <a:xfrm>
                <a:off x="6274726" y="4608335"/>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sp>
            <p:nvSpPr>
              <p:cNvPr id="82" name="Rounded Rectangle 81"/>
              <p:cNvSpPr/>
              <p:nvPr/>
            </p:nvSpPr>
            <p:spPr>
              <a:xfrm>
                <a:off x="7618818" y="4608335"/>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pic>
            <p:nvPicPr>
              <p:cNvPr id="83" name="Picture 8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477377" y="1973028"/>
                <a:ext cx="2571573" cy="1598654"/>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84" name="Rounded Rectangle 83"/>
              <p:cNvSpPr/>
              <p:nvPr/>
            </p:nvSpPr>
            <p:spPr>
              <a:xfrm>
                <a:off x="4741846" y="3862252"/>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V2V network</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85" name="Straight Arrow Connector 84"/>
              <p:cNvCxnSpPr>
                <a:stCxn id="84" idx="0"/>
                <a:endCxn id="83" idx="2"/>
              </p:cNvCxnSpPr>
              <p:nvPr/>
            </p:nvCxnSpPr>
            <p:spPr>
              <a:xfrm flipH="1" flipV="1">
                <a:off x="6763164" y="3571682"/>
                <a:ext cx="1" cy="29057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6" name="Straight Arrow Connector 85"/>
              <p:cNvCxnSpPr>
                <a:stCxn id="81" idx="0"/>
              </p:cNvCxnSpPr>
              <p:nvPr/>
            </p:nvCxnSpPr>
            <p:spPr>
              <a:xfrm flipV="1">
                <a:off x="6850790" y="4320305"/>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7" name="Straight Arrow Connector 86"/>
              <p:cNvCxnSpPr>
                <a:stCxn id="82" idx="0"/>
              </p:cNvCxnSpPr>
              <p:nvPr/>
            </p:nvCxnSpPr>
            <p:spPr>
              <a:xfrm flipV="1">
                <a:off x="8194882" y="4320305"/>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8" name="Straight Arrow Connector 87"/>
              <p:cNvCxnSpPr>
                <a:stCxn id="79" idx="0"/>
                <a:endCxn id="81" idx="2"/>
              </p:cNvCxnSpPr>
              <p:nvPr/>
            </p:nvCxnSpPr>
            <p:spPr>
              <a:xfrm flipH="1" flipV="1">
                <a:off x="6850790" y="5293244"/>
                <a:ext cx="77" cy="38540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89" name="Straight Arrow Connector 88"/>
              <p:cNvCxnSpPr>
                <a:stCxn id="80" idx="0"/>
                <a:endCxn id="82" idx="2"/>
              </p:cNvCxnSpPr>
              <p:nvPr/>
            </p:nvCxnSpPr>
            <p:spPr>
              <a:xfrm flipH="1" flipV="1">
                <a:off x="8194882" y="5293244"/>
                <a:ext cx="3923" cy="378930"/>
              </a:xfrm>
              <a:prstGeom prst="straightConnector1">
                <a:avLst/>
              </a:prstGeom>
              <a:noFill/>
              <a:ln w="9525" cap="flat" cmpd="sng" algn="ctr">
                <a:solidFill>
                  <a:srgbClr val="002060"/>
                </a:solidFill>
                <a:prstDash val="solid"/>
                <a:headEnd type="triangle" w="med" len="med"/>
                <a:tailEnd type="triangle" w="med" len="med"/>
              </a:ln>
              <a:effectLst/>
            </p:spPr>
          </p:cxnSp>
          <p:sp>
            <p:nvSpPr>
              <p:cNvPr id="90" name="Rounded Rectangle 89"/>
              <p:cNvSpPr/>
              <p:nvPr/>
            </p:nvSpPr>
            <p:spPr>
              <a:xfrm>
                <a:off x="5518661" y="1398706"/>
                <a:ext cx="2489008" cy="504056"/>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0" u="none" strike="noStrike" kern="0" cap="none" spc="0" normalizeH="0" baseline="0" noProof="0" dirty="0">
                    <a:ln>
                      <a:noFill/>
                    </a:ln>
                    <a:solidFill>
                      <a:prstClr val="black"/>
                    </a:solidFill>
                    <a:effectLst/>
                    <a:uLnTx/>
                    <a:uFillTx/>
                    <a:latin typeface="Calibri"/>
                    <a:ea typeface="+mn-ea"/>
                    <a:cs typeface="+mn-cs"/>
                  </a:rPr>
                  <a:t>Accident prevention</a:t>
                </a:r>
                <a:endParaRPr kumimoji="0" lang="nl-NL" sz="11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91" name="Straight Arrow Connector 90"/>
              <p:cNvCxnSpPr/>
              <p:nvPr/>
            </p:nvCxnSpPr>
            <p:spPr>
              <a:xfrm flipV="1">
                <a:off x="5181051" y="4320304"/>
                <a:ext cx="9337" cy="288030"/>
              </a:xfrm>
              <a:prstGeom prst="straightConnector1">
                <a:avLst/>
              </a:prstGeom>
              <a:noFill/>
              <a:ln w="9525" cap="flat" cmpd="sng" algn="ctr">
                <a:solidFill>
                  <a:srgbClr val="002060"/>
                </a:solidFill>
                <a:prstDash val="solid"/>
                <a:headEnd type="triangle" w="med" len="med"/>
                <a:tailEnd type="triangle" w="med" len="med"/>
              </a:ln>
              <a:effectLst/>
            </p:spPr>
          </p:cxnSp>
        </p:grpSp>
        <p:grpSp>
          <p:nvGrpSpPr>
            <p:cNvPr id="62" name="Group 61"/>
            <p:cNvGrpSpPr/>
            <p:nvPr/>
          </p:nvGrpSpPr>
          <p:grpSpPr>
            <a:xfrm>
              <a:off x="2115726" y="4282360"/>
              <a:ext cx="1951990" cy="2457029"/>
              <a:chOff x="287524" y="1587523"/>
              <a:chExt cx="4075309" cy="5089976"/>
            </a:xfrm>
          </p:grpSpPr>
          <p:pic>
            <p:nvPicPr>
              <p:cNvPr id="63" name="Picture 6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853153" y="5780110"/>
                <a:ext cx="1152128" cy="865979"/>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64" name="Picture 6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87524" y="5762458"/>
                <a:ext cx="1224136" cy="91504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pic>
            <p:nvPicPr>
              <p:cNvPr id="65" name="Picture 64"/>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347864" y="5760605"/>
                <a:ext cx="850736" cy="850736"/>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66" name="Rounded Rectangle 65"/>
              <p:cNvSpPr/>
              <p:nvPr/>
            </p:nvSpPr>
            <p:spPr>
              <a:xfrm>
                <a:off x="323528"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sp>
            <p:nvSpPr>
              <p:cNvPr id="67" name="Rounded Rectangle 66"/>
              <p:cNvSpPr/>
              <p:nvPr/>
            </p:nvSpPr>
            <p:spPr>
              <a:xfrm>
                <a:off x="1853076"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sp>
            <p:nvSpPr>
              <p:cNvPr id="68" name="Rounded Rectangle 67"/>
              <p:cNvSpPr/>
              <p:nvPr/>
            </p:nvSpPr>
            <p:spPr>
              <a:xfrm>
                <a:off x="3197168" y="4797152"/>
                <a:ext cx="1152128" cy="684909"/>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Local </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pic>
            <p:nvPicPr>
              <p:cNvPr id="69" name="Picture 68"/>
              <p:cNvPicPr>
                <a:picLocks noChangeAspect="1"/>
              </p:cNvPicPr>
              <p:nvPr/>
            </p:nvPicPr>
            <p:blipFill rotWithShape="1">
              <a:blip r:embed="rId11" cstate="print">
                <a:extLst>
                  <a:ext uri="{28A0092B-C50C-407E-A947-70E740481C1C}">
                    <a14:useLocalDpi xmlns:a14="http://schemas.microsoft.com/office/drawing/2010/main" val="0"/>
                  </a:ext>
                </a:extLst>
              </a:blip>
              <a:srcRect t="15410" b="16096"/>
              <a:stretch/>
            </p:blipFill>
            <p:spPr>
              <a:xfrm>
                <a:off x="1205022" y="2147775"/>
                <a:ext cx="2272983" cy="1600341"/>
              </a:xfrm>
              <a:prstGeom prst="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pic>
          <p:sp>
            <p:nvSpPr>
              <p:cNvPr id="70" name="Rounded Rectangle 69"/>
              <p:cNvSpPr/>
              <p:nvPr/>
            </p:nvSpPr>
            <p:spPr>
              <a:xfrm>
                <a:off x="320196" y="4051069"/>
                <a:ext cx="4042637" cy="458052"/>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In-car network</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71" name="Straight Arrow Connector 70"/>
              <p:cNvCxnSpPr>
                <a:stCxn id="70" idx="0"/>
                <a:endCxn id="69" idx="2"/>
              </p:cNvCxnSpPr>
              <p:nvPr/>
            </p:nvCxnSpPr>
            <p:spPr>
              <a:xfrm flipV="1">
                <a:off x="2341515" y="3748116"/>
                <a:ext cx="0" cy="302953"/>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2" name="Straight Arrow Connector 71"/>
              <p:cNvCxnSpPr>
                <a:stCxn id="66" idx="0"/>
              </p:cNvCxnSpPr>
              <p:nvPr/>
            </p:nvCxnSpPr>
            <p:spPr>
              <a:xfrm flipV="1">
                <a:off x="899592" y="4509121"/>
                <a:ext cx="0" cy="288031"/>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3" name="Straight Arrow Connector 72"/>
              <p:cNvCxnSpPr>
                <a:stCxn id="67" idx="0"/>
              </p:cNvCxnSpPr>
              <p:nvPr/>
            </p:nvCxnSpPr>
            <p:spPr>
              <a:xfrm flipV="1">
                <a:off x="2429140" y="4509122"/>
                <a:ext cx="9337"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4" name="Straight Arrow Connector 73"/>
              <p:cNvCxnSpPr>
                <a:stCxn id="68" idx="0"/>
              </p:cNvCxnSpPr>
              <p:nvPr/>
            </p:nvCxnSpPr>
            <p:spPr>
              <a:xfrm flipV="1">
                <a:off x="3773232" y="4509122"/>
                <a:ext cx="0" cy="288030"/>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5" name="Straight Arrow Connector 74"/>
              <p:cNvCxnSpPr>
                <a:stCxn id="64" idx="0"/>
                <a:endCxn id="66" idx="2"/>
              </p:cNvCxnSpPr>
              <p:nvPr/>
            </p:nvCxnSpPr>
            <p:spPr>
              <a:xfrm flipV="1">
                <a:off x="899592" y="5482061"/>
                <a:ext cx="0" cy="280397"/>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6" name="Straight Arrow Connector 75"/>
              <p:cNvCxnSpPr>
                <a:stCxn id="63" idx="0"/>
                <a:endCxn id="67" idx="2"/>
              </p:cNvCxnSpPr>
              <p:nvPr/>
            </p:nvCxnSpPr>
            <p:spPr>
              <a:xfrm flipH="1" flipV="1">
                <a:off x="2429140" y="5482061"/>
                <a:ext cx="77" cy="298049"/>
              </a:xfrm>
              <a:prstGeom prst="straightConnector1">
                <a:avLst/>
              </a:prstGeom>
              <a:noFill/>
              <a:ln w="9525" cap="flat" cmpd="sng" algn="ctr">
                <a:solidFill>
                  <a:srgbClr val="002060"/>
                </a:solidFill>
                <a:prstDash val="solid"/>
                <a:headEnd type="triangle" w="med" len="med"/>
                <a:tailEnd type="triangle" w="med" len="med"/>
              </a:ln>
              <a:effectLst/>
            </p:spPr>
          </p:cxnSp>
          <p:cxnSp>
            <p:nvCxnSpPr>
              <p:cNvPr id="77" name="Straight Arrow Connector 76"/>
              <p:cNvCxnSpPr>
                <a:stCxn id="65" idx="0"/>
                <a:endCxn id="68" idx="2"/>
              </p:cNvCxnSpPr>
              <p:nvPr/>
            </p:nvCxnSpPr>
            <p:spPr>
              <a:xfrm flipV="1">
                <a:off x="3773232" y="5482061"/>
                <a:ext cx="0" cy="278544"/>
              </a:xfrm>
              <a:prstGeom prst="straightConnector1">
                <a:avLst/>
              </a:prstGeom>
              <a:noFill/>
              <a:ln w="9525" cap="flat" cmpd="sng" algn="ctr">
                <a:solidFill>
                  <a:srgbClr val="002060"/>
                </a:solidFill>
                <a:prstDash val="solid"/>
                <a:headEnd type="triangle" w="med" len="med"/>
                <a:tailEnd type="triangle" w="med" len="med"/>
              </a:ln>
              <a:effectLst/>
            </p:spPr>
          </p:cxnSp>
          <p:sp>
            <p:nvSpPr>
              <p:cNvPr id="78" name="Rounded Rectangle 77"/>
              <p:cNvSpPr/>
              <p:nvPr/>
            </p:nvSpPr>
            <p:spPr>
              <a:xfrm>
                <a:off x="1097011" y="1587523"/>
                <a:ext cx="2489008" cy="504056"/>
              </a:xfrm>
              <a:prstGeom prst="roundRect">
                <a:avLst/>
              </a:prstGeom>
              <a:gradFill rotWithShape="1">
                <a:gsLst>
                  <a:gs pos="0">
                    <a:sysClr val="windowText" lastClr="000000">
                      <a:tint val="50000"/>
                      <a:satMod val="300000"/>
                    </a:sysClr>
                  </a:gs>
                  <a:gs pos="35000">
                    <a:sysClr val="windowText" lastClr="000000">
                      <a:tint val="37000"/>
                      <a:satMod val="300000"/>
                    </a:sysClr>
                  </a:gs>
                  <a:gs pos="100000">
                    <a:sysClr val="windowText" lastClr="000000">
                      <a:tint val="15000"/>
                      <a:satMod val="350000"/>
                    </a:sysClr>
                  </a:gs>
                </a:gsLst>
                <a:lin ang="16200000" scaled="1"/>
              </a:gradFill>
              <a:ln w="9525" cap="flat" cmpd="sng" algn="ctr">
                <a:solidFill>
                  <a:sysClr val="windowText" lastClr="000000">
                    <a:shade val="95000"/>
                    <a:satMod val="105000"/>
                  </a:sysClr>
                </a:solidFill>
                <a:prstDash val="solid"/>
              </a:ln>
              <a:effectLst>
                <a:outerShdw blurRad="40000" dist="20000" dir="5400000" rotWithShape="0">
                  <a:srgbClr val="000000">
                    <a:alpha val="38000"/>
                  </a:srgb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Driver</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prstClr val="black"/>
                    </a:solidFill>
                    <a:effectLst/>
                    <a:uLnTx/>
                    <a:uFillTx/>
                    <a:latin typeface="Calibri"/>
                    <a:ea typeface="+mn-ea"/>
                    <a:cs typeface="+mn-cs"/>
                  </a:rPr>
                  <a:t>Control</a:t>
                </a:r>
                <a:endParaRPr kumimoji="0" lang="nl-NL" sz="800" b="0" i="0" u="none" strike="noStrike" kern="0" cap="none" spc="0" normalizeH="0" baseline="0" noProof="0" dirty="0">
                  <a:ln>
                    <a:noFill/>
                  </a:ln>
                  <a:solidFill>
                    <a:prstClr val="black"/>
                  </a:solidFill>
                  <a:effectLst/>
                  <a:uLnTx/>
                  <a:uFillTx/>
                  <a:latin typeface="Calibri"/>
                  <a:ea typeface="+mn-ea"/>
                  <a:cs typeface="+mn-cs"/>
                </a:endParaRPr>
              </a:p>
            </p:txBody>
          </p:sp>
        </p:grpSp>
      </p:grpSp>
      <p:cxnSp>
        <p:nvCxnSpPr>
          <p:cNvPr id="105" name="Straight Arrow Connector 104"/>
          <p:cNvCxnSpPr/>
          <p:nvPr/>
        </p:nvCxnSpPr>
        <p:spPr>
          <a:xfrm flipV="1">
            <a:off x="4724400" y="801684"/>
            <a:ext cx="1284053" cy="4822844"/>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6" name="Straight Arrow Connector 105"/>
          <p:cNvCxnSpPr/>
          <p:nvPr/>
        </p:nvCxnSpPr>
        <p:spPr>
          <a:xfrm flipH="1">
            <a:off x="5554444" y="4008014"/>
            <a:ext cx="1272884" cy="1616513"/>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7" name="Straight Arrow Connector 106"/>
          <p:cNvCxnSpPr/>
          <p:nvPr/>
        </p:nvCxnSpPr>
        <p:spPr>
          <a:xfrm flipH="1">
            <a:off x="6062935" y="801684"/>
            <a:ext cx="127951" cy="3694116"/>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cxnSp>
        <p:nvCxnSpPr>
          <p:cNvPr id="108" name="Straight Arrow Connector 107"/>
          <p:cNvCxnSpPr/>
          <p:nvPr/>
        </p:nvCxnSpPr>
        <p:spPr>
          <a:xfrm>
            <a:off x="5611729" y="4008014"/>
            <a:ext cx="181647" cy="560074"/>
          </a:xfrm>
          <a:prstGeom prst="straightConnector1">
            <a:avLst/>
          </a:prstGeom>
          <a:noFill/>
          <a:ln w="38100" cap="flat" cmpd="sng" algn="ctr">
            <a:solidFill>
              <a:srgbClr val="4F81BD"/>
            </a:solidFill>
            <a:prstDash val="sysDash"/>
            <a:tailEnd type="arrow"/>
          </a:ln>
          <a:effectLst>
            <a:outerShdw blurRad="40000" dist="23000" dir="5400000" rotWithShape="0">
              <a:srgbClr val="000000">
                <a:alpha val="35000"/>
              </a:srgbClr>
            </a:outerShdw>
          </a:effectLst>
        </p:spPr>
      </p:cxnSp>
      <p:sp>
        <p:nvSpPr>
          <p:cNvPr id="109" name="Rectangle 108"/>
          <p:cNvSpPr/>
          <p:nvPr/>
        </p:nvSpPr>
        <p:spPr>
          <a:xfrm>
            <a:off x="6796250" y="3821668"/>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(2)</a:t>
            </a:r>
          </a:p>
        </p:txBody>
      </p:sp>
      <p:sp>
        <p:nvSpPr>
          <p:cNvPr id="110" name="Rectangle 109"/>
          <p:cNvSpPr/>
          <p:nvPr/>
        </p:nvSpPr>
        <p:spPr>
          <a:xfrm>
            <a:off x="5500850" y="1383268"/>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(1)</a:t>
            </a:r>
          </a:p>
        </p:txBody>
      </p:sp>
      <p:sp>
        <p:nvSpPr>
          <p:cNvPr id="111" name="Rectangle 110"/>
          <p:cNvSpPr/>
          <p:nvPr/>
        </p:nvSpPr>
        <p:spPr>
          <a:xfrm>
            <a:off x="5334000" y="3657600"/>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(4)</a:t>
            </a:r>
          </a:p>
        </p:txBody>
      </p:sp>
      <p:sp>
        <p:nvSpPr>
          <p:cNvPr id="112" name="Rectangle 111"/>
          <p:cNvSpPr/>
          <p:nvPr/>
        </p:nvSpPr>
        <p:spPr>
          <a:xfrm>
            <a:off x="6110450" y="1421050"/>
            <a:ext cx="442750" cy="369332"/>
          </a:xfrm>
          <a:prstGeom prst="rect">
            <a:avLst/>
          </a:prstGeom>
          <a:noFill/>
        </p:spPr>
        <p:txBody>
          <a:bodyPr wrap="none">
            <a:spAutoFit/>
          </a:bodyPr>
          <a:lstStyle/>
          <a:p>
            <a:pPr algn="l" eaLnBrk="1" fontAlgn="auto" hangingPunct="1">
              <a:spcBef>
                <a:spcPts val="0"/>
              </a:spcBef>
              <a:spcAft>
                <a:spcPts val="0"/>
              </a:spcAft>
              <a:buClrTx/>
            </a:pPr>
            <a:r>
              <a:rPr lang="en-US" sz="1800" b="0" dirty="0">
                <a:solidFill>
                  <a:prstClr val="black"/>
                </a:solidFill>
                <a:latin typeface="Calibri"/>
              </a:rPr>
              <a:t>(3)</a:t>
            </a:r>
          </a:p>
        </p:txBody>
      </p:sp>
      <p:sp>
        <p:nvSpPr>
          <p:cNvPr id="115" name="Content Placeholder 14"/>
          <p:cNvSpPr txBox="1">
            <a:spLocks/>
          </p:cNvSpPr>
          <p:nvPr/>
        </p:nvSpPr>
        <p:spPr>
          <a:xfrm>
            <a:off x="0" y="1293658"/>
            <a:ext cx="4576176" cy="4525963"/>
          </a:xfrm>
          <a:prstGeom prst="rect">
            <a:avLst/>
          </a:prstGeom>
        </p:spPr>
        <p:txBody>
          <a:bodyPr>
            <a:normAutofit/>
          </a:bodyPr>
          <a:lstStyle>
            <a:lvl1pPr marL="342900" indent="-342900" algn="l" rtl="0" eaLnBrk="0" fontAlgn="base" hangingPunct="0">
              <a:spcBef>
                <a:spcPct val="20000"/>
              </a:spcBef>
              <a:spcAft>
                <a:spcPct val="0"/>
              </a:spcAft>
              <a:buClr>
                <a:srgbClr val="FF0000"/>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
              <a:defRPr sz="2400">
                <a:solidFill>
                  <a:schemeClr val="accent2"/>
                </a:solidFill>
                <a:latin typeface="+mn-lt"/>
              </a:defRPr>
            </a:lvl2pPr>
            <a:lvl3pPr marL="1143000" indent="-228600" algn="l" rtl="0" eaLnBrk="0" fontAlgn="base" hangingPunct="0">
              <a:spcBef>
                <a:spcPct val="20000"/>
              </a:spcBef>
              <a:spcAft>
                <a:spcPct val="0"/>
              </a:spcAft>
              <a:buChar char="•"/>
              <a:defRPr sz="2000">
                <a:solidFill>
                  <a:schemeClr val="tx1"/>
                </a:solidFill>
                <a:latin typeface="+mn-lt"/>
              </a:defRPr>
            </a:lvl3pPr>
            <a:lvl4pPr marL="1562100" indent="-228600" algn="l" rtl="0" eaLnBrk="0" fontAlgn="base" hangingPunct="0">
              <a:spcBef>
                <a:spcPct val="20000"/>
              </a:spcBef>
              <a:spcAft>
                <a:spcPct val="0"/>
              </a:spcAft>
              <a:buChar char="–"/>
              <a:defRPr sz="2000">
                <a:solidFill>
                  <a:schemeClr val="tx1"/>
                </a:solidFill>
                <a:latin typeface="+mn-lt"/>
              </a:defRPr>
            </a:lvl4pPr>
            <a:lvl5pPr marL="1981200" indent="-228600" algn="l" rtl="0" eaLnBrk="0" fontAlgn="base" hangingPunct="0">
              <a:spcBef>
                <a:spcPct val="20000"/>
              </a:spcBef>
              <a:spcAft>
                <a:spcPct val="0"/>
              </a:spcAft>
              <a:buChar char="»"/>
              <a:defRPr sz="2000">
                <a:solidFill>
                  <a:schemeClr val="tx1"/>
                </a:solidFill>
                <a:latin typeface="+mn-lt"/>
              </a:defRPr>
            </a:lvl5pPr>
            <a:lvl6pPr marL="2438400" indent="-228600" algn="l" rtl="0" eaLnBrk="0" fontAlgn="base" hangingPunct="0">
              <a:spcBef>
                <a:spcPct val="20000"/>
              </a:spcBef>
              <a:spcAft>
                <a:spcPct val="0"/>
              </a:spcAft>
              <a:buChar char="»"/>
              <a:defRPr sz="2000">
                <a:solidFill>
                  <a:schemeClr val="tx1"/>
                </a:solidFill>
                <a:latin typeface="+mn-lt"/>
              </a:defRPr>
            </a:lvl6pPr>
            <a:lvl7pPr marL="2895600" indent="-228600" algn="l" rtl="0" eaLnBrk="0" fontAlgn="base" hangingPunct="0">
              <a:spcBef>
                <a:spcPct val="20000"/>
              </a:spcBef>
              <a:spcAft>
                <a:spcPct val="0"/>
              </a:spcAft>
              <a:buChar char="»"/>
              <a:defRPr sz="2000">
                <a:solidFill>
                  <a:schemeClr val="tx1"/>
                </a:solidFill>
                <a:latin typeface="+mn-lt"/>
              </a:defRPr>
            </a:lvl7pPr>
            <a:lvl8pPr marL="3352800" indent="-228600" algn="l" rtl="0" eaLnBrk="0" fontAlgn="base" hangingPunct="0">
              <a:spcBef>
                <a:spcPct val="20000"/>
              </a:spcBef>
              <a:spcAft>
                <a:spcPct val="0"/>
              </a:spcAft>
              <a:buChar char="»"/>
              <a:defRPr sz="2000">
                <a:solidFill>
                  <a:schemeClr val="tx1"/>
                </a:solidFill>
                <a:latin typeface="+mn-lt"/>
              </a:defRPr>
            </a:lvl8pPr>
            <a:lvl9pPr marL="3810000" indent="-228600" algn="l" rtl="0" eaLnBrk="0" fontAlgn="base" hangingPunct="0">
              <a:spcBef>
                <a:spcPct val="20000"/>
              </a:spcBef>
              <a:spcAft>
                <a:spcPct val="0"/>
              </a:spcAft>
              <a:buChar char="»"/>
              <a:defRPr sz="2000">
                <a:solidFill>
                  <a:schemeClr val="tx1"/>
                </a:solidFill>
                <a:latin typeface="+mn-lt"/>
              </a:defRPr>
            </a:lvl9pPr>
          </a:lstStyle>
          <a:p>
            <a:r>
              <a:rPr lang="en-US" sz="2000" b="0" kern="0" dirty="0"/>
              <a:t>Example data flows:</a:t>
            </a:r>
          </a:p>
          <a:p>
            <a:pPr lvl="1"/>
            <a:r>
              <a:rPr lang="en-US" sz="1800" b="0" kern="0" dirty="0"/>
              <a:t>(1) gather detailed driving data to determine</a:t>
            </a:r>
          </a:p>
          <a:p>
            <a:pPr lvl="2">
              <a:buClrTx/>
            </a:pPr>
            <a:r>
              <a:rPr lang="en-US" sz="1600" b="0" kern="0" dirty="0"/>
              <a:t>local weather</a:t>
            </a:r>
          </a:p>
          <a:p>
            <a:pPr lvl="2">
              <a:buClrTx/>
            </a:pPr>
            <a:r>
              <a:rPr lang="en-US" sz="1600" b="0" kern="0" dirty="0"/>
              <a:t>road condition</a:t>
            </a:r>
          </a:p>
          <a:p>
            <a:pPr lvl="1"/>
            <a:endParaRPr lang="en-US" sz="1800" b="0" kern="0" dirty="0"/>
          </a:p>
          <a:p>
            <a:pPr lvl="1"/>
            <a:r>
              <a:rPr lang="en-US" sz="1800" b="0" kern="0" dirty="0"/>
              <a:t>(2) accident prevention by direct intervention</a:t>
            </a:r>
          </a:p>
          <a:p>
            <a:pPr lvl="1"/>
            <a:endParaRPr lang="en-US" sz="1800" b="0" kern="0" dirty="0"/>
          </a:p>
          <a:p>
            <a:pPr lvl="1"/>
            <a:r>
              <a:rPr lang="en-US" sz="1800" b="0" kern="0" dirty="0"/>
              <a:t>(3),(4) informing driver </a:t>
            </a:r>
            <a:br>
              <a:rPr lang="en-US" sz="1800" b="0" kern="0" dirty="0"/>
            </a:br>
            <a:r>
              <a:rPr lang="en-US" sz="1800" b="0" kern="0" dirty="0"/>
              <a:t>about upcoming road conditions</a:t>
            </a:r>
          </a:p>
        </p:txBody>
      </p:sp>
    </p:spTree>
    <p:extLst>
      <p:ext uri="{BB962C8B-B14F-4D97-AF65-F5344CB8AC3E}">
        <p14:creationId xmlns:p14="http://schemas.microsoft.com/office/powerpoint/2010/main" val="1462811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5">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p:bldP spid="110" grpId="0"/>
      <p:bldP spid="111" grpId="0"/>
      <p:bldP spid="112" grpId="0"/>
      <p:bldP spid="115"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A347DBBF-0BB6-44B8-BD17-CB87CF22885F}" type="slidenum">
              <a:rPr lang="en-US" smtClean="0"/>
              <a:pPr>
                <a:defRPr/>
              </a:pPr>
              <a:t>16</a:t>
            </a:fld>
            <a:endParaRPr lang="en-US" dirty="0"/>
          </a:p>
        </p:txBody>
      </p:sp>
      <p:sp>
        <p:nvSpPr>
          <p:cNvPr id="8197" name="Text Box 2"/>
          <p:cNvSpPr txBox="1">
            <a:spLocks noChangeArrowheads="1"/>
          </p:cNvSpPr>
          <p:nvPr/>
        </p:nvSpPr>
        <p:spPr bwMode="auto">
          <a:xfrm>
            <a:off x="323850" y="188913"/>
            <a:ext cx="5905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buChar char="•"/>
              <a:defRPr sz="2800">
                <a:solidFill>
                  <a:schemeClr val="tx1"/>
                </a:solidFill>
                <a:latin typeface="Arial" charset="0"/>
              </a:defRPr>
            </a:lvl1pPr>
            <a:lvl2pPr marL="742950" indent="-285750" algn="l">
              <a:buChar char="–"/>
              <a:defRPr sz="2400">
                <a:solidFill>
                  <a:schemeClr val="accent2"/>
                </a:solidFill>
                <a:latin typeface="Arial" charset="0"/>
              </a:defRPr>
            </a:lvl2pPr>
            <a:lvl3pPr marL="1143000" indent="-228600" algn="l">
              <a:buChar char="•"/>
              <a:defRPr sz="2000">
                <a:solidFill>
                  <a:schemeClr val="tx1"/>
                </a:solidFill>
                <a:latin typeface="Arial" charset="0"/>
              </a:defRPr>
            </a:lvl3pPr>
            <a:lvl4pPr marL="1600200" indent="-228600" algn="l">
              <a:buChar char="–"/>
              <a:defRPr sz="2000">
                <a:solidFill>
                  <a:schemeClr val="tx1"/>
                </a:solidFill>
                <a:latin typeface="Arial" charset="0"/>
              </a:defRPr>
            </a:lvl4pPr>
            <a:lvl5pPr marL="2057400" indent="-228600" algn="l">
              <a:buChar char="»"/>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ClrTx/>
              <a:buFontTx/>
              <a:buNone/>
            </a:pPr>
            <a:r>
              <a:rPr lang="en-GB" altLang="en-US" sz="2400" b="0" i="1">
                <a:solidFill>
                  <a:srgbClr val="000000"/>
                </a:solidFill>
              </a:rPr>
              <a:t>Physical organization in V2V</a:t>
            </a:r>
          </a:p>
        </p:txBody>
      </p:sp>
      <p:sp>
        <p:nvSpPr>
          <p:cNvPr id="494" name="AutoShape 115"/>
          <p:cNvSpPr>
            <a:spLocks noChangeArrowheads="1"/>
          </p:cNvSpPr>
          <p:nvPr/>
        </p:nvSpPr>
        <p:spPr bwMode="auto">
          <a:xfrm>
            <a:off x="361950" y="4451350"/>
            <a:ext cx="5157788" cy="1743075"/>
          </a:xfrm>
          <a:prstGeom prst="flowChartInputOutput">
            <a:avLst/>
          </a:prstGeom>
          <a:solidFill>
            <a:srgbClr val="333DFF">
              <a:alpha val="20000"/>
            </a:srgbClr>
          </a:solidFill>
          <a:ln w="9525">
            <a:solidFill>
              <a:srgbClr val="000000"/>
            </a:solidFill>
            <a:miter lim="800000"/>
            <a:headEnd/>
            <a:tailEnd/>
          </a:ln>
        </p:spPr>
        <p:txBody>
          <a:bodyPr wrap="none" anchor="ctr"/>
          <a:lstStyle/>
          <a:p>
            <a:pPr eaLnBrk="1" fontAlgn="auto" hangingPunct="1">
              <a:spcBef>
                <a:spcPct val="0"/>
              </a:spcBef>
              <a:spcAft>
                <a:spcPts val="0"/>
              </a:spcAft>
              <a:buClrTx/>
              <a:defRPr/>
            </a:pPr>
            <a:endParaRPr lang="en-US" sz="1800" b="0" kern="0">
              <a:solidFill>
                <a:srgbClr val="000000"/>
              </a:solidFill>
              <a:latin typeface="Arial" charset="0"/>
            </a:endParaRPr>
          </a:p>
        </p:txBody>
      </p:sp>
      <p:sp>
        <p:nvSpPr>
          <p:cNvPr id="8199" name="Freeform 120"/>
          <p:cNvSpPr>
            <a:spLocks/>
          </p:cNvSpPr>
          <p:nvPr/>
        </p:nvSpPr>
        <p:spPr bwMode="auto">
          <a:xfrm>
            <a:off x="1468438" y="4027488"/>
            <a:ext cx="182562" cy="1776412"/>
          </a:xfrm>
          <a:custGeom>
            <a:avLst/>
            <a:gdLst>
              <a:gd name="T0" fmla="*/ 2147483647 w 115"/>
              <a:gd name="T1" fmla="*/ 2147483647 h 1119"/>
              <a:gd name="T2" fmla="*/ 2147483647 w 115"/>
              <a:gd name="T3" fmla="*/ 2147483647 h 1119"/>
              <a:gd name="T4" fmla="*/ 0 w 115"/>
              <a:gd name="T5" fmla="*/ 0 h 1119"/>
              <a:gd name="T6" fmla="*/ 0 60000 65536"/>
              <a:gd name="T7" fmla="*/ 0 60000 65536"/>
              <a:gd name="T8" fmla="*/ 0 60000 65536"/>
              <a:gd name="T9" fmla="*/ 0 w 115"/>
              <a:gd name="T10" fmla="*/ 0 h 1119"/>
              <a:gd name="T11" fmla="*/ 115 w 115"/>
              <a:gd name="T12" fmla="*/ 1119 h 1119"/>
            </a:gdLst>
            <a:ahLst/>
            <a:cxnLst>
              <a:cxn ang="T6">
                <a:pos x="T0" y="T1"/>
              </a:cxn>
              <a:cxn ang="T7">
                <a:pos x="T2" y="T3"/>
              </a:cxn>
              <a:cxn ang="T8">
                <a:pos x="T4" y="T5"/>
              </a:cxn>
            </a:cxnLst>
            <a:rect l="T9" t="T10" r="T11" b="T12"/>
            <a:pathLst>
              <a:path w="115" h="1119">
                <a:moveTo>
                  <a:pt x="79" y="1119"/>
                </a:moveTo>
                <a:cubicBezTo>
                  <a:pt x="83" y="1018"/>
                  <a:pt x="115" y="696"/>
                  <a:pt x="102" y="510"/>
                </a:cubicBezTo>
                <a:cubicBezTo>
                  <a:pt x="89" y="324"/>
                  <a:pt x="21" y="106"/>
                  <a:pt x="0"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0" name="Freeform 121"/>
          <p:cNvSpPr>
            <a:spLocks/>
          </p:cNvSpPr>
          <p:nvPr/>
        </p:nvSpPr>
        <p:spPr bwMode="auto">
          <a:xfrm>
            <a:off x="1958975" y="4327525"/>
            <a:ext cx="366713" cy="823913"/>
          </a:xfrm>
          <a:custGeom>
            <a:avLst/>
            <a:gdLst>
              <a:gd name="T0" fmla="*/ 2147483647 w 231"/>
              <a:gd name="T1" fmla="*/ 2147483647 h 519"/>
              <a:gd name="T2" fmla="*/ 2147483647 w 231"/>
              <a:gd name="T3" fmla="*/ 2147483647 h 519"/>
              <a:gd name="T4" fmla="*/ 2147483647 w 231"/>
              <a:gd name="T5" fmla="*/ 0 h 519"/>
              <a:gd name="T6" fmla="*/ 0 60000 65536"/>
              <a:gd name="T7" fmla="*/ 0 60000 65536"/>
              <a:gd name="T8" fmla="*/ 0 60000 65536"/>
              <a:gd name="T9" fmla="*/ 0 w 231"/>
              <a:gd name="T10" fmla="*/ 0 h 519"/>
              <a:gd name="T11" fmla="*/ 231 w 231"/>
              <a:gd name="T12" fmla="*/ 519 h 519"/>
            </a:gdLst>
            <a:ahLst/>
            <a:cxnLst>
              <a:cxn ang="T6">
                <a:pos x="T0" y="T1"/>
              </a:cxn>
              <a:cxn ang="T7">
                <a:pos x="T2" y="T3"/>
              </a:cxn>
              <a:cxn ang="T8">
                <a:pos x="T4" y="T5"/>
              </a:cxn>
            </a:cxnLst>
            <a:rect l="T9" t="T10" r="T11" b="T12"/>
            <a:pathLst>
              <a:path w="231" h="519">
                <a:moveTo>
                  <a:pt x="231" y="519"/>
                </a:moveTo>
                <a:cubicBezTo>
                  <a:pt x="197" y="483"/>
                  <a:pt x="54" y="389"/>
                  <a:pt x="27" y="303"/>
                </a:cubicBezTo>
                <a:cubicBezTo>
                  <a:pt x="0" y="217"/>
                  <a:pt x="59" y="63"/>
                  <a:pt x="67"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1" name="Freeform 123"/>
          <p:cNvSpPr>
            <a:spLocks/>
          </p:cNvSpPr>
          <p:nvPr/>
        </p:nvSpPr>
        <p:spPr bwMode="auto">
          <a:xfrm>
            <a:off x="3206750" y="4246563"/>
            <a:ext cx="249238" cy="1203325"/>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2" name="Freeform 124"/>
          <p:cNvSpPr>
            <a:spLocks/>
          </p:cNvSpPr>
          <p:nvPr/>
        </p:nvSpPr>
        <p:spPr bwMode="auto">
          <a:xfrm>
            <a:off x="4367213" y="3611563"/>
            <a:ext cx="330200" cy="1409700"/>
          </a:xfrm>
          <a:custGeom>
            <a:avLst/>
            <a:gdLst>
              <a:gd name="T0" fmla="*/ 2147483647 w 241"/>
              <a:gd name="T1" fmla="*/ 2147483647 h 1027"/>
              <a:gd name="T2" fmla="*/ 2147483647 w 241"/>
              <a:gd name="T3" fmla="*/ 2147483647 h 1027"/>
              <a:gd name="T4" fmla="*/ 0 w 241"/>
              <a:gd name="T5" fmla="*/ 0 h 1027"/>
              <a:gd name="T6" fmla="*/ 0 60000 65536"/>
              <a:gd name="T7" fmla="*/ 0 60000 65536"/>
              <a:gd name="T8" fmla="*/ 0 60000 65536"/>
              <a:gd name="T9" fmla="*/ 0 w 241"/>
              <a:gd name="T10" fmla="*/ 0 h 1027"/>
              <a:gd name="T11" fmla="*/ 241 w 241"/>
              <a:gd name="T12" fmla="*/ 1027 h 1027"/>
            </a:gdLst>
            <a:ahLst/>
            <a:cxnLst>
              <a:cxn ang="T6">
                <a:pos x="T0" y="T1"/>
              </a:cxn>
              <a:cxn ang="T7">
                <a:pos x="T2" y="T3"/>
              </a:cxn>
              <a:cxn ang="T8">
                <a:pos x="T4" y="T5"/>
              </a:cxn>
            </a:cxnLst>
            <a:rect l="T9" t="T10" r="T11" b="T12"/>
            <a:pathLst>
              <a:path w="241" h="1027">
                <a:moveTo>
                  <a:pt x="65" y="1027"/>
                </a:moveTo>
                <a:cubicBezTo>
                  <a:pt x="93" y="941"/>
                  <a:pt x="241" y="682"/>
                  <a:pt x="230" y="511"/>
                </a:cubicBezTo>
                <a:cubicBezTo>
                  <a:pt x="219" y="340"/>
                  <a:pt x="45" y="92"/>
                  <a:pt x="0"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3" name="Freeform 125"/>
          <p:cNvSpPr>
            <a:spLocks/>
          </p:cNvSpPr>
          <p:nvPr/>
        </p:nvSpPr>
        <p:spPr bwMode="auto">
          <a:xfrm>
            <a:off x="3665538" y="4470400"/>
            <a:ext cx="454025" cy="1481138"/>
          </a:xfrm>
          <a:custGeom>
            <a:avLst/>
            <a:gdLst>
              <a:gd name="T0" fmla="*/ 2147483647 w 331"/>
              <a:gd name="T1" fmla="*/ 2147483647 h 1079"/>
              <a:gd name="T2" fmla="*/ 2147483647 w 331"/>
              <a:gd name="T3" fmla="*/ 2147483647 h 1079"/>
              <a:gd name="T4" fmla="*/ 2147483647 w 331"/>
              <a:gd name="T5" fmla="*/ 0 h 1079"/>
              <a:gd name="T6" fmla="*/ 0 60000 65536"/>
              <a:gd name="T7" fmla="*/ 0 60000 65536"/>
              <a:gd name="T8" fmla="*/ 0 60000 65536"/>
              <a:gd name="T9" fmla="*/ 0 w 331"/>
              <a:gd name="T10" fmla="*/ 0 h 1079"/>
              <a:gd name="T11" fmla="*/ 331 w 331"/>
              <a:gd name="T12" fmla="*/ 1079 h 1079"/>
            </a:gdLst>
            <a:ahLst/>
            <a:cxnLst>
              <a:cxn ang="T6">
                <a:pos x="T0" y="T1"/>
              </a:cxn>
              <a:cxn ang="T7">
                <a:pos x="T2" y="T3"/>
              </a:cxn>
              <a:cxn ang="T8">
                <a:pos x="T4" y="T5"/>
              </a:cxn>
            </a:cxnLst>
            <a:rect l="T9" t="T10" r="T11" b="T12"/>
            <a:pathLst>
              <a:path w="331" h="1079">
                <a:moveTo>
                  <a:pt x="331" y="1079"/>
                </a:moveTo>
                <a:cubicBezTo>
                  <a:pt x="281" y="984"/>
                  <a:pt x="48" y="691"/>
                  <a:pt x="24" y="511"/>
                </a:cubicBezTo>
                <a:cubicBezTo>
                  <a:pt x="0" y="331"/>
                  <a:pt x="154" y="92"/>
                  <a:pt x="186"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04" name="Group 201"/>
          <p:cNvGrpSpPr>
            <a:grpSpLocks/>
          </p:cNvGrpSpPr>
          <p:nvPr/>
        </p:nvGrpSpPr>
        <p:grpSpPr bwMode="auto">
          <a:xfrm>
            <a:off x="868363" y="5395913"/>
            <a:ext cx="1033462" cy="628650"/>
            <a:chOff x="731" y="3545"/>
            <a:chExt cx="651" cy="396"/>
          </a:xfrm>
        </p:grpSpPr>
        <p:grpSp>
          <p:nvGrpSpPr>
            <p:cNvPr id="8302" name="Group 4"/>
            <p:cNvGrpSpPr>
              <a:grpSpLocks/>
            </p:cNvGrpSpPr>
            <p:nvPr/>
          </p:nvGrpSpPr>
          <p:grpSpPr bwMode="auto">
            <a:xfrm>
              <a:off x="1030" y="3545"/>
              <a:ext cx="352" cy="396"/>
              <a:chOff x="793" y="2296"/>
              <a:chExt cx="998" cy="1088"/>
            </a:xfrm>
          </p:grpSpPr>
          <p:sp>
            <p:nvSpPr>
              <p:cNvPr id="513"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516"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503"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05" name="Group 179"/>
          <p:cNvGrpSpPr>
            <a:grpSpLocks/>
          </p:cNvGrpSpPr>
          <p:nvPr/>
        </p:nvGrpSpPr>
        <p:grpSpPr bwMode="auto">
          <a:xfrm>
            <a:off x="720725" y="4956175"/>
            <a:ext cx="215900" cy="358775"/>
            <a:chOff x="657" y="3249"/>
            <a:chExt cx="136" cy="226"/>
          </a:xfrm>
        </p:grpSpPr>
        <p:sp>
          <p:nvSpPr>
            <p:cNvPr id="580" name="Line 177"/>
            <p:cNvSpPr>
              <a:spLocks noChangeShapeType="1"/>
            </p:cNvSpPr>
            <p:nvPr/>
          </p:nvSpPr>
          <p:spPr bwMode="auto">
            <a:xfrm flipV="1">
              <a:off x="703" y="3339"/>
              <a:ext cx="90" cy="136"/>
            </a:xfrm>
            <a:prstGeom prst="line">
              <a:avLst/>
            </a:prstGeom>
            <a:noFill/>
            <a:ln w="9525" cap="rnd">
              <a:solidFill>
                <a:srgbClr val="FFFFFF"/>
              </a:solidFill>
              <a:prstDash val="sysDot"/>
              <a:round/>
              <a:headEnd/>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81" name="Line 178"/>
            <p:cNvSpPr>
              <a:spLocks noChangeShapeType="1"/>
            </p:cNvSpPr>
            <p:nvPr/>
          </p:nvSpPr>
          <p:spPr bwMode="auto">
            <a:xfrm flipH="1" flipV="1">
              <a:off x="657" y="3249"/>
              <a:ext cx="136" cy="90"/>
            </a:xfrm>
            <a:prstGeom prst="line">
              <a:avLst/>
            </a:prstGeom>
            <a:noFill/>
            <a:ln w="9525" cap="rnd">
              <a:solidFill>
                <a:srgbClr val="FFFFFF"/>
              </a:solidFill>
              <a:prstDash val="sysDot"/>
              <a:round/>
              <a:headEnd/>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grpSp>
      <p:grpSp>
        <p:nvGrpSpPr>
          <p:cNvPr id="8206" name="Group 211"/>
          <p:cNvGrpSpPr>
            <a:grpSpLocks/>
          </p:cNvGrpSpPr>
          <p:nvPr/>
        </p:nvGrpSpPr>
        <p:grpSpPr bwMode="auto">
          <a:xfrm>
            <a:off x="433388" y="3011488"/>
            <a:ext cx="5157787" cy="1743075"/>
            <a:chOff x="567" y="1969"/>
            <a:chExt cx="3249" cy="1098"/>
          </a:xfrm>
        </p:grpSpPr>
        <p:grpSp>
          <p:nvGrpSpPr>
            <p:cNvPr id="8253" name="Group 210"/>
            <p:cNvGrpSpPr>
              <a:grpSpLocks/>
            </p:cNvGrpSpPr>
            <p:nvPr/>
          </p:nvGrpSpPr>
          <p:grpSpPr bwMode="auto">
            <a:xfrm>
              <a:off x="567" y="1969"/>
              <a:ext cx="3249" cy="1098"/>
              <a:chOff x="567" y="1969"/>
              <a:chExt cx="3249" cy="1098"/>
            </a:xfrm>
          </p:grpSpPr>
          <p:sp>
            <p:nvSpPr>
              <p:cNvPr id="585" name="AutoShape 122"/>
              <p:cNvSpPr>
                <a:spLocks noChangeArrowheads="1"/>
              </p:cNvSpPr>
              <p:nvPr/>
            </p:nvSpPr>
            <p:spPr bwMode="auto">
              <a:xfrm>
                <a:off x="567" y="1969"/>
                <a:ext cx="3249" cy="1098"/>
              </a:xfrm>
              <a:prstGeom prst="flowChartInputOutput">
                <a:avLst/>
              </a:prstGeom>
              <a:solidFill>
                <a:srgbClr val="6699FF">
                  <a:alpha val="25098"/>
                </a:srgbClr>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586" name="Text Box 159"/>
              <p:cNvSpPr txBox="1">
                <a:spLocks noChangeArrowheads="1"/>
              </p:cNvSpPr>
              <p:nvPr/>
            </p:nvSpPr>
            <p:spPr bwMode="auto">
              <a:xfrm>
                <a:off x="793" y="2840"/>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grpSp>
            <p:nvGrpSpPr>
              <p:cNvPr id="8257" name="Group 209"/>
              <p:cNvGrpSpPr>
                <a:grpSpLocks/>
              </p:cNvGrpSpPr>
              <p:nvPr/>
            </p:nvGrpSpPr>
            <p:grpSpPr bwMode="auto">
              <a:xfrm>
                <a:off x="884" y="2069"/>
                <a:ext cx="2347" cy="855"/>
                <a:chOff x="856" y="2124"/>
                <a:chExt cx="2347" cy="855"/>
              </a:xfrm>
            </p:grpSpPr>
            <p:sp>
              <p:nvSpPr>
                <p:cNvPr id="588" name="Line 69"/>
                <p:cNvSpPr>
                  <a:spLocks noChangeShapeType="1"/>
                </p:cNvSpPr>
                <p:nvPr/>
              </p:nvSpPr>
              <p:spPr bwMode="auto">
                <a:xfrm flipH="1">
                  <a:off x="1446" y="2341"/>
                  <a:ext cx="164" cy="246"/>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89" name="Line 70"/>
                <p:cNvSpPr>
                  <a:spLocks noChangeShapeType="1"/>
                </p:cNvSpPr>
                <p:nvPr/>
              </p:nvSpPr>
              <p:spPr bwMode="auto">
                <a:xfrm flipH="1">
                  <a:off x="1222" y="2124"/>
                  <a:ext cx="305" cy="165"/>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0" name="Line 71"/>
                <p:cNvSpPr>
                  <a:spLocks noChangeShapeType="1"/>
                </p:cNvSpPr>
                <p:nvPr/>
              </p:nvSpPr>
              <p:spPr bwMode="auto">
                <a:xfrm>
                  <a:off x="1537" y="2127"/>
                  <a:ext cx="390" cy="8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1" name="Line 72"/>
                <p:cNvSpPr>
                  <a:spLocks noChangeShapeType="1"/>
                </p:cNvSpPr>
                <p:nvPr/>
              </p:nvSpPr>
              <p:spPr bwMode="auto">
                <a:xfrm>
                  <a:off x="1525" y="2133"/>
                  <a:ext cx="84" cy="22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2" name="Line 73"/>
                <p:cNvSpPr>
                  <a:spLocks noChangeShapeType="1"/>
                </p:cNvSpPr>
                <p:nvPr/>
              </p:nvSpPr>
              <p:spPr bwMode="auto">
                <a:xfrm>
                  <a:off x="1218" y="2289"/>
                  <a:ext cx="234" cy="27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3" name="Line 74"/>
                <p:cNvSpPr>
                  <a:spLocks noChangeShapeType="1"/>
                </p:cNvSpPr>
                <p:nvPr/>
              </p:nvSpPr>
              <p:spPr bwMode="auto">
                <a:xfrm>
                  <a:off x="1606" y="2364"/>
                  <a:ext cx="120" cy="111"/>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4" name="Line 75"/>
                <p:cNvSpPr>
                  <a:spLocks noChangeShapeType="1"/>
                </p:cNvSpPr>
                <p:nvPr/>
              </p:nvSpPr>
              <p:spPr bwMode="auto">
                <a:xfrm flipH="1">
                  <a:off x="1139" y="2281"/>
                  <a:ext cx="74" cy="401"/>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5" name="Line 76"/>
                <p:cNvSpPr>
                  <a:spLocks noChangeShapeType="1"/>
                </p:cNvSpPr>
                <p:nvPr/>
              </p:nvSpPr>
              <p:spPr bwMode="auto">
                <a:xfrm flipH="1">
                  <a:off x="1022" y="2673"/>
                  <a:ext cx="111" cy="24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6" name="Line 77"/>
                <p:cNvSpPr>
                  <a:spLocks noChangeShapeType="1"/>
                </p:cNvSpPr>
                <p:nvPr/>
              </p:nvSpPr>
              <p:spPr bwMode="auto">
                <a:xfrm>
                  <a:off x="1148" y="2673"/>
                  <a:ext cx="343" cy="19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7" name="Line 78"/>
                <p:cNvSpPr>
                  <a:spLocks noChangeShapeType="1"/>
                </p:cNvSpPr>
                <p:nvPr/>
              </p:nvSpPr>
              <p:spPr bwMode="auto">
                <a:xfrm flipV="1">
                  <a:off x="1024" y="2869"/>
                  <a:ext cx="472" cy="4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8" name="Line 80"/>
                <p:cNvSpPr>
                  <a:spLocks noChangeShapeType="1"/>
                </p:cNvSpPr>
                <p:nvPr/>
              </p:nvSpPr>
              <p:spPr bwMode="auto">
                <a:xfrm>
                  <a:off x="1922" y="2209"/>
                  <a:ext cx="478" cy="32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599" name="Line 81"/>
                <p:cNvSpPr>
                  <a:spLocks noChangeShapeType="1"/>
                </p:cNvSpPr>
                <p:nvPr/>
              </p:nvSpPr>
              <p:spPr bwMode="auto">
                <a:xfrm flipH="1">
                  <a:off x="1726" y="2211"/>
                  <a:ext cx="195" cy="26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0" name="Line 82"/>
                <p:cNvSpPr>
                  <a:spLocks noChangeShapeType="1"/>
                </p:cNvSpPr>
                <p:nvPr/>
              </p:nvSpPr>
              <p:spPr bwMode="auto">
                <a:xfrm>
                  <a:off x="2474" y="2211"/>
                  <a:ext cx="474" cy="194"/>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1" name="Line 83"/>
                <p:cNvSpPr>
                  <a:spLocks noChangeShapeType="1"/>
                </p:cNvSpPr>
                <p:nvPr/>
              </p:nvSpPr>
              <p:spPr bwMode="auto">
                <a:xfrm flipH="1">
                  <a:off x="1622" y="2203"/>
                  <a:ext cx="303" cy="16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2" name="Line 85"/>
                <p:cNvSpPr>
                  <a:spLocks noChangeShapeType="1"/>
                </p:cNvSpPr>
                <p:nvPr/>
              </p:nvSpPr>
              <p:spPr bwMode="auto">
                <a:xfrm>
                  <a:off x="1454" y="2559"/>
                  <a:ext cx="37" cy="310"/>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3" name="Line 86"/>
                <p:cNvSpPr>
                  <a:spLocks noChangeShapeType="1"/>
                </p:cNvSpPr>
                <p:nvPr/>
              </p:nvSpPr>
              <p:spPr bwMode="auto">
                <a:xfrm flipH="1">
                  <a:off x="3096" y="2209"/>
                  <a:ext cx="77" cy="499"/>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4" name="Line 87"/>
                <p:cNvSpPr>
                  <a:spLocks noChangeShapeType="1"/>
                </p:cNvSpPr>
                <p:nvPr/>
              </p:nvSpPr>
              <p:spPr bwMode="auto">
                <a:xfrm flipH="1">
                  <a:off x="2946" y="2209"/>
                  <a:ext cx="224" cy="193"/>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5" name="Line 90"/>
                <p:cNvSpPr>
                  <a:spLocks noChangeShapeType="1"/>
                </p:cNvSpPr>
                <p:nvPr/>
              </p:nvSpPr>
              <p:spPr bwMode="auto">
                <a:xfrm flipH="1">
                  <a:off x="2265" y="2525"/>
                  <a:ext cx="121" cy="272"/>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6" name="Line 91"/>
                <p:cNvSpPr>
                  <a:spLocks noChangeShapeType="1"/>
                </p:cNvSpPr>
                <p:nvPr/>
              </p:nvSpPr>
              <p:spPr bwMode="auto">
                <a:xfrm>
                  <a:off x="2945" y="2406"/>
                  <a:ext cx="146" cy="305"/>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7" name="Line 92"/>
                <p:cNvSpPr>
                  <a:spLocks noChangeShapeType="1"/>
                </p:cNvSpPr>
                <p:nvPr/>
              </p:nvSpPr>
              <p:spPr bwMode="auto">
                <a:xfrm flipH="1">
                  <a:off x="2664" y="2392"/>
                  <a:ext cx="266" cy="542"/>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8" name="Line 93"/>
                <p:cNvSpPr>
                  <a:spLocks noChangeShapeType="1"/>
                </p:cNvSpPr>
                <p:nvPr/>
              </p:nvSpPr>
              <p:spPr bwMode="auto">
                <a:xfrm flipH="1">
                  <a:off x="2666" y="2714"/>
                  <a:ext cx="429" cy="236"/>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09" name="Rectangle 95"/>
                <p:cNvSpPr>
                  <a:spLocks noChangeArrowheads="1"/>
                </p:cNvSpPr>
                <p:nvPr/>
              </p:nvSpPr>
              <p:spPr bwMode="auto">
                <a:xfrm>
                  <a:off x="1891"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0" name="Rectangle 96"/>
                <p:cNvSpPr>
                  <a:spLocks noChangeArrowheads="1"/>
                </p:cNvSpPr>
                <p:nvPr/>
              </p:nvSpPr>
              <p:spPr bwMode="auto">
                <a:xfrm>
                  <a:off x="1187" y="2254"/>
                  <a:ext cx="59" cy="58"/>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1" name="Rectangle 97"/>
                <p:cNvSpPr>
                  <a:spLocks noChangeArrowheads="1"/>
                </p:cNvSpPr>
                <p:nvPr/>
              </p:nvSpPr>
              <p:spPr bwMode="auto">
                <a:xfrm>
                  <a:off x="1578" y="2333"/>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2" name="Rectangle 98"/>
                <p:cNvSpPr>
                  <a:spLocks noChangeArrowheads="1"/>
                </p:cNvSpPr>
                <p:nvPr/>
              </p:nvSpPr>
              <p:spPr bwMode="auto">
                <a:xfrm>
                  <a:off x="1422" y="2529"/>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3" name="Rectangle 99"/>
                <p:cNvSpPr>
                  <a:spLocks noChangeArrowheads="1"/>
                </p:cNvSpPr>
                <p:nvPr/>
              </p:nvSpPr>
              <p:spPr bwMode="auto">
                <a:xfrm>
                  <a:off x="1695" y="2451"/>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4" name="Rectangle 101"/>
                <p:cNvSpPr>
                  <a:spLocks noChangeArrowheads="1"/>
                </p:cNvSpPr>
                <p:nvPr/>
              </p:nvSpPr>
              <p:spPr bwMode="auto">
                <a:xfrm>
                  <a:off x="1108" y="264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5" name="Rectangle 103"/>
                <p:cNvSpPr>
                  <a:spLocks noChangeArrowheads="1"/>
                </p:cNvSpPr>
                <p:nvPr/>
              </p:nvSpPr>
              <p:spPr bwMode="auto">
                <a:xfrm>
                  <a:off x="3144"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6" name="Rectangle 104"/>
                <p:cNvSpPr>
                  <a:spLocks noChangeArrowheads="1"/>
                </p:cNvSpPr>
                <p:nvPr/>
              </p:nvSpPr>
              <p:spPr bwMode="auto">
                <a:xfrm>
                  <a:off x="1460" y="2843"/>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7" name="Rectangle 106"/>
                <p:cNvSpPr>
                  <a:spLocks noChangeArrowheads="1"/>
                </p:cNvSpPr>
                <p:nvPr/>
              </p:nvSpPr>
              <p:spPr bwMode="auto">
                <a:xfrm>
                  <a:off x="2439" y="2177"/>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8" name="Rectangle 107"/>
                <p:cNvSpPr>
                  <a:spLocks noChangeArrowheads="1"/>
                </p:cNvSpPr>
                <p:nvPr/>
              </p:nvSpPr>
              <p:spPr bwMode="auto">
                <a:xfrm>
                  <a:off x="2361" y="2491"/>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19" name="Rectangle 109"/>
                <p:cNvSpPr>
                  <a:spLocks noChangeArrowheads="1"/>
                </p:cNvSpPr>
                <p:nvPr/>
              </p:nvSpPr>
              <p:spPr bwMode="auto">
                <a:xfrm>
                  <a:off x="2243" y="2765"/>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0" name="Rectangle 111"/>
                <p:cNvSpPr>
                  <a:spLocks noChangeArrowheads="1"/>
                </p:cNvSpPr>
                <p:nvPr/>
              </p:nvSpPr>
              <p:spPr bwMode="auto">
                <a:xfrm>
                  <a:off x="3066" y="2686"/>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1" name="Rectangle 112"/>
                <p:cNvSpPr>
                  <a:spLocks noChangeArrowheads="1"/>
                </p:cNvSpPr>
                <p:nvPr/>
              </p:nvSpPr>
              <p:spPr bwMode="auto">
                <a:xfrm>
                  <a:off x="2909" y="2373"/>
                  <a:ext cx="58"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2" name="Rectangle 113"/>
                <p:cNvSpPr>
                  <a:spLocks noChangeArrowheads="1"/>
                </p:cNvSpPr>
                <p:nvPr/>
              </p:nvSpPr>
              <p:spPr bwMode="auto">
                <a:xfrm>
                  <a:off x="2635" y="2922"/>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3" name="Rectangle 114"/>
                <p:cNvSpPr>
                  <a:spLocks noChangeArrowheads="1"/>
                </p:cNvSpPr>
                <p:nvPr/>
              </p:nvSpPr>
              <p:spPr bwMode="auto">
                <a:xfrm>
                  <a:off x="991" y="2882"/>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624" name="Line 79"/>
                <p:cNvSpPr>
                  <a:spLocks noChangeShapeType="1"/>
                </p:cNvSpPr>
                <p:nvPr/>
              </p:nvSpPr>
              <p:spPr bwMode="auto">
                <a:xfrm flipH="1">
                  <a:off x="2392" y="2201"/>
                  <a:ext cx="77" cy="318"/>
                </a:xfrm>
                <a:prstGeom prst="line">
                  <a:avLst/>
                </a:prstGeom>
                <a:noFill/>
                <a:ln w="25400">
                  <a:solidFill>
                    <a:srgbClr val="B2B2B2"/>
                  </a:solidFill>
                  <a:round/>
                  <a:headEnd type="oval" w="sm" len="sm"/>
                  <a:tailEnd/>
                </a:ln>
              </p:spPr>
              <p:txBody>
                <a:bodyPr/>
                <a:lstStyle/>
                <a:p>
                  <a:pPr algn="l" eaLnBrk="1" fontAlgn="auto" hangingPunct="1">
                    <a:spcBef>
                      <a:spcPct val="0"/>
                    </a:spcBef>
                    <a:spcAft>
                      <a:spcPts val="0"/>
                    </a:spcAft>
                    <a:buClrTx/>
                    <a:defRPr/>
                  </a:pPr>
                  <a:endParaRPr lang="nl-NL" sz="1800" b="0" kern="0">
                    <a:solidFill>
                      <a:srgbClr val="000000"/>
                    </a:solidFill>
                    <a:latin typeface="Arial" charset="0"/>
                  </a:endParaRPr>
                </a:p>
              </p:txBody>
            </p:sp>
            <p:sp>
              <p:nvSpPr>
                <p:cNvPr id="625" name="Text Box 160"/>
                <p:cNvSpPr txBox="1">
                  <a:spLocks noChangeArrowheads="1"/>
                </p:cNvSpPr>
                <p:nvPr/>
              </p:nvSpPr>
              <p:spPr bwMode="auto">
                <a:xfrm>
                  <a:off x="1488" y="2824"/>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6" name="Text Box 161"/>
                <p:cNvSpPr txBox="1">
                  <a:spLocks noChangeArrowheads="1"/>
                </p:cNvSpPr>
                <p:nvPr/>
              </p:nvSpPr>
              <p:spPr bwMode="auto">
                <a:xfrm>
                  <a:off x="1990" y="2762"/>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7" name="Text Box 162"/>
                <p:cNvSpPr txBox="1">
                  <a:spLocks noChangeArrowheads="1"/>
                </p:cNvSpPr>
                <p:nvPr/>
              </p:nvSpPr>
              <p:spPr bwMode="auto">
                <a:xfrm>
                  <a:off x="2410" y="2822"/>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sp>
              <p:nvSpPr>
                <p:cNvPr id="628" name="Text Box 163"/>
                <p:cNvSpPr txBox="1">
                  <a:spLocks noChangeArrowheads="1"/>
                </p:cNvSpPr>
                <p:nvPr/>
              </p:nvSpPr>
              <p:spPr bwMode="auto">
                <a:xfrm>
                  <a:off x="856" y="2594"/>
                  <a:ext cx="116" cy="135"/>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endParaRPr lang="en-US" sz="800" b="0" kern="0">
                    <a:solidFill>
                      <a:srgbClr val="000000"/>
                    </a:solidFill>
                    <a:latin typeface="Arial" charset="0"/>
                  </a:endParaRPr>
                </a:p>
              </p:txBody>
            </p:sp>
            <p:sp>
              <p:nvSpPr>
                <p:cNvPr id="629" name="Text Box 164"/>
                <p:cNvSpPr txBox="1">
                  <a:spLocks noChangeArrowheads="1"/>
                </p:cNvSpPr>
                <p:nvPr/>
              </p:nvSpPr>
              <p:spPr bwMode="auto">
                <a:xfrm>
                  <a:off x="2624" y="2364"/>
                  <a:ext cx="253"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RSU</a:t>
                  </a:r>
                  <a:endParaRPr lang="en-US" sz="800" b="0" kern="0" dirty="0">
                    <a:solidFill>
                      <a:srgbClr val="000000"/>
                    </a:solidFill>
                    <a:latin typeface="Arial" charset="0"/>
                  </a:endParaRPr>
                </a:p>
              </p:txBody>
            </p:sp>
          </p:grpSp>
        </p:grpSp>
        <p:sp>
          <p:nvSpPr>
            <p:cNvPr id="584" name="Rectangle 100"/>
            <p:cNvSpPr>
              <a:spLocks noChangeArrowheads="1"/>
            </p:cNvSpPr>
            <p:nvPr/>
          </p:nvSpPr>
          <p:spPr bwMode="auto">
            <a:xfrm>
              <a:off x="1519" y="2024"/>
              <a:ext cx="59" cy="57"/>
            </a:xfrm>
            <a:prstGeom prst="rect">
              <a:avLst/>
            </a:prstGeom>
            <a:gradFill rotWithShape="1">
              <a:gsLst>
                <a:gs pos="0">
                  <a:srgbClr val="FFFFFF"/>
                </a:gs>
                <a:gs pos="100000">
                  <a:srgbClr val="FFFFFF">
                    <a:gamma/>
                    <a:shade val="46275"/>
                    <a:invGamma/>
                  </a:srgbClr>
                </a:gs>
              </a:gsLst>
              <a:path path="shape">
                <a:fillToRect l="50000" t="50000" r="50000" b="50000"/>
              </a:path>
            </a:gradFill>
            <a:ln w="9525">
              <a:solidFill>
                <a:srgbClr val="808080"/>
              </a:solidFill>
              <a:miter lim="800000"/>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grpSp>
      <p:grpSp>
        <p:nvGrpSpPr>
          <p:cNvPr id="8207" name="Group 139"/>
          <p:cNvGrpSpPr>
            <a:grpSpLocks/>
          </p:cNvGrpSpPr>
          <p:nvPr/>
        </p:nvGrpSpPr>
        <p:grpSpPr bwMode="auto">
          <a:xfrm>
            <a:off x="73025" y="1066800"/>
            <a:ext cx="6480175" cy="2016125"/>
            <a:chOff x="46" y="799"/>
            <a:chExt cx="4082" cy="1270"/>
          </a:xfrm>
        </p:grpSpPr>
        <p:sp>
          <p:nvSpPr>
            <p:cNvPr id="631" name="AutoShape 196"/>
            <p:cNvSpPr>
              <a:spLocks noChangeArrowheads="1"/>
            </p:cNvSpPr>
            <p:nvPr/>
          </p:nvSpPr>
          <p:spPr bwMode="auto">
            <a:xfrm>
              <a:off x="46" y="799"/>
              <a:ext cx="4082" cy="1270"/>
            </a:xfrm>
            <a:prstGeom prst="flowChartInputOutput">
              <a:avLst/>
            </a:prstGeom>
            <a:solidFill>
              <a:srgbClr val="E4F141">
                <a:alpha val="7843"/>
              </a:srgbClr>
            </a:solidFill>
            <a:ln w="9525">
              <a:solidFill>
                <a:srgbClr val="000000"/>
              </a:solidFill>
              <a:miter lim="800000"/>
              <a:headEnd/>
              <a:tailEnd/>
            </a:ln>
          </p:spPr>
          <p:txBody>
            <a:bodyPr wrap="none" anchor="ctr"/>
            <a:lstStyle/>
            <a:p>
              <a:pPr eaLnBrk="1" fontAlgn="auto" hangingPunct="1">
                <a:spcBef>
                  <a:spcPct val="0"/>
                </a:spcBef>
                <a:spcAft>
                  <a:spcPts val="0"/>
                </a:spcAft>
                <a:buClrTx/>
                <a:defRPr/>
              </a:pPr>
              <a:endParaRPr lang="en-US" sz="1400" b="0" kern="0">
                <a:solidFill>
                  <a:srgbClr val="000000"/>
                </a:solidFill>
                <a:latin typeface="Arial" charset="0"/>
              </a:endParaRPr>
            </a:p>
          </p:txBody>
        </p:sp>
        <p:sp>
          <p:nvSpPr>
            <p:cNvPr id="632" name="AutoShape 194"/>
            <p:cNvSpPr>
              <a:spLocks noChangeArrowheads="1"/>
            </p:cNvSpPr>
            <p:nvPr/>
          </p:nvSpPr>
          <p:spPr bwMode="auto">
            <a:xfrm>
              <a:off x="2144" y="844"/>
              <a:ext cx="1792" cy="862"/>
            </a:xfrm>
            <a:prstGeom prst="cloudCallout">
              <a:avLst>
                <a:gd name="adj1" fmla="val -32056"/>
                <a:gd name="adj2" fmla="val 64153"/>
              </a:avLst>
            </a:prstGeom>
            <a:solidFill>
              <a:srgbClr val="FFFFFF"/>
            </a:solidFill>
            <a:ln w="9525">
              <a:solidFill>
                <a:srgbClr val="000000"/>
              </a:solidFill>
              <a:round/>
              <a:headEnd/>
              <a:tailEnd/>
            </a:ln>
          </p:spPr>
          <p:txBody>
            <a:bodyPr/>
            <a:lstStyle/>
            <a:p>
              <a:pPr algn="l" eaLnBrk="1" fontAlgn="auto" hangingPunct="1">
                <a:spcBef>
                  <a:spcPct val="0"/>
                </a:spcBef>
                <a:spcAft>
                  <a:spcPts val="0"/>
                </a:spcAft>
                <a:buClrTx/>
                <a:defRPr/>
              </a:pPr>
              <a:endParaRPr lang="en-US" sz="1400" b="0" kern="0" dirty="0">
                <a:solidFill>
                  <a:srgbClr val="808080"/>
                </a:solidFill>
                <a:latin typeface="Arial" charset="0"/>
              </a:endParaRPr>
            </a:p>
            <a:p>
              <a:pPr algn="l" eaLnBrk="1" fontAlgn="auto" hangingPunct="1">
                <a:spcBef>
                  <a:spcPct val="0"/>
                </a:spcBef>
                <a:spcAft>
                  <a:spcPts val="0"/>
                </a:spcAft>
                <a:buClrTx/>
                <a:defRPr/>
              </a:pPr>
              <a:r>
                <a:rPr lang="en-US" sz="1400" b="0" kern="0" dirty="0">
                  <a:solidFill>
                    <a:srgbClr val="808080"/>
                  </a:solidFill>
                  <a:latin typeface="Arial" charset="0"/>
                </a:rPr>
                <a:t>IEEE 802.3, (</a:t>
              </a:r>
              <a:r>
                <a:rPr lang="en-US" sz="1400" b="0" kern="0" dirty="0" err="1">
                  <a:solidFill>
                    <a:srgbClr val="808080"/>
                  </a:solidFill>
                  <a:latin typeface="Arial" charset="0"/>
                </a:rPr>
                <a:t>ethernet</a:t>
              </a:r>
              <a:r>
                <a:rPr lang="en-US" sz="1400" b="0" kern="0" dirty="0">
                  <a:solidFill>
                    <a:srgbClr val="808080"/>
                  </a:solidFill>
                  <a:latin typeface="Arial" charset="0"/>
                </a:rPr>
                <a:t>) </a:t>
              </a:r>
              <a:br>
                <a:rPr lang="en-US" sz="1400" b="0" kern="0" dirty="0">
                  <a:solidFill>
                    <a:srgbClr val="808080"/>
                  </a:solidFill>
                  <a:latin typeface="Arial" charset="0"/>
                </a:rPr>
              </a:br>
              <a:r>
                <a:rPr lang="en-US" sz="1400" b="0" kern="0" dirty="0">
                  <a:solidFill>
                    <a:srgbClr val="808080"/>
                  </a:solidFill>
                  <a:latin typeface="Arial" charset="0"/>
                </a:rPr>
                <a:t>IEEE 802.11 (</a:t>
              </a:r>
              <a:r>
                <a:rPr lang="en-US" sz="1400" b="0" kern="0" dirty="0" err="1">
                  <a:solidFill>
                    <a:srgbClr val="808080"/>
                  </a:solidFill>
                  <a:latin typeface="Arial" charset="0"/>
                </a:rPr>
                <a:t>WiFi</a:t>
              </a:r>
              <a:r>
                <a:rPr lang="en-US" sz="1400" b="0" kern="0" dirty="0">
                  <a:solidFill>
                    <a:srgbClr val="808080"/>
                  </a:solidFill>
                  <a:latin typeface="Arial" charset="0"/>
                </a:rPr>
                <a:t>)</a:t>
              </a:r>
            </a:p>
            <a:p>
              <a:pPr algn="l" eaLnBrk="1" fontAlgn="auto" hangingPunct="1">
                <a:spcBef>
                  <a:spcPct val="0"/>
                </a:spcBef>
                <a:spcAft>
                  <a:spcPts val="0"/>
                </a:spcAft>
                <a:buClrTx/>
                <a:defRPr/>
              </a:pPr>
              <a:r>
                <a:rPr lang="en-US" sz="1400" b="0" kern="0" dirty="0">
                  <a:solidFill>
                    <a:srgbClr val="808080"/>
                  </a:solidFill>
                  <a:latin typeface="Arial" charset="0"/>
                </a:rPr>
                <a:t>……</a:t>
              </a:r>
            </a:p>
            <a:p>
              <a:pPr algn="l" eaLnBrk="1" fontAlgn="auto" hangingPunct="1">
                <a:spcBef>
                  <a:spcPct val="0"/>
                </a:spcBef>
                <a:spcAft>
                  <a:spcPts val="0"/>
                </a:spcAft>
                <a:buClrTx/>
                <a:defRPr/>
              </a:pPr>
              <a:endParaRPr lang="en-GB" sz="1400" b="0" kern="0" dirty="0">
                <a:solidFill>
                  <a:srgbClr val="000000"/>
                </a:solidFill>
                <a:latin typeface="Arial" charset="0"/>
              </a:endParaRPr>
            </a:p>
            <a:p>
              <a:pPr eaLnBrk="1" fontAlgn="auto" hangingPunct="1">
                <a:spcBef>
                  <a:spcPct val="0"/>
                </a:spcBef>
                <a:spcAft>
                  <a:spcPts val="0"/>
                </a:spcAft>
                <a:buClrTx/>
                <a:defRPr/>
              </a:pPr>
              <a:endParaRPr lang="en-GB" sz="1400" b="0" kern="0" dirty="0">
                <a:solidFill>
                  <a:srgbClr val="000000"/>
                </a:solidFill>
                <a:latin typeface="Arial" charset="0"/>
              </a:endParaRPr>
            </a:p>
          </p:txBody>
        </p:sp>
        <p:sp>
          <p:nvSpPr>
            <p:cNvPr id="633" name="AutoShape 195"/>
            <p:cNvSpPr>
              <a:spLocks noChangeArrowheads="1"/>
            </p:cNvSpPr>
            <p:nvPr/>
          </p:nvSpPr>
          <p:spPr bwMode="auto">
            <a:xfrm>
              <a:off x="545" y="935"/>
              <a:ext cx="1542" cy="861"/>
            </a:xfrm>
            <a:prstGeom prst="cloudCallout">
              <a:avLst>
                <a:gd name="adj1" fmla="val 40792"/>
                <a:gd name="adj2" fmla="val 56389"/>
              </a:avLst>
            </a:prstGeom>
            <a:solidFill>
              <a:srgbClr val="FFFFFF"/>
            </a:solidFill>
            <a:ln w="9525">
              <a:solidFill>
                <a:srgbClr val="000000"/>
              </a:solidFill>
              <a:round/>
              <a:headEnd/>
              <a:tailEnd/>
            </a:ln>
          </p:spPr>
          <p:txBody>
            <a:bodyPr/>
            <a:lstStyle/>
            <a:p>
              <a:pPr algn="l" eaLnBrk="1" fontAlgn="auto" hangingPunct="1">
                <a:spcBef>
                  <a:spcPct val="0"/>
                </a:spcBef>
                <a:spcAft>
                  <a:spcPts val="0"/>
                </a:spcAft>
                <a:buClrTx/>
                <a:defRPr/>
              </a:pPr>
              <a:r>
                <a:rPr lang="en-GB" sz="1400" b="0" kern="0" dirty="0">
                  <a:solidFill>
                    <a:srgbClr val="808080"/>
                  </a:solidFill>
                  <a:latin typeface="Arial" charset="0"/>
                </a:rPr>
                <a:t>IEEE 802.16e (WiMAX)</a:t>
              </a:r>
            </a:p>
            <a:p>
              <a:pPr algn="l" eaLnBrk="1" fontAlgn="auto" hangingPunct="1">
                <a:spcBef>
                  <a:spcPct val="0"/>
                </a:spcBef>
                <a:spcAft>
                  <a:spcPts val="0"/>
                </a:spcAft>
                <a:buClrTx/>
                <a:defRPr/>
              </a:pPr>
              <a:endParaRPr lang="en-US" sz="1400" b="0" kern="0" dirty="0">
                <a:solidFill>
                  <a:srgbClr val="808080"/>
                </a:solidFill>
                <a:latin typeface="Arial" charset="0"/>
              </a:endParaRPr>
            </a:p>
            <a:p>
              <a:pPr algn="l" eaLnBrk="1" fontAlgn="auto" hangingPunct="1">
                <a:spcBef>
                  <a:spcPct val="0"/>
                </a:spcBef>
                <a:spcAft>
                  <a:spcPts val="0"/>
                </a:spcAft>
                <a:buClrTx/>
                <a:defRPr/>
              </a:pPr>
              <a:r>
                <a:rPr lang="en-US" sz="1400" b="0" kern="0" dirty="0">
                  <a:solidFill>
                    <a:srgbClr val="808080"/>
                  </a:solidFill>
                  <a:latin typeface="Arial" charset="0"/>
                </a:rPr>
                <a:t>3G, 4G</a:t>
              </a:r>
            </a:p>
            <a:p>
              <a:pPr eaLnBrk="1" fontAlgn="auto" hangingPunct="1">
                <a:spcBef>
                  <a:spcPct val="0"/>
                </a:spcBef>
                <a:spcAft>
                  <a:spcPts val="0"/>
                </a:spcAft>
                <a:buClrTx/>
                <a:defRPr/>
              </a:pPr>
              <a:endParaRPr lang="en-GB" sz="1400" b="0" kern="0" dirty="0">
                <a:solidFill>
                  <a:srgbClr val="000000"/>
                </a:solidFill>
                <a:latin typeface="Arial" charset="0"/>
              </a:endParaRPr>
            </a:p>
          </p:txBody>
        </p:sp>
      </p:grpSp>
      <p:sp>
        <p:nvSpPr>
          <p:cNvPr id="8208" name="Freeform 198"/>
          <p:cNvSpPr>
            <a:spLocks/>
          </p:cNvSpPr>
          <p:nvPr/>
        </p:nvSpPr>
        <p:spPr bwMode="auto">
          <a:xfrm>
            <a:off x="2089150" y="2651125"/>
            <a:ext cx="903288" cy="863600"/>
          </a:xfrm>
          <a:custGeom>
            <a:avLst/>
            <a:gdLst>
              <a:gd name="T0" fmla="*/ 0 w 501"/>
              <a:gd name="T1" fmla="*/ 2147483647 h 476"/>
              <a:gd name="T2" fmla="*/ 2147483647 w 501"/>
              <a:gd name="T3" fmla="*/ 2147483647 h 476"/>
              <a:gd name="T4" fmla="*/ 2147483647 w 501"/>
              <a:gd name="T5" fmla="*/ 0 h 476"/>
              <a:gd name="T6" fmla="*/ 0 60000 65536"/>
              <a:gd name="T7" fmla="*/ 0 60000 65536"/>
              <a:gd name="T8" fmla="*/ 0 60000 65536"/>
              <a:gd name="T9" fmla="*/ 0 w 501"/>
              <a:gd name="T10" fmla="*/ 0 h 476"/>
              <a:gd name="T11" fmla="*/ 501 w 501"/>
              <a:gd name="T12" fmla="*/ 476 h 476"/>
            </a:gdLst>
            <a:ahLst/>
            <a:cxnLst>
              <a:cxn ang="T6">
                <a:pos x="T0" y="T1"/>
              </a:cxn>
              <a:cxn ang="T7">
                <a:pos x="T2" y="T3"/>
              </a:cxn>
              <a:cxn ang="T8">
                <a:pos x="T4" y="T5"/>
              </a:cxn>
            </a:cxnLst>
            <a:rect l="T9" t="T10" r="T11" b="T12"/>
            <a:pathLst>
              <a:path w="501" h="476">
                <a:moveTo>
                  <a:pt x="0" y="476"/>
                </a:moveTo>
                <a:cubicBezTo>
                  <a:pt x="24" y="410"/>
                  <a:pt x="60" y="159"/>
                  <a:pt x="144" y="80"/>
                </a:cubicBezTo>
                <a:cubicBezTo>
                  <a:pt x="228" y="1"/>
                  <a:pt x="427" y="17"/>
                  <a:pt x="501" y="0"/>
                </a:cubicBezTo>
              </a:path>
            </a:pathLst>
          </a:custGeom>
          <a:noFill/>
          <a:ln w="38100">
            <a:solidFill>
              <a:srgbClr val="333DFF"/>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09" name="Freeform 199"/>
          <p:cNvSpPr>
            <a:spLocks/>
          </p:cNvSpPr>
          <p:nvPr/>
        </p:nvSpPr>
        <p:spPr bwMode="auto">
          <a:xfrm>
            <a:off x="3643313" y="2651125"/>
            <a:ext cx="255587" cy="566738"/>
          </a:xfrm>
          <a:custGeom>
            <a:avLst/>
            <a:gdLst>
              <a:gd name="T0" fmla="*/ 0 w 142"/>
              <a:gd name="T1" fmla="*/ 2147483647 h 312"/>
              <a:gd name="T2" fmla="*/ 2147483647 w 142"/>
              <a:gd name="T3" fmla="*/ 2147483647 h 312"/>
              <a:gd name="T4" fmla="*/ 2147483647 w 142"/>
              <a:gd name="T5" fmla="*/ 2147483647 h 312"/>
              <a:gd name="T6" fmla="*/ 2147483647 w 142"/>
              <a:gd name="T7" fmla="*/ 0 h 312"/>
              <a:gd name="T8" fmla="*/ 0 60000 65536"/>
              <a:gd name="T9" fmla="*/ 0 60000 65536"/>
              <a:gd name="T10" fmla="*/ 0 60000 65536"/>
              <a:gd name="T11" fmla="*/ 0 60000 65536"/>
              <a:gd name="T12" fmla="*/ 0 w 142"/>
              <a:gd name="T13" fmla="*/ 0 h 312"/>
              <a:gd name="T14" fmla="*/ 142 w 142"/>
              <a:gd name="T15" fmla="*/ 312 h 312"/>
            </a:gdLst>
            <a:ahLst/>
            <a:cxnLst>
              <a:cxn ang="T8">
                <a:pos x="T0" y="T1"/>
              </a:cxn>
              <a:cxn ang="T9">
                <a:pos x="T2" y="T3"/>
              </a:cxn>
              <a:cxn ang="T10">
                <a:pos x="T4" y="T5"/>
              </a:cxn>
              <a:cxn ang="T11">
                <a:pos x="T6" y="T7"/>
              </a:cxn>
            </a:cxnLst>
            <a:rect l="T12" t="T13" r="T14" b="T15"/>
            <a:pathLst>
              <a:path w="142" h="312">
                <a:moveTo>
                  <a:pt x="0" y="312"/>
                </a:moveTo>
                <a:cubicBezTo>
                  <a:pt x="18" y="301"/>
                  <a:pt x="83" y="272"/>
                  <a:pt x="107" y="246"/>
                </a:cubicBezTo>
                <a:cubicBezTo>
                  <a:pt x="131" y="220"/>
                  <a:pt x="142" y="196"/>
                  <a:pt x="142" y="155"/>
                </a:cubicBezTo>
                <a:cubicBezTo>
                  <a:pt x="142" y="114"/>
                  <a:pt x="115" y="32"/>
                  <a:pt x="108" y="0"/>
                </a:cubicBezTo>
              </a:path>
            </a:pathLst>
          </a:custGeom>
          <a:noFill/>
          <a:ln w="38100">
            <a:solidFill>
              <a:srgbClr val="333DFF"/>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0" name="Freeform 141"/>
          <p:cNvSpPr>
            <a:spLocks/>
          </p:cNvSpPr>
          <p:nvPr/>
        </p:nvSpPr>
        <p:spPr bwMode="auto">
          <a:xfrm>
            <a:off x="3352800" y="3321050"/>
            <a:ext cx="192088" cy="536575"/>
          </a:xfrm>
          <a:custGeom>
            <a:avLst/>
            <a:gdLst>
              <a:gd name="T0" fmla="*/ 0 w 121"/>
              <a:gd name="T1" fmla="*/ 2147483647 h 338"/>
              <a:gd name="T2" fmla="*/ 2147483647 w 121"/>
              <a:gd name="T3" fmla="*/ 2147483647 h 338"/>
              <a:gd name="T4" fmla="*/ 2147483647 w 121"/>
              <a:gd name="T5" fmla="*/ 2147483647 h 338"/>
              <a:gd name="T6" fmla="*/ 2147483647 w 121"/>
              <a:gd name="T7" fmla="*/ 0 h 338"/>
              <a:gd name="T8" fmla="*/ 0 60000 65536"/>
              <a:gd name="T9" fmla="*/ 0 60000 65536"/>
              <a:gd name="T10" fmla="*/ 0 60000 65536"/>
              <a:gd name="T11" fmla="*/ 0 60000 65536"/>
              <a:gd name="T12" fmla="*/ 0 w 121"/>
              <a:gd name="T13" fmla="*/ 0 h 338"/>
              <a:gd name="T14" fmla="*/ 121 w 121"/>
              <a:gd name="T15" fmla="*/ 338 h 338"/>
            </a:gdLst>
            <a:ahLst/>
            <a:cxnLst>
              <a:cxn ang="T8">
                <a:pos x="T0" y="T1"/>
              </a:cxn>
              <a:cxn ang="T9">
                <a:pos x="T2" y="T3"/>
              </a:cxn>
              <a:cxn ang="T10">
                <a:pos x="T4" y="T5"/>
              </a:cxn>
              <a:cxn ang="T11">
                <a:pos x="T6" y="T7"/>
              </a:cxn>
            </a:cxnLst>
            <a:rect l="T12" t="T13" r="T14" b="T15"/>
            <a:pathLst>
              <a:path w="121" h="338">
                <a:moveTo>
                  <a:pt x="0" y="338"/>
                </a:moveTo>
                <a:cubicBezTo>
                  <a:pt x="17" y="321"/>
                  <a:pt x="83" y="269"/>
                  <a:pt x="102" y="236"/>
                </a:cubicBezTo>
                <a:cubicBezTo>
                  <a:pt x="121" y="203"/>
                  <a:pt x="115" y="179"/>
                  <a:pt x="114" y="140"/>
                </a:cubicBezTo>
                <a:cubicBezTo>
                  <a:pt x="113" y="101"/>
                  <a:pt x="99" y="29"/>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1" name="Freeform 136"/>
          <p:cNvSpPr>
            <a:spLocks/>
          </p:cNvSpPr>
          <p:nvPr/>
        </p:nvSpPr>
        <p:spPr bwMode="auto">
          <a:xfrm>
            <a:off x="1296988" y="3457575"/>
            <a:ext cx="150812" cy="549275"/>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2" name="Freeform 137"/>
          <p:cNvSpPr>
            <a:spLocks/>
          </p:cNvSpPr>
          <p:nvPr/>
        </p:nvSpPr>
        <p:spPr bwMode="auto">
          <a:xfrm>
            <a:off x="1543050" y="3457575"/>
            <a:ext cx="314325" cy="409575"/>
          </a:xfrm>
          <a:custGeom>
            <a:avLst/>
            <a:gdLst>
              <a:gd name="T0" fmla="*/ 2147483647 w 198"/>
              <a:gd name="T1" fmla="*/ 2147483647 h 258"/>
              <a:gd name="T2" fmla="*/ 2147483647 w 198"/>
              <a:gd name="T3" fmla="*/ 2147483647 h 258"/>
              <a:gd name="T4" fmla="*/ 2147483647 w 198"/>
              <a:gd name="T5" fmla="*/ 2147483647 h 258"/>
              <a:gd name="T6" fmla="*/ 0 w 198"/>
              <a:gd name="T7" fmla="*/ 0 h 258"/>
              <a:gd name="T8" fmla="*/ 0 60000 65536"/>
              <a:gd name="T9" fmla="*/ 0 60000 65536"/>
              <a:gd name="T10" fmla="*/ 0 60000 65536"/>
              <a:gd name="T11" fmla="*/ 0 60000 65536"/>
              <a:gd name="T12" fmla="*/ 0 w 198"/>
              <a:gd name="T13" fmla="*/ 0 h 258"/>
              <a:gd name="T14" fmla="*/ 198 w 198"/>
              <a:gd name="T15" fmla="*/ 258 h 258"/>
            </a:gdLst>
            <a:ahLst/>
            <a:cxnLst>
              <a:cxn ang="T8">
                <a:pos x="T0" y="T1"/>
              </a:cxn>
              <a:cxn ang="T9">
                <a:pos x="T2" y="T3"/>
              </a:cxn>
              <a:cxn ang="T10">
                <a:pos x="T4" y="T5"/>
              </a:cxn>
              <a:cxn ang="T11">
                <a:pos x="T6" y="T7"/>
              </a:cxn>
            </a:cxnLst>
            <a:rect l="T12" t="T13" r="T14" b="T15"/>
            <a:pathLst>
              <a:path w="198" h="258">
                <a:moveTo>
                  <a:pt x="198" y="258"/>
                </a:moveTo>
                <a:cubicBezTo>
                  <a:pt x="193" y="242"/>
                  <a:pt x="185" y="194"/>
                  <a:pt x="168" y="162"/>
                </a:cubicBezTo>
                <a:cubicBezTo>
                  <a:pt x="151" y="130"/>
                  <a:pt x="124" y="93"/>
                  <a:pt x="96" y="66"/>
                </a:cubicBezTo>
                <a:cubicBezTo>
                  <a:pt x="68" y="39"/>
                  <a:pt x="20" y="14"/>
                  <a:pt x="0"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3" name="Freeform 138"/>
          <p:cNvSpPr>
            <a:spLocks/>
          </p:cNvSpPr>
          <p:nvPr/>
        </p:nvSpPr>
        <p:spPr bwMode="auto">
          <a:xfrm>
            <a:off x="1895475" y="3562350"/>
            <a:ext cx="190500" cy="285750"/>
          </a:xfrm>
          <a:custGeom>
            <a:avLst/>
            <a:gdLst>
              <a:gd name="T0" fmla="*/ 0 w 120"/>
              <a:gd name="T1" fmla="*/ 2147483647 h 180"/>
              <a:gd name="T2" fmla="*/ 2147483647 w 120"/>
              <a:gd name="T3" fmla="*/ 2147483647 h 180"/>
              <a:gd name="T4" fmla="*/ 2147483647 w 120"/>
              <a:gd name="T5" fmla="*/ 2147483647 h 180"/>
              <a:gd name="T6" fmla="*/ 2147483647 w 120"/>
              <a:gd name="T7" fmla="*/ 0 h 180"/>
              <a:gd name="T8" fmla="*/ 0 60000 65536"/>
              <a:gd name="T9" fmla="*/ 0 60000 65536"/>
              <a:gd name="T10" fmla="*/ 0 60000 65536"/>
              <a:gd name="T11" fmla="*/ 0 60000 65536"/>
              <a:gd name="T12" fmla="*/ 0 w 120"/>
              <a:gd name="T13" fmla="*/ 0 h 180"/>
              <a:gd name="T14" fmla="*/ 120 w 120"/>
              <a:gd name="T15" fmla="*/ 180 h 180"/>
            </a:gdLst>
            <a:ahLst/>
            <a:cxnLst>
              <a:cxn ang="T8">
                <a:pos x="T0" y="T1"/>
              </a:cxn>
              <a:cxn ang="T9">
                <a:pos x="T2" y="T3"/>
              </a:cxn>
              <a:cxn ang="T10">
                <a:pos x="T4" y="T5"/>
              </a:cxn>
              <a:cxn ang="T11">
                <a:pos x="T6" y="T7"/>
              </a:cxn>
            </a:cxnLst>
            <a:rect l="T12" t="T13" r="T14" b="T15"/>
            <a:pathLst>
              <a:path w="120" h="180">
                <a:moveTo>
                  <a:pt x="0" y="180"/>
                </a:moveTo>
                <a:cubicBezTo>
                  <a:pt x="1" y="167"/>
                  <a:pt x="1" y="126"/>
                  <a:pt x="6" y="108"/>
                </a:cubicBezTo>
                <a:cubicBezTo>
                  <a:pt x="11" y="90"/>
                  <a:pt x="11" y="90"/>
                  <a:pt x="30" y="72"/>
                </a:cubicBezTo>
                <a:cubicBezTo>
                  <a:pt x="49" y="54"/>
                  <a:pt x="101" y="15"/>
                  <a:pt x="120"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4" name="Freeform 139"/>
          <p:cNvSpPr>
            <a:spLocks/>
          </p:cNvSpPr>
          <p:nvPr/>
        </p:nvSpPr>
        <p:spPr bwMode="auto">
          <a:xfrm flipH="1">
            <a:off x="1920875" y="3835400"/>
            <a:ext cx="69850" cy="549275"/>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5" name="Freeform 140"/>
          <p:cNvSpPr>
            <a:spLocks/>
          </p:cNvSpPr>
          <p:nvPr/>
        </p:nvSpPr>
        <p:spPr bwMode="auto">
          <a:xfrm>
            <a:off x="3132138" y="3816350"/>
            <a:ext cx="188912" cy="425450"/>
          </a:xfrm>
          <a:custGeom>
            <a:avLst/>
            <a:gdLst>
              <a:gd name="T0" fmla="*/ 2147483647 w 95"/>
              <a:gd name="T1" fmla="*/ 2147483647 h 346"/>
              <a:gd name="T2" fmla="*/ 2147483647 w 95"/>
              <a:gd name="T3" fmla="*/ 2147483647 h 346"/>
              <a:gd name="T4" fmla="*/ 2147483647 w 95"/>
              <a:gd name="T5" fmla="*/ 2147483647 h 346"/>
              <a:gd name="T6" fmla="*/ 2147483647 w 95"/>
              <a:gd name="T7" fmla="*/ 0 h 346"/>
              <a:gd name="T8" fmla="*/ 0 60000 65536"/>
              <a:gd name="T9" fmla="*/ 0 60000 65536"/>
              <a:gd name="T10" fmla="*/ 0 60000 65536"/>
              <a:gd name="T11" fmla="*/ 0 60000 65536"/>
              <a:gd name="T12" fmla="*/ 0 w 95"/>
              <a:gd name="T13" fmla="*/ 0 h 346"/>
              <a:gd name="T14" fmla="*/ 95 w 95"/>
              <a:gd name="T15" fmla="*/ 346 h 346"/>
            </a:gdLst>
            <a:ahLst/>
            <a:cxnLst>
              <a:cxn ang="T8">
                <a:pos x="T0" y="T1"/>
              </a:cxn>
              <a:cxn ang="T9">
                <a:pos x="T2" y="T3"/>
              </a:cxn>
              <a:cxn ang="T10">
                <a:pos x="T4" y="T5"/>
              </a:cxn>
              <a:cxn ang="T11">
                <a:pos x="T6" y="T7"/>
              </a:cxn>
            </a:cxnLst>
            <a:rect l="T12" t="T13" r="T14" b="T15"/>
            <a:pathLst>
              <a:path w="95" h="346">
                <a:moveTo>
                  <a:pt x="13" y="346"/>
                </a:moveTo>
                <a:cubicBezTo>
                  <a:pt x="11" y="327"/>
                  <a:pt x="0" y="262"/>
                  <a:pt x="1" y="229"/>
                </a:cubicBezTo>
                <a:cubicBezTo>
                  <a:pt x="2" y="196"/>
                  <a:pt x="3" y="183"/>
                  <a:pt x="19" y="145"/>
                </a:cubicBezTo>
                <a:cubicBezTo>
                  <a:pt x="35" y="107"/>
                  <a:pt x="79" y="30"/>
                  <a:pt x="95"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6" name="Freeform 142"/>
          <p:cNvSpPr>
            <a:spLocks/>
          </p:cNvSpPr>
          <p:nvPr/>
        </p:nvSpPr>
        <p:spPr bwMode="auto">
          <a:xfrm>
            <a:off x="3581400" y="3298825"/>
            <a:ext cx="647700" cy="320675"/>
          </a:xfrm>
          <a:custGeom>
            <a:avLst/>
            <a:gdLst>
              <a:gd name="T0" fmla="*/ 0 w 408"/>
              <a:gd name="T1" fmla="*/ 2147483647 h 202"/>
              <a:gd name="T2" fmla="*/ 2147483647 w 408"/>
              <a:gd name="T3" fmla="*/ 2147483647 h 202"/>
              <a:gd name="T4" fmla="*/ 2147483647 w 408"/>
              <a:gd name="T5" fmla="*/ 2147483647 h 202"/>
              <a:gd name="T6" fmla="*/ 2147483647 w 408"/>
              <a:gd name="T7" fmla="*/ 2147483647 h 202"/>
              <a:gd name="T8" fmla="*/ 0 60000 65536"/>
              <a:gd name="T9" fmla="*/ 0 60000 65536"/>
              <a:gd name="T10" fmla="*/ 0 60000 65536"/>
              <a:gd name="T11" fmla="*/ 0 60000 65536"/>
              <a:gd name="T12" fmla="*/ 0 w 408"/>
              <a:gd name="T13" fmla="*/ 0 h 202"/>
              <a:gd name="T14" fmla="*/ 408 w 408"/>
              <a:gd name="T15" fmla="*/ 202 h 202"/>
            </a:gdLst>
            <a:ahLst/>
            <a:cxnLst>
              <a:cxn ang="T8">
                <a:pos x="T0" y="T1"/>
              </a:cxn>
              <a:cxn ang="T9">
                <a:pos x="T2" y="T3"/>
              </a:cxn>
              <a:cxn ang="T10">
                <a:pos x="T4" y="T5"/>
              </a:cxn>
              <a:cxn ang="T11">
                <a:pos x="T6" y="T7"/>
              </a:cxn>
            </a:cxnLst>
            <a:rect l="T12" t="T13" r="T14" b="T15"/>
            <a:pathLst>
              <a:path w="408" h="202">
                <a:moveTo>
                  <a:pt x="0" y="24"/>
                </a:moveTo>
                <a:cubicBezTo>
                  <a:pt x="28" y="22"/>
                  <a:pt x="116" y="0"/>
                  <a:pt x="168" y="10"/>
                </a:cubicBezTo>
                <a:cubicBezTo>
                  <a:pt x="220" y="20"/>
                  <a:pt x="272" y="50"/>
                  <a:pt x="312" y="82"/>
                </a:cubicBezTo>
                <a:cubicBezTo>
                  <a:pt x="352" y="114"/>
                  <a:pt x="388" y="177"/>
                  <a:pt x="408" y="202"/>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17" name="Freeform 143"/>
          <p:cNvSpPr>
            <a:spLocks/>
          </p:cNvSpPr>
          <p:nvPr/>
        </p:nvSpPr>
        <p:spPr bwMode="auto">
          <a:xfrm>
            <a:off x="3790950" y="3629025"/>
            <a:ext cx="409575" cy="850900"/>
          </a:xfrm>
          <a:custGeom>
            <a:avLst/>
            <a:gdLst>
              <a:gd name="T0" fmla="*/ 0 w 258"/>
              <a:gd name="T1" fmla="*/ 2147483647 h 536"/>
              <a:gd name="T2" fmla="*/ 2147483647 w 258"/>
              <a:gd name="T3" fmla="*/ 2147483647 h 536"/>
              <a:gd name="T4" fmla="*/ 2147483647 w 258"/>
              <a:gd name="T5" fmla="*/ 2147483647 h 536"/>
              <a:gd name="T6" fmla="*/ 2147483647 w 258"/>
              <a:gd name="T7" fmla="*/ 0 h 536"/>
              <a:gd name="T8" fmla="*/ 0 60000 65536"/>
              <a:gd name="T9" fmla="*/ 0 60000 65536"/>
              <a:gd name="T10" fmla="*/ 0 60000 65536"/>
              <a:gd name="T11" fmla="*/ 0 60000 65536"/>
              <a:gd name="T12" fmla="*/ 0 w 258"/>
              <a:gd name="T13" fmla="*/ 0 h 536"/>
              <a:gd name="T14" fmla="*/ 258 w 258"/>
              <a:gd name="T15" fmla="*/ 536 h 536"/>
            </a:gdLst>
            <a:ahLst/>
            <a:cxnLst>
              <a:cxn ang="T8">
                <a:pos x="T0" y="T1"/>
              </a:cxn>
              <a:cxn ang="T9">
                <a:pos x="T2" y="T3"/>
              </a:cxn>
              <a:cxn ang="T10">
                <a:pos x="T4" y="T5"/>
              </a:cxn>
              <a:cxn ang="T11">
                <a:pos x="T6" y="T7"/>
              </a:cxn>
            </a:cxnLst>
            <a:rect l="T12" t="T13" r="T14" b="T15"/>
            <a:pathLst>
              <a:path w="258" h="536">
                <a:moveTo>
                  <a:pt x="0" y="536"/>
                </a:moveTo>
                <a:cubicBezTo>
                  <a:pt x="6" y="500"/>
                  <a:pt x="18" y="379"/>
                  <a:pt x="36" y="318"/>
                </a:cubicBezTo>
                <a:cubicBezTo>
                  <a:pt x="54" y="257"/>
                  <a:pt x="71" y="221"/>
                  <a:pt x="108" y="168"/>
                </a:cubicBezTo>
                <a:cubicBezTo>
                  <a:pt x="145" y="115"/>
                  <a:pt x="227" y="35"/>
                  <a:pt x="258" y="0"/>
                </a:cubicBezTo>
              </a:path>
            </a:pathLst>
          </a:custGeom>
          <a:noFill/>
          <a:ln w="38100">
            <a:solidFill>
              <a:srgbClr val="33CC33"/>
            </a:solidFill>
            <a:prstDash val="sysDot"/>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18" name="Group 163"/>
          <p:cNvGrpSpPr>
            <a:grpSpLocks/>
          </p:cNvGrpSpPr>
          <p:nvPr/>
        </p:nvGrpSpPr>
        <p:grpSpPr bwMode="auto">
          <a:xfrm>
            <a:off x="5867400" y="4786313"/>
            <a:ext cx="3200400" cy="1169987"/>
            <a:chOff x="3809" y="3294"/>
            <a:chExt cx="1701" cy="737"/>
          </a:xfrm>
        </p:grpSpPr>
        <p:sp>
          <p:nvSpPr>
            <p:cNvPr id="646" name="AutoShape 133"/>
            <p:cNvSpPr>
              <a:spLocks noChangeArrowheads="1"/>
            </p:cNvSpPr>
            <p:nvPr/>
          </p:nvSpPr>
          <p:spPr bwMode="auto">
            <a:xfrm>
              <a:off x="3809" y="3391"/>
              <a:ext cx="431" cy="236"/>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00 h 21600"/>
                <a:gd name="T14" fmla="*/ 18894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47" name="Text Box 136"/>
            <p:cNvSpPr txBox="1">
              <a:spLocks noChangeArrowheads="1"/>
            </p:cNvSpPr>
            <p:nvPr/>
          </p:nvSpPr>
          <p:spPr bwMode="auto">
            <a:xfrm>
              <a:off x="4240" y="3294"/>
              <a:ext cx="1270" cy="737"/>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US" sz="1400" b="0" kern="0" dirty="0">
                  <a:solidFill>
                    <a:srgbClr val="000000"/>
                  </a:solidFill>
                  <a:latin typeface="Arial" charset="0"/>
                </a:rPr>
                <a:t>Moving vehicles connect ad-hoc to each other and to access points of the ambient infra structure</a:t>
              </a:r>
            </a:p>
            <a:p>
              <a:pPr algn="l" eaLnBrk="1" fontAlgn="auto" hangingPunct="1">
                <a:spcBef>
                  <a:spcPct val="0"/>
                </a:spcBef>
                <a:spcAft>
                  <a:spcPts val="0"/>
                </a:spcAft>
                <a:buClrTx/>
                <a:defRPr/>
              </a:pPr>
              <a:r>
                <a:rPr lang="en-US" sz="1400" b="0" i="1" kern="0" dirty="0">
                  <a:solidFill>
                    <a:srgbClr val="000000"/>
                  </a:solidFill>
                  <a:latin typeface="Arial" charset="0"/>
                </a:rPr>
                <a:t>Technology: IEEE 802.11p</a:t>
              </a:r>
            </a:p>
          </p:txBody>
        </p:sp>
      </p:grpSp>
      <p:grpSp>
        <p:nvGrpSpPr>
          <p:cNvPr id="8219" name="Group 164"/>
          <p:cNvGrpSpPr>
            <a:grpSpLocks/>
          </p:cNvGrpSpPr>
          <p:nvPr/>
        </p:nvGrpSpPr>
        <p:grpSpPr bwMode="auto">
          <a:xfrm>
            <a:off x="5943600" y="3109913"/>
            <a:ext cx="3125788" cy="954087"/>
            <a:chOff x="3809" y="2251"/>
            <a:chExt cx="1744" cy="601"/>
          </a:xfrm>
        </p:grpSpPr>
        <p:sp>
          <p:nvSpPr>
            <p:cNvPr id="649" name="AutoShape 134"/>
            <p:cNvSpPr>
              <a:spLocks noChangeArrowheads="1"/>
            </p:cNvSpPr>
            <p:nvPr/>
          </p:nvSpPr>
          <p:spPr bwMode="auto">
            <a:xfrm>
              <a:off x="3809" y="2411"/>
              <a:ext cx="431" cy="235"/>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23 h 21600"/>
                <a:gd name="T14" fmla="*/ 18894 w 21600"/>
                <a:gd name="T15" fmla="*/ 16177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50" name="Text Box 137"/>
            <p:cNvSpPr txBox="1">
              <a:spLocks noChangeArrowheads="1"/>
            </p:cNvSpPr>
            <p:nvPr/>
          </p:nvSpPr>
          <p:spPr bwMode="auto">
            <a:xfrm>
              <a:off x="4276" y="2251"/>
              <a:ext cx="1277" cy="601"/>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GB" sz="1400" b="0" kern="0" dirty="0">
                  <a:solidFill>
                    <a:srgbClr val="000000"/>
                  </a:solidFill>
                  <a:latin typeface="Arial" charset="0"/>
                </a:rPr>
                <a:t>Road side units (RSUs, network central devices) are connected to the Internet</a:t>
              </a:r>
            </a:p>
          </p:txBody>
        </p:sp>
      </p:grpSp>
      <p:grpSp>
        <p:nvGrpSpPr>
          <p:cNvPr id="8220" name="Group 165"/>
          <p:cNvGrpSpPr>
            <a:grpSpLocks/>
          </p:cNvGrpSpPr>
          <p:nvPr/>
        </p:nvGrpSpPr>
        <p:grpSpPr bwMode="auto">
          <a:xfrm>
            <a:off x="6096000" y="1738313"/>
            <a:ext cx="2700338" cy="954087"/>
            <a:chOff x="3809" y="1343"/>
            <a:chExt cx="1701" cy="601"/>
          </a:xfrm>
        </p:grpSpPr>
        <p:sp>
          <p:nvSpPr>
            <p:cNvPr id="652" name="AutoShape 135"/>
            <p:cNvSpPr>
              <a:spLocks noChangeArrowheads="1"/>
            </p:cNvSpPr>
            <p:nvPr/>
          </p:nvSpPr>
          <p:spPr bwMode="auto">
            <a:xfrm>
              <a:off x="3809" y="1509"/>
              <a:ext cx="431" cy="235"/>
            </a:xfrm>
            <a:custGeom>
              <a:avLst/>
              <a:gdLst>
                <a:gd name="T0" fmla="*/ 6 w 21600"/>
                <a:gd name="T1" fmla="*/ 0 h 21600"/>
                <a:gd name="T2" fmla="*/ 0 w 21600"/>
                <a:gd name="T3" fmla="*/ 1 h 21600"/>
                <a:gd name="T4" fmla="*/ 6 w 21600"/>
                <a:gd name="T5" fmla="*/ 3 h 21600"/>
                <a:gd name="T6" fmla="*/ 9 w 21600"/>
                <a:gd name="T7" fmla="*/ 1 h 21600"/>
                <a:gd name="T8" fmla="*/ 17694720 60000 65536"/>
                <a:gd name="T9" fmla="*/ 11796480 60000 65536"/>
                <a:gd name="T10" fmla="*/ 5898240 60000 65536"/>
                <a:gd name="T11" fmla="*/ 0 60000 65536"/>
                <a:gd name="T12" fmla="*/ 3358 w 21600"/>
                <a:gd name="T13" fmla="*/ 5423 h 21600"/>
                <a:gd name="T14" fmla="*/ 18894 w 21600"/>
                <a:gd name="T15" fmla="*/ 16177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EAEAEA"/>
            </a:solidFill>
            <a:ln w="9525">
              <a:solidFill>
                <a:srgbClr val="000000"/>
              </a:solidFill>
              <a:miter lim="800000"/>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sp>
          <p:nvSpPr>
            <p:cNvPr id="653" name="Text Box 138"/>
            <p:cNvSpPr txBox="1">
              <a:spLocks noChangeArrowheads="1"/>
            </p:cNvSpPr>
            <p:nvPr/>
          </p:nvSpPr>
          <p:spPr bwMode="auto">
            <a:xfrm>
              <a:off x="4377" y="1343"/>
              <a:ext cx="1133" cy="601"/>
            </a:xfrm>
            <a:prstGeom prst="rect">
              <a:avLst/>
            </a:prstGeom>
            <a:noFill/>
            <a:ln w="9525">
              <a:noFill/>
              <a:miter lim="800000"/>
              <a:headEnd/>
              <a:tailEnd/>
            </a:ln>
          </p:spPr>
          <p:txBody>
            <a:bodyPr>
              <a:spAutoFit/>
            </a:bodyPr>
            <a:lstStyle/>
            <a:p>
              <a:pPr algn="l" eaLnBrk="1" fontAlgn="auto" hangingPunct="1">
                <a:spcBef>
                  <a:spcPct val="0"/>
                </a:spcBef>
                <a:spcAft>
                  <a:spcPts val="0"/>
                </a:spcAft>
                <a:buClrTx/>
                <a:defRPr/>
              </a:pPr>
              <a:r>
                <a:rPr lang="en-GB" sz="1400" b="0" kern="0" dirty="0">
                  <a:solidFill>
                    <a:srgbClr val="000000"/>
                  </a:solidFill>
                  <a:latin typeface="Arial" charset="0"/>
                </a:rPr>
                <a:t>IP-based n</a:t>
              </a:r>
              <a:r>
                <a:rPr lang="en-GB" sz="1400" b="0" kern="0" dirty="0" err="1">
                  <a:solidFill>
                    <a:srgbClr val="000000"/>
                  </a:solidFill>
                  <a:latin typeface="Arial" charset="0"/>
                </a:rPr>
                <a:t>etwork</a:t>
              </a:r>
              <a:r>
                <a:rPr lang="en-GB" sz="1400" b="0" kern="0" dirty="0">
                  <a:solidFill>
                    <a:srgbClr val="000000"/>
                  </a:solidFill>
                  <a:latin typeface="Arial" charset="0"/>
                </a:rPr>
                <a:t> with wide-area coverage, wireless or wired</a:t>
              </a:r>
              <a:endParaRPr lang="en-US" sz="1400" b="0" kern="0" dirty="0">
                <a:solidFill>
                  <a:srgbClr val="000000"/>
                </a:solidFill>
                <a:latin typeface="Arial" charset="0"/>
              </a:endParaRPr>
            </a:p>
          </p:txBody>
        </p:sp>
      </p:grpSp>
      <p:sp>
        <p:nvSpPr>
          <p:cNvPr id="8221" name="Freeform 123"/>
          <p:cNvSpPr>
            <a:spLocks/>
          </p:cNvSpPr>
          <p:nvPr/>
        </p:nvSpPr>
        <p:spPr bwMode="auto">
          <a:xfrm rot="4370162">
            <a:off x="2153444" y="5139531"/>
            <a:ext cx="571500" cy="1500188"/>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8222" name="Freeform 123"/>
          <p:cNvSpPr>
            <a:spLocks/>
          </p:cNvSpPr>
          <p:nvPr/>
        </p:nvSpPr>
        <p:spPr bwMode="auto">
          <a:xfrm rot="3982691">
            <a:off x="3613944" y="4866482"/>
            <a:ext cx="571500" cy="1243012"/>
          </a:xfrm>
          <a:custGeom>
            <a:avLst/>
            <a:gdLst>
              <a:gd name="T0" fmla="*/ 0 w 157"/>
              <a:gd name="T1" fmla="*/ 2147483647 h 758"/>
              <a:gd name="T2" fmla="*/ 2147483647 w 157"/>
              <a:gd name="T3" fmla="*/ 2147483647 h 758"/>
              <a:gd name="T4" fmla="*/ 2147483647 w 157"/>
              <a:gd name="T5" fmla="*/ 0 h 758"/>
              <a:gd name="T6" fmla="*/ 0 60000 65536"/>
              <a:gd name="T7" fmla="*/ 0 60000 65536"/>
              <a:gd name="T8" fmla="*/ 0 60000 65536"/>
              <a:gd name="T9" fmla="*/ 0 w 157"/>
              <a:gd name="T10" fmla="*/ 0 h 758"/>
              <a:gd name="T11" fmla="*/ 157 w 157"/>
              <a:gd name="T12" fmla="*/ 758 h 758"/>
            </a:gdLst>
            <a:ahLst/>
            <a:cxnLst>
              <a:cxn ang="T6">
                <a:pos x="T0" y="T1"/>
              </a:cxn>
              <a:cxn ang="T7">
                <a:pos x="T2" y="T3"/>
              </a:cxn>
              <a:cxn ang="T8">
                <a:pos x="T4" y="T5"/>
              </a:cxn>
            </a:cxnLst>
            <a:rect l="T9" t="T10" r="T11" b="T12"/>
            <a:pathLst>
              <a:path w="157" h="758">
                <a:moveTo>
                  <a:pt x="0" y="758"/>
                </a:moveTo>
                <a:cubicBezTo>
                  <a:pt x="25" y="694"/>
                  <a:pt x="137" y="498"/>
                  <a:pt x="147" y="372"/>
                </a:cubicBezTo>
                <a:cubicBezTo>
                  <a:pt x="157" y="246"/>
                  <a:pt x="80" y="77"/>
                  <a:pt x="63" y="0"/>
                </a:cubicBezTo>
              </a:path>
            </a:pathLst>
          </a:custGeom>
          <a:noFill/>
          <a:ln w="9525">
            <a:solidFill>
              <a:srgbClr val="FF0000"/>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grpSp>
        <p:nvGrpSpPr>
          <p:cNvPr id="8223" name="Group 201"/>
          <p:cNvGrpSpPr>
            <a:grpSpLocks/>
          </p:cNvGrpSpPr>
          <p:nvPr/>
        </p:nvGrpSpPr>
        <p:grpSpPr bwMode="auto">
          <a:xfrm>
            <a:off x="1633538" y="4724400"/>
            <a:ext cx="1033462" cy="628650"/>
            <a:chOff x="731" y="3545"/>
            <a:chExt cx="651" cy="396"/>
          </a:xfrm>
        </p:grpSpPr>
        <p:grpSp>
          <p:nvGrpSpPr>
            <p:cNvPr id="8240" name="Group 4"/>
            <p:cNvGrpSpPr>
              <a:grpSpLocks/>
            </p:cNvGrpSpPr>
            <p:nvPr/>
          </p:nvGrpSpPr>
          <p:grpSpPr bwMode="auto">
            <a:xfrm>
              <a:off x="1030" y="3545"/>
              <a:ext cx="352" cy="396"/>
              <a:chOff x="793" y="2296"/>
              <a:chExt cx="998" cy="1088"/>
            </a:xfrm>
          </p:grpSpPr>
          <p:sp>
            <p:nvSpPr>
              <p:cNvPr id="171"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72"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70"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4" name="Group 201"/>
          <p:cNvGrpSpPr>
            <a:grpSpLocks/>
          </p:cNvGrpSpPr>
          <p:nvPr/>
        </p:nvGrpSpPr>
        <p:grpSpPr bwMode="auto">
          <a:xfrm>
            <a:off x="2395538" y="5105400"/>
            <a:ext cx="1033462" cy="628650"/>
            <a:chOff x="731" y="3545"/>
            <a:chExt cx="651" cy="396"/>
          </a:xfrm>
        </p:grpSpPr>
        <p:grpSp>
          <p:nvGrpSpPr>
            <p:cNvPr id="8236" name="Group 4"/>
            <p:cNvGrpSpPr>
              <a:grpSpLocks/>
            </p:cNvGrpSpPr>
            <p:nvPr/>
          </p:nvGrpSpPr>
          <p:grpSpPr bwMode="auto">
            <a:xfrm>
              <a:off x="1030" y="3545"/>
              <a:ext cx="352" cy="396"/>
              <a:chOff x="793" y="2296"/>
              <a:chExt cx="998" cy="1088"/>
            </a:xfrm>
          </p:grpSpPr>
          <p:sp>
            <p:nvSpPr>
              <p:cNvPr id="176"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77"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75"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5" name="Group 201"/>
          <p:cNvGrpSpPr>
            <a:grpSpLocks/>
          </p:cNvGrpSpPr>
          <p:nvPr/>
        </p:nvGrpSpPr>
        <p:grpSpPr bwMode="auto">
          <a:xfrm>
            <a:off x="3690938" y="4705350"/>
            <a:ext cx="1033462" cy="628650"/>
            <a:chOff x="731" y="3545"/>
            <a:chExt cx="651" cy="396"/>
          </a:xfrm>
        </p:grpSpPr>
        <p:grpSp>
          <p:nvGrpSpPr>
            <p:cNvPr id="8232" name="Group 4"/>
            <p:cNvGrpSpPr>
              <a:grpSpLocks/>
            </p:cNvGrpSpPr>
            <p:nvPr/>
          </p:nvGrpSpPr>
          <p:grpSpPr bwMode="auto">
            <a:xfrm>
              <a:off x="1030" y="3545"/>
              <a:ext cx="352" cy="396"/>
              <a:chOff x="793" y="2296"/>
              <a:chExt cx="998" cy="1088"/>
            </a:xfrm>
          </p:grpSpPr>
          <p:sp>
            <p:nvSpPr>
              <p:cNvPr id="181"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82"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80"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grpSp>
        <p:nvGrpSpPr>
          <p:cNvPr id="8226" name="Group 201"/>
          <p:cNvGrpSpPr>
            <a:grpSpLocks/>
          </p:cNvGrpSpPr>
          <p:nvPr/>
        </p:nvGrpSpPr>
        <p:grpSpPr bwMode="auto">
          <a:xfrm>
            <a:off x="3386138" y="5562600"/>
            <a:ext cx="1033462" cy="628650"/>
            <a:chOff x="731" y="3545"/>
            <a:chExt cx="651" cy="396"/>
          </a:xfrm>
        </p:grpSpPr>
        <p:grpSp>
          <p:nvGrpSpPr>
            <p:cNvPr id="8228" name="Group 4"/>
            <p:cNvGrpSpPr>
              <a:grpSpLocks/>
            </p:cNvGrpSpPr>
            <p:nvPr/>
          </p:nvGrpSpPr>
          <p:grpSpPr bwMode="auto">
            <a:xfrm>
              <a:off x="1030" y="3545"/>
              <a:ext cx="352" cy="396"/>
              <a:chOff x="793" y="2296"/>
              <a:chExt cx="998" cy="1088"/>
            </a:xfrm>
          </p:grpSpPr>
          <p:sp>
            <p:nvSpPr>
              <p:cNvPr id="186" name="Oval 14"/>
              <p:cNvSpPr>
                <a:spLocks noChangeArrowheads="1"/>
              </p:cNvSpPr>
              <p:nvPr/>
            </p:nvSpPr>
            <p:spPr bwMode="auto">
              <a:xfrm>
                <a:off x="1201" y="2931"/>
                <a:ext cx="159" cy="159"/>
              </a:xfrm>
              <a:prstGeom prst="ellipse">
                <a:avLst/>
              </a:prstGeom>
              <a:gradFill rotWithShape="1">
                <a:gsLst>
                  <a:gs pos="0">
                    <a:srgbClr val="FFFFFF"/>
                  </a:gs>
                  <a:gs pos="100000">
                    <a:srgbClr val="FFFFFF">
                      <a:gamma/>
                      <a:shade val="44314"/>
                      <a:invGamma/>
                    </a:srgbClr>
                  </a:gs>
                </a:gsLst>
                <a:path path="shape">
                  <a:fillToRect l="50000" t="50000" r="50000" b="50000"/>
                </a:path>
              </a:gradFill>
              <a:ln w="9525">
                <a:solidFill>
                  <a:srgbClr val="808080"/>
                </a:solidFill>
                <a:round/>
                <a:headEnd/>
                <a:tailEnd/>
              </a:ln>
              <a:effectLst/>
            </p:spPr>
            <p:txBody>
              <a:bodyPr wrap="none" anchor="ctr"/>
              <a:lstStyle/>
              <a:p>
                <a:pPr algn="l" eaLnBrk="1" fontAlgn="auto" hangingPunct="1">
                  <a:spcBef>
                    <a:spcPct val="0"/>
                  </a:spcBef>
                  <a:spcAft>
                    <a:spcPts val="0"/>
                  </a:spcAft>
                  <a:buClrTx/>
                  <a:defRPr/>
                </a:pPr>
                <a:endParaRPr lang="en-GB" sz="1800" b="0" kern="0">
                  <a:solidFill>
                    <a:srgbClr val="000000"/>
                  </a:solidFill>
                  <a:latin typeface="Arial" charset="0"/>
                </a:endParaRPr>
              </a:p>
            </p:txBody>
          </p:sp>
          <p:sp>
            <p:nvSpPr>
              <p:cNvPr id="187" name="Oval 17"/>
              <p:cNvSpPr>
                <a:spLocks noChangeArrowheads="1"/>
              </p:cNvSpPr>
              <p:nvPr/>
            </p:nvSpPr>
            <p:spPr bwMode="auto">
              <a:xfrm>
                <a:off x="793" y="2296"/>
                <a:ext cx="998" cy="1088"/>
              </a:xfrm>
              <a:prstGeom prst="ellipse">
                <a:avLst/>
              </a:prstGeom>
              <a:noFill/>
              <a:ln w="9525">
                <a:solidFill>
                  <a:srgbClr val="808080"/>
                </a:solidFill>
                <a:prstDash val="dash"/>
                <a:round/>
                <a:headEnd/>
                <a:tailEnd/>
              </a:ln>
            </p:spPr>
            <p:txBody>
              <a:bodyPr wrap="none" anchor="ctr"/>
              <a:lstStyle/>
              <a:p>
                <a:pPr algn="l" eaLnBrk="1" fontAlgn="auto" hangingPunct="1">
                  <a:spcBef>
                    <a:spcPct val="0"/>
                  </a:spcBef>
                  <a:spcAft>
                    <a:spcPts val="0"/>
                  </a:spcAft>
                  <a:buClrTx/>
                  <a:defRPr/>
                </a:pPr>
                <a:endParaRPr lang="en-US" sz="1800" b="0" kern="0">
                  <a:solidFill>
                    <a:srgbClr val="000000"/>
                  </a:solidFill>
                  <a:latin typeface="Arial" charset="0"/>
                </a:endParaRPr>
              </a:p>
            </p:txBody>
          </p:sp>
        </p:grpSp>
        <p:sp>
          <p:nvSpPr>
            <p:cNvPr id="185" name="Text Box 153"/>
            <p:cNvSpPr txBox="1">
              <a:spLocks noChangeArrowheads="1"/>
            </p:cNvSpPr>
            <p:nvPr/>
          </p:nvSpPr>
          <p:spPr bwMode="auto">
            <a:xfrm>
              <a:off x="731" y="3626"/>
              <a:ext cx="329" cy="136"/>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b="0" kern="0" dirty="0">
                  <a:solidFill>
                    <a:srgbClr val="000000"/>
                  </a:solidFill>
                  <a:latin typeface="Arial" charset="0"/>
                </a:rPr>
                <a:t>Vehicle</a:t>
              </a:r>
              <a:endParaRPr lang="en-US" sz="800" b="0" kern="0" dirty="0">
                <a:solidFill>
                  <a:srgbClr val="000000"/>
                </a:solidFill>
                <a:latin typeface="Arial" charset="0"/>
              </a:endParaRPr>
            </a:p>
          </p:txBody>
        </p:sp>
      </p:grpSp>
      <p:sp>
        <p:nvSpPr>
          <p:cNvPr id="188" name="Text Box 153"/>
          <p:cNvSpPr txBox="1">
            <a:spLocks noChangeArrowheads="1"/>
          </p:cNvSpPr>
          <p:nvPr/>
        </p:nvSpPr>
        <p:spPr bwMode="auto">
          <a:xfrm>
            <a:off x="1981200" y="5854700"/>
            <a:ext cx="823913" cy="214313"/>
          </a:xfrm>
          <a:prstGeom prst="rect">
            <a:avLst/>
          </a:prstGeom>
          <a:noFill/>
          <a:ln w="9525">
            <a:noFill/>
            <a:miter lim="800000"/>
            <a:headEnd/>
            <a:tailEnd/>
          </a:ln>
        </p:spPr>
        <p:txBody>
          <a:bodyPr wrap="none">
            <a:spAutoFit/>
          </a:bodyPr>
          <a:lstStyle/>
          <a:p>
            <a:pPr algn="l" eaLnBrk="1" fontAlgn="auto" hangingPunct="1">
              <a:spcBef>
                <a:spcPct val="0"/>
              </a:spcBef>
              <a:spcAft>
                <a:spcPts val="0"/>
              </a:spcAft>
              <a:buClrTx/>
              <a:defRPr/>
            </a:pPr>
            <a:r>
              <a:rPr lang="en-GB" sz="800" kern="0" dirty="0">
                <a:solidFill>
                  <a:srgbClr val="000000"/>
                </a:solidFill>
                <a:latin typeface="Arial" charset="0"/>
              </a:rPr>
              <a:t>IEEE 802.11p</a:t>
            </a:r>
            <a:endParaRPr lang="en-US" sz="800" kern="0" dirty="0">
              <a:solidFill>
                <a:srgbClr val="000000"/>
              </a:solidFill>
              <a:latin typeface="Arial"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0A85837-C4A3-83E2-6EF0-A56A198459ED}"/>
              </a:ext>
            </a:extLst>
          </p:cNvPr>
          <p:cNvGraphicFramePr>
            <a:graphicFrameLocks noGrp="1"/>
          </p:cNvGraphicFramePr>
          <p:nvPr>
            <p:ph idx="1"/>
          </p:nvPr>
        </p:nvGraphicFramePr>
        <p:xfrm>
          <a:off x="899592" y="1340768"/>
          <a:ext cx="7200800" cy="41882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099" name="Title 1">
            <a:extLst>
              <a:ext uri="{FF2B5EF4-FFF2-40B4-BE49-F238E27FC236}">
                <a16:creationId xmlns:a16="http://schemas.microsoft.com/office/drawing/2014/main" id="{A74992AF-6CBF-EB61-583E-8613624B19EC}"/>
              </a:ext>
            </a:extLst>
          </p:cNvPr>
          <p:cNvSpPr>
            <a:spLocks noGrp="1"/>
          </p:cNvSpPr>
          <p:nvPr>
            <p:ph type="title"/>
          </p:nvPr>
        </p:nvSpPr>
        <p:spPr/>
        <p:txBody>
          <a:bodyPr/>
          <a:lstStyle/>
          <a:p>
            <a:pPr eaLnBrk="1" hangingPunct="1"/>
            <a:r>
              <a:rPr lang="en-US" altLang="en-US" dirty="0"/>
              <a:t>Executive Summary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Visionary Applications</a:t>
            </a:r>
          </a:p>
        </p:txBody>
      </p:sp>
      <p:sp>
        <p:nvSpPr>
          <p:cNvPr id="3" name="Inhaltsplatzhalter 2"/>
          <p:cNvSpPr>
            <a:spLocks noGrp="1"/>
          </p:cNvSpPr>
          <p:nvPr>
            <p:ph idx="1"/>
          </p:nvPr>
        </p:nvSpPr>
        <p:spPr/>
        <p:txBody>
          <a:bodyPr>
            <a:normAutofit fontScale="85000" lnSpcReduction="10000"/>
          </a:bodyPr>
          <a:lstStyle/>
          <a:p>
            <a:r>
              <a:rPr lang="en-US" dirty="0"/>
              <a:t>Lane assistant</a:t>
            </a:r>
          </a:p>
          <a:p>
            <a:pPr lvl="1"/>
            <a:r>
              <a:rPr lang="en-US" dirty="0"/>
              <a:t>Simple roadside beacons support lane detection</a:t>
            </a:r>
          </a:p>
          <a:p>
            <a:r>
              <a:rPr lang="en-US" dirty="0"/>
              <a:t>Lateral collision avoidance</a:t>
            </a:r>
          </a:p>
          <a:p>
            <a:pPr lvl="1"/>
            <a:r>
              <a:rPr lang="en-US" dirty="0"/>
              <a:t>More advanced beacons on cars and motorcycles help maintain minimum separation</a:t>
            </a:r>
          </a:p>
          <a:p>
            <a:r>
              <a:rPr lang="en-US" dirty="0"/>
              <a:t>Accident reporting</a:t>
            </a:r>
          </a:p>
          <a:p>
            <a:pPr lvl="1"/>
            <a:r>
              <a:rPr lang="en-US" dirty="0"/>
              <a:t>Broken down cars can automatically send simple report to central server</a:t>
            </a:r>
          </a:p>
          <a:p>
            <a:r>
              <a:rPr lang="en-US" dirty="0"/>
              <a:t>Intersection assistance</a:t>
            </a:r>
          </a:p>
          <a:p>
            <a:pPr lvl="1"/>
            <a:r>
              <a:rPr lang="en-US" dirty="0"/>
              <a:t>Pairs of cars automatically coordinate complex maneuvers at intersections</a:t>
            </a:r>
          </a:p>
          <a:p>
            <a:r>
              <a:rPr lang="en-US" dirty="0"/>
              <a:t>Cooperative driving</a:t>
            </a:r>
          </a:p>
          <a:p>
            <a:pPr lvl="1"/>
            <a:r>
              <a:rPr lang="en-US" dirty="0"/>
              <a:t>The future evolution of autonomous driving: vehicles actively support each other’s route planning, navigating, driving</a:t>
            </a:r>
          </a:p>
          <a:p>
            <a:endParaRPr lang="en-US" dirty="0"/>
          </a:p>
          <a:p>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18</a:t>
            </a:fld>
            <a:endParaRPr lang="en-US" dirty="0">
              <a:solidFill>
                <a:prstClr val="black"/>
              </a:solidFill>
            </a:endParaRPr>
          </a:p>
        </p:txBody>
      </p:sp>
    </p:spTree>
    <p:extLst>
      <p:ext uri="{BB962C8B-B14F-4D97-AF65-F5344CB8AC3E}">
        <p14:creationId xmlns:p14="http://schemas.microsoft.com/office/powerpoint/2010/main" val="39628869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Visionary Applications</a:t>
            </a:r>
          </a:p>
        </p:txBody>
      </p:sp>
      <p:sp>
        <p:nvSpPr>
          <p:cNvPr id="3" name="Inhaltsplatzhalter 2"/>
          <p:cNvSpPr>
            <a:spLocks noGrp="1"/>
          </p:cNvSpPr>
          <p:nvPr>
            <p:ph idx="1"/>
          </p:nvPr>
        </p:nvSpPr>
        <p:spPr/>
        <p:txBody>
          <a:bodyPr>
            <a:normAutofit fontScale="92500"/>
          </a:bodyPr>
          <a:lstStyle/>
          <a:p>
            <a:r>
              <a:rPr lang="en-US" dirty="0"/>
              <a:t>...and much (much) more:</a:t>
            </a:r>
          </a:p>
          <a:p>
            <a:pPr marL="0" indent="3175" algn="just">
              <a:buNone/>
            </a:pPr>
            <a:r>
              <a:rPr lang="en-US" sz="1550" dirty="0">
                <a:latin typeface="Futura Bk BT" pitchFamily="34" charset="0"/>
              </a:rPr>
              <a:t>Emergency Brake Light Warning, </a:t>
            </a:r>
            <a:r>
              <a:rPr lang="en-US" sz="1550" dirty="0">
                <a:solidFill>
                  <a:schemeClr val="tx2"/>
                </a:solidFill>
                <a:latin typeface="Futura Bk BT" pitchFamily="34" charset="0"/>
              </a:rPr>
              <a:t>Accident Warning, </a:t>
            </a:r>
            <a:r>
              <a:rPr lang="en-US" sz="1550" dirty="0">
                <a:latin typeface="Futura Bk BT" pitchFamily="34" charset="0"/>
              </a:rPr>
              <a:t>Emergency Flashlights, </a:t>
            </a:r>
            <a:r>
              <a:rPr lang="en-US" sz="1550" dirty="0">
                <a:solidFill>
                  <a:srgbClr val="0000FF"/>
                </a:solidFill>
                <a:latin typeface="Futura Bk BT" pitchFamily="34" charset="0"/>
              </a:rPr>
              <a:t>Traffic Jam Warning, </a:t>
            </a:r>
            <a:r>
              <a:rPr lang="en-US" sz="1550" dirty="0">
                <a:latin typeface="Futura Bk BT" pitchFamily="34" charset="0"/>
              </a:rPr>
              <a:t>Weather Warning, </a:t>
            </a:r>
            <a:r>
              <a:rPr lang="en-US" sz="1550" dirty="0">
                <a:solidFill>
                  <a:srgbClr val="0000FF"/>
                </a:solidFill>
                <a:latin typeface="Futura Bk BT" pitchFamily="34" charset="0"/>
              </a:rPr>
              <a:t>Emergency Vehicle, </a:t>
            </a:r>
            <a:r>
              <a:rPr lang="en-US" sz="1550" dirty="0">
                <a:latin typeface="Futura Bk BT" pitchFamily="34" charset="0"/>
              </a:rPr>
              <a:t>Slow Vehicle, </a:t>
            </a:r>
            <a:r>
              <a:rPr lang="en-US" sz="1550" dirty="0">
                <a:solidFill>
                  <a:srgbClr val="0000FF"/>
                </a:solidFill>
                <a:latin typeface="Futura Bk BT" pitchFamily="34" charset="0"/>
              </a:rPr>
              <a:t>Moving and Static Road Works, </a:t>
            </a:r>
            <a:r>
              <a:rPr lang="en-US" sz="1550" dirty="0">
                <a:latin typeface="Futura Bk BT" pitchFamily="34" charset="0"/>
              </a:rPr>
              <a:t>Obstacle Warning, </a:t>
            </a:r>
            <a:r>
              <a:rPr lang="en-US" sz="1550" dirty="0">
                <a:solidFill>
                  <a:srgbClr val="0000FF"/>
                </a:solidFill>
                <a:latin typeface="Futura Bk BT" pitchFamily="34" charset="0"/>
              </a:rPr>
              <a:t>Intersection Maneuvering Assistance, </a:t>
            </a:r>
            <a:r>
              <a:rPr lang="en-US" sz="1550" dirty="0">
                <a:latin typeface="Futura Bk BT" pitchFamily="34" charset="0"/>
              </a:rPr>
              <a:t>Intersection Traffic Lights, </a:t>
            </a:r>
            <a:r>
              <a:rPr lang="en-US" sz="1550" dirty="0">
                <a:solidFill>
                  <a:srgbClr val="0000FF"/>
                </a:solidFill>
                <a:latin typeface="Futura Bk BT" pitchFamily="34" charset="0"/>
              </a:rPr>
              <a:t>Lane Change, </a:t>
            </a:r>
            <a:r>
              <a:rPr lang="en-US" sz="1550" dirty="0">
                <a:latin typeface="Futura Bk BT" pitchFamily="34" charset="0"/>
              </a:rPr>
              <a:t>Maneuvering Assistance, </a:t>
            </a:r>
            <a:r>
              <a:rPr lang="en-US" sz="1550" dirty="0">
                <a:solidFill>
                  <a:srgbClr val="0000FF"/>
                </a:solidFill>
                <a:latin typeface="Futura Bk BT" pitchFamily="34" charset="0"/>
              </a:rPr>
              <a:t>Longitudinal Maneuvering Assistance, </a:t>
            </a:r>
            <a:r>
              <a:rPr lang="en-US" sz="1550" dirty="0">
                <a:latin typeface="Futura Bk BT" pitchFamily="34" charset="0"/>
              </a:rPr>
              <a:t>Floating Car Data Collection, </a:t>
            </a:r>
            <a:r>
              <a:rPr lang="en-US" sz="1550" dirty="0">
                <a:solidFill>
                  <a:srgbClr val="0000FF"/>
                </a:solidFill>
                <a:latin typeface="Futura Bk BT" pitchFamily="34" charset="0"/>
              </a:rPr>
              <a:t>Free-Flow Tolling, </a:t>
            </a:r>
            <a:r>
              <a:rPr lang="en-US" sz="1550" dirty="0">
                <a:latin typeface="Futura Bk BT" pitchFamily="34" charset="0"/>
              </a:rPr>
              <a:t>Breakdown Call, </a:t>
            </a:r>
            <a:r>
              <a:rPr lang="en-US" sz="1550" dirty="0">
                <a:solidFill>
                  <a:srgbClr val="0000FF"/>
                </a:solidFill>
                <a:latin typeface="Futura Bk BT" pitchFamily="34" charset="0"/>
              </a:rPr>
              <a:t>Remote Diagnostics, </a:t>
            </a:r>
            <a:r>
              <a:rPr lang="en-US" sz="1550" dirty="0">
                <a:latin typeface="Futura Bk BT" pitchFamily="34" charset="0"/>
              </a:rPr>
              <a:t>Theft Detection, </a:t>
            </a:r>
            <a:r>
              <a:rPr lang="en-US" sz="1550" dirty="0">
                <a:solidFill>
                  <a:srgbClr val="0000FF"/>
                </a:solidFill>
                <a:latin typeface="Futura Bk BT" pitchFamily="34" charset="0"/>
              </a:rPr>
              <a:t>Emergency Call, </a:t>
            </a:r>
            <a:r>
              <a:rPr lang="en-US" sz="1550" dirty="0">
                <a:latin typeface="Futura Bk BT" pitchFamily="34" charset="0"/>
              </a:rPr>
              <a:t>Just-In-Time Repair Notification, </a:t>
            </a:r>
            <a:r>
              <a:rPr lang="en-US" sz="1550" dirty="0">
                <a:solidFill>
                  <a:srgbClr val="0000FF"/>
                </a:solidFill>
                <a:latin typeface="Futura Bk BT" pitchFamily="34" charset="0"/>
              </a:rPr>
              <a:t>Roadside Traffic Camera pull, </a:t>
            </a:r>
            <a:r>
              <a:rPr lang="en-US" sz="1550" dirty="0">
                <a:latin typeface="Futura Bk BT" pitchFamily="34" charset="0"/>
              </a:rPr>
              <a:t>In-vehicle signing pull, </a:t>
            </a:r>
            <a:r>
              <a:rPr lang="en-US" sz="1550" dirty="0">
                <a:solidFill>
                  <a:srgbClr val="0000FF"/>
                </a:solidFill>
                <a:latin typeface="Futura Bk BT" pitchFamily="34" charset="0"/>
              </a:rPr>
              <a:t>Regional Information pull, </a:t>
            </a:r>
            <a:r>
              <a:rPr lang="en-US" sz="1550" dirty="0">
                <a:latin typeface="Futura Bk BT" pitchFamily="34" charset="0"/>
              </a:rPr>
              <a:t>Car-specific Software Application Download pull, </a:t>
            </a:r>
            <a:r>
              <a:rPr lang="en-US" sz="1550" dirty="0">
                <a:solidFill>
                  <a:srgbClr val="0000FF"/>
                </a:solidFill>
                <a:latin typeface="Futura Bk BT" pitchFamily="34" charset="0"/>
              </a:rPr>
              <a:t>Electronic Payment pull, </a:t>
            </a:r>
            <a:r>
              <a:rPr lang="en-US" sz="1550" dirty="0">
                <a:latin typeface="Futura Bk BT" pitchFamily="34" charset="0"/>
              </a:rPr>
              <a:t>Logistic for goods being loaded and unloaded, </a:t>
            </a:r>
            <a:r>
              <a:rPr lang="en-US" sz="1550" dirty="0">
                <a:solidFill>
                  <a:srgbClr val="0000FF"/>
                </a:solidFill>
                <a:latin typeface="Futura Bk BT" pitchFamily="34" charset="0"/>
              </a:rPr>
              <a:t>Traffic Information Service pull, </a:t>
            </a:r>
            <a:r>
              <a:rPr lang="en-US" sz="1550" dirty="0">
                <a:latin typeface="Futura Bk BT" pitchFamily="34" charset="0"/>
              </a:rPr>
              <a:t>Traffic Information Service push, </a:t>
            </a:r>
            <a:r>
              <a:rPr lang="en-US" sz="1550" dirty="0">
                <a:solidFill>
                  <a:srgbClr val="0000FF"/>
                </a:solidFill>
                <a:latin typeface="Futura Bk BT" pitchFamily="34" charset="0"/>
              </a:rPr>
              <a:t>Electronic Payment push, </a:t>
            </a:r>
            <a:r>
              <a:rPr lang="en-US" sz="1550" dirty="0">
                <a:latin typeface="Futura Bk BT" pitchFamily="34" charset="0"/>
              </a:rPr>
              <a:t>Roadside Traffic Camera push, </a:t>
            </a:r>
            <a:r>
              <a:rPr lang="en-US" sz="1550" dirty="0">
                <a:solidFill>
                  <a:srgbClr val="0000FF"/>
                </a:solidFill>
                <a:latin typeface="Futura Bk BT" pitchFamily="34" charset="0"/>
              </a:rPr>
              <a:t>In-vehicle signing push, </a:t>
            </a:r>
            <a:r>
              <a:rPr lang="en-US" sz="1550" dirty="0">
                <a:latin typeface="Futura Bk BT" pitchFamily="34" charset="0"/>
              </a:rPr>
              <a:t>Car specific Software Application Download push, </a:t>
            </a:r>
            <a:r>
              <a:rPr lang="en-US" sz="1550" dirty="0">
                <a:solidFill>
                  <a:srgbClr val="0000FF"/>
                </a:solidFill>
                <a:latin typeface="Futura Bk BT" pitchFamily="34" charset="0"/>
              </a:rPr>
              <a:t>Telemetric Onboard/Off-board Diagnostics, </a:t>
            </a:r>
            <a:r>
              <a:rPr lang="en-US" sz="1550" dirty="0">
                <a:latin typeface="Futura Bk BT" pitchFamily="34" charset="0"/>
              </a:rPr>
              <a:t>Remote Vehicle Status Control, </a:t>
            </a:r>
            <a:r>
              <a:rPr lang="en-US" sz="1550" dirty="0">
                <a:solidFill>
                  <a:srgbClr val="0000FF"/>
                </a:solidFill>
                <a:latin typeface="Futura Bk BT" pitchFamily="34" charset="0"/>
              </a:rPr>
              <a:t>Fleet Management, </a:t>
            </a:r>
            <a:r>
              <a:rPr lang="en-US" sz="1550" dirty="0">
                <a:latin typeface="Futura Bk BT" pitchFamily="34" charset="0"/>
              </a:rPr>
              <a:t>Server based navigation, </a:t>
            </a:r>
            <a:r>
              <a:rPr lang="en-US" sz="1550" dirty="0">
                <a:solidFill>
                  <a:srgbClr val="0000FF"/>
                </a:solidFill>
                <a:latin typeface="Futura Bk BT" pitchFamily="34" charset="0"/>
              </a:rPr>
              <a:t>Remote lock-down, </a:t>
            </a:r>
            <a:r>
              <a:rPr lang="en-US" sz="1550" dirty="0">
                <a:latin typeface="Futura Bk BT" pitchFamily="34" charset="0"/>
              </a:rPr>
              <a:t>Remote entry, </a:t>
            </a:r>
            <a:r>
              <a:rPr lang="en-US" sz="1550" dirty="0">
                <a:solidFill>
                  <a:srgbClr val="0000FF"/>
                </a:solidFill>
                <a:latin typeface="Futura Bk BT" pitchFamily="34" charset="0"/>
              </a:rPr>
              <a:t>Mobile Office, Videophone, </a:t>
            </a:r>
            <a:r>
              <a:rPr lang="en-US" sz="1550" dirty="0">
                <a:latin typeface="Futura Bk BT" pitchFamily="34" charset="0"/>
              </a:rPr>
              <a:t>Personal Data Synchronization at home, </a:t>
            </a:r>
            <a:r>
              <a:rPr lang="en-US" sz="1550" dirty="0">
                <a:solidFill>
                  <a:srgbClr val="0000FF"/>
                </a:solidFill>
                <a:latin typeface="Futura Bk BT" pitchFamily="34" charset="0"/>
              </a:rPr>
              <a:t>General Map Downloads and Updates, </a:t>
            </a:r>
            <a:r>
              <a:rPr lang="en-US" sz="1550" dirty="0">
                <a:latin typeface="Futura Bk BT" pitchFamily="34" charset="0"/>
              </a:rPr>
              <a:t>Instant Messaging, </a:t>
            </a:r>
            <a:r>
              <a:rPr lang="en-US" sz="1550" dirty="0">
                <a:solidFill>
                  <a:srgbClr val="0000FF"/>
                </a:solidFill>
                <a:latin typeface="Futura Bk BT" pitchFamily="34" charset="0"/>
              </a:rPr>
              <a:t>General internet services, </a:t>
            </a:r>
            <a:r>
              <a:rPr lang="en-US" sz="1550" dirty="0">
                <a:latin typeface="Futura Bk BT" pitchFamily="34" charset="0"/>
              </a:rPr>
              <a:t>Internet Audio, </a:t>
            </a:r>
            <a:r>
              <a:rPr lang="en-US" sz="1550" dirty="0">
                <a:solidFill>
                  <a:srgbClr val="0000FF"/>
                </a:solidFill>
                <a:latin typeface="Futura Bk BT" pitchFamily="34" charset="0"/>
              </a:rPr>
              <a:t>continuous feed, Web Browsing, </a:t>
            </a:r>
            <a:r>
              <a:rPr lang="en-US" sz="1550" dirty="0">
                <a:latin typeface="Futura Bk BT" pitchFamily="34" charset="0"/>
              </a:rPr>
              <a:t>Movie rental, </a:t>
            </a:r>
            <a:r>
              <a:rPr lang="en-US" sz="1550" dirty="0">
                <a:solidFill>
                  <a:srgbClr val="0000FF"/>
                </a:solidFill>
                <a:latin typeface="Futura Bk BT" pitchFamily="34" charset="0"/>
              </a:rPr>
              <a:t>Remote Home Activation/Deactivation pull, </a:t>
            </a:r>
            <a:r>
              <a:rPr lang="en-US" sz="1550" dirty="0">
                <a:latin typeface="Futura Bk BT" pitchFamily="34" charset="0"/>
              </a:rPr>
              <a:t>Remote Home Control pull, </a:t>
            </a:r>
            <a:r>
              <a:rPr lang="en-US" sz="1550" dirty="0">
                <a:solidFill>
                  <a:srgbClr val="0000FF"/>
                </a:solidFill>
                <a:latin typeface="Futura Bk BT" pitchFamily="34" charset="0"/>
              </a:rPr>
              <a:t>Remote Home Activation/Deactivation push, </a:t>
            </a:r>
            <a:r>
              <a:rPr lang="en-US" sz="1550" dirty="0">
                <a:latin typeface="Futura Bk BT" pitchFamily="34" charset="0"/>
              </a:rPr>
              <a:t>Remote Home Control push, </a:t>
            </a:r>
            <a:r>
              <a:rPr lang="en-US" sz="1550" dirty="0">
                <a:solidFill>
                  <a:srgbClr val="0000FF"/>
                </a:solidFill>
                <a:latin typeface="Futura Bk BT" pitchFamily="34" charset="0"/>
              </a:rPr>
              <a:t>Voice Chat, </a:t>
            </a:r>
            <a:r>
              <a:rPr lang="en-US" sz="1550" dirty="0">
                <a:latin typeface="Futura Bk BT" pitchFamily="34" charset="0"/>
              </a:rPr>
              <a:t>Games, </a:t>
            </a:r>
            <a:r>
              <a:rPr lang="en-US" sz="1550" dirty="0">
                <a:solidFill>
                  <a:srgbClr val="0000FF"/>
                </a:solidFill>
                <a:latin typeface="Futura Bk BT" pitchFamily="34" charset="0"/>
              </a:rPr>
              <a:t>Electronic Toll Collection, </a:t>
            </a:r>
            <a:r>
              <a:rPr lang="en-US" sz="1550" dirty="0">
                <a:latin typeface="Futura Bk BT" pitchFamily="34" charset="0"/>
              </a:rPr>
              <a:t>Parking Unit Fee Payment (drive through payment), </a:t>
            </a:r>
            <a:r>
              <a:rPr lang="en-US" sz="1550" dirty="0">
                <a:solidFill>
                  <a:srgbClr val="0000FF"/>
                </a:solidFill>
                <a:latin typeface="Futura Bk BT" pitchFamily="34" charset="0"/>
              </a:rPr>
              <a:t>Goods and services discovery and payment, </a:t>
            </a:r>
            <a:r>
              <a:rPr lang="en-US" sz="1550" dirty="0">
                <a:latin typeface="Futura Bk BT" pitchFamily="34" charset="0"/>
              </a:rPr>
              <a:t>Guided Tour, </a:t>
            </a:r>
            <a:r>
              <a:rPr lang="en-US" sz="1550" dirty="0">
                <a:solidFill>
                  <a:srgbClr val="0000FF"/>
                </a:solidFill>
                <a:latin typeface="Futura Bk BT" pitchFamily="34" charset="0"/>
              </a:rPr>
              <a:t>Interactive Lights Dimming, </a:t>
            </a:r>
            <a:r>
              <a:rPr lang="en-US" sz="1550" dirty="0">
                <a:latin typeface="Futura Bk BT" pitchFamily="34" charset="0"/>
              </a:rPr>
              <a:t>Emergency Traffic Light Pre-emption, </a:t>
            </a:r>
            <a:r>
              <a:rPr lang="en-US" sz="1550" dirty="0">
                <a:solidFill>
                  <a:srgbClr val="0000FF"/>
                </a:solidFill>
                <a:latin typeface="Futura Bk BT" pitchFamily="34" charset="0"/>
              </a:rPr>
              <a:t>Traffic Light Assistant, </a:t>
            </a:r>
            <a:r>
              <a:rPr lang="en-US" sz="1550" dirty="0">
                <a:latin typeface="Futura Bk BT" pitchFamily="34" charset="0"/>
              </a:rPr>
              <a:t>…</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19</a:t>
            </a:fld>
            <a:endParaRPr lang="en-US" dirty="0">
              <a:solidFill>
                <a:prstClr val="black"/>
              </a:solidFill>
            </a:endParaRPr>
          </a:p>
        </p:txBody>
      </p:sp>
      <p:sp>
        <p:nvSpPr>
          <p:cNvPr id="6" name="Content Placeholder 5"/>
          <p:cNvSpPr>
            <a:spLocks noGrp="1"/>
          </p:cNvSpPr>
          <p:nvPr>
            <p:ph idx="13"/>
          </p:nvPr>
        </p:nvSpPr>
        <p:spPr/>
        <p:txBody>
          <a:bodyPr/>
          <a:lstStyle/>
          <a:p>
            <a:r>
              <a:rPr lang="en-US" dirty="0"/>
              <a:t>Source: C2CCC, </a:t>
            </a:r>
            <a:r>
              <a:rPr lang="en-US" dirty="0" err="1">
                <a:solidFill>
                  <a:srgbClr val="000000"/>
                </a:solidFill>
              </a:rPr>
              <a:t>Aktiv</a:t>
            </a:r>
            <a:r>
              <a:rPr lang="en-US" dirty="0">
                <a:solidFill>
                  <a:srgbClr val="000000"/>
                </a:solidFill>
              </a:rPr>
              <a:t>-AS/VM</a:t>
            </a:r>
          </a:p>
        </p:txBody>
      </p:sp>
    </p:spTree>
    <p:extLst>
      <p:ext uri="{BB962C8B-B14F-4D97-AF65-F5344CB8AC3E}">
        <p14:creationId xmlns:p14="http://schemas.microsoft.com/office/powerpoint/2010/main" val="312679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Visionary Applications (Classified)</a:t>
            </a:r>
            <a:endParaRPr lang="en-US" sz="3600" dirty="0">
              <a:latin typeface="Times New Roman" pitchFamily="18" charset="0"/>
              <a:cs typeface="Times New Roman" pitchFamily="18" charset="0"/>
            </a:endParaRPr>
          </a:p>
        </p:txBody>
      </p:sp>
      <p:sp>
        <p:nvSpPr>
          <p:cNvPr id="3" name="Content Placeholder 2"/>
          <p:cNvSpPr>
            <a:spLocks noGrp="1"/>
          </p:cNvSpPr>
          <p:nvPr>
            <p:ph sz="quarter" idx="1"/>
          </p:nvPr>
        </p:nvSpPr>
        <p:spPr>
          <a:xfrm>
            <a:off x="381000" y="1676400"/>
            <a:ext cx="8229600" cy="4525963"/>
          </a:xfrm>
        </p:spPr>
        <p:txBody>
          <a:bodyPr>
            <a:noAutofit/>
          </a:bodyPr>
          <a:lstStyle/>
          <a:p>
            <a:pPr algn="just"/>
            <a:r>
              <a:rPr lang="en-US" sz="2000" dirty="0">
                <a:latin typeface="Times New Roman" pitchFamily="18" charset="0"/>
                <a:cs typeface="Times New Roman" pitchFamily="18" charset="0"/>
              </a:rPr>
              <a:t>The aim of VANET is to improve driving experience and the safety of transportation [5].</a:t>
            </a:r>
          </a:p>
          <a:p>
            <a:pPr lvl="1" algn="just"/>
            <a:endParaRPr lang="en-US" sz="2000" dirty="0">
              <a:latin typeface="Times New Roman" pitchFamily="18" charset="0"/>
              <a:cs typeface="Times New Roman" pitchFamily="18" charset="0"/>
            </a:endParaRPr>
          </a:p>
          <a:p>
            <a:pPr lvl="1" algn="just">
              <a:buNone/>
            </a:pPr>
            <a:r>
              <a:rPr lang="en-US" sz="2000" dirty="0">
                <a:latin typeface="Times New Roman" pitchFamily="18" charset="0"/>
                <a:cs typeface="Times New Roman" pitchFamily="18" charset="0"/>
              </a:rPr>
              <a:t> 1.		</a:t>
            </a:r>
            <a:r>
              <a:rPr lang="en-US" sz="2000" dirty="0">
                <a:solidFill>
                  <a:srgbClr val="FF0000"/>
                </a:solidFill>
                <a:latin typeface="Times New Roman" pitchFamily="18" charset="0"/>
                <a:cs typeface="Times New Roman" pitchFamily="18" charset="0"/>
              </a:rPr>
              <a:t>Safety Application (to enhance driving safety):</a:t>
            </a:r>
          </a:p>
          <a:p>
            <a:pPr lvl="2">
              <a:lnSpc>
                <a:spcPct val="200000"/>
              </a:lnSpc>
            </a:pPr>
            <a:r>
              <a:rPr lang="en-US" sz="2000" dirty="0">
                <a:latin typeface="Times New Roman" pitchFamily="18" charset="0"/>
                <a:cs typeface="Times New Roman" pitchFamily="18" charset="0"/>
              </a:rPr>
              <a:t>EEBL – Emergency Electronic Brake Light (sudden braking)</a:t>
            </a:r>
          </a:p>
          <a:p>
            <a:pPr lvl="2">
              <a:lnSpc>
                <a:spcPct val="150000"/>
              </a:lnSpc>
            </a:pPr>
            <a:r>
              <a:rPr lang="en-US" sz="2000" dirty="0">
                <a:latin typeface="Times New Roman" pitchFamily="18" charset="0"/>
                <a:cs typeface="Times New Roman" pitchFamily="18" charset="0"/>
              </a:rPr>
              <a:t>PCN – Post Crash Notification</a:t>
            </a:r>
          </a:p>
          <a:p>
            <a:pPr lvl="2">
              <a:lnSpc>
                <a:spcPct val="150000"/>
              </a:lnSpc>
            </a:pPr>
            <a:r>
              <a:rPr lang="en-US" sz="2000" dirty="0">
                <a:latin typeface="Times New Roman" pitchFamily="18" charset="0"/>
                <a:cs typeface="Times New Roman" pitchFamily="18" charset="0"/>
              </a:rPr>
              <a:t>RFN – Road Feature Notification (ex. downhill curve)</a:t>
            </a:r>
          </a:p>
          <a:p>
            <a:pPr lvl="2">
              <a:lnSpc>
                <a:spcPct val="150000"/>
              </a:lnSpc>
            </a:pPr>
            <a:r>
              <a:rPr lang="en-US" sz="2000" dirty="0">
                <a:latin typeface="Times New Roman" pitchFamily="18" charset="0"/>
                <a:cs typeface="Times New Roman" pitchFamily="18" charset="0"/>
              </a:rPr>
              <a:t>LCA – Lane Change Assistance </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r"/>
            <a:r>
              <a:rPr lang="en-US" sz="3600" dirty="0">
                <a:latin typeface="Times New Roman" pitchFamily="18" charset="0"/>
                <a:cs typeface="Times New Roman" pitchFamily="18" charset="0"/>
              </a:rPr>
              <a:t>Cont…</a:t>
            </a:r>
          </a:p>
        </p:txBody>
      </p:sp>
      <p:sp>
        <p:nvSpPr>
          <p:cNvPr id="3" name="Content Placeholder 2"/>
          <p:cNvSpPr>
            <a:spLocks noGrp="1"/>
          </p:cNvSpPr>
          <p:nvPr>
            <p:ph sz="quarter" idx="1"/>
          </p:nvPr>
        </p:nvSpPr>
        <p:spPr/>
        <p:txBody>
          <a:bodyPr>
            <a:normAutofit/>
          </a:bodyPr>
          <a:lstStyle/>
          <a:p>
            <a:pPr lvl="1">
              <a:buNone/>
            </a:pPr>
            <a:r>
              <a:rPr lang="en-US" sz="2000" dirty="0">
                <a:latin typeface="Times New Roman" pitchFamily="18" charset="0"/>
                <a:cs typeface="Times New Roman" pitchFamily="18" charset="0"/>
              </a:rPr>
              <a:t>2.		</a:t>
            </a:r>
            <a:r>
              <a:rPr lang="en-US" sz="2000" dirty="0">
                <a:solidFill>
                  <a:schemeClr val="accent6">
                    <a:lumMod val="75000"/>
                  </a:schemeClr>
                </a:solidFill>
                <a:latin typeface="Times New Roman" pitchFamily="18" charset="0"/>
                <a:cs typeface="Times New Roman" pitchFamily="18" charset="0"/>
              </a:rPr>
              <a:t>Convenience Application (for better driving experience): </a:t>
            </a:r>
          </a:p>
          <a:p>
            <a:pPr lvl="2"/>
            <a:r>
              <a:rPr lang="en-US" sz="2000" dirty="0">
                <a:latin typeface="Times New Roman" pitchFamily="18" charset="0"/>
                <a:cs typeface="Times New Roman" pitchFamily="18" charset="0"/>
              </a:rPr>
              <a:t>Road Congestion Notification</a:t>
            </a:r>
          </a:p>
          <a:p>
            <a:pPr lvl="2"/>
            <a:r>
              <a:rPr lang="en-US" sz="2000" dirty="0">
                <a:latin typeface="Times New Roman" pitchFamily="18" charset="0"/>
                <a:cs typeface="Times New Roman" pitchFamily="18" charset="0"/>
              </a:rPr>
              <a:t>Dynamic Route/Travel Time Planning</a:t>
            </a:r>
          </a:p>
          <a:p>
            <a:pPr lvl="2"/>
            <a:r>
              <a:rPr lang="en-US" sz="2000" dirty="0">
                <a:latin typeface="Times New Roman" pitchFamily="18" charset="0"/>
                <a:cs typeface="Times New Roman" pitchFamily="18" charset="0"/>
              </a:rPr>
              <a:t>Finding Parking Spots </a:t>
            </a:r>
          </a:p>
          <a:p>
            <a:pPr lvl="2"/>
            <a:endParaRPr lang="en-US" sz="1600" dirty="0">
              <a:latin typeface="Times New Roman" pitchFamily="18" charset="0"/>
              <a:cs typeface="Times New Roman" pitchFamily="18" charset="0"/>
            </a:endParaRPr>
          </a:p>
          <a:p>
            <a:pPr lvl="1">
              <a:buNone/>
            </a:pPr>
            <a:r>
              <a:rPr lang="en-US" sz="2000" dirty="0">
                <a:latin typeface="Times New Roman" pitchFamily="18" charset="0"/>
                <a:cs typeface="Times New Roman" pitchFamily="18" charset="0"/>
              </a:rPr>
              <a:t>3.		</a:t>
            </a:r>
            <a:r>
              <a:rPr lang="en-US" sz="2000" dirty="0">
                <a:solidFill>
                  <a:srgbClr val="00B0F0"/>
                </a:solidFill>
                <a:latin typeface="Times New Roman" pitchFamily="18" charset="0"/>
                <a:cs typeface="Times New Roman" pitchFamily="18" charset="0"/>
              </a:rPr>
              <a:t>Other Commercial/ Infotainment Application:</a:t>
            </a:r>
          </a:p>
          <a:p>
            <a:pPr lvl="2"/>
            <a:r>
              <a:rPr lang="en-US" sz="2000" dirty="0">
                <a:latin typeface="Times New Roman" pitchFamily="18" charset="0"/>
                <a:cs typeface="Times New Roman" pitchFamily="18" charset="0"/>
              </a:rPr>
              <a:t>Free flow Tolling</a:t>
            </a:r>
          </a:p>
          <a:p>
            <a:pPr lvl="2"/>
            <a:r>
              <a:rPr lang="en-US" sz="2000" dirty="0">
                <a:latin typeface="Times New Roman" pitchFamily="18" charset="0"/>
                <a:cs typeface="Times New Roman" pitchFamily="18" charset="0"/>
              </a:rPr>
              <a:t>Social Networking</a:t>
            </a:r>
          </a:p>
          <a:p>
            <a:pPr lvl="2"/>
            <a:r>
              <a:rPr lang="en-US" sz="2000" dirty="0">
                <a:latin typeface="Times New Roman" pitchFamily="18" charset="0"/>
                <a:cs typeface="Times New Roman" pitchFamily="18" charset="0"/>
              </a:rPr>
              <a:t>Multimedia Content Exchange</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67748" y="1825143"/>
            <a:ext cx="8229600" cy="798788"/>
          </a:xfrm>
        </p:spPr>
        <p:txBody>
          <a:bodyPr>
            <a:normAutofit fontScale="90000"/>
          </a:bodyPr>
          <a:lstStyle/>
          <a:p>
            <a:br>
              <a:rPr lang="en-US" dirty="0"/>
            </a:br>
            <a:r>
              <a:rPr lang="en-US" dirty="0" err="1"/>
              <a:t>C’est</a:t>
            </a:r>
            <a:r>
              <a:rPr lang="en-US" dirty="0"/>
              <a:t> le Rush</a:t>
            </a:r>
            <a:br>
              <a:rPr lang="en-US" dirty="0"/>
            </a:br>
            <a:r>
              <a:rPr lang="en-US" sz="2000" dirty="0">
                <a:hlinkClick r:id="rId2"/>
              </a:rPr>
              <a:t>https://www.youtube.com/watch?v=Johmxw3cspA</a:t>
            </a:r>
            <a:br>
              <a:rPr lang="en-US" sz="2000" dirty="0"/>
            </a:br>
            <a:endParaRPr lang="en-US" dirty="0"/>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22</a:t>
            </a:fld>
            <a:endParaRPr lang="en-US"/>
          </a:p>
        </p:txBody>
      </p:sp>
    </p:spTree>
    <p:extLst>
      <p:ext uri="{BB962C8B-B14F-4D97-AF65-F5344CB8AC3E}">
        <p14:creationId xmlns:p14="http://schemas.microsoft.com/office/powerpoint/2010/main" val="173417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r>
              <a:rPr lang="en-US" dirty="0"/>
              <a:t>Johan J. Lukkien, j.j.lukkien@tue.nl</a:t>
            </a:r>
          </a:p>
          <a:p>
            <a:pPr>
              <a:defRPr/>
            </a:pPr>
            <a:r>
              <a:rPr lang="en-GB" dirty="0"/>
              <a:t>TU/e Informatica, System Architecture and Networking</a:t>
            </a:r>
            <a:endParaRPr lang="en-US" dirty="0"/>
          </a:p>
        </p:txBody>
      </p:sp>
      <p:sp>
        <p:nvSpPr>
          <p:cNvPr id="5" name="Slide Number Placeholder 4"/>
          <p:cNvSpPr>
            <a:spLocks noGrp="1"/>
          </p:cNvSpPr>
          <p:nvPr>
            <p:ph type="sldNum" sz="quarter" idx="12"/>
          </p:nvPr>
        </p:nvSpPr>
        <p:spPr/>
        <p:txBody>
          <a:bodyPr/>
          <a:lstStyle/>
          <a:p>
            <a:pPr>
              <a:defRPr/>
            </a:pPr>
            <a:fld id="{57923A2D-505A-4C2B-A97B-FA20F34B56CE}" type="slidenum">
              <a:rPr lang="en-US" smtClean="0"/>
              <a:pPr>
                <a:defRPr/>
              </a:pPr>
              <a:t>23</a:t>
            </a:fld>
            <a:endParaRPr lang="en-US"/>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250" y="127000"/>
            <a:ext cx="7757750" cy="5511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TextBox 12"/>
          <p:cNvSpPr txBox="1"/>
          <p:nvPr/>
        </p:nvSpPr>
        <p:spPr>
          <a:xfrm>
            <a:off x="1524000" y="5715000"/>
            <a:ext cx="6492483" cy="261610"/>
          </a:xfrm>
          <a:prstGeom prst="rect">
            <a:avLst/>
          </a:prstGeom>
          <a:noFill/>
        </p:spPr>
        <p:txBody>
          <a:bodyPr wrap="none" rtlCol="0">
            <a:spAutoFit/>
          </a:bodyPr>
          <a:lstStyle/>
          <a:p>
            <a:pPr algn="l" eaLnBrk="1" fontAlgn="auto" hangingPunct="1">
              <a:spcBef>
                <a:spcPts val="0"/>
              </a:spcBef>
              <a:spcAft>
                <a:spcPts val="0"/>
              </a:spcAft>
              <a:buClrTx/>
            </a:pPr>
            <a:r>
              <a:rPr lang="en-US" sz="1100" b="0" dirty="0">
                <a:solidFill>
                  <a:prstClr val="black"/>
                </a:solidFill>
                <a:latin typeface="Calibri"/>
              </a:rPr>
              <a:t>from: Vehicle-to-Vehicle Communications: Readiness of V2V Technology for Applications, NHTSA, August 2014</a:t>
            </a:r>
          </a:p>
        </p:txBody>
      </p:sp>
    </p:spTree>
    <p:extLst>
      <p:ext uri="{BB962C8B-B14F-4D97-AF65-F5344CB8AC3E}">
        <p14:creationId xmlns:p14="http://schemas.microsoft.com/office/powerpoint/2010/main" val="2114281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656"/>
            <a:ext cx="8229600" cy="1143000"/>
          </a:xfrm>
        </p:spPr>
        <p:txBody>
          <a:bodyPr>
            <a:normAutofit/>
          </a:bodyPr>
          <a:lstStyle/>
          <a:p>
            <a:r>
              <a:rPr lang="en-US" sz="3600" dirty="0"/>
              <a:t>Some application examples </a:t>
            </a:r>
            <a:br>
              <a:rPr lang="en-US" sz="3600" dirty="0"/>
            </a:br>
            <a:r>
              <a:rPr lang="en-US" sz="2400" dirty="0"/>
              <a:t>(US WAVE BSM ~SAE J2735)</a:t>
            </a:r>
          </a:p>
        </p:txBody>
      </p:sp>
      <p:graphicFrame>
        <p:nvGraphicFramePr>
          <p:cNvPr id="4" name="Table 3"/>
          <p:cNvGraphicFramePr>
            <a:graphicFrameLocks noGrp="1"/>
          </p:cNvGraphicFramePr>
          <p:nvPr/>
        </p:nvGraphicFramePr>
        <p:xfrm>
          <a:off x="571472" y="1525632"/>
          <a:ext cx="8001056" cy="3271520"/>
        </p:xfrm>
        <a:graphic>
          <a:graphicData uri="http://schemas.openxmlformats.org/drawingml/2006/table">
            <a:tbl>
              <a:tblPr firstRow="1" bandRow="1">
                <a:tableStyleId>{5C22544A-7EE6-4342-B048-85BDC9FD1C3A}</a:tableStyleId>
              </a:tblPr>
              <a:tblGrid>
                <a:gridCol w="2064235">
                  <a:extLst>
                    <a:ext uri="{9D8B030D-6E8A-4147-A177-3AD203B41FA5}">
                      <a16:colId xmlns:a16="http://schemas.microsoft.com/office/drawing/2014/main" val="20000"/>
                    </a:ext>
                  </a:extLst>
                </a:gridCol>
                <a:gridCol w="2507797">
                  <a:extLst>
                    <a:ext uri="{9D8B030D-6E8A-4147-A177-3AD203B41FA5}">
                      <a16:colId xmlns:a16="http://schemas.microsoft.com/office/drawing/2014/main" val="20001"/>
                    </a:ext>
                  </a:extLst>
                </a:gridCol>
                <a:gridCol w="857256">
                  <a:extLst>
                    <a:ext uri="{9D8B030D-6E8A-4147-A177-3AD203B41FA5}">
                      <a16:colId xmlns:a16="http://schemas.microsoft.com/office/drawing/2014/main" val="20002"/>
                    </a:ext>
                  </a:extLst>
                </a:gridCol>
                <a:gridCol w="1313009">
                  <a:extLst>
                    <a:ext uri="{9D8B030D-6E8A-4147-A177-3AD203B41FA5}">
                      <a16:colId xmlns:a16="http://schemas.microsoft.com/office/drawing/2014/main" val="20003"/>
                    </a:ext>
                  </a:extLst>
                </a:gridCol>
                <a:gridCol w="1258759">
                  <a:extLst>
                    <a:ext uri="{9D8B030D-6E8A-4147-A177-3AD203B41FA5}">
                      <a16:colId xmlns:a16="http://schemas.microsoft.com/office/drawing/2014/main" val="20004"/>
                    </a:ext>
                  </a:extLst>
                </a:gridCol>
              </a:tblGrid>
              <a:tr h="214314">
                <a:tc>
                  <a:txBody>
                    <a:bodyPr/>
                    <a:lstStyle/>
                    <a:p>
                      <a:r>
                        <a:rPr lang="en-US" sz="1400" dirty="0">
                          <a:solidFill>
                            <a:srgbClr val="FFFF00"/>
                          </a:solidFill>
                        </a:rPr>
                        <a:t>Apps.</a:t>
                      </a:r>
                    </a:p>
                  </a:txBody>
                  <a:tcPr/>
                </a:tc>
                <a:tc>
                  <a:txBody>
                    <a:bodyPr/>
                    <a:lstStyle/>
                    <a:p>
                      <a:r>
                        <a:rPr lang="en-US" sz="1400" dirty="0">
                          <a:solidFill>
                            <a:srgbClr val="FFFF00"/>
                          </a:solidFill>
                        </a:rPr>
                        <a:t>Comm.type</a:t>
                      </a:r>
                    </a:p>
                  </a:txBody>
                  <a:tcPr/>
                </a:tc>
                <a:tc>
                  <a:txBody>
                    <a:bodyPr/>
                    <a:lstStyle/>
                    <a:p>
                      <a:r>
                        <a:rPr lang="en-US" sz="1400" dirty="0">
                          <a:solidFill>
                            <a:srgbClr val="FFFF00"/>
                          </a:solidFill>
                        </a:rPr>
                        <a:t>Freq.</a:t>
                      </a:r>
                    </a:p>
                  </a:txBody>
                  <a:tcPr/>
                </a:tc>
                <a:tc>
                  <a:txBody>
                    <a:bodyPr/>
                    <a:lstStyle/>
                    <a:p>
                      <a:pPr algn="ctr"/>
                      <a:r>
                        <a:rPr lang="en-US" sz="1400" dirty="0">
                          <a:solidFill>
                            <a:srgbClr val="FFFF00"/>
                          </a:solidFill>
                        </a:rPr>
                        <a:t>Latency</a:t>
                      </a:r>
                    </a:p>
                  </a:txBody>
                  <a:tcPr/>
                </a:tc>
                <a:tc>
                  <a:txBody>
                    <a:bodyPr/>
                    <a:lstStyle/>
                    <a:p>
                      <a:r>
                        <a:rPr lang="en-US" sz="1400" dirty="0">
                          <a:solidFill>
                            <a:srgbClr val="FFFF00"/>
                          </a:solidFill>
                        </a:rPr>
                        <a:t>Range</a:t>
                      </a:r>
                    </a:p>
                  </a:txBody>
                  <a:tcPr/>
                </a:tc>
                <a:extLst>
                  <a:ext uri="{0D108BD9-81ED-4DB2-BD59-A6C34878D82A}">
                    <a16:rowId xmlns:a16="http://schemas.microsoft.com/office/drawing/2014/main" val="10000"/>
                  </a:ext>
                </a:extLst>
              </a:tr>
              <a:tr h="370840">
                <a:tc>
                  <a:txBody>
                    <a:bodyPr/>
                    <a:lstStyle/>
                    <a:p>
                      <a:r>
                        <a:rPr lang="en-US" sz="1400" dirty="0"/>
                        <a:t>Lane</a:t>
                      </a:r>
                      <a:r>
                        <a:rPr lang="en-US" sz="1400" baseline="0" dirty="0"/>
                        <a:t> Change Warning</a:t>
                      </a:r>
                      <a:endParaRPr lang="en-US" sz="1400" dirty="0"/>
                    </a:p>
                  </a:txBody>
                  <a:tcPr/>
                </a:tc>
                <a:tc>
                  <a:txBody>
                    <a:bodyPr/>
                    <a:lstStyle/>
                    <a:p>
                      <a:r>
                        <a:rPr lang="en-US" sz="1400" dirty="0"/>
                        <a:t>V2V,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150m</a:t>
                      </a:r>
                    </a:p>
                  </a:txBody>
                  <a:tcPr/>
                </a:tc>
                <a:extLst>
                  <a:ext uri="{0D108BD9-81ED-4DB2-BD59-A6C34878D82A}">
                    <a16:rowId xmlns:a16="http://schemas.microsoft.com/office/drawing/2014/main" val="10001"/>
                  </a:ext>
                </a:extLst>
              </a:tr>
              <a:tr h="370840">
                <a:tc>
                  <a:txBody>
                    <a:bodyPr/>
                    <a:lstStyle/>
                    <a:p>
                      <a:r>
                        <a:rPr lang="en-US" sz="1400" dirty="0"/>
                        <a:t>Collision Warning</a:t>
                      </a:r>
                    </a:p>
                  </a:txBody>
                  <a:tcPr/>
                </a:tc>
                <a:tc>
                  <a:txBody>
                    <a:bodyPr/>
                    <a:lstStyle/>
                    <a:p>
                      <a:r>
                        <a:rPr lang="en-US" sz="1400" dirty="0"/>
                        <a:t>V2V,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150m</a:t>
                      </a:r>
                    </a:p>
                  </a:txBody>
                  <a:tcPr/>
                </a:tc>
                <a:extLst>
                  <a:ext uri="{0D108BD9-81ED-4DB2-BD59-A6C34878D82A}">
                    <a16:rowId xmlns:a16="http://schemas.microsoft.com/office/drawing/2014/main" val="10002"/>
                  </a:ext>
                </a:extLst>
              </a:tr>
              <a:tr h="370840">
                <a:tc>
                  <a:txBody>
                    <a:bodyPr/>
                    <a:lstStyle/>
                    <a:p>
                      <a:r>
                        <a:rPr lang="en-US" sz="1400" dirty="0"/>
                        <a:t>Emergency Brake Lights</a:t>
                      </a:r>
                    </a:p>
                  </a:txBody>
                  <a:tcPr/>
                </a:tc>
                <a:tc>
                  <a:txBody>
                    <a:bodyPr/>
                    <a:lstStyle/>
                    <a:p>
                      <a:r>
                        <a:rPr lang="en-US" sz="1400" dirty="0"/>
                        <a:t>V2V, event-driven,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300m</a:t>
                      </a:r>
                    </a:p>
                  </a:txBody>
                  <a:tcPr/>
                </a:tc>
                <a:extLst>
                  <a:ext uri="{0D108BD9-81ED-4DB2-BD59-A6C34878D82A}">
                    <a16:rowId xmlns:a16="http://schemas.microsoft.com/office/drawing/2014/main" val="10003"/>
                  </a:ext>
                </a:extLst>
              </a:tr>
              <a:tr h="370840">
                <a:tc>
                  <a:txBody>
                    <a:bodyPr/>
                    <a:lstStyle/>
                    <a:p>
                      <a:r>
                        <a:rPr lang="en-US" sz="1400" dirty="0"/>
                        <a:t>Pre-Crash</a:t>
                      </a:r>
                      <a:r>
                        <a:rPr lang="en-US" sz="1400" baseline="0" dirty="0"/>
                        <a:t> Sensing</a:t>
                      </a:r>
                      <a:endParaRPr lang="en-US" sz="1400" dirty="0"/>
                    </a:p>
                  </a:txBody>
                  <a:tcPr/>
                </a:tc>
                <a:tc>
                  <a:txBody>
                    <a:bodyPr/>
                    <a:lstStyle/>
                    <a:p>
                      <a:r>
                        <a:rPr lang="en-US" sz="1400" dirty="0"/>
                        <a:t>V2V, event-driven, P2P</a:t>
                      </a:r>
                    </a:p>
                  </a:txBody>
                  <a:tcPr/>
                </a:tc>
                <a:tc>
                  <a:txBody>
                    <a:bodyPr/>
                    <a:lstStyle/>
                    <a:p>
                      <a:r>
                        <a:rPr lang="en-US" sz="1400" dirty="0"/>
                        <a:t>50Hz</a:t>
                      </a:r>
                    </a:p>
                  </a:txBody>
                  <a:tcPr/>
                </a:tc>
                <a:tc>
                  <a:txBody>
                    <a:bodyPr/>
                    <a:lstStyle/>
                    <a:p>
                      <a:pPr algn="ctr"/>
                      <a:r>
                        <a:rPr lang="en-US" sz="1400" dirty="0"/>
                        <a:t>20ms</a:t>
                      </a:r>
                    </a:p>
                  </a:txBody>
                  <a:tcPr/>
                </a:tc>
                <a:tc>
                  <a:txBody>
                    <a:bodyPr/>
                    <a:lstStyle/>
                    <a:p>
                      <a:r>
                        <a:rPr lang="en-US" sz="1400" dirty="0"/>
                        <a:t>50m</a:t>
                      </a:r>
                    </a:p>
                  </a:txBody>
                  <a:tcPr/>
                </a:tc>
                <a:extLst>
                  <a:ext uri="{0D108BD9-81ED-4DB2-BD59-A6C34878D82A}">
                    <a16:rowId xmlns:a16="http://schemas.microsoft.com/office/drawing/2014/main" val="10004"/>
                  </a:ext>
                </a:extLst>
              </a:tr>
              <a:tr h="370840">
                <a:tc>
                  <a:txBody>
                    <a:bodyPr/>
                    <a:lstStyle/>
                    <a:p>
                      <a:r>
                        <a:rPr lang="en-US" sz="1400" dirty="0"/>
                        <a:t>Stop Sign Assists</a:t>
                      </a:r>
                    </a:p>
                  </a:txBody>
                  <a:tcPr/>
                </a:tc>
                <a:tc>
                  <a:txBody>
                    <a:bodyPr/>
                    <a:lstStyle/>
                    <a:p>
                      <a:r>
                        <a:rPr lang="en-US" sz="1400" dirty="0"/>
                        <a:t>I2V and V2I, periodic</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250m</a:t>
                      </a:r>
                    </a:p>
                  </a:txBody>
                  <a:tcPr/>
                </a:tc>
                <a:extLst>
                  <a:ext uri="{0D108BD9-81ED-4DB2-BD59-A6C34878D82A}">
                    <a16:rowId xmlns:a16="http://schemas.microsoft.com/office/drawing/2014/main" val="10005"/>
                  </a:ext>
                </a:extLst>
              </a:tr>
              <a:tr h="370840">
                <a:tc>
                  <a:txBody>
                    <a:bodyPr/>
                    <a:lstStyle/>
                    <a:p>
                      <a:r>
                        <a:rPr lang="en-US" sz="1400" dirty="0"/>
                        <a:t>Left</a:t>
                      </a:r>
                      <a:r>
                        <a:rPr lang="en-US" sz="1400" baseline="0" dirty="0"/>
                        <a:t> Turn Assistance</a:t>
                      </a:r>
                      <a:endParaRPr lang="en-US" sz="1400" dirty="0"/>
                    </a:p>
                  </a:txBody>
                  <a:tcPr/>
                </a:tc>
                <a:tc>
                  <a:txBody>
                    <a:bodyPr/>
                    <a:lstStyle/>
                    <a:p>
                      <a:r>
                        <a:rPr lang="en-US" sz="1400" dirty="0"/>
                        <a:t>I2V and V2I,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300m</a:t>
                      </a:r>
                    </a:p>
                  </a:txBody>
                  <a:tcPr/>
                </a:tc>
                <a:extLst>
                  <a:ext uri="{0D108BD9-81ED-4DB2-BD59-A6C34878D82A}">
                    <a16:rowId xmlns:a16="http://schemas.microsoft.com/office/drawing/2014/main" val="10006"/>
                  </a:ext>
                </a:extLst>
              </a:tr>
              <a:tr h="370840">
                <a:tc>
                  <a:txBody>
                    <a:bodyPr/>
                    <a:lstStyle/>
                    <a:p>
                      <a:r>
                        <a:rPr lang="en-US" sz="1400" dirty="0"/>
                        <a:t>Traffic Signal Violation</a:t>
                      </a:r>
                    </a:p>
                  </a:txBody>
                  <a:tcPr/>
                </a:tc>
                <a:tc>
                  <a:txBody>
                    <a:bodyPr/>
                    <a:lstStyle/>
                    <a:p>
                      <a:r>
                        <a:rPr lang="en-US" sz="1400" dirty="0"/>
                        <a:t>I2V, periodic, P2M</a:t>
                      </a:r>
                    </a:p>
                  </a:txBody>
                  <a:tcPr/>
                </a:tc>
                <a:tc>
                  <a:txBody>
                    <a:bodyPr/>
                    <a:lstStyle/>
                    <a:p>
                      <a:r>
                        <a:rPr lang="en-US" sz="1400" dirty="0"/>
                        <a:t>10Hz</a:t>
                      </a:r>
                    </a:p>
                  </a:txBody>
                  <a:tcPr/>
                </a:tc>
                <a:tc>
                  <a:txBody>
                    <a:bodyPr/>
                    <a:lstStyle/>
                    <a:p>
                      <a:pPr algn="ctr"/>
                      <a:r>
                        <a:rPr lang="en-US" sz="1400" dirty="0"/>
                        <a:t>100ms</a:t>
                      </a:r>
                    </a:p>
                  </a:txBody>
                  <a:tcPr/>
                </a:tc>
                <a:tc>
                  <a:txBody>
                    <a:bodyPr/>
                    <a:lstStyle/>
                    <a:p>
                      <a:r>
                        <a:rPr lang="en-US" sz="1400" dirty="0"/>
                        <a:t>250m</a:t>
                      </a:r>
                    </a:p>
                  </a:txBody>
                  <a:tcPr/>
                </a:tc>
                <a:extLst>
                  <a:ext uri="{0D108BD9-81ED-4DB2-BD59-A6C34878D82A}">
                    <a16:rowId xmlns:a16="http://schemas.microsoft.com/office/drawing/2014/main" val="10007"/>
                  </a:ext>
                </a:extLst>
              </a:tr>
              <a:tr h="370840">
                <a:tc>
                  <a:txBody>
                    <a:bodyPr/>
                    <a:lstStyle/>
                    <a:p>
                      <a:r>
                        <a:rPr lang="en-US" sz="1400" dirty="0"/>
                        <a:t>Curve Speed Warning</a:t>
                      </a:r>
                    </a:p>
                  </a:txBody>
                  <a:tcPr/>
                </a:tc>
                <a:tc>
                  <a:txBody>
                    <a:bodyPr/>
                    <a:lstStyle/>
                    <a:p>
                      <a:r>
                        <a:rPr lang="en-US" sz="1400" dirty="0"/>
                        <a:t>I2V, periodic, P2M</a:t>
                      </a:r>
                    </a:p>
                  </a:txBody>
                  <a:tcPr/>
                </a:tc>
                <a:tc>
                  <a:txBody>
                    <a:bodyPr/>
                    <a:lstStyle/>
                    <a:p>
                      <a:r>
                        <a:rPr lang="en-US" sz="1400" dirty="0"/>
                        <a:t>1Hz</a:t>
                      </a:r>
                    </a:p>
                  </a:txBody>
                  <a:tcPr/>
                </a:tc>
                <a:tc>
                  <a:txBody>
                    <a:bodyPr/>
                    <a:lstStyle/>
                    <a:p>
                      <a:pPr algn="ctr"/>
                      <a:r>
                        <a:rPr lang="en-US" sz="1400" dirty="0"/>
                        <a:t>1s</a:t>
                      </a:r>
                    </a:p>
                  </a:txBody>
                  <a:tcPr/>
                </a:tc>
                <a:tc>
                  <a:txBody>
                    <a:bodyPr/>
                    <a:lstStyle/>
                    <a:p>
                      <a:r>
                        <a:rPr lang="en-US" sz="1400" dirty="0"/>
                        <a:t>200m</a:t>
                      </a:r>
                    </a:p>
                  </a:txBody>
                  <a:tcPr/>
                </a:tc>
                <a:extLst>
                  <a:ext uri="{0D108BD9-81ED-4DB2-BD59-A6C34878D82A}">
                    <a16:rowId xmlns:a16="http://schemas.microsoft.com/office/drawing/2014/main" val="10008"/>
                  </a:ext>
                </a:extLst>
              </a:tr>
            </a:tbl>
          </a:graphicData>
        </a:graphic>
      </p:graphicFrame>
      <p:sp>
        <p:nvSpPr>
          <p:cNvPr id="5" name="Rectangle 4"/>
          <p:cNvSpPr/>
          <p:nvPr/>
        </p:nvSpPr>
        <p:spPr>
          <a:xfrm>
            <a:off x="539552" y="5229200"/>
            <a:ext cx="6336704" cy="724272"/>
          </a:xfrm>
          <a:prstGeom prst="rect">
            <a:avLst/>
          </a:prstGeom>
        </p:spPr>
        <p:style>
          <a:lnRef idx="3">
            <a:schemeClr val="lt1"/>
          </a:lnRef>
          <a:fillRef idx="1">
            <a:schemeClr val="accent1"/>
          </a:fillRef>
          <a:effectRef idx="1">
            <a:schemeClr val="accent1"/>
          </a:effectRef>
          <a:fontRef idx="minor">
            <a:schemeClr val="lt1"/>
          </a:fontRef>
        </p:style>
        <p:txBody>
          <a:bodyPr wrap="none" lIns="36000" rIns="36000"/>
          <a:lstStyle/>
          <a:p>
            <a:pPr algn="l">
              <a:defRPr/>
            </a:pPr>
            <a:r>
              <a:rPr lang="en-US" sz="1100" b="0" i="1" dirty="0">
                <a:solidFill>
                  <a:schemeClr val="tx1"/>
                </a:solidFill>
                <a:latin typeface="Calibri" panose="020F0502020204030204" pitchFamily="34" charset="0"/>
              </a:rPr>
              <a:t>Eight high priority vehicle safety applications as chosen by NHTSA and VSCC. </a:t>
            </a:r>
          </a:p>
          <a:p>
            <a:pPr algn="l">
              <a:defRPr/>
            </a:pPr>
            <a:r>
              <a:rPr lang="en-US" sz="1100" b="0" i="1" dirty="0">
                <a:solidFill>
                  <a:schemeClr val="tx1"/>
                </a:solidFill>
                <a:latin typeface="Calibri" panose="020F0502020204030204" pitchFamily="34" charset="0"/>
              </a:rPr>
              <a:t>NHTSA</a:t>
            </a:r>
            <a:r>
              <a:rPr lang="en-US" sz="1600" b="0" dirty="0">
                <a:solidFill>
                  <a:schemeClr val="tx1"/>
                </a:solidFill>
                <a:latin typeface="Calibri" pitchFamily="34" charset="0"/>
              </a:rPr>
              <a:t> </a:t>
            </a:r>
            <a:r>
              <a:rPr lang="en-US" sz="1100" b="0" i="1" dirty="0">
                <a:solidFill>
                  <a:schemeClr val="tx1"/>
                </a:solidFill>
                <a:latin typeface="Calibri" panose="020F0502020204030204" pitchFamily="34" charset="0"/>
              </a:rPr>
              <a:t>– US National Highway Traffic Safety Administration</a:t>
            </a:r>
          </a:p>
          <a:p>
            <a:pPr algn="l">
              <a:defRPr/>
            </a:pPr>
            <a:r>
              <a:rPr lang="en-US" sz="1100" b="0" i="1" dirty="0">
                <a:solidFill>
                  <a:schemeClr val="tx1"/>
                </a:solidFill>
                <a:latin typeface="Calibri" panose="020F0502020204030204" pitchFamily="34" charset="0"/>
              </a:rPr>
              <a:t>VSCC – Vehicle Safety Communication Consortium of CAMP (Crash Avoidance Metrics Partnership)</a:t>
            </a:r>
          </a:p>
        </p:txBody>
      </p:sp>
      <p:sp>
        <p:nvSpPr>
          <p:cNvPr id="6" name="Rectangle 5"/>
          <p:cNvSpPr/>
          <p:nvPr/>
        </p:nvSpPr>
        <p:spPr>
          <a:xfrm>
            <a:off x="6948264" y="4797152"/>
            <a:ext cx="1982190" cy="724272"/>
          </a:xfrm>
          <a:prstGeom prst="rect">
            <a:avLst/>
          </a:prstGeom>
        </p:spPr>
        <p:style>
          <a:lnRef idx="3">
            <a:schemeClr val="lt1"/>
          </a:lnRef>
          <a:fillRef idx="1">
            <a:schemeClr val="accent1"/>
          </a:fillRef>
          <a:effectRef idx="1">
            <a:schemeClr val="accent1"/>
          </a:effectRef>
          <a:fontRef idx="minor">
            <a:schemeClr val="lt1"/>
          </a:fontRef>
        </p:style>
        <p:txBody>
          <a:bodyPr wrap="none" lIns="36000" rIns="36000"/>
          <a:lstStyle/>
          <a:p>
            <a:pPr algn="l">
              <a:defRPr/>
            </a:pPr>
            <a:r>
              <a:rPr lang="en-US" sz="1100" b="0" i="1" dirty="0">
                <a:solidFill>
                  <a:schemeClr val="tx1"/>
                </a:solidFill>
                <a:latin typeface="Calibri" panose="020F0502020204030204" pitchFamily="34" charset="0"/>
              </a:rPr>
              <a:t>V2V = Vehicle to Vehicle</a:t>
            </a:r>
          </a:p>
          <a:p>
            <a:pPr algn="l">
              <a:defRPr/>
            </a:pPr>
            <a:r>
              <a:rPr lang="en-US" sz="1100" b="0" i="1" dirty="0">
                <a:solidFill>
                  <a:schemeClr val="tx1"/>
                </a:solidFill>
                <a:latin typeface="Calibri" panose="020F0502020204030204" pitchFamily="34" charset="0"/>
              </a:rPr>
              <a:t>P2M = Point to Multipoint</a:t>
            </a:r>
          </a:p>
          <a:p>
            <a:pPr algn="l">
              <a:defRPr/>
            </a:pPr>
            <a:r>
              <a:rPr lang="en-US" sz="1100" b="0" i="1" dirty="0">
                <a:solidFill>
                  <a:schemeClr val="tx1"/>
                </a:solidFill>
                <a:latin typeface="Calibri" panose="020F0502020204030204" pitchFamily="34" charset="0"/>
              </a:rPr>
              <a:t>I2V = Infra structure to Vehicle</a:t>
            </a:r>
          </a:p>
          <a:p>
            <a:pPr algn="l">
              <a:defRPr/>
            </a:pPr>
            <a:endParaRPr lang="en-US" sz="1100" b="0" i="1" dirty="0">
              <a:solidFill>
                <a:schemeClr val="tx1"/>
              </a:solidFill>
              <a:latin typeface="Calibri" panose="020F0502020204030204" pitchFamily="34" charset="0"/>
            </a:endParaRPr>
          </a:p>
        </p:txBody>
      </p:sp>
      <p:sp>
        <p:nvSpPr>
          <p:cNvPr id="7" name="Slide Number Placeholder 6"/>
          <p:cNvSpPr>
            <a:spLocks noGrp="1"/>
          </p:cNvSpPr>
          <p:nvPr>
            <p:ph type="sldNum" sz="quarter" idx="12"/>
          </p:nvPr>
        </p:nvSpPr>
        <p:spPr/>
        <p:txBody>
          <a:bodyPr/>
          <a:lstStyle/>
          <a:p>
            <a:fld id="{5FE8331A-29DF-448F-B863-D5D40B4B9C84}" type="slidenum">
              <a:rPr lang="en-US" smtClean="0"/>
              <a:t>24</a:t>
            </a:fld>
            <a:endParaRPr lang="en-US"/>
          </a:p>
        </p:txBody>
      </p:sp>
      <p:sp>
        <p:nvSpPr>
          <p:cNvPr id="8" name="Footer Placeholder 4"/>
          <p:cNvSpPr>
            <a:spLocks noGrp="1"/>
          </p:cNvSpPr>
          <p:nvPr>
            <p:ph type="ftr" sz="quarter" idx="11"/>
          </p:nvPr>
        </p:nvSpPr>
        <p:spPr>
          <a:xfrm>
            <a:off x="2590800" y="5953472"/>
            <a:ext cx="3733800" cy="609600"/>
          </a:xfrm>
        </p:spPr>
        <p:txBody>
          <a:bodyPr/>
          <a:lstStyle/>
          <a:p>
            <a:pPr>
              <a:defRPr/>
            </a:pPr>
            <a:r>
              <a:rPr lang="en-US" dirty="0"/>
              <a:t>Johan J. Lukkien, j.j.lukkien@tue.nl</a:t>
            </a:r>
          </a:p>
          <a:p>
            <a:pPr>
              <a:defRPr/>
            </a:pPr>
            <a:r>
              <a:rPr lang="en-GB" dirty="0"/>
              <a:t>TU/e Informatica, System Architecture and Networking</a:t>
            </a:r>
            <a:endParaRPr lang="en-US" dirty="0"/>
          </a:p>
        </p:txBody>
      </p:sp>
    </p:spTree>
    <p:extLst>
      <p:ext uri="{BB962C8B-B14F-4D97-AF65-F5344CB8AC3E}">
        <p14:creationId xmlns:p14="http://schemas.microsoft.com/office/powerpoint/2010/main" val="70961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Autofit/>
          </a:bodyPr>
          <a:lstStyle/>
          <a:p>
            <a:pPr algn="just"/>
            <a:r>
              <a:rPr lang="en-US" sz="1400" dirty="0"/>
              <a:t>The Emergency Electronic Brake Light (EEBL) application enables a vehicle to broadcast a self-generated emergency brake event to surrounding vehicles. Upon receiving the event information, the receiving vehicle determines the relevance of the event and if appropriate provides a warning to the driver in order to avoid a crash. This application is particularly useful when the driver's line of sight is obstructed by other vehicles or bad weather conditions (e.g., fog, heavy rain). </a:t>
            </a:r>
          </a:p>
          <a:p>
            <a:pPr algn="just"/>
            <a:endParaRPr lang="en-US" sz="1400" dirty="0"/>
          </a:p>
          <a:p>
            <a:pPr algn="just"/>
            <a:r>
              <a:rPr lang="en-US" sz="1400" dirty="0"/>
              <a:t>When a vehicle brakes hard, the Emergency Electronic Brake Light application conveys this information to surrounding  vehicles via one or more Basic Safety Messages. This application will help the driver of a following vehicle by giving an early notification that the lead vehicle is braking hard even when the driver’s visibility is limited (e.g. a large truck blocks the driver’s view, heavy fog, rain).   </a:t>
            </a:r>
          </a:p>
          <a:p>
            <a:pPr algn="just"/>
            <a:endParaRPr lang="en-US" sz="1400" dirty="0"/>
          </a:p>
          <a:p>
            <a:pPr algn="just"/>
            <a:r>
              <a:rPr lang="en-US" sz="1400" dirty="0"/>
              <a:t>The current brake lamp goes on when the driver applies the brake. The Emergency Electronic Brake Light application might not only enhance the range of a hard braking message but also might provide important  information such as acceleration/deceleration rate and duration. At present, brake lamps do not differentiate level of deceleration and are only useful as far rearward as line of sight allows.</a:t>
            </a:r>
          </a:p>
          <a:p>
            <a:pPr algn="just"/>
            <a:endParaRPr lang="en-US" sz="14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Autofit/>
          </a:bodyPr>
          <a:lstStyle/>
          <a:p>
            <a:pPr algn="just"/>
            <a:r>
              <a:rPr lang="en-US" sz="1600" dirty="0"/>
              <a:t>A Post Collision Notification application detects an incident based on the speed and deceleration of each vehicle or node.</a:t>
            </a:r>
          </a:p>
          <a:p>
            <a:pPr algn="just"/>
            <a:endParaRPr lang="en-US" sz="1600" dirty="0"/>
          </a:p>
          <a:p>
            <a:pPr algn="just"/>
            <a:r>
              <a:rPr lang="en-US" sz="1600" dirty="0"/>
              <a:t>Lane Change Assist (LCA) uses radar sensors to help the driver to monitor the blind-spot area and the traffic situation behind the vehicle. Lane Change Assist measures the closing speed of an approaching vehicle in the adjacent lane to determine if changing lanes is safe and if it’s not, gives the driver an audible and visual warning.</a:t>
            </a:r>
          </a:p>
          <a:p>
            <a:pPr algn="just"/>
            <a:endParaRPr lang="en-US" sz="1600" dirty="0"/>
          </a:p>
          <a:p>
            <a:pPr algn="just"/>
            <a:r>
              <a:rPr lang="en-US" sz="1600" dirty="0"/>
              <a:t>Cooperative Collision Warning (CCW), which provides an active safety mechanism for vehicles on highways, is implemented by exchanging static and dynamic vehicle parameters with neighboring vehicles through inter-vehicle wireless communications. Received information is not only used for calculating the relative safety distance between neighboring vehicles, but also stored in a Motor Vehicle Event Data Recorder (MVEDR) for future accident investigation.</a:t>
            </a: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457200" y="1600200"/>
            <a:ext cx="7467600" cy="4572000"/>
          </a:xfrm>
        </p:spPr>
        <p:txBody>
          <a:bodyPr>
            <a:noAutofit/>
          </a:bodyPr>
          <a:lstStyle/>
          <a:p>
            <a:pPr algn="just"/>
            <a:r>
              <a:rPr lang="en-US" sz="1800" dirty="0"/>
              <a:t>The CCW concept provides warnings or situation awareness displays to drivers based on information about the motions of neighboring vehicles obtained by wireless communications from those vehicles, without use of any ranging sensors. Collision Warning Systems share a common need: the vehicle needs to know about the locations and motions of all the neighboring vehicles, representing the state of the vehicle neighborhood. </a:t>
            </a:r>
          </a:p>
          <a:p>
            <a:pPr algn="just"/>
            <a:endParaRPr lang="en-US" sz="1800" dirty="0"/>
          </a:p>
          <a:p>
            <a:pPr algn="just"/>
            <a:r>
              <a:rPr lang="en-US" sz="1800" dirty="0"/>
              <a:t>Most collision warning systems in the literature try to learn the state of the neighboring vehicles or roadway by using sensors like radar, laser, or vision (1) looking forward, to the rear, to the right lane and left lane. In contrast, our collision warning system develops its knowledge of the vehicle neighborhood by listening to the wireless communications of other vehicles and reciprocates with communications of its own.</a:t>
            </a:r>
          </a:p>
          <a:p>
            <a:pPr algn="just"/>
            <a:endParaRPr lang="en-US" sz="18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itchFamily="18" charset="0"/>
                <a:cs typeface="Times New Roman" pitchFamily="18" charset="0"/>
              </a:rPr>
              <a:t>Characteristics </a:t>
            </a:r>
          </a:p>
        </p:txBody>
      </p:sp>
      <p:sp>
        <p:nvSpPr>
          <p:cNvPr id="3" name="Content Placeholder 2"/>
          <p:cNvSpPr>
            <a:spLocks noGrp="1"/>
          </p:cNvSpPr>
          <p:nvPr>
            <p:ph sz="quarter" idx="1"/>
          </p:nvPr>
        </p:nvSpPr>
        <p:spPr>
          <a:xfrm>
            <a:off x="457200" y="1981200"/>
            <a:ext cx="8229600" cy="4525963"/>
          </a:xfrm>
        </p:spPr>
        <p:txBody>
          <a:bodyPr/>
          <a:lstStyle/>
          <a:p>
            <a:r>
              <a:rPr lang="en-US" sz="2000" dirty="0">
                <a:latin typeface="Times New Roman" pitchFamily="18" charset="0"/>
                <a:cs typeface="Times New Roman" pitchFamily="18" charset="0"/>
              </a:rPr>
              <a:t>High Mobility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Rapid Changing Network Topology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Predictable Mobility</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No Power Criteria </a:t>
            </a:r>
          </a:p>
          <a:p>
            <a:endParaRPr lang="en-US" sz="2000" dirty="0">
              <a:latin typeface="Times New Roman" pitchFamily="18" charset="0"/>
              <a:cs typeface="Times New Roman" pitchFamily="18" charset="0"/>
            </a:endParaRPr>
          </a:p>
          <a:p>
            <a:r>
              <a:rPr lang="en-US" sz="2000" dirty="0">
                <a:latin typeface="Times New Roman" pitchFamily="18" charset="0"/>
                <a:cs typeface="Times New Roman" pitchFamily="18" charset="0"/>
              </a:rPr>
              <a:t>Time Management [6]</a:t>
            </a:r>
          </a:p>
          <a:p>
            <a:endParaRPr lang="en-US" sz="2000" dirty="0">
              <a:latin typeface="Times New Roman" pitchFamily="18" charset="0"/>
              <a:cs typeface="Times New Roman" pitchFamily="18" charset="0"/>
            </a:endParaRPr>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a:xfrm>
            <a:off x="228599" y="1417638"/>
            <a:ext cx="8756375" cy="5032858"/>
          </a:xfrm>
        </p:spPr>
        <p:txBody>
          <a:bodyPr>
            <a:normAutofit lnSpcReduction="10000"/>
          </a:bodyPr>
          <a:lstStyle/>
          <a:p>
            <a:pPr algn="just"/>
            <a:r>
              <a:rPr lang="en-US" sz="1600" dirty="0">
                <a:latin typeface="Times New Roman" pitchFamily="18" charset="0"/>
                <a:cs typeface="Times New Roman" pitchFamily="18" charset="0"/>
              </a:rPr>
              <a:t>VANET is an application of MANET but it has its own distinct characteristics, the characteristics of VANETs are basically a mixture of wireless medium characteristics. The characteristics are: </a:t>
            </a:r>
          </a:p>
          <a:p>
            <a:pPr algn="just"/>
            <a:r>
              <a:rPr lang="en-US" sz="1600" dirty="0">
                <a:latin typeface="Times New Roman" pitchFamily="18" charset="0"/>
                <a:cs typeface="Times New Roman" pitchFamily="18" charset="0"/>
              </a:rPr>
              <a:t>1. High Mobility: - This is important features of the VANET as nodes move in a high speed all the time with different direction . The high mobility of nodes reduces the mesh in the network (fewer routes between nodes). Compared to MANET, VANET mobility is relatively high.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2. Rapid Changing Network Topology: - As nodes move in very high speed so the position of node changes frequently so therefore network topology in VANETs tends to change frequently. The connection times are short especially between nodes moving in opposite direction.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3. No Power criteria: - The VANET node is equipped with a battery that is used as an infinite power supply for the communication and computation task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4. Time Management: - Safety message are the main goal of VANET. Message in VANET must be delivered to the nodes within the time limit so that a decision can be made by the node and perform action according. </a:t>
            </a:r>
          </a:p>
          <a:p>
            <a:pPr algn="just"/>
            <a:endParaRPr lang="en-US" sz="1600" dirty="0">
              <a:latin typeface="Times New Roman" pitchFamily="18" charset="0"/>
              <a:cs typeface="Times New Roman" pitchFamily="18" charset="0"/>
            </a:endParaRPr>
          </a:p>
          <a:p>
            <a:pPr algn="just"/>
            <a:r>
              <a:rPr lang="en-US" sz="1600" dirty="0">
                <a:latin typeface="Times New Roman" pitchFamily="18" charset="0"/>
                <a:cs typeface="Times New Roman" pitchFamily="18" charset="0"/>
              </a:rPr>
              <a:t>5. Wireless Communication: - Data transmission is generally done by nodes. Nodes are connected and exchange their information via wireless communication</a:t>
            </a:r>
            <a:endParaRPr lang="en-US" sz="1600" i="1" dirty="0">
              <a:latin typeface="Times New Roman" pitchFamily="18" charset="0"/>
              <a:cs typeface="Times New Roman" pitchFamily="18" charset="0"/>
            </a:endParaRPr>
          </a:p>
          <a:p>
            <a:endParaRPr lang="en-US" sz="1600" dirty="0"/>
          </a:p>
          <a:p>
            <a:endParaRPr lang="en-US" sz="1600"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Challenges of communication</a:t>
            </a:r>
            <a:endParaRPr lang="en-US" dirty="0"/>
          </a:p>
        </p:txBody>
      </p:sp>
      <p:sp>
        <p:nvSpPr>
          <p:cNvPr id="3" name="Inhaltsplatzhalter 2"/>
          <p:cNvSpPr>
            <a:spLocks noGrp="1"/>
          </p:cNvSpPr>
          <p:nvPr>
            <p:ph idx="1"/>
          </p:nvPr>
        </p:nvSpPr>
        <p:spPr/>
        <p:txBody>
          <a:bodyPr>
            <a:normAutofit lnSpcReduction="10000"/>
          </a:bodyPr>
          <a:lstStyle/>
          <a:p>
            <a:r>
              <a:rPr lang="en-US"/>
              <a:t>Basic challenges </a:t>
            </a:r>
          </a:p>
          <a:p>
            <a:pPr lvl="1"/>
            <a:r>
              <a:rPr lang="en-US"/>
              <a:t>Timeliness</a:t>
            </a:r>
          </a:p>
          <a:p>
            <a:pPr lvl="1"/>
            <a:r>
              <a:rPr lang="en-US"/>
              <a:t>Throughput</a:t>
            </a:r>
          </a:p>
          <a:p>
            <a:r>
              <a:rPr lang="en-US"/>
              <a:t>Communication in vehicles: stresses...</a:t>
            </a:r>
          </a:p>
          <a:p>
            <a:pPr lvl="1"/>
            <a:r>
              <a:rPr lang="en-US"/>
              <a:t>Robustness</a:t>
            </a:r>
          </a:p>
          <a:p>
            <a:pPr lvl="1"/>
            <a:r>
              <a:rPr lang="en-US"/>
              <a:t>Cost</a:t>
            </a:r>
          </a:p>
          <a:p>
            <a:r>
              <a:rPr lang="en-US"/>
              <a:t>Communication across vehicles: also needs...</a:t>
            </a:r>
          </a:p>
          <a:p>
            <a:pPr lvl="1"/>
            <a:r>
              <a:rPr lang="en-US"/>
              <a:t>Interoperability</a:t>
            </a:r>
          </a:p>
          <a:p>
            <a:pPr lvl="1"/>
            <a:r>
              <a:rPr lang="en-US"/>
              <a:t>Reachability</a:t>
            </a:r>
          </a:p>
          <a:p>
            <a:pPr lvl="1"/>
            <a:r>
              <a:rPr lang="en-US"/>
              <a:t>Security</a:t>
            </a:r>
          </a:p>
          <a:p>
            <a:pPr lvl="1"/>
            <a:r>
              <a:rPr lang="en-US"/>
              <a:t>Privacy</a:t>
            </a:r>
            <a:endParaRPr lang="en-US" dirty="0"/>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30</a:t>
            </a:fld>
            <a:endParaRPr lang="en-US" dirty="0"/>
          </a:p>
        </p:txBody>
      </p:sp>
    </p:spTree>
    <p:extLst>
      <p:ext uri="{BB962C8B-B14F-4D97-AF65-F5344CB8AC3E}">
        <p14:creationId xmlns:p14="http://schemas.microsoft.com/office/powerpoint/2010/main" val="16757278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Cont…</a:t>
            </a:r>
          </a:p>
        </p:txBody>
      </p:sp>
      <p:sp>
        <p:nvSpPr>
          <p:cNvPr id="3" name="Content Placeholder 2"/>
          <p:cNvSpPr>
            <a:spLocks noGrp="1"/>
          </p:cNvSpPr>
          <p:nvPr>
            <p:ph sz="quarter" idx="1"/>
          </p:nvPr>
        </p:nvSpPr>
        <p:spPr/>
        <p:txBody>
          <a:bodyPr>
            <a:normAutofit/>
          </a:bodyPr>
          <a:lstStyle/>
          <a:p>
            <a:pPr algn="just"/>
            <a:r>
              <a:rPr lang="en-US" sz="2000" dirty="0">
                <a:latin typeface="Times New Roman" pitchFamily="18" charset="0"/>
                <a:cs typeface="Times New Roman" pitchFamily="18" charset="0"/>
              </a:rPr>
              <a:t>The main challenges of the VANETs can be summarized as follows: </a:t>
            </a:r>
            <a:endParaRPr lang="en-US" dirty="0">
              <a:latin typeface="Times New Roman" pitchFamily="18" charset="0"/>
              <a:cs typeface="Times New Roman" pitchFamily="18" charset="0"/>
            </a:endParaRPr>
          </a:p>
          <a:p>
            <a:pPr lvl="1" algn="just"/>
            <a:r>
              <a:rPr lang="en-US" sz="1900" dirty="0">
                <a:latin typeface="Times New Roman" pitchFamily="18" charset="0"/>
                <a:cs typeface="Times New Roman" pitchFamily="18" charset="0"/>
              </a:rPr>
              <a:t>Due to high mobility neighborhood location changes frequently-network Management. </a:t>
            </a:r>
          </a:p>
          <a:p>
            <a:pPr lvl="1" algn="just"/>
            <a:r>
              <a:rPr lang="en-US" sz="1900" dirty="0">
                <a:latin typeface="Times New Roman" pitchFamily="18" charset="0"/>
                <a:cs typeface="Times New Roman" pitchFamily="18" charset="0"/>
              </a:rPr>
              <a:t>The unbounded network size.(channel load) Congestion and collision Control: </a:t>
            </a:r>
          </a:p>
          <a:p>
            <a:pPr lvl="1" algn="just"/>
            <a:r>
              <a:rPr lang="en-US" sz="1900" dirty="0">
                <a:latin typeface="Times New Roman" pitchFamily="18" charset="0"/>
                <a:cs typeface="Times New Roman" pitchFamily="18" charset="0"/>
              </a:rPr>
              <a:t>Due to mobility signal power changes continuously. </a:t>
            </a:r>
          </a:p>
          <a:p>
            <a:pPr lvl="1" algn="just"/>
            <a:r>
              <a:rPr lang="en-US" sz="1900" dirty="0">
                <a:latin typeface="Times New Roman" pitchFamily="18" charset="0"/>
                <a:cs typeface="Times New Roman" pitchFamily="18" charset="0"/>
              </a:rPr>
              <a:t>Environmental impact VANETs uses the electromagnetic waves for communication. </a:t>
            </a:r>
          </a:p>
          <a:p>
            <a:pPr lvl="1" algn="just"/>
            <a:r>
              <a:rPr lang="en-US" sz="1900" dirty="0">
                <a:latin typeface="Times New Roman" pitchFamily="18" charset="0"/>
                <a:cs typeface="Times New Roman" pitchFamily="18" charset="0"/>
              </a:rPr>
              <a:t>Security as VANET provides the road safety applications which are life critical therefore security of these messages must be satisfied. </a:t>
            </a:r>
          </a:p>
          <a:p>
            <a:endParaRPr lang="en-US" dirty="0"/>
          </a:p>
        </p:txBody>
      </p:sp>
      <p:sp>
        <p:nvSpPr>
          <p:cNvPr id="4" name="Slide Number Placeholder 3"/>
          <p:cNvSpPr>
            <a:spLocks noGrp="1"/>
          </p:cNvSpPr>
          <p:nvPr>
            <p:ph type="sldNum" sz="quarter" idx="15"/>
          </p:nvPr>
        </p:nvSpPr>
        <p:spPr>
          <a:xfrm>
            <a:off x="8129016" y="5734050"/>
            <a:ext cx="609600" cy="521208"/>
          </a:xfrm>
          <a:prstGeom prst="rect">
            <a:avLst/>
          </a:prstGeom>
        </p:spPr>
        <p:txBody>
          <a:bodyPr vert="horz" rtlCol="0" anchor="ctr"/>
          <a:lstStyle>
            <a:defPPr>
              <a:defRPr lang="en-US"/>
            </a:defPPr>
            <a:lvl1pPr marL="0" algn="ctr" defTabSz="914400" rtl="0" eaLnBrk="1" latinLnBrk="0" hangingPunct="1">
              <a:defRPr kumimoji="0"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BA0C6D-7292-4CE0-92A4-A412082F6315}" type="slidenum">
              <a:rPr lang="en-US" smtClean="0"/>
              <a:pPr/>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US" altLang="en-US"/>
              <a:t>V2V: goals and characteristics</a:t>
            </a:r>
          </a:p>
        </p:txBody>
      </p:sp>
      <p:sp>
        <p:nvSpPr>
          <p:cNvPr id="4" name="Footer Placeholder 3"/>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5" name="Slide Number Placeholder 4"/>
          <p:cNvSpPr>
            <a:spLocks noGrp="1"/>
          </p:cNvSpPr>
          <p:nvPr>
            <p:ph type="sldNum" sz="quarter" idx="12"/>
          </p:nvPr>
        </p:nvSpPr>
        <p:spPr/>
        <p:txBody>
          <a:bodyPr/>
          <a:lstStyle/>
          <a:p>
            <a:pPr>
              <a:defRPr/>
            </a:pPr>
            <a:fld id="{786B3102-4474-4F56-A374-09033850C9B0}" type="slidenum">
              <a:rPr lang="en-US" smtClean="0"/>
              <a:pPr>
                <a:defRPr/>
              </a:pPr>
              <a:t>32</a:t>
            </a:fld>
            <a:endParaRPr lang="en-US"/>
          </a:p>
        </p:txBody>
      </p:sp>
      <p:sp>
        <p:nvSpPr>
          <p:cNvPr id="7" name="Content Placeholder 92"/>
          <p:cNvSpPr txBox="1">
            <a:spLocks/>
          </p:cNvSpPr>
          <p:nvPr/>
        </p:nvSpPr>
        <p:spPr bwMode="auto">
          <a:xfrm>
            <a:off x="556419" y="1268413"/>
            <a:ext cx="8031162" cy="4719638"/>
          </a:xfrm>
          <a:prstGeom prst="rect">
            <a:avLst/>
          </a:prstGeom>
          <a:noFill/>
          <a:ln w="9525">
            <a:noFill/>
            <a:round/>
            <a:headEnd/>
            <a:tailEnd/>
          </a:ln>
        </p:spPr>
        <p:txBody>
          <a:bodyPr lIns="0" tIns="0" rIns="0" bIns="0"/>
          <a:lstStyle>
            <a:lvl1pPr marL="338138" indent="-338138" algn="l" defTabSz="449263">
              <a:buChar char="•"/>
              <a:defRPr sz="2800">
                <a:solidFill>
                  <a:schemeClr val="tx1"/>
                </a:solidFill>
                <a:latin typeface="Arial" charset="0"/>
              </a:defRPr>
            </a:lvl1pPr>
            <a:lvl2pPr marL="738188" indent="-280988" algn="l" defTabSz="449263">
              <a:buChar char="–"/>
              <a:defRPr sz="2400">
                <a:solidFill>
                  <a:schemeClr val="accent2"/>
                </a:solidFill>
                <a:latin typeface="Arial" charset="0"/>
              </a:defRPr>
            </a:lvl2pPr>
            <a:lvl3pPr marL="1143000" indent="-228600" algn="l" defTabSz="449263">
              <a:buChar char="•"/>
              <a:defRPr sz="2000">
                <a:solidFill>
                  <a:schemeClr val="tx1"/>
                </a:solidFill>
                <a:latin typeface="Arial" charset="0"/>
              </a:defRPr>
            </a:lvl3pPr>
            <a:lvl4pPr marL="1600200" indent="-228600" algn="l" defTabSz="449263">
              <a:buChar char="–"/>
              <a:defRPr sz="2000">
                <a:solidFill>
                  <a:schemeClr val="tx1"/>
                </a:solidFill>
                <a:latin typeface="Arial" charset="0"/>
              </a:defRPr>
            </a:lvl4pPr>
            <a:lvl5pPr marL="2057400" indent="-228600" algn="l" defTabSz="449263">
              <a:buChar char="»"/>
              <a:defRPr sz="2000">
                <a:solidFill>
                  <a:schemeClr val="tx1"/>
                </a:solidFill>
                <a:latin typeface="Arial" charset="0"/>
              </a:defRPr>
            </a:lvl5pPr>
            <a:lvl6pPr marL="2514600" indent="-228600" defTabSz="449263" eaLnBrk="0" fontAlgn="base" hangingPunct="0">
              <a:spcBef>
                <a:spcPct val="20000"/>
              </a:spcBef>
              <a:spcAft>
                <a:spcPct val="0"/>
              </a:spcAft>
              <a:buChar char="»"/>
              <a:defRPr sz="2000">
                <a:solidFill>
                  <a:schemeClr val="tx1"/>
                </a:solidFill>
                <a:latin typeface="Arial" charset="0"/>
              </a:defRPr>
            </a:lvl6pPr>
            <a:lvl7pPr marL="2971800" indent="-228600" defTabSz="449263" eaLnBrk="0" fontAlgn="base" hangingPunct="0">
              <a:spcBef>
                <a:spcPct val="20000"/>
              </a:spcBef>
              <a:spcAft>
                <a:spcPct val="0"/>
              </a:spcAft>
              <a:buChar char="»"/>
              <a:defRPr sz="2000">
                <a:solidFill>
                  <a:schemeClr val="tx1"/>
                </a:solidFill>
                <a:latin typeface="Arial" charset="0"/>
              </a:defRPr>
            </a:lvl7pPr>
            <a:lvl8pPr marL="3429000" indent="-228600" defTabSz="449263" eaLnBrk="0" fontAlgn="base" hangingPunct="0">
              <a:spcBef>
                <a:spcPct val="20000"/>
              </a:spcBef>
              <a:spcAft>
                <a:spcPct val="0"/>
              </a:spcAft>
              <a:buChar char="»"/>
              <a:defRPr sz="2000">
                <a:solidFill>
                  <a:schemeClr val="tx1"/>
                </a:solidFill>
                <a:latin typeface="Arial" charset="0"/>
              </a:defRPr>
            </a:lvl8pPr>
            <a:lvl9pPr marL="3886200" indent="-228600" defTabSz="449263" eaLnBrk="0" fontAlgn="base" hangingPunct="0">
              <a:spcBef>
                <a:spcPct val="20000"/>
              </a:spcBef>
              <a:spcAft>
                <a:spcPct val="0"/>
              </a:spcAft>
              <a:buChar char="»"/>
              <a:defRPr sz="2000">
                <a:solidFill>
                  <a:schemeClr val="tx1"/>
                </a:solidFill>
                <a:latin typeface="Arial" charset="0"/>
              </a:defRPr>
            </a:lvl9pPr>
          </a:lstStyle>
          <a:p>
            <a:pPr>
              <a:lnSpc>
                <a:spcPct val="93000"/>
              </a:lnSpc>
              <a:spcBef>
                <a:spcPts val="1750"/>
              </a:spcBef>
              <a:spcAft>
                <a:spcPts val="500"/>
              </a:spcAft>
              <a:buClr>
                <a:srgbClr val="000000"/>
              </a:buClr>
              <a:buSzPct val="150000"/>
            </a:pPr>
            <a:r>
              <a:rPr lang="en-US" altLang="en-US" sz="2000" b="0" dirty="0">
                <a:solidFill>
                  <a:srgbClr val="000000"/>
                </a:solidFill>
              </a:rPr>
              <a:t>Goals</a:t>
            </a:r>
          </a:p>
          <a:p>
            <a:pPr lvl="1">
              <a:lnSpc>
                <a:spcPct val="93000"/>
              </a:lnSpc>
              <a:spcBef>
                <a:spcPts val="400"/>
              </a:spcBef>
              <a:buClr>
                <a:srgbClr val="000000"/>
              </a:buClr>
              <a:buFont typeface="Arial" charset="0"/>
              <a:buChar char="•"/>
            </a:pPr>
            <a:r>
              <a:rPr lang="en-US" altLang="en-US" sz="1800" b="0" dirty="0">
                <a:solidFill>
                  <a:schemeClr val="tx1"/>
                </a:solidFill>
              </a:rPr>
              <a:t>Safety</a:t>
            </a:r>
          </a:p>
          <a:p>
            <a:pPr lvl="1">
              <a:lnSpc>
                <a:spcPct val="93000"/>
              </a:lnSpc>
              <a:spcBef>
                <a:spcPts val="400"/>
              </a:spcBef>
              <a:buClr>
                <a:srgbClr val="000000"/>
              </a:buClr>
              <a:buFont typeface="Arial" charset="0"/>
              <a:buChar char="•"/>
            </a:pPr>
            <a:r>
              <a:rPr lang="en-US" altLang="en-US" sz="1800" b="0" dirty="0">
                <a:solidFill>
                  <a:srgbClr val="000000"/>
                </a:solidFill>
              </a:rPr>
              <a:t>Comfort</a:t>
            </a:r>
          </a:p>
          <a:p>
            <a:pPr lvl="1">
              <a:lnSpc>
                <a:spcPct val="93000"/>
              </a:lnSpc>
              <a:spcBef>
                <a:spcPts val="400"/>
              </a:spcBef>
              <a:buClr>
                <a:srgbClr val="000000"/>
              </a:buClr>
              <a:buFont typeface="Arial" charset="0"/>
              <a:buChar char="•"/>
            </a:pPr>
            <a:r>
              <a:rPr lang="en-US" altLang="en-US" sz="1800" b="0" dirty="0">
                <a:solidFill>
                  <a:srgbClr val="000000"/>
                </a:solidFill>
              </a:rPr>
              <a:t>Traffic efficiency</a:t>
            </a:r>
            <a:endParaRPr lang="de-DE" altLang="en-US" sz="1800" b="0" dirty="0">
              <a:solidFill>
                <a:srgbClr val="000000"/>
              </a:solidFill>
            </a:endParaRPr>
          </a:p>
          <a:p>
            <a:pPr>
              <a:lnSpc>
                <a:spcPct val="93000"/>
              </a:lnSpc>
              <a:spcBef>
                <a:spcPts val="1750"/>
              </a:spcBef>
              <a:spcAft>
                <a:spcPts val="500"/>
              </a:spcAft>
              <a:buClr>
                <a:srgbClr val="000000"/>
              </a:buClr>
              <a:buSzPct val="150000"/>
            </a:pPr>
            <a:endParaRPr lang="en-US" altLang="en-US" sz="1800" b="0" dirty="0">
              <a:solidFill>
                <a:srgbClr val="000000"/>
              </a:solidFill>
            </a:endParaRPr>
          </a:p>
          <a:p>
            <a:pPr>
              <a:lnSpc>
                <a:spcPct val="93000"/>
              </a:lnSpc>
              <a:spcBef>
                <a:spcPts val="1750"/>
              </a:spcBef>
              <a:spcAft>
                <a:spcPts val="500"/>
              </a:spcAft>
              <a:buClr>
                <a:srgbClr val="000000"/>
              </a:buClr>
              <a:buSzPct val="150000"/>
            </a:pPr>
            <a:r>
              <a:rPr lang="en-US" altLang="en-US" sz="2000" b="0" dirty="0">
                <a:solidFill>
                  <a:srgbClr val="000000"/>
                </a:solidFill>
              </a:rPr>
              <a:t>Safety applications have strict requirements on</a:t>
            </a:r>
          </a:p>
          <a:p>
            <a:pPr lvl="1">
              <a:lnSpc>
                <a:spcPct val="93000"/>
              </a:lnSpc>
              <a:spcBef>
                <a:spcPts val="400"/>
              </a:spcBef>
              <a:buClr>
                <a:srgbClr val="000000"/>
              </a:buClr>
              <a:buFont typeface="Arial" charset="0"/>
              <a:buChar char="•"/>
            </a:pPr>
            <a:r>
              <a:rPr lang="en-US" altLang="en-US" sz="1800" b="0" dirty="0">
                <a:solidFill>
                  <a:srgbClr val="0066FF"/>
                </a:solidFill>
              </a:rPr>
              <a:t>Reliability</a:t>
            </a:r>
          </a:p>
          <a:p>
            <a:pPr lvl="1">
              <a:lnSpc>
                <a:spcPct val="93000"/>
              </a:lnSpc>
              <a:spcBef>
                <a:spcPts val="400"/>
              </a:spcBef>
              <a:buClr>
                <a:srgbClr val="000000"/>
              </a:buClr>
              <a:buFont typeface="Arial" charset="0"/>
              <a:buChar char="•"/>
            </a:pPr>
            <a:r>
              <a:rPr lang="en-US" altLang="en-US" sz="1800" b="0" dirty="0">
                <a:solidFill>
                  <a:srgbClr val="0066FF"/>
                </a:solidFill>
              </a:rPr>
              <a:t>Delay</a:t>
            </a:r>
          </a:p>
          <a:p>
            <a:pPr lvl="1">
              <a:lnSpc>
                <a:spcPct val="93000"/>
              </a:lnSpc>
              <a:spcBef>
                <a:spcPts val="400"/>
              </a:spcBef>
              <a:buClr>
                <a:srgbClr val="000000"/>
              </a:buClr>
              <a:buFont typeface="Arial" charset="0"/>
              <a:buChar char="•"/>
            </a:pPr>
            <a:endParaRPr lang="en-US" altLang="en-US" sz="1600" b="0" dirty="0">
              <a:solidFill>
                <a:srgbClr val="0066FF"/>
              </a:solidFill>
            </a:endParaRPr>
          </a:p>
        </p:txBody>
      </p:sp>
      <p:grpSp>
        <p:nvGrpSpPr>
          <p:cNvPr id="12295" name="Group 7"/>
          <p:cNvGrpSpPr>
            <a:grpSpLocks/>
          </p:cNvGrpSpPr>
          <p:nvPr/>
        </p:nvGrpSpPr>
        <p:grpSpPr bwMode="auto">
          <a:xfrm>
            <a:off x="3343275" y="1268413"/>
            <a:ext cx="5572125" cy="1855787"/>
            <a:chOff x="2357422" y="4214510"/>
            <a:chExt cx="5786478" cy="1856416"/>
          </a:xfrm>
        </p:grpSpPr>
        <p:grpSp>
          <p:nvGrpSpPr>
            <p:cNvPr id="12296" name="Group 8"/>
            <p:cNvGrpSpPr>
              <a:grpSpLocks/>
            </p:cNvGrpSpPr>
            <p:nvPr/>
          </p:nvGrpSpPr>
          <p:grpSpPr bwMode="auto">
            <a:xfrm>
              <a:off x="2357422" y="4643446"/>
              <a:ext cx="5786478" cy="731827"/>
              <a:chOff x="684213" y="4643446"/>
              <a:chExt cx="8135937" cy="731827"/>
            </a:xfrm>
          </p:grpSpPr>
          <p:cxnSp>
            <p:nvCxnSpPr>
              <p:cNvPr id="18" name="Straight Connector 17"/>
              <p:cNvCxnSpPr/>
              <p:nvPr/>
            </p:nvCxnSpPr>
            <p:spPr>
              <a:xfrm rot="10800000">
                <a:off x="684213" y="4643280"/>
                <a:ext cx="813593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10800000">
                <a:off x="684213" y="5375365"/>
                <a:ext cx="8135937" cy="0"/>
              </a:xfrm>
              <a:prstGeom prst="line">
                <a:avLst/>
              </a:prstGeom>
            </p:spPr>
            <p:style>
              <a:lnRef idx="1">
                <a:schemeClr val="accent1"/>
              </a:lnRef>
              <a:fillRef idx="0">
                <a:schemeClr val="accent1"/>
              </a:fillRef>
              <a:effectRef idx="0">
                <a:schemeClr val="accent1"/>
              </a:effectRef>
              <a:fontRef idx="minor">
                <a:schemeClr val="tx1"/>
              </a:fontRef>
            </p:style>
          </p:cxnSp>
        </p:grpSp>
        <p:pic>
          <p:nvPicPr>
            <p:cNvPr id="12297" name="Picture 49" descr="MC900368488.WM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5867859" y="4929198"/>
              <a:ext cx="731652" cy="27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98" name="Group 123"/>
            <p:cNvGrpSpPr>
              <a:grpSpLocks/>
            </p:cNvGrpSpPr>
            <p:nvPr/>
          </p:nvGrpSpPr>
          <p:grpSpPr bwMode="auto">
            <a:xfrm rot="-5840046">
              <a:off x="5188744" y="4649012"/>
              <a:ext cx="165100" cy="808038"/>
              <a:chOff x="7596336" y="3722795"/>
              <a:chExt cx="221338" cy="1008875"/>
            </a:xfrm>
          </p:grpSpPr>
          <p:cxnSp>
            <p:nvCxnSpPr>
              <p:cNvPr id="15" name="Straight Arrow Connector 14"/>
              <p:cNvCxnSpPr/>
              <p:nvPr/>
            </p:nvCxnSpPr>
            <p:spPr>
              <a:xfrm rot="5400000" flipH="1" flipV="1">
                <a:off x="7473049" y="3862538"/>
                <a:ext cx="504289" cy="215027"/>
              </a:xfrm>
              <a:prstGeom prst="straightConnector1">
                <a:avLst/>
              </a:prstGeom>
              <a:ln w="41275" cap="rnd">
                <a:solidFill>
                  <a:srgbClr val="0070C0"/>
                </a:solidFill>
                <a:miter lim="800000"/>
                <a:tailEnd type="triangle" w="med" len="lg"/>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597319" y="4219798"/>
                <a:ext cx="217155" cy="0"/>
              </a:xfrm>
              <a:prstGeom prst="line">
                <a:avLst/>
              </a:prstGeom>
              <a:ln w="41275" cap="rnd">
                <a:solidFill>
                  <a:srgbClr val="0070C0"/>
                </a:solidFill>
                <a:miter lim="800000"/>
                <a:tailEnd w="med" len="lg"/>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7462964" y="4364516"/>
                <a:ext cx="504288" cy="217155"/>
              </a:xfrm>
              <a:prstGeom prst="straightConnector1">
                <a:avLst/>
              </a:prstGeom>
              <a:ln w="41275" cap="rnd">
                <a:solidFill>
                  <a:srgbClr val="0070C0"/>
                </a:solidFill>
                <a:miter lim="800000"/>
                <a:tailEnd type="triangle" w="med" len="lg"/>
              </a:ln>
            </p:spPr>
            <p:style>
              <a:lnRef idx="1">
                <a:schemeClr val="accent1"/>
              </a:lnRef>
              <a:fillRef idx="0">
                <a:schemeClr val="accent1"/>
              </a:fillRef>
              <a:effectRef idx="0">
                <a:schemeClr val="accent1"/>
              </a:effectRef>
              <a:fontRef idx="minor">
                <a:schemeClr val="tx1"/>
              </a:fontRef>
            </p:style>
          </p:cxnSp>
        </p:grpSp>
        <p:sp>
          <p:nvSpPr>
            <p:cNvPr id="12" name="Oval 11"/>
            <p:cNvSpPr/>
            <p:nvPr/>
          </p:nvSpPr>
          <p:spPr>
            <a:xfrm>
              <a:off x="2571736" y="4214510"/>
              <a:ext cx="3857652" cy="1856416"/>
            </a:xfrm>
            <a:prstGeom prst="ellipse">
              <a:avLst/>
            </a:prstGeom>
            <a:no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pic>
          <p:nvPicPr>
            <p:cNvPr id="12300" name="Picture 49" descr="MC900368488.WMF"/>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4000496" y="4912683"/>
              <a:ext cx="731652" cy="279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Oval 13"/>
            <p:cNvSpPr/>
            <p:nvPr/>
          </p:nvSpPr>
          <p:spPr>
            <a:xfrm>
              <a:off x="4215360" y="4214510"/>
              <a:ext cx="3857652" cy="1856416"/>
            </a:xfrm>
            <a:prstGeom prst="ellipse">
              <a:avLst/>
            </a:prstGeom>
            <a:noFill/>
            <a:ln w="9525">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r>
              <a:rPr lang="en-US" sz="4400" dirty="0"/>
              <a:t>Car-to-X Networking</a:t>
            </a:r>
          </a:p>
        </p:txBody>
      </p:sp>
      <p:sp>
        <p:nvSpPr>
          <p:cNvPr id="3" name="Title 2">
            <a:extLst>
              <a:ext uri="{FF2B5EF4-FFF2-40B4-BE49-F238E27FC236}">
                <a16:creationId xmlns:a16="http://schemas.microsoft.com/office/drawing/2014/main" id="{21BFC7EF-09C0-0F04-553D-19098FF2DC60}"/>
              </a:ext>
            </a:extLst>
          </p:cNvPr>
          <p:cNvSpPr>
            <a:spLocks noGrp="1"/>
          </p:cNvSpPr>
          <p:nvPr>
            <p:ph type="title"/>
          </p:nvPr>
        </p:nvSpPr>
        <p:spPr/>
        <p:txBody>
          <a:bodyPr/>
          <a:lstStyle/>
          <a:p>
            <a:endParaRPr lang="en-US" dirty="0"/>
          </a:p>
        </p:txBody>
      </p:sp>
    </p:spTree>
    <p:extLst>
      <p:ext uri="{BB962C8B-B14F-4D97-AF65-F5344CB8AC3E}">
        <p14:creationId xmlns:p14="http://schemas.microsoft.com/office/powerpoint/2010/main" val="1932775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Vehicle-to-X (V2X) communication patterns</a:t>
            </a:r>
          </a:p>
        </p:txBody>
      </p:sp>
      <p:sp>
        <p:nvSpPr>
          <p:cNvPr id="3" name="Inhaltsplatzhalter 2"/>
          <p:cNvSpPr>
            <a:spLocks noGrp="1"/>
          </p:cNvSpPr>
          <p:nvPr>
            <p:ph idx="1"/>
          </p:nvPr>
        </p:nvSpPr>
        <p:spPr>
          <a:xfrm>
            <a:off x="228600" y="1600200"/>
            <a:ext cx="2454965" cy="4495800"/>
          </a:xfrm>
        </p:spPr>
        <p:txBody>
          <a:bodyPr>
            <a:normAutofit/>
          </a:bodyPr>
          <a:lstStyle/>
          <a:p>
            <a:r>
              <a:rPr lang="en-US" sz="2000" dirty="0"/>
              <a:t>Vehicle-to-X</a:t>
            </a:r>
            <a:br>
              <a:rPr lang="en-US" sz="2000" dirty="0"/>
            </a:br>
            <a:r>
              <a:rPr lang="en-US" sz="2000" dirty="0"/>
              <a:t>(V2X),</a:t>
            </a:r>
            <a:br>
              <a:rPr lang="en-US" sz="2000" dirty="0"/>
            </a:br>
            <a:endParaRPr lang="en-US" sz="2000" dirty="0"/>
          </a:p>
          <a:p>
            <a:r>
              <a:rPr lang="en-US" sz="2000" dirty="0"/>
              <a:t>Inter-Vehicle</a:t>
            </a:r>
            <a:br>
              <a:rPr lang="en-US" sz="2000" dirty="0"/>
            </a:br>
            <a:r>
              <a:rPr lang="en-US" sz="2000" dirty="0"/>
              <a:t>Communication</a:t>
            </a:r>
            <a:br>
              <a:rPr lang="en-US" sz="2000" dirty="0"/>
            </a:br>
            <a:r>
              <a:rPr lang="en-US" sz="2000" dirty="0"/>
              <a:t>(IVC),</a:t>
            </a:r>
            <a:br>
              <a:rPr lang="en-US" sz="2000" dirty="0"/>
            </a:br>
            <a:endParaRPr lang="en-US" sz="2000" dirty="0"/>
          </a:p>
          <a:p>
            <a:r>
              <a:rPr lang="en-US" sz="2000" dirty="0"/>
              <a:t>Vehicular </a:t>
            </a:r>
            <a:br>
              <a:rPr lang="en-US" sz="2000" dirty="0"/>
            </a:br>
            <a:r>
              <a:rPr lang="en-US" sz="2000" dirty="0"/>
              <a:t>ad-hoc network</a:t>
            </a:r>
            <a:br>
              <a:rPr lang="en-US" sz="2000" dirty="0"/>
            </a:br>
            <a:r>
              <a:rPr lang="en-US" sz="2000" dirty="0"/>
              <a:t>(VANET),</a:t>
            </a:r>
            <a:br>
              <a:rPr lang="en-US" sz="2000" dirty="0"/>
            </a:br>
            <a:endParaRPr lang="en-US" sz="2000" dirty="0"/>
          </a:p>
          <a:p>
            <a:r>
              <a:rPr lang="en-US" sz="2000" dirty="0"/>
              <a:t>…</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34</a:t>
            </a:fld>
            <a:endParaRPr lang="en-US" dirty="0">
              <a:solidFill>
                <a:prstClr val="black"/>
              </a:solidFill>
            </a:endParaRPr>
          </a:p>
        </p:txBody>
      </p:sp>
      <p:sp>
        <p:nvSpPr>
          <p:cNvPr id="7" name="Content Placeholder 6"/>
          <p:cNvSpPr>
            <a:spLocks noGrp="1"/>
          </p:cNvSpPr>
          <p:nvPr>
            <p:ph idx="13"/>
          </p:nvPr>
        </p:nvSpPr>
        <p:spPr/>
        <p:txBody>
          <a:bodyPr/>
          <a:lstStyle/>
          <a:p>
            <a:r>
              <a:rPr lang="en-US" dirty="0"/>
              <a:t>Illustration: ETSI</a:t>
            </a:r>
          </a:p>
        </p:txBody>
      </p:sp>
      <p:pic>
        <p:nvPicPr>
          <p:cNvPr id="6" name="Picture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322" y="1526517"/>
            <a:ext cx="6231835" cy="4564333"/>
          </a:xfrm>
          <a:prstGeom prst="rect">
            <a:avLst/>
          </a:prstGeom>
          <a:noFill/>
          <a:ln w="9525">
            <a:noFill/>
            <a:miter lim="800000"/>
            <a:headEnd/>
            <a:tailEnd/>
          </a:ln>
        </p:spPr>
      </p:pic>
      <p:sp>
        <p:nvSpPr>
          <p:cNvPr id="8" name="Rounded Rectangular Callout 7"/>
          <p:cNvSpPr/>
          <p:nvPr/>
        </p:nvSpPr>
        <p:spPr>
          <a:xfrm>
            <a:off x="4942253" y="393384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infrastructure</a:t>
            </a:r>
          </a:p>
        </p:txBody>
      </p:sp>
      <p:sp>
        <p:nvSpPr>
          <p:cNvPr id="9" name="Rounded Rectangular Callout 8"/>
          <p:cNvSpPr/>
          <p:nvPr/>
        </p:nvSpPr>
        <p:spPr>
          <a:xfrm>
            <a:off x="3425688" y="354051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vehicle</a:t>
            </a:r>
          </a:p>
        </p:txBody>
      </p:sp>
      <p:sp>
        <p:nvSpPr>
          <p:cNvPr id="11" name="Rounded Rectangular Callout 10"/>
          <p:cNvSpPr/>
          <p:nvPr/>
        </p:nvSpPr>
        <p:spPr>
          <a:xfrm>
            <a:off x="6458819" y="4327173"/>
            <a:ext cx="1361660" cy="303144"/>
          </a:xfrm>
          <a:prstGeom prst="wedgeRoundRectCallout">
            <a:avLst>
              <a:gd name="adj1" fmla="val 14203"/>
              <a:gd name="adj2" fmla="val 95285"/>
              <a:gd name="adj3" fmla="val 16667"/>
            </a:avLst>
          </a:prstGeom>
          <a:solidFill>
            <a:srgbClr val="FFFFFF">
              <a:alpha val="85882"/>
            </a:srgbClr>
          </a:solidFill>
          <a:effectLst>
            <a:outerShdw blurRad="50800" dist="38100" dir="5400000" algn="t" rotWithShape="0">
              <a:prstClr val="black">
                <a:alpha val="40000"/>
              </a:prstClr>
            </a:outerShd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1050" dirty="0">
                <a:solidFill>
                  <a:schemeClr val="tx1"/>
                </a:solidFill>
              </a:rPr>
              <a:t>… to home</a:t>
            </a:r>
          </a:p>
        </p:txBody>
      </p:sp>
    </p:spTree>
    <p:extLst>
      <p:ext uri="{BB962C8B-B14F-4D97-AF65-F5344CB8AC3E}">
        <p14:creationId xmlns:p14="http://schemas.microsoft.com/office/powerpoint/2010/main" val="2711278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250"/>
                                        <p:tgtEl>
                                          <p:spTgt spid="9"/>
                                        </p:tgtEl>
                                      </p:cBhvr>
                                    </p:animEffect>
                                    <p:anim calcmode="lin" valueType="num">
                                      <p:cBhvr>
                                        <p:cTn id="8" dur="250" fill="hold"/>
                                        <p:tgtEl>
                                          <p:spTgt spid="9"/>
                                        </p:tgtEl>
                                        <p:attrNameLst>
                                          <p:attrName>ppt_x</p:attrName>
                                        </p:attrNameLst>
                                      </p:cBhvr>
                                      <p:tavLst>
                                        <p:tav tm="0">
                                          <p:val>
                                            <p:strVal val="#ppt_x"/>
                                          </p:val>
                                        </p:tav>
                                        <p:tav tm="100000">
                                          <p:val>
                                            <p:strVal val="#ppt_x"/>
                                          </p:val>
                                        </p:tav>
                                      </p:tavLst>
                                    </p:anim>
                                    <p:anim calcmode="lin" valueType="num">
                                      <p:cBhvr>
                                        <p:cTn id="9" dur="25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250"/>
                                        <p:tgtEl>
                                          <p:spTgt spid="8"/>
                                        </p:tgtEl>
                                      </p:cBhvr>
                                    </p:animEffect>
                                    <p:anim calcmode="lin" valueType="num">
                                      <p:cBhvr>
                                        <p:cTn id="15" dur="250" fill="hold"/>
                                        <p:tgtEl>
                                          <p:spTgt spid="8"/>
                                        </p:tgtEl>
                                        <p:attrNameLst>
                                          <p:attrName>ppt_x</p:attrName>
                                        </p:attrNameLst>
                                      </p:cBhvr>
                                      <p:tavLst>
                                        <p:tav tm="0">
                                          <p:val>
                                            <p:strVal val="#ppt_x"/>
                                          </p:val>
                                        </p:tav>
                                        <p:tav tm="100000">
                                          <p:val>
                                            <p:strVal val="#ppt_x"/>
                                          </p:val>
                                        </p:tav>
                                      </p:tavLst>
                                    </p:anim>
                                    <p:anim calcmode="lin" valueType="num">
                                      <p:cBhvr>
                                        <p:cTn id="16" dur="2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250"/>
                                        <p:tgtEl>
                                          <p:spTgt spid="11"/>
                                        </p:tgtEl>
                                      </p:cBhvr>
                                    </p:animEffect>
                                    <p:anim calcmode="lin" valueType="num">
                                      <p:cBhvr>
                                        <p:cTn id="22" dur="250" fill="hold"/>
                                        <p:tgtEl>
                                          <p:spTgt spid="11"/>
                                        </p:tgtEl>
                                        <p:attrNameLst>
                                          <p:attrName>ppt_x</p:attrName>
                                        </p:attrNameLst>
                                      </p:cBhvr>
                                      <p:tavLst>
                                        <p:tav tm="0">
                                          <p:val>
                                            <p:strVal val="#ppt_x"/>
                                          </p:val>
                                        </p:tav>
                                        <p:tav tm="100000">
                                          <p:val>
                                            <p:strVal val="#ppt_x"/>
                                          </p:val>
                                        </p:tav>
                                      </p:tavLst>
                                    </p:anim>
                                    <p:anim calcmode="lin" valueType="num">
                                      <p:cBhvr>
                                        <p:cTn id="23"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Use Cases</a:t>
            </a:r>
            <a:endParaRPr lang="en-US" dirty="0"/>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35</a:t>
            </a:fld>
            <a:endParaRPr lang="en-US" dirty="0"/>
          </a:p>
        </p:txBody>
      </p:sp>
      <p:sp>
        <p:nvSpPr>
          <p:cNvPr id="6" name="Content Placeholder 5"/>
          <p:cNvSpPr>
            <a:spLocks noGrp="1"/>
          </p:cNvSpPr>
          <p:nvPr>
            <p:ph idx="13"/>
          </p:nvPr>
        </p:nvSpPr>
        <p:spPr/>
        <p:txBody>
          <a:bodyPr/>
          <a:lstStyle/>
          <a:p>
            <a:r>
              <a:rPr lang="en-US"/>
              <a:t>Illustration: CVIS</a:t>
            </a:r>
            <a:endParaRPr lang="en-US" dirty="0"/>
          </a:p>
        </p:txBody>
      </p:sp>
      <p:sp>
        <p:nvSpPr>
          <p:cNvPr id="7" name="Textfeld 6"/>
          <p:cNvSpPr txBox="1"/>
          <p:nvPr/>
        </p:nvSpPr>
        <p:spPr>
          <a:xfrm>
            <a:off x="5791200" y="1581151"/>
            <a:ext cx="1330713" cy="276999"/>
          </a:xfrm>
          <a:prstGeom prst="rect">
            <a:avLst/>
          </a:prstGeom>
          <a:noFill/>
        </p:spPr>
        <p:txBody>
          <a:bodyPr wrap="none" rtlCol="0" anchor="b">
            <a:spAutoFit/>
          </a:bodyPr>
          <a:lstStyle/>
          <a:p>
            <a:pPr algn="r"/>
            <a:r>
              <a:rPr lang="en-US" sz="1200" dirty="0">
                <a:solidFill>
                  <a:schemeClr val="bg2">
                    <a:lumMod val="65000"/>
                    <a:lumOff val="35000"/>
                  </a:schemeClr>
                </a:solidFill>
              </a:rPr>
              <a:t>Illustration: CVIS</a:t>
            </a:r>
          </a:p>
        </p:txBody>
      </p:sp>
      <p:pic>
        <p:nvPicPr>
          <p:cNvPr id="14" name="Bild 7" descr="cvis.png"/>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74800" y="1600200"/>
            <a:ext cx="5994400" cy="4495800"/>
          </a:xfrm>
          <a:prstGeom prst="rect">
            <a:avLst/>
          </a:prstGeom>
        </p:spPr>
      </p:pic>
    </p:spTree>
    <p:extLst>
      <p:ext uri="{BB962C8B-B14F-4D97-AF65-F5344CB8AC3E}">
        <p14:creationId xmlns:p14="http://schemas.microsoft.com/office/powerpoint/2010/main" val="12689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Taxonomy of Use Cases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36</a:t>
            </a:fld>
            <a:endParaRPr lang="en-US" dirty="0">
              <a:solidFill>
                <a:prstClr val="black"/>
              </a:solidFill>
            </a:endParaRP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126506221"/>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00476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8">
                                            <p:graphicEl>
                                              <a:dgm id="{27D97F64-6902-E344-994B-79B95AFA869D}"/>
                                            </p:graphicEl>
                                          </p:spTgt>
                                        </p:tgtEl>
                                        <p:attrNameLst>
                                          <p:attrName>style.visibility</p:attrName>
                                        </p:attrNameLst>
                                      </p:cBhvr>
                                      <p:to>
                                        <p:strVal val="visible"/>
                                      </p:to>
                                    </p:set>
                                    <p:animEffect transition="in" filter="wipe(down)">
                                      <p:cBhvr>
                                        <p:cTn id="7" dur="250"/>
                                        <p:tgtEl>
                                          <p:spTgt spid="8">
                                            <p:graphicEl>
                                              <a:dgm id="{27D97F64-6902-E344-994B-79B95AFA869D}"/>
                                            </p:graphicEl>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graphicEl>
                                              <a:dgm id="{BFD708D9-0A5C-5340-B66B-160BB616685D}"/>
                                            </p:graphicEl>
                                          </p:spTgt>
                                        </p:tgtEl>
                                        <p:attrNameLst>
                                          <p:attrName>style.visibility</p:attrName>
                                        </p:attrNameLst>
                                      </p:cBhvr>
                                      <p:to>
                                        <p:strVal val="visible"/>
                                      </p:to>
                                    </p:set>
                                    <p:animEffect transition="in" filter="wipe(down)">
                                      <p:cBhvr>
                                        <p:cTn id="10" dur="250"/>
                                        <p:tgtEl>
                                          <p:spTgt spid="8">
                                            <p:graphicEl>
                                              <a:dgm id="{BFD708D9-0A5C-5340-B66B-160BB616685D}"/>
                                            </p:graphicEl>
                                          </p:spTgt>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8">
                                            <p:graphicEl>
                                              <a:dgm id="{1DAE6A80-999C-1E47-9BC6-F411B8C54555}"/>
                                            </p:graphicEl>
                                          </p:spTgt>
                                        </p:tgtEl>
                                        <p:attrNameLst>
                                          <p:attrName>style.visibility</p:attrName>
                                        </p:attrNameLst>
                                      </p:cBhvr>
                                      <p:to>
                                        <p:strVal val="visible"/>
                                      </p:to>
                                    </p:set>
                                    <p:animEffect transition="in" filter="wipe(down)">
                                      <p:cBhvr>
                                        <p:cTn id="13" dur="250"/>
                                        <p:tgtEl>
                                          <p:spTgt spid="8">
                                            <p:graphicEl>
                                              <a:dgm id="{1DAE6A80-999C-1E47-9BC6-F411B8C54555}"/>
                                            </p:graphicEl>
                                          </p:spTgt>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8">
                                            <p:graphicEl>
                                              <a:dgm id="{2370C0BA-41DF-8E4E-A0F5-C7DD7412C71B}"/>
                                            </p:graphicEl>
                                          </p:spTgt>
                                        </p:tgtEl>
                                        <p:attrNameLst>
                                          <p:attrName>style.visibility</p:attrName>
                                        </p:attrNameLst>
                                      </p:cBhvr>
                                      <p:to>
                                        <p:strVal val="visible"/>
                                      </p:to>
                                    </p:set>
                                    <p:animEffect transition="in" filter="wipe(down)">
                                      <p:cBhvr>
                                        <p:cTn id="16" dur="250"/>
                                        <p:tgtEl>
                                          <p:spTgt spid="8">
                                            <p:graphicEl>
                                              <a:dgm id="{2370C0BA-41DF-8E4E-A0F5-C7DD7412C71B}"/>
                                            </p:graphicEl>
                                          </p:spTgt>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8">
                                            <p:graphicEl>
                                              <a:dgm id="{7C430CE8-9E0F-BE41-A6AE-A333D2FF63BE}"/>
                                            </p:graphicEl>
                                          </p:spTgt>
                                        </p:tgtEl>
                                        <p:attrNameLst>
                                          <p:attrName>style.visibility</p:attrName>
                                        </p:attrNameLst>
                                      </p:cBhvr>
                                      <p:to>
                                        <p:strVal val="visible"/>
                                      </p:to>
                                    </p:set>
                                    <p:animEffect transition="in" filter="wipe(down)">
                                      <p:cBhvr>
                                        <p:cTn id="19" dur="250"/>
                                        <p:tgtEl>
                                          <p:spTgt spid="8">
                                            <p:graphicEl>
                                              <a:dgm id="{7C430CE8-9E0F-BE41-A6AE-A333D2FF63BE}"/>
                                            </p:graphicEl>
                                          </p:spTgt>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8">
                                            <p:graphicEl>
                                              <a:dgm id="{4D42E0F1-0A23-E24B-9DF1-354A4F12A5CD}"/>
                                            </p:graphicEl>
                                          </p:spTgt>
                                        </p:tgtEl>
                                        <p:attrNameLst>
                                          <p:attrName>style.visibility</p:attrName>
                                        </p:attrNameLst>
                                      </p:cBhvr>
                                      <p:to>
                                        <p:strVal val="visible"/>
                                      </p:to>
                                    </p:set>
                                    <p:animEffect transition="in" filter="wipe(down)">
                                      <p:cBhvr>
                                        <p:cTn id="22" dur="250"/>
                                        <p:tgtEl>
                                          <p:spTgt spid="8">
                                            <p:graphicEl>
                                              <a:dgm id="{4D42E0F1-0A23-E24B-9DF1-354A4F12A5CD}"/>
                                            </p:graphicEl>
                                          </p:spTgt>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8">
                                            <p:graphicEl>
                                              <a:dgm id="{F0219164-AD4F-394D-AB1A-62FDFF059E4B}"/>
                                            </p:graphicEl>
                                          </p:spTgt>
                                        </p:tgtEl>
                                        <p:attrNameLst>
                                          <p:attrName>style.visibility</p:attrName>
                                        </p:attrNameLst>
                                      </p:cBhvr>
                                      <p:to>
                                        <p:strVal val="visible"/>
                                      </p:to>
                                    </p:set>
                                    <p:animEffect transition="in" filter="wipe(down)">
                                      <p:cBhvr>
                                        <p:cTn id="25" dur="250"/>
                                        <p:tgtEl>
                                          <p:spTgt spid="8">
                                            <p:graphicEl>
                                              <a:dgm id="{F0219164-AD4F-394D-AB1A-62FDFF059E4B}"/>
                                            </p:graphicEl>
                                          </p:spTgt>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8">
                                            <p:graphicEl>
                                              <a:dgm id="{6483B6A3-6EE5-8A48-A184-1B36266D9B50}"/>
                                            </p:graphicEl>
                                          </p:spTgt>
                                        </p:tgtEl>
                                        <p:attrNameLst>
                                          <p:attrName>style.visibility</p:attrName>
                                        </p:attrNameLst>
                                      </p:cBhvr>
                                      <p:to>
                                        <p:strVal val="visible"/>
                                      </p:to>
                                    </p:set>
                                    <p:animEffect transition="in" filter="wipe(down)">
                                      <p:cBhvr>
                                        <p:cTn id="28" dur="250"/>
                                        <p:tgtEl>
                                          <p:spTgt spid="8">
                                            <p:graphicEl>
                                              <a:dgm id="{6483B6A3-6EE5-8A48-A184-1B36266D9B50}"/>
                                            </p:graphic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8">
                                            <p:graphicEl>
                                              <a:dgm id="{B4B73E60-A300-9F4B-9EE2-892D0EDE1821}"/>
                                            </p:graphicEl>
                                          </p:spTgt>
                                        </p:tgtEl>
                                        <p:attrNameLst>
                                          <p:attrName>style.visibility</p:attrName>
                                        </p:attrNameLst>
                                      </p:cBhvr>
                                      <p:to>
                                        <p:strVal val="visible"/>
                                      </p:to>
                                    </p:set>
                                    <p:animEffect transition="in" filter="wipe(down)">
                                      <p:cBhvr>
                                        <p:cTn id="33" dur="250"/>
                                        <p:tgtEl>
                                          <p:spTgt spid="8">
                                            <p:graphicEl>
                                              <a:dgm id="{B4B73E60-A300-9F4B-9EE2-892D0EDE1821}"/>
                                            </p:graphicEl>
                                          </p:spTgt>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8">
                                            <p:graphicEl>
                                              <a:dgm id="{20D2169B-5F4C-434A-AEEB-7895E1EA3C5A}"/>
                                            </p:graphicEl>
                                          </p:spTgt>
                                        </p:tgtEl>
                                        <p:attrNameLst>
                                          <p:attrName>style.visibility</p:attrName>
                                        </p:attrNameLst>
                                      </p:cBhvr>
                                      <p:to>
                                        <p:strVal val="visible"/>
                                      </p:to>
                                    </p:set>
                                    <p:animEffect transition="in" filter="wipe(down)">
                                      <p:cBhvr>
                                        <p:cTn id="36" dur="250"/>
                                        <p:tgtEl>
                                          <p:spTgt spid="8">
                                            <p:graphicEl>
                                              <a:dgm id="{20D2169B-5F4C-434A-AEEB-7895E1EA3C5A}"/>
                                            </p:graphicEl>
                                          </p:spTgt>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8">
                                            <p:graphicEl>
                                              <a:dgm id="{67E6D66D-F025-DA42-A88C-773E18CFCFBD}"/>
                                            </p:graphicEl>
                                          </p:spTgt>
                                        </p:tgtEl>
                                        <p:attrNameLst>
                                          <p:attrName>style.visibility</p:attrName>
                                        </p:attrNameLst>
                                      </p:cBhvr>
                                      <p:to>
                                        <p:strVal val="visible"/>
                                      </p:to>
                                    </p:set>
                                    <p:animEffect transition="in" filter="wipe(down)">
                                      <p:cBhvr>
                                        <p:cTn id="39" dur="250"/>
                                        <p:tgtEl>
                                          <p:spTgt spid="8">
                                            <p:graphicEl>
                                              <a:dgm id="{67E6D66D-F025-DA42-A88C-773E18CFCFBD}"/>
                                            </p:graphicEl>
                                          </p:spTgt>
                                        </p:tgtEl>
                                      </p:cBhvr>
                                    </p:animEffect>
                                  </p:childTnLst>
                                </p:cTn>
                              </p:par>
                              <p:par>
                                <p:cTn id="40" presetID="22" presetClass="entr" presetSubtype="4" fill="hold" grpId="0" nodeType="withEffect">
                                  <p:stCondLst>
                                    <p:cond delay="0"/>
                                  </p:stCondLst>
                                  <p:childTnLst>
                                    <p:set>
                                      <p:cBhvr>
                                        <p:cTn id="41" dur="1" fill="hold">
                                          <p:stCondLst>
                                            <p:cond delay="0"/>
                                          </p:stCondLst>
                                        </p:cTn>
                                        <p:tgtEl>
                                          <p:spTgt spid="8">
                                            <p:graphicEl>
                                              <a:dgm id="{ABA769A8-9F72-6241-BCEC-E3CC66C0B3FD}"/>
                                            </p:graphicEl>
                                          </p:spTgt>
                                        </p:tgtEl>
                                        <p:attrNameLst>
                                          <p:attrName>style.visibility</p:attrName>
                                        </p:attrNameLst>
                                      </p:cBhvr>
                                      <p:to>
                                        <p:strVal val="visible"/>
                                      </p:to>
                                    </p:set>
                                    <p:animEffect transition="in" filter="wipe(down)">
                                      <p:cBhvr>
                                        <p:cTn id="42" dur="250"/>
                                        <p:tgtEl>
                                          <p:spTgt spid="8">
                                            <p:graphicEl>
                                              <a:dgm id="{ABA769A8-9F72-6241-BCEC-E3CC66C0B3FD}"/>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8">
                                            <p:graphicEl>
                                              <a:dgm id="{79FA0E43-2570-4B47-A9DE-303032675AB9}"/>
                                            </p:graphicEl>
                                          </p:spTgt>
                                        </p:tgtEl>
                                        <p:attrNameLst>
                                          <p:attrName>style.visibility</p:attrName>
                                        </p:attrNameLst>
                                      </p:cBhvr>
                                      <p:to>
                                        <p:strVal val="visible"/>
                                      </p:to>
                                    </p:set>
                                    <p:animEffect transition="in" filter="wipe(down)">
                                      <p:cBhvr>
                                        <p:cTn id="47" dur="250"/>
                                        <p:tgtEl>
                                          <p:spTgt spid="8">
                                            <p:graphicEl>
                                              <a:dgm id="{79FA0E43-2570-4B47-A9DE-303032675AB9}"/>
                                            </p:graphicEl>
                                          </p:spTgt>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8">
                                            <p:graphicEl>
                                              <a:dgm id="{468E4027-285D-0B42-B57B-5D8E7E478E95}"/>
                                            </p:graphicEl>
                                          </p:spTgt>
                                        </p:tgtEl>
                                        <p:attrNameLst>
                                          <p:attrName>style.visibility</p:attrName>
                                        </p:attrNameLst>
                                      </p:cBhvr>
                                      <p:to>
                                        <p:strVal val="visible"/>
                                      </p:to>
                                    </p:set>
                                    <p:animEffect transition="in" filter="wipe(down)">
                                      <p:cBhvr>
                                        <p:cTn id="50" dur="250"/>
                                        <p:tgtEl>
                                          <p:spTgt spid="8">
                                            <p:graphicEl>
                                              <a:dgm id="{468E4027-285D-0B42-B57B-5D8E7E478E95}"/>
                                            </p:graphic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grpId="0" nodeType="clickEffect">
                                  <p:stCondLst>
                                    <p:cond delay="0"/>
                                  </p:stCondLst>
                                  <p:childTnLst>
                                    <p:set>
                                      <p:cBhvr>
                                        <p:cTn id="54" dur="1" fill="hold">
                                          <p:stCondLst>
                                            <p:cond delay="0"/>
                                          </p:stCondLst>
                                        </p:cTn>
                                        <p:tgtEl>
                                          <p:spTgt spid="8">
                                            <p:graphicEl>
                                              <a:dgm id="{E0054302-A87D-7A48-98D2-5FA733B32592}"/>
                                            </p:graphicEl>
                                          </p:spTgt>
                                        </p:tgtEl>
                                        <p:attrNameLst>
                                          <p:attrName>style.visibility</p:attrName>
                                        </p:attrNameLst>
                                      </p:cBhvr>
                                      <p:to>
                                        <p:strVal val="visible"/>
                                      </p:to>
                                    </p:set>
                                    <p:animEffect transition="in" filter="wipe(down)">
                                      <p:cBhvr>
                                        <p:cTn id="55" dur="250"/>
                                        <p:tgtEl>
                                          <p:spTgt spid="8">
                                            <p:graphicEl>
                                              <a:dgm id="{E0054302-A87D-7A48-98D2-5FA733B32592}"/>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lvlAtOnce" rev="1"/>
        </p:bldSub>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Inhaltsplatzhalter 3"/>
          <p:cNvGraphicFramePr>
            <a:graphicFrameLocks noGrp="1"/>
          </p:cNvGraphicFramePr>
          <p:nvPr>
            <p:ph idx="1"/>
            <p:extLst>
              <p:ext uri="{D42A27DB-BD31-4B8C-83A1-F6EECF244321}">
                <p14:modId xmlns:p14="http://schemas.microsoft.com/office/powerpoint/2010/main" val="3067053438"/>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itel 1"/>
          <p:cNvSpPr>
            <a:spLocks noGrp="1"/>
          </p:cNvSpPr>
          <p:nvPr>
            <p:ph type="title"/>
          </p:nvPr>
        </p:nvSpPr>
        <p:spPr/>
        <p:txBody>
          <a:bodyPr/>
          <a:lstStyle/>
          <a:p>
            <a:r>
              <a:rPr lang="en-US" dirty="0"/>
              <a:t>Taxonomy of Use Cases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34818807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Diversity of use cases</a:t>
            </a:r>
          </a:p>
        </p:txBody>
      </p:sp>
      <p:graphicFrame>
        <p:nvGraphicFramePr>
          <p:cNvPr id="10" name="Inhaltsplatzhalter 3"/>
          <p:cNvGraphicFramePr>
            <a:graphicFrameLocks noGrp="1"/>
          </p:cNvGraphicFramePr>
          <p:nvPr>
            <p:ph idx="1"/>
            <p:extLst>
              <p:ext uri="{D42A27DB-BD31-4B8C-83A1-F6EECF244321}">
                <p14:modId xmlns:p14="http://schemas.microsoft.com/office/powerpoint/2010/main" val="1256536963"/>
              </p:ext>
            </p:extLst>
          </p:nvPr>
        </p:nvGraphicFramePr>
        <p:xfrm>
          <a:off x="228600" y="1600200"/>
          <a:ext cx="8686802" cy="3991218"/>
        </p:xfrm>
        <a:graphic>
          <a:graphicData uri="http://schemas.openxmlformats.org/drawingml/2006/table">
            <a:tbl>
              <a:tblPr firstRow="1" bandRow="1">
                <a:tableStyleId>{5C22544A-7EE6-4342-B048-85BDC9FD1C3A}</a:tableStyleId>
              </a:tblPr>
              <a:tblGrid>
                <a:gridCol w="2214797">
                  <a:extLst>
                    <a:ext uri="{9D8B030D-6E8A-4147-A177-3AD203B41FA5}">
                      <a16:colId xmlns:a16="http://schemas.microsoft.com/office/drawing/2014/main" val="20000"/>
                    </a:ext>
                  </a:extLst>
                </a:gridCol>
                <a:gridCol w="1993692">
                  <a:extLst>
                    <a:ext uri="{9D8B030D-6E8A-4147-A177-3AD203B41FA5}">
                      <a16:colId xmlns:a16="http://schemas.microsoft.com/office/drawing/2014/main" val="20001"/>
                    </a:ext>
                  </a:extLst>
                </a:gridCol>
                <a:gridCol w="1942073">
                  <a:extLst>
                    <a:ext uri="{9D8B030D-6E8A-4147-A177-3AD203B41FA5}">
                      <a16:colId xmlns:a16="http://schemas.microsoft.com/office/drawing/2014/main" val="20002"/>
                    </a:ext>
                  </a:extLst>
                </a:gridCol>
                <a:gridCol w="2536240">
                  <a:extLst>
                    <a:ext uri="{9D8B030D-6E8A-4147-A177-3AD203B41FA5}">
                      <a16:colId xmlns:a16="http://schemas.microsoft.com/office/drawing/2014/main" val="20003"/>
                    </a:ext>
                  </a:extLst>
                </a:gridCol>
              </a:tblGrid>
              <a:tr h="539177">
                <a:tc>
                  <a:txBody>
                    <a:bodyPr/>
                    <a:lstStyle/>
                    <a:p>
                      <a:r>
                        <a:rPr lang="de-DE" sz="1400" noProof="0" dirty="0"/>
                        <a:t>Application</a:t>
                      </a:r>
                    </a:p>
                  </a:txBody>
                  <a:tcPr marL="97120" marR="97120" anchor="ctr"/>
                </a:tc>
                <a:tc>
                  <a:txBody>
                    <a:bodyPr/>
                    <a:lstStyle/>
                    <a:p>
                      <a:r>
                        <a:rPr lang="de-DE" sz="1400" noProof="0" dirty="0"/>
                        <a:t>Distance</a:t>
                      </a:r>
                    </a:p>
                  </a:txBody>
                  <a:tcPr marL="97120" marR="97120" anchor="ctr"/>
                </a:tc>
                <a:tc>
                  <a:txBody>
                    <a:bodyPr/>
                    <a:lstStyle/>
                    <a:p>
                      <a:r>
                        <a:rPr lang="de-DE" sz="1400" noProof="0" dirty="0"/>
                        <a:t>Time</a:t>
                      </a:r>
                    </a:p>
                  </a:txBody>
                  <a:tcPr marL="97120" marR="97120" anchor="ctr"/>
                </a:tc>
                <a:tc>
                  <a:txBody>
                    <a:bodyPr/>
                    <a:lstStyle/>
                    <a:p>
                      <a:r>
                        <a:rPr lang="de-DE" sz="1400" noProof="0" dirty="0"/>
                        <a:t>Recipient</a:t>
                      </a:r>
                    </a:p>
                  </a:txBody>
                  <a:tcPr marL="97120" marR="97120" anchor="ctr"/>
                </a:tc>
                <a:extLst>
                  <a:ext uri="{0D108BD9-81ED-4DB2-BD59-A6C34878D82A}">
                    <a16:rowId xmlns:a16="http://schemas.microsoft.com/office/drawing/2014/main" val="10000"/>
                  </a:ext>
                </a:extLst>
              </a:tr>
              <a:tr h="539177">
                <a:tc>
                  <a:txBody>
                    <a:bodyPr/>
                    <a:lstStyle/>
                    <a:p>
                      <a:r>
                        <a:rPr lang="de-DE" sz="1400" noProof="0" dirty="0"/>
                        <a:t>Hazard warning</a:t>
                      </a:r>
                    </a:p>
                  </a:txBody>
                  <a:tcPr marL="97120" marR="97120" anchor="ctr"/>
                </a:tc>
                <a:tc>
                  <a:txBody>
                    <a:bodyPr/>
                    <a:lstStyle/>
                    <a:p>
                      <a:r>
                        <a:rPr lang="de-DE" sz="1400" noProof="0" dirty="0"/>
                        <a:t>250m</a:t>
                      </a:r>
                    </a:p>
                  </a:txBody>
                  <a:tcPr marL="97120" marR="97120" anchor="ctr"/>
                </a:tc>
                <a:tc>
                  <a:txBody>
                    <a:bodyPr/>
                    <a:lstStyle/>
                    <a:p>
                      <a:r>
                        <a:rPr lang="de-DE" sz="1400" noProof="0" dirty="0"/>
                        <a:t>10s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1"/>
                  </a:ext>
                </a:extLst>
              </a:tr>
              <a:tr h="756156">
                <a:tc>
                  <a:txBody>
                    <a:bodyPr/>
                    <a:lstStyle/>
                    <a:p>
                      <a:r>
                        <a:rPr lang="de-DE" sz="1400" noProof="0" dirty="0"/>
                        <a:t>Location based service</a:t>
                      </a:r>
                    </a:p>
                  </a:txBody>
                  <a:tcPr marL="97120" marR="97120" anchor="ctr"/>
                </a:tc>
                <a:tc>
                  <a:txBody>
                    <a:bodyPr/>
                    <a:lstStyle/>
                    <a:p>
                      <a:r>
                        <a:rPr lang="de-DE" sz="1400" noProof="0" dirty="0"/>
                        <a:t>1..5km</a:t>
                      </a:r>
                    </a:p>
                  </a:txBody>
                  <a:tcPr marL="97120" marR="97120" anchor="ctr"/>
                </a:tc>
                <a:tc>
                  <a:txBody>
                    <a:bodyPr/>
                    <a:lstStyle/>
                    <a:p>
                      <a:r>
                        <a:rPr lang="de-DE" sz="1400" noProof="0" dirty="0"/>
                        <a:t>Weeks</a:t>
                      </a:r>
                    </a:p>
                  </a:txBody>
                  <a:tcPr marL="97120" marR="97120" anchor="ctr"/>
                </a:tc>
                <a:tc>
                  <a:txBody>
                    <a:bodyPr/>
                    <a:lstStyle/>
                    <a:p>
                      <a:r>
                        <a:rPr lang="de-DE" sz="1400" noProof="0" dirty="0"/>
                        <a:t>Subscribers</a:t>
                      </a:r>
                    </a:p>
                  </a:txBody>
                  <a:tcPr marL="97120" marR="97120" anchor="ctr"/>
                </a:tc>
                <a:extLst>
                  <a:ext uri="{0D108BD9-81ED-4DB2-BD59-A6C34878D82A}">
                    <a16:rowId xmlns:a16="http://schemas.microsoft.com/office/drawing/2014/main" val="10002"/>
                  </a:ext>
                </a:extLst>
              </a:tr>
              <a:tr h="539177">
                <a:tc>
                  <a:txBody>
                    <a:bodyPr/>
                    <a:lstStyle/>
                    <a:p>
                      <a:r>
                        <a:rPr lang="de-DE" sz="1400" noProof="0" dirty="0"/>
                        <a:t>City wide alarm</a:t>
                      </a:r>
                    </a:p>
                  </a:txBody>
                  <a:tcPr marL="97120" marR="97120" anchor="ctr"/>
                </a:tc>
                <a:tc>
                  <a:txBody>
                    <a:bodyPr/>
                    <a:lstStyle/>
                    <a:p>
                      <a:r>
                        <a:rPr lang="de-DE" sz="1400" noProof="0" dirty="0"/>
                        <a:t>20km</a:t>
                      </a:r>
                    </a:p>
                  </a:txBody>
                  <a:tcPr marL="97120" marR="97120" anchor="ctr"/>
                </a:tc>
                <a:tc>
                  <a:txBody>
                    <a:bodyPr/>
                    <a:lstStyle/>
                    <a:p>
                      <a:r>
                        <a:rPr lang="de-DE" sz="1400" noProof="0" dirty="0"/>
                        <a:t>Hours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3"/>
                  </a:ext>
                </a:extLst>
              </a:tr>
              <a:tr h="539177">
                <a:tc>
                  <a:txBody>
                    <a:bodyPr/>
                    <a:lstStyle/>
                    <a:p>
                      <a:r>
                        <a:rPr lang="de-DE" sz="1400" noProof="0" dirty="0"/>
                        <a:t>Travel time information</a:t>
                      </a:r>
                    </a:p>
                  </a:txBody>
                  <a:tcPr marL="97120" marR="97120" anchor="ctr"/>
                </a:tc>
                <a:tc>
                  <a:txBody>
                    <a:bodyPr/>
                    <a:lstStyle/>
                    <a:p>
                      <a:r>
                        <a:rPr lang="de-DE" sz="1400" noProof="0" dirty="0"/>
                        <a:t>5km</a:t>
                      </a:r>
                    </a:p>
                  </a:txBody>
                  <a:tcPr marL="97120" marR="97120" anchor="ctr"/>
                </a:tc>
                <a:tc>
                  <a:txBody>
                    <a:bodyPr/>
                    <a:lstStyle/>
                    <a:p>
                      <a:r>
                        <a:rPr lang="de-DE" sz="1400" noProof="0" dirty="0"/>
                        <a:t>Minutes</a:t>
                      </a:r>
                    </a:p>
                  </a:txBody>
                  <a:tcPr marL="97120" marR="97120" anchor="ctr"/>
                </a:tc>
                <a:tc>
                  <a:txBody>
                    <a:bodyPr/>
                    <a:lstStyle/>
                    <a:p>
                      <a:r>
                        <a:rPr lang="de-DE" sz="1400" noProof="0" dirty="0"/>
                        <a:t>All</a:t>
                      </a:r>
                    </a:p>
                  </a:txBody>
                  <a:tcPr marL="97120" marR="97120" anchor="ctr"/>
                </a:tc>
                <a:extLst>
                  <a:ext uri="{0D108BD9-81ED-4DB2-BD59-A6C34878D82A}">
                    <a16:rowId xmlns:a16="http://schemas.microsoft.com/office/drawing/2014/main" val="10004"/>
                  </a:ext>
                </a:extLst>
              </a:tr>
              <a:tr h="539177">
                <a:tc>
                  <a:txBody>
                    <a:bodyPr/>
                    <a:lstStyle/>
                    <a:p>
                      <a:r>
                        <a:rPr lang="de-DE" sz="1400" noProof="0" dirty="0"/>
                        <a:t>File sharing</a:t>
                      </a:r>
                    </a:p>
                  </a:txBody>
                  <a:tcPr marL="97120" marR="97120" anchor="ctr"/>
                </a:tc>
                <a:tc>
                  <a:txBody>
                    <a:bodyPr/>
                    <a:lstStyle/>
                    <a:p>
                      <a:r>
                        <a:rPr lang="de-DE" sz="1400" noProof="0" dirty="0"/>
                        <a:t>250m</a:t>
                      </a:r>
                    </a:p>
                  </a:txBody>
                  <a:tcPr marL="97120" marR="97120" anchor="ctr"/>
                </a:tc>
                <a:tc>
                  <a:txBody>
                    <a:bodyPr/>
                    <a:lstStyle/>
                    <a:p>
                      <a:r>
                        <a:rPr lang="de-DE" sz="1400" noProof="0" dirty="0"/>
                        <a:t>Minutes (Index)</a:t>
                      </a:r>
                    </a:p>
                    <a:p>
                      <a:r>
                        <a:rPr lang="de-DE" sz="1400" noProof="0" dirty="0"/>
                        <a:t>Days (Content)</a:t>
                      </a:r>
                    </a:p>
                  </a:txBody>
                  <a:tcPr marL="97120" marR="97120" anchor="ctr"/>
                </a:tc>
                <a:tc>
                  <a:txBody>
                    <a:bodyPr/>
                    <a:lstStyle/>
                    <a:p>
                      <a:r>
                        <a:rPr lang="de-DE" sz="1400" noProof="0" dirty="0"/>
                        <a:t>Subscribers (Index)</a:t>
                      </a:r>
                    </a:p>
                    <a:p>
                      <a:r>
                        <a:rPr lang="de-DE" sz="1400" baseline="0" noProof="0" dirty="0"/>
                        <a:t>Peers (Content)</a:t>
                      </a:r>
                      <a:endParaRPr lang="de-DE" sz="1400" noProof="0" dirty="0"/>
                    </a:p>
                  </a:txBody>
                  <a:tcPr marL="97120" marR="97120" anchor="ctr"/>
                </a:tc>
                <a:extLst>
                  <a:ext uri="{0D108BD9-81ED-4DB2-BD59-A6C34878D82A}">
                    <a16:rowId xmlns:a16="http://schemas.microsoft.com/office/drawing/2014/main" val="10005"/>
                  </a:ext>
                </a:extLst>
              </a:tr>
              <a:tr h="539177">
                <a:tc>
                  <a:txBody>
                    <a:bodyPr/>
                    <a:lstStyle/>
                    <a:p>
                      <a:r>
                        <a:rPr lang="de-DE" sz="1400" noProof="0" dirty="0"/>
                        <a:t>Interactive Services</a:t>
                      </a:r>
                    </a:p>
                  </a:txBody>
                  <a:tcPr marL="97120" marR="97120" anchor="ctr"/>
                </a:tc>
                <a:tc>
                  <a:txBody>
                    <a:bodyPr/>
                    <a:lstStyle/>
                    <a:p>
                      <a:r>
                        <a:rPr lang="de-DE" sz="1400" noProof="0" dirty="0"/>
                        <a:t>1..5km</a:t>
                      </a:r>
                    </a:p>
                  </a:txBody>
                  <a:tcPr marL="97120" marR="97120" anchor="ctr"/>
                </a:tc>
                <a:tc>
                  <a:txBody>
                    <a:bodyPr/>
                    <a:lstStyle/>
                    <a:p>
                      <a:r>
                        <a:rPr lang="de-DE" sz="1400" noProof="0" dirty="0"/>
                        <a:t>Minutes</a:t>
                      </a:r>
                    </a:p>
                  </a:txBody>
                  <a:tcPr marL="97120" marR="97120" anchor="ctr"/>
                </a:tc>
                <a:tc>
                  <a:txBody>
                    <a:bodyPr/>
                    <a:lstStyle/>
                    <a:p>
                      <a:r>
                        <a:rPr lang="de-DE" sz="1400" noProof="0" dirty="0"/>
                        <a:t>Subscribers</a:t>
                      </a:r>
                    </a:p>
                  </a:txBody>
                  <a:tcPr marL="97120" marR="97120"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38</a:t>
            </a:fld>
            <a:endParaRPr lang="en-US" dirty="0">
              <a:solidFill>
                <a:prstClr val="black"/>
              </a:solidFill>
            </a:endParaRPr>
          </a:p>
        </p:txBody>
      </p:sp>
      <p:sp>
        <p:nvSpPr>
          <p:cNvPr id="8" name="Content Placeholder 7"/>
          <p:cNvSpPr>
            <a:spLocks noGrp="1"/>
          </p:cNvSpPr>
          <p:nvPr>
            <p:ph idx="13"/>
          </p:nvPr>
        </p:nvSpPr>
        <p:spPr/>
        <p:txBody>
          <a:bodyPr/>
          <a:lstStyle/>
          <a:p>
            <a:r>
              <a:rPr lang="en-US" dirty="0"/>
              <a:t>[1] Bai, F. and </a:t>
            </a:r>
            <a:r>
              <a:rPr lang="en-US" dirty="0" err="1"/>
              <a:t>Krishnamachari</a:t>
            </a:r>
            <a:r>
              <a:rPr lang="en-US" dirty="0"/>
              <a:t>, B., "Exploiting the Wisdom of the Crowd: Localized, Distributed Information-Centric VANETs," IEEE Communications Magazine, vol. 48 (5), pp. 138-146, May 2010</a:t>
            </a:r>
          </a:p>
        </p:txBody>
      </p:sp>
    </p:spTree>
    <p:extLst>
      <p:ext uri="{BB962C8B-B14F-4D97-AF65-F5344CB8AC3E}">
        <p14:creationId xmlns:p14="http://schemas.microsoft.com/office/powerpoint/2010/main" val="28856122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Diversity of requirements</a:t>
            </a:r>
          </a:p>
        </p:txBody>
      </p:sp>
      <p:graphicFrame>
        <p:nvGraphicFramePr>
          <p:cNvPr id="10" name="Inhaltsplatzhalter 3"/>
          <p:cNvGraphicFramePr>
            <a:graphicFrameLocks noGrp="1"/>
          </p:cNvGraphicFramePr>
          <p:nvPr>
            <p:ph idx="1"/>
            <p:extLst>
              <p:ext uri="{D42A27DB-BD31-4B8C-83A1-F6EECF244321}">
                <p14:modId xmlns:p14="http://schemas.microsoft.com/office/powerpoint/2010/main" val="3372197671"/>
              </p:ext>
            </p:extLst>
          </p:nvPr>
        </p:nvGraphicFramePr>
        <p:xfrm>
          <a:off x="228600" y="1600200"/>
          <a:ext cx="8686802" cy="3774239"/>
        </p:xfrm>
        <a:graphic>
          <a:graphicData uri="http://schemas.openxmlformats.org/drawingml/2006/table">
            <a:tbl>
              <a:tblPr firstRow="1" bandRow="1">
                <a:tableStyleId>{5C22544A-7EE6-4342-B048-85BDC9FD1C3A}</a:tableStyleId>
              </a:tblPr>
              <a:tblGrid>
                <a:gridCol w="1591682">
                  <a:extLst>
                    <a:ext uri="{9D8B030D-6E8A-4147-A177-3AD203B41FA5}">
                      <a16:colId xmlns:a16="http://schemas.microsoft.com/office/drawing/2014/main" val="20000"/>
                    </a:ext>
                  </a:extLst>
                </a:gridCol>
                <a:gridCol w="1419024">
                  <a:extLst>
                    <a:ext uri="{9D8B030D-6E8A-4147-A177-3AD203B41FA5}">
                      <a16:colId xmlns:a16="http://schemas.microsoft.com/office/drawing/2014/main" val="20001"/>
                    </a:ext>
                  </a:extLst>
                </a:gridCol>
                <a:gridCol w="1419024">
                  <a:extLst>
                    <a:ext uri="{9D8B030D-6E8A-4147-A177-3AD203B41FA5}">
                      <a16:colId xmlns:a16="http://schemas.microsoft.com/office/drawing/2014/main" val="20002"/>
                    </a:ext>
                  </a:extLst>
                </a:gridCol>
                <a:gridCol w="1419024">
                  <a:extLst>
                    <a:ext uri="{9D8B030D-6E8A-4147-A177-3AD203B41FA5}">
                      <a16:colId xmlns:a16="http://schemas.microsoft.com/office/drawing/2014/main" val="20003"/>
                    </a:ext>
                  </a:extLst>
                </a:gridCol>
                <a:gridCol w="1419024">
                  <a:extLst>
                    <a:ext uri="{9D8B030D-6E8A-4147-A177-3AD203B41FA5}">
                      <a16:colId xmlns:a16="http://schemas.microsoft.com/office/drawing/2014/main" val="20004"/>
                    </a:ext>
                  </a:extLst>
                </a:gridCol>
                <a:gridCol w="1419024">
                  <a:extLst>
                    <a:ext uri="{9D8B030D-6E8A-4147-A177-3AD203B41FA5}">
                      <a16:colId xmlns:a16="http://schemas.microsoft.com/office/drawing/2014/main" val="20005"/>
                    </a:ext>
                  </a:extLst>
                </a:gridCol>
              </a:tblGrid>
              <a:tr h="539177">
                <a:tc>
                  <a:txBody>
                    <a:bodyPr/>
                    <a:lstStyle/>
                    <a:p>
                      <a:pPr algn="ctr"/>
                      <a:r>
                        <a:rPr lang="de-DE" sz="1400" noProof="0" dirty="0"/>
                        <a:t>Application</a:t>
                      </a:r>
                    </a:p>
                  </a:txBody>
                  <a:tcPr marL="97120" marR="97120" anchor="ctr"/>
                </a:tc>
                <a:tc>
                  <a:txBody>
                    <a:bodyPr/>
                    <a:lstStyle/>
                    <a:p>
                      <a:pPr algn="ctr"/>
                      <a:r>
                        <a:rPr lang="de-DE" sz="1400" noProof="0" dirty="0"/>
                        <a:t>Latency</a:t>
                      </a:r>
                    </a:p>
                  </a:txBody>
                  <a:tcPr marL="97120" marR="97120" anchor="ctr"/>
                </a:tc>
                <a:tc>
                  <a:txBody>
                    <a:bodyPr/>
                    <a:lstStyle/>
                    <a:p>
                      <a:pPr algn="ctr"/>
                      <a:r>
                        <a:rPr lang="de-DE" sz="1400" noProof="0" dirty="0"/>
                        <a:t>Reliability</a:t>
                      </a:r>
                    </a:p>
                  </a:txBody>
                  <a:tcPr marL="97120" marR="97120" anchor="ctr"/>
                </a:tc>
                <a:tc>
                  <a:txBody>
                    <a:bodyPr/>
                    <a:lstStyle/>
                    <a:p>
                      <a:pPr algn="ctr"/>
                      <a:r>
                        <a:rPr lang="de-DE" sz="1400" noProof="0" dirty="0"/>
                        <a:t># Vehicles</a:t>
                      </a:r>
                    </a:p>
                  </a:txBody>
                  <a:tcPr marL="97120" marR="97120" anchor="ctr"/>
                </a:tc>
                <a:tc>
                  <a:txBody>
                    <a:bodyPr/>
                    <a:lstStyle/>
                    <a:p>
                      <a:pPr algn="ctr"/>
                      <a:r>
                        <a:rPr lang="de-DE" sz="1400" noProof="0" dirty="0"/>
                        <a:t>Area</a:t>
                      </a:r>
                    </a:p>
                  </a:txBody>
                  <a:tcPr marL="97120" marR="97120" anchor="ctr"/>
                </a:tc>
                <a:tc>
                  <a:txBody>
                    <a:bodyPr/>
                    <a:lstStyle/>
                    <a:p>
                      <a:pPr algn="ctr"/>
                      <a:r>
                        <a:rPr lang="de-DE" sz="1400" noProof="0" dirty="0"/>
                        <a:t>Persistence</a:t>
                      </a:r>
                    </a:p>
                  </a:txBody>
                  <a:tcPr marL="97120" marR="97120" anchor="ctr"/>
                </a:tc>
                <a:extLst>
                  <a:ext uri="{0D108BD9-81ED-4DB2-BD59-A6C34878D82A}">
                    <a16:rowId xmlns:a16="http://schemas.microsoft.com/office/drawing/2014/main" val="10000"/>
                  </a:ext>
                </a:extLst>
              </a:tr>
              <a:tr h="539177">
                <a:tc>
                  <a:txBody>
                    <a:bodyPr/>
                    <a:lstStyle/>
                    <a:p>
                      <a:r>
                        <a:rPr lang="de-DE" sz="1400" noProof="0" dirty="0"/>
                        <a:t>Information Query</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1"/>
                  </a:ext>
                </a:extLst>
              </a:tr>
              <a:tr h="539177">
                <a:tc>
                  <a:txBody>
                    <a:bodyPr/>
                    <a:lstStyle/>
                    <a:p>
                      <a:r>
                        <a:rPr lang="de-DE" sz="1400" noProof="0" dirty="0"/>
                        <a:t>Hazard Warning</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2"/>
                  </a:ext>
                </a:extLst>
              </a:tr>
              <a:tr h="539177">
                <a:tc>
                  <a:txBody>
                    <a:bodyPr/>
                    <a:lstStyle/>
                    <a:p>
                      <a:r>
                        <a:rPr lang="de-DE" sz="1400" noProof="0" dirty="0"/>
                        <a:t>ACC,</a:t>
                      </a:r>
                      <a:br>
                        <a:rPr lang="de-DE" sz="1400" noProof="0" dirty="0"/>
                      </a:br>
                      <a:r>
                        <a:rPr lang="de-DE" sz="1400" noProof="0" dirty="0"/>
                        <a:t>el. Brake Light</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endParaRPr lang="de-DE" sz="1400" noProof="0" dirty="0"/>
                    </a:p>
                  </a:txBody>
                  <a:tcPr marL="97120" marR="97120" anchor="ctr"/>
                </a:tc>
                <a:extLst>
                  <a:ext uri="{0D108BD9-81ED-4DB2-BD59-A6C34878D82A}">
                    <a16:rowId xmlns:a16="http://schemas.microsoft.com/office/drawing/2014/main" val="10003"/>
                  </a:ext>
                </a:extLst>
              </a:tr>
              <a:tr h="539177">
                <a:tc>
                  <a:txBody>
                    <a:bodyPr/>
                    <a:lstStyle/>
                    <a:p>
                      <a:r>
                        <a:rPr lang="de-DE" sz="1400" noProof="0" dirty="0"/>
                        <a:t>Cooperative Awareness</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4"/>
                  </a:ext>
                </a:extLst>
              </a:tr>
              <a:tr h="539177">
                <a:tc>
                  <a:txBody>
                    <a:bodyPr/>
                    <a:lstStyle/>
                    <a:p>
                      <a:r>
                        <a:rPr lang="de-DE" sz="1400" noProof="0" dirty="0"/>
                        <a:t>Intersection Assistance</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5"/>
                  </a:ext>
                </a:extLst>
              </a:tr>
              <a:tr h="539177">
                <a:tc>
                  <a:txBody>
                    <a:bodyPr/>
                    <a:lstStyle/>
                    <a:p>
                      <a:r>
                        <a:rPr lang="de-DE" sz="1400" noProof="0" dirty="0"/>
                        <a:t>Platooning</a:t>
                      </a:r>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tc>
                  <a:txBody>
                    <a:bodyPr/>
                    <a:lstStyle/>
                    <a:p>
                      <a:pPr algn="ctr"/>
                      <a:r>
                        <a:rPr lang="de-DE" sz="1400" u="none" strike="noStrike" dirty="0"/>
                        <a:t>★</a:t>
                      </a:r>
                      <a:endParaRPr lang="de-DE" sz="1400" noProof="0" dirty="0"/>
                    </a:p>
                  </a:txBody>
                  <a:tcPr marL="97120" marR="97120" anchor="ctr"/>
                </a:tc>
                <a:extLst>
                  <a:ext uri="{0D108BD9-81ED-4DB2-BD59-A6C34878D82A}">
                    <a16:rowId xmlns:a16="http://schemas.microsoft.com/office/drawing/2014/main" val="10006"/>
                  </a:ext>
                </a:extLst>
              </a:tr>
            </a:tbl>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39</a:t>
            </a:fld>
            <a:endParaRPr lang="en-US" dirty="0">
              <a:solidFill>
                <a:prstClr val="black"/>
              </a:solidFill>
            </a:endParaRPr>
          </a:p>
        </p:txBody>
      </p:sp>
      <p:sp>
        <p:nvSpPr>
          <p:cNvPr id="8" name="Content Placeholder 7"/>
          <p:cNvSpPr>
            <a:spLocks noGrp="1"/>
          </p:cNvSpPr>
          <p:nvPr>
            <p:ph idx="13"/>
          </p:nvPr>
        </p:nvSpPr>
        <p:spPr/>
        <p:txBody>
          <a:bodyPr>
            <a:normAutofit/>
          </a:bodyPr>
          <a:lstStyle/>
          <a:p>
            <a:r>
              <a:rPr lang="en-US" dirty="0"/>
              <a:t>[1] T. L. </a:t>
            </a:r>
            <a:r>
              <a:rPr lang="en-US" dirty="0" err="1"/>
              <a:t>Willke</a:t>
            </a:r>
            <a:r>
              <a:rPr lang="en-US" dirty="0"/>
              <a:t>, P. </a:t>
            </a:r>
            <a:r>
              <a:rPr lang="en-US" dirty="0" err="1"/>
              <a:t>Tientrakool</a:t>
            </a:r>
            <a:r>
              <a:rPr lang="en-US" dirty="0"/>
              <a:t>, and N. F. </a:t>
            </a:r>
            <a:r>
              <a:rPr lang="en-US" dirty="0" err="1"/>
              <a:t>Maxemchuk</a:t>
            </a:r>
            <a:r>
              <a:rPr lang="en-US" dirty="0"/>
              <a:t>, "A Survey of Inter-Vehicle Communication Protocols and Their Applications," IEEE Communications Surveys and Tutorials, vol. 11 (2), pp. 3-20, 2009</a:t>
            </a:r>
          </a:p>
        </p:txBody>
      </p:sp>
    </p:spTree>
    <p:extLst>
      <p:ext uri="{BB962C8B-B14F-4D97-AF65-F5344CB8AC3E}">
        <p14:creationId xmlns:p14="http://schemas.microsoft.com/office/powerpoint/2010/main" val="14710761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a:t>
            </a:r>
          </a:p>
        </p:txBody>
      </p:sp>
      <p:sp>
        <p:nvSpPr>
          <p:cNvPr id="3" name="Content Placeholder 2"/>
          <p:cNvSpPr>
            <a:spLocks noGrp="1"/>
          </p:cNvSpPr>
          <p:nvPr>
            <p:ph idx="1"/>
          </p:nvPr>
        </p:nvSpPr>
        <p:spPr/>
        <p:txBody>
          <a:bodyPr>
            <a:normAutofit fontScale="62500" lnSpcReduction="20000"/>
          </a:bodyPr>
          <a:lstStyle/>
          <a:p>
            <a:r>
              <a:rPr lang="en-US" dirty="0"/>
              <a:t>1970s: bold ideas</a:t>
            </a:r>
          </a:p>
          <a:p>
            <a:pPr lvl="1"/>
            <a:r>
              <a:rPr lang="en-US" dirty="0"/>
              <a:t>Very visionary, infrastructure-less solutions</a:t>
            </a:r>
          </a:p>
          <a:p>
            <a:pPr lvl="1"/>
            <a:r>
              <a:rPr lang="en-US" dirty="0"/>
              <a:t>Unsupported by current technology</a:t>
            </a:r>
          </a:p>
          <a:p>
            <a:r>
              <a:rPr lang="en-US" dirty="0"/>
              <a:t>Early interest of government and industry</a:t>
            </a:r>
          </a:p>
          <a:p>
            <a:pPr lvl="1"/>
            <a:r>
              <a:rPr lang="en-US" dirty="0"/>
              <a:t>working prototypes in: Japan </a:t>
            </a:r>
            <a:r>
              <a:rPr lang="en-US" i="1" dirty="0"/>
              <a:t>CACS</a:t>
            </a:r>
            <a:r>
              <a:rPr lang="en-US" dirty="0"/>
              <a:t> (1973–1979), </a:t>
            </a:r>
            <a:br>
              <a:rPr lang="en-US" dirty="0"/>
            </a:br>
            <a:r>
              <a:rPr lang="en-US" dirty="0"/>
              <a:t>Europe </a:t>
            </a:r>
            <a:r>
              <a:rPr lang="en-US" i="1" dirty="0"/>
              <a:t>Prometheus</a:t>
            </a:r>
            <a:r>
              <a:rPr lang="en-US" dirty="0"/>
              <a:t> (1986–1995), U.S. </a:t>
            </a:r>
            <a:r>
              <a:rPr lang="en-US" i="1" dirty="0"/>
              <a:t>PATH</a:t>
            </a:r>
            <a:r>
              <a:rPr lang="en-US" dirty="0"/>
              <a:t> (1986–1992)</a:t>
            </a:r>
          </a:p>
          <a:p>
            <a:pPr lvl="1"/>
            <a:r>
              <a:rPr lang="en-US" dirty="0"/>
              <a:t>No commercial success</a:t>
            </a:r>
          </a:p>
          <a:p>
            <a:r>
              <a:rPr lang="en-US" dirty="0"/>
              <a:t>1980s: paradigm shift</a:t>
            </a:r>
          </a:p>
          <a:p>
            <a:pPr lvl="1"/>
            <a:r>
              <a:rPr lang="en-US" dirty="0"/>
              <a:t>From complete highway automation ⇨ driver-advisory only</a:t>
            </a:r>
          </a:p>
          <a:p>
            <a:pPr lvl="1"/>
            <a:r>
              <a:rPr lang="en-US" dirty="0"/>
              <a:t>Infrastructure-less ⇨ infrastructure-assisted</a:t>
            </a:r>
          </a:p>
          <a:p>
            <a:pPr lvl="1"/>
            <a:r>
              <a:rPr lang="en-US" i="1" dirty="0"/>
              <a:t>chicken-and-egg </a:t>
            </a:r>
            <a:r>
              <a:rPr lang="en-US" dirty="0"/>
              <a:t>type of standoff</a:t>
            </a:r>
          </a:p>
          <a:p>
            <a:r>
              <a:rPr lang="en-US" dirty="0"/>
              <a:t>New technology re-ignites interest</a:t>
            </a:r>
          </a:p>
          <a:p>
            <a:pPr lvl="1"/>
            <a:r>
              <a:rPr lang="en-US" dirty="0"/>
              <a:t>latest-generation cellular communication ⇨ early “Car-to-X” systems</a:t>
            </a:r>
          </a:p>
          <a:p>
            <a:pPr lvl="1"/>
            <a:r>
              <a:rPr lang="en-US" dirty="0"/>
              <a:t>e.g., </a:t>
            </a:r>
            <a:r>
              <a:rPr lang="en-US" i="1" dirty="0"/>
              <a:t>On Star </a:t>
            </a:r>
            <a:r>
              <a:rPr lang="en-US" dirty="0"/>
              <a:t>(1995), </a:t>
            </a:r>
            <a:r>
              <a:rPr lang="en-US" i="1" dirty="0"/>
              <a:t>BMW Assist </a:t>
            </a:r>
            <a:r>
              <a:rPr lang="en-US" dirty="0"/>
              <a:t>(1999), </a:t>
            </a:r>
            <a:r>
              <a:rPr lang="en-US" i="1" dirty="0" err="1"/>
              <a:t>FleetBoard</a:t>
            </a:r>
            <a:r>
              <a:rPr lang="en-US" i="1" dirty="0"/>
              <a:t> </a:t>
            </a:r>
            <a:r>
              <a:rPr lang="en-US" dirty="0"/>
              <a:t>(2000), and </a:t>
            </a:r>
            <a:r>
              <a:rPr lang="en-US" i="1" dirty="0" err="1"/>
              <a:t>TomTom</a:t>
            </a:r>
            <a:r>
              <a:rPr lang="en-US" i="1" dirty="0"/>
              <a:t> HD Traffic </a:t>
            </a:r>
            <a:r>
              <a:rPr lang="en-US" dirty="0"/>
              <a:t>(2007).</a:t>
            </a:r>
          </a:p>
          <a:p>
            <a:r>
              <a:rPr lang="en-US" dirty="0"/>
              <a:t>Sharp increase in computing power</a:t>
            </a:r>
          </a:p>
          <a:p>
            <a:pPr lvl="1"/>
            <a:r>
              <a:rPr lang="en-US" dirty="0"/>
              <a:t>Supports fully-distributed, highly reactive ad hoc systems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40</a:t>
            </a:fld>
            <a:endParaRPr lang="en-US" dirty="0">
              <a:solidFill>
                <a:prstClr val="black"/>
              </a:solidFill>
            </a:endParaRPr>
          </a:p>
        </p:txBody>
      </p:sp>
      <p:sp>
        <p:nvSpPr>
          <p:cNvPr id="6" name="Content Placeholder 5"/>
          <p:cNvSpPr>
            <a:spLocks noGrp="1"/>
          </p:cNvSpPr>
          <p:nvPr>
            <p:ph idx="13"/>
          </p:nvPr>
        </p:nvSpPr>
        <p:spPr/>
        <p:txBody>
          <a:bodyPr/>
          <a:lstStyle/>
          <a:p>
            <a:r>
              <a:rPr lang="en-US" dirty="0"/>
              <a:t>[1] W. </a:t>
            </a:r>
            <a:r>
              <a:rPr lang="en-US" dirty="0" err="1"/>
              <a:t>Zimdahl</a:t>
            </a:r>
            <a:r>
              <a:rPr lang="en-US" dirty="0"/>
              <a:t>, “Guidelines and some developments for a new modular driver information system,” in 34th IEEE Vehicular Technology Conference (VTC1984), vol. 34., Pittsburgh, PA: IEEE, May 1984, pp. 178–182.</a:t>
            </a:r>
          </a:p>
        </p:txBody>
      </p:sp>
    </p:spTree>
    <p:extLst>
      <p:ext uri="{BB962C8B-B14F-4D97-AF65-F5344CB8AC3E}">
        <p14:creationId xmlns:p14="http://schemas.microsoft.com/office/powerpoint/2010/main" val="3400606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Renewed interest of government and industry</a:t>
            </a:r>
          </a:p>
        </p:txBody>
      </p:sp>
      <p:sp>
        <p:nvSpPr>
          <p:cNvPr id="3" name="Content Placeholder 2"/>
          <p:cNvSpPr>
            <a:spLocks noGrp="1"/>
          </p:cNvSpPr>
          <p:nvPr>
            <p:ph idx="1"/>
          </p:nvPr>
        </p:nvSpPr>
        <p:spPr>
          <a:xfrm>
            <a:off x="228600" y="1600200"/>
            <a:ext cx="8686800" cy="1211580"/>
          </a:xfrm>
        </p:spPr>
        <p:txBody>
          <a:bodyPr>
            <a:normAutofit fontScale="70000" lnSpcReduction="20000"/>
          </a:bodyPr>
          <a:lstStyle/>
          <a:p>
            <a:r>
              <a:rPr lang="en-US" dirty="0"/>
              <a:t>Numerous field operational tests</a:t>
            </a:r>
          </a:p>
          <a:p>
            <a:pPr lvl="1"/>
            <a:r>
              <a:rPr lang="en-US" dirty="0" err="1"/>
              <a:t>sim</a:t>
            </a:r>
            <a:r>
              <a:rPr lang="en-US" baseline="30000" dirty="0" err="1"/>
              <a:t>TD</a:t>
            </a:r>
            <a:r>
              <a:rPr lang="en-US" dirty="0"/>
              <a:t> (€ 69M),  </a:t>
            </a:r>
            <a:r>
              <a:rPr lang="en-US" dirty="0" err="1"/>
              <a:t>Aktiv</a:t>
            </a:r>
            <a:r>
              <a:rPr lang="en-US" dirty="0"/>
              <a:t> (€ 60M), Smart Highway (€ 57M), </a:t>
            </a:r>
            <a:br>
              <a:rPr lang="en-US" dirty="0"/>
            </a:br>
            <a:r>
              <a:rPr lang="en-US" dirty="0"/>
              <a:t>Drive C2X (€ 19M), </a:t>
            </a:r>
            <a:r>
              <a:rPr lang="en-US" dirty="0" err="1"/>
              <a:t>TeleFOT</a:t>
            </a:r>
            <a:r>
              <a:rPr lang="en-US" dirty="0"/>
              <a:t> (€ 15M), </a:t>
            </a:r>
            <a:r>
              <a:rPr lang="en-US" dirty="0" err="1"/>
              <a:t>SafeTrip</a:t>
            </a:r>
            <a:r>
              <a:rPr lang="en-US" dirty="0"/>
              <a:t> (€ 10M), …</a:t>
            </a:r>
          </a:p>
          <a:p>
            <a:r>
              <a:rPr lang="en-US" dirty="0">
                <a:solidFill>
                  <a:srgbClr val="FF0000"/>
                </a:solidFill>
              </a:rPr>
              <a:t>Dedicated spectrum in U.S., Europe, Asia</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41</a:t>
            </a:fld>
            <a:endParaRPr lang="en-US" dirty="0">
              <a:solidFill>
                <a:prstClr val="black"/>
              </a:solidFill>
            </a:endParaRPr>
          </a:p>
        </p:txBody>
      </p:sp>
      <p:sp>
        <p:nvSpPr>
          <p:cNvPr id="7" name="Content Placeholder 6"/>
          <p:cNvSpPr>
            <a:spLocks noGrp="1"/>
          </p:cNvSpPr>
          <p:nvPr>
            <p:ph idx="13"/>
          </p:nvPr>
        </p:nvSpPr>
        <p:spPr/>
        <p:txBody>
          <a:bodyPr/>
          <a:lstStyle/>
          <a:p>
            <a:r>
              <a:rPr lang="en-US" dirty="0"/>
              <a:t>Illustration: FOT-NET Wiki</a:t>
            </a:r>
          </a:p>
        </p:txBody>
      </p:sp>
      <p:pic>
        <p:nvPicPr>
          <p:cNvPr id="1026" name="Picture 2" descr="C:\Users\Christoph Sommer\Downloads\FotNet_Timeline_EU_US_AP_01.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1002030" y="2766810"/>
            <a:ext cx="7406640" cy="3398520"/>
          </a:xfrm>
          <a:prstGeom prst="rect">
            <a:avLst/>
          </a:prstGeom>
          <a:noFill/>
          <a:extLst>
            <a:ext uri="{909E8E84-426E-40DD-AFC4-6F175D3DCCD1}">
              <a14:hiddenFill xmlns:a14="http://schemas.microsoft.com/office/drawing/2010/main">
                <a:solidFill>
                  <a:srgbClr val="FFFFFF"/>
                </a:solidFill>
              </a14:hiddenFill>
            </a:ext>
          </a:extLst>
        </p:spPr>
      </p:pic>
      <p:sp>
        <p:nvSpPr>
          <p:cNvPr id="5" name="Rounded Rectangle 4"/>
          <p:cNvSpPr/>
          <p:nvPr/>
        </p:nvSpPr>
        <p:spPr>
          <a:xfrm>
            <a:off x="8029575" y="3638549"/>
            <a:ext cx="523875" cy="2466975"/>
          </a:xfrm>
          <a:prstGeom prst="roundRect">
            <a:avLst/>
          </a:prstGeom>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a:t>
            </a:r>
          </a:p>
        </p:txBody>
      </p:sp>
    </p:spTree>
    <p:extLst>
      <p:ext uri="{BB962C8B-B14F-4D97-AF65-F5344CB8AC3E}">
        <p14:creationId xmlns:p14="http://schemas.microsoft.com/office/powerpoint/2010/main" val="3261039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Motivation</a:t>
            </a:r>
          </a:p>
        </p:txBody>
      </p:sp>
      <p:sp>
        <p:nvSpPr>
          <p:cNvPr id="3" name="Inhaltsplatzhalter 2"/>
          <p:cNvSpPr>
            <a:spLocks noGrp="1"/>
          </p:cNvSpPr>
          <p:nvPr>
            <p:ph idx="1"/>
          </p:nvPr>
        </p:nvSpPr>
        <p:spPr/>
        <p:txBody>
          <a:bodyPr>
            <a:normAutofit fontScale="77500" lnSpcReduction="20000"/>
          </a:bodyPr>
          <a:lstStyle/>
          <a:p>
            <a:r>
              <a:rPr lang="en-US" dirty="0"/>
              <a:t>Traditional Network</a:t>
            </a:r>
          </a:p>
          <a:p>
            <a:pPr lvl="1"/>
            <a:r>
              <a:rPr lang="en-US" dirty="0"/>
              <a:t>Connection: wired</a:t>
            </a:r>
          </a:p>
          <a:p>
            <a:pPr lvl="1"/>
            <a:r>
              <a:rPr lang="en-US" dirty="0"/>
              <a:t>Nodes: non-moving</a:t>
            </a:r>
          </a:p>
          <a:p>
            <a:pPr lvl="1"/>
            <a:r>
              <a:rPr lang="en-US" dirty="0"/>
              <a:t>Configuration: static</a:t>
            </a:r>
          </a:p>
          <a:p>
            <a:r>
              <a:rPr lang="en-US" dirty="0"/>
              <a:t>Mobile Ad Hoc Network (MANET)</a:t>
            </a:r>
          </a:p>
          <a:p>
            <a:pPr lvl="1"/>
            <a:r>
              <a:rPr lang="en-US" dirty="0"/>
              <a:t>Connection: wireless</a:t>
            </a:r>
          </a:p>
          <a:p>
            <a:pPr lvl="1"/>
            <a:r>
              <a:rPr lang="en-US" dirty="0"/>
              <a:t>Nodes: mobile</a:t>
            </a:r>
          </a:p>
          <a:p>
            <a:pPr lvl="1"/>
            <a:r>
              <a:rPr lang="en-US" dirty="0"/>
              <a:t>Configuration: dynamic</a:t>
            </a:r>
          </a:p>
          <a:p>
            <a:pPr lvl="1"/>
            <a:r>
              <a:rPr lang="en-US" dirty="0"/>
              <a:t>(Infrastructure: optional)</a:t>
            </a:r>
          </a:p>
          <a:p>
            <a:r>
              <a:rPr lang="en-US" dirty="0"/>
              <a:t>Vehicular Ad Hoc Network (VANET)</a:t>
            </a:r>
          </a:p>
          <a:p>
            <a:pPr lvl="1"/>
            <a:r>
              <a:rPr lang="en-US" dirty="0">
                <a:solidFill>
                  <a:srgbClr val="FF0000"/>
                </a:solidFill>
              </a:rPr>
              <a:t>Not: “MANET on wheels”</a:t>
            </a:r>
          </a:p>
          <a:p>
            <a:pPr lvl="1"/>
            <a:r>
              <a:rPr lang="en-US" dirty="0">
                <a:solidFill>
                  <a:srgbClr val="FF0000"/>
                </a:solidFill>
              </a:rPr>
              <a:t>Different topology dynamics, </a:t>
            </a:r>
            <a:br>
              <a:rPr lang="en-US" dirty="0">
                <a:solidFill>
                  <a:srgbClr val="FF0000"/>
                </a:solidFill>
              </a:rPr>
            </a:br>
            <a:r>
              <a:rPr lang="en-US" dirty="0">
                <a:solidFill>
                  <a:srgbClr val="FF0000"/>
                </a:solidFill>
              </a:rPr>
              <a:t>communication patterns, infrastructure, ...</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42</a:t>
            </a:fld>
            <a:endParaRPr lang="en-US" dirty="0">
              <a:solidFill>
                <a:prstClr val="black"/>
              </a:solidFill>
            </a:endParaRPr>
          </a:p>
        </p:txBody>
      </p:sp>
      <p:sp>
        <p:nvSpPr>
          <p:cNvPr id="6" name="Content Placeholder 5"/>
          <p:cNvSpPr>
            <a:spLocks noGrp="1"/>
          </p:cNvSpPr>
          <p:nvPr>
            <p:ph idx="13"/>
          </p:nvPr>
        </p:nvSpPr>
        <p:spPr/>
        <p:txBody>
          <a:bodyPr/>
          <a:lstStyle/>
          <a:p>
            <a:r>
              <a:rPr lang="en-US" dirty="0"/>
              <a:t>[1] M. Scott Corson and Joseph </a:t>
            </a:r>
            <a:r>
              <a:rPr lang="en-US" dirty="0" err="1"/>
              <a:t>Macker</a:t>
            </a:r>
            <a:r>
              <a:rPr lang="en-US" dirty="0"/>
              <a:t>, "Mobile Ad hoc Networking (MANET): Routing Protocol Performance Issues and Evaluation Considerations,“</a:t>
            </a:r>
            <a:br>
              <a:rPr lang="en-US" dirty="0"/>
            </a:br>
            <a:r>
              <a:rPr lang="en-US" dirty="0"/>
              <a:t> RFC 2501, January 1999</a:t>
            </a:r>
          </a:p>
        </p:txBody>
      </p:sp>
      <p:sp>
        <p:nvSpPr>
          <p:cNvPr id="7" name="Content Placeholder 6"/>
          <p:cNvSpPr>
            <a:spLocks noGrp="1"/>
          </p:cNvSpPr>
          <p:nvPr>
            <p:ph sz="quarter" idx="14"/>
          </p:nvPr>
        </p:nvSpPr>
        <p:spPr/>
        <p:txBody>
          <a:bodyPr/>
          <a:lstStyle/>
          <a:p>
            <a:endParaRPr lang="en-US"/>
          </a:p>
        </p:txBody>
      </p:sp>
      <p:grpSp>
        <p:nvGrpSpPr>
          <p:cNvPr id="47" name="Gruppierung 46"/>
          <p:cNvGrpSpPr/>
          <p:nvPr/>
        </p:nvGrpSpPr>
        <p:grpSpPr>
          <a:xfrm>
            <a:off x="6083241" y="2888503"/>
            <a:ext cx="2578159" cy="1607297"/>
            <a:chOff x="4849813" y="3276600"/>
            <a:chExt cx="4038599" cy="2517776"/>
          </a:xfrm>
        </p:grpSpPr>
        <p:pic>
          <p:nvPicPr>
            <p:cNvPr id="11" name="Bild 10" descr="pocketpc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69225" y="3473450"/>
              <a:ext cx="876300" cy="952500"/>
            </a:xfrm>
            <a:prstGeom prst="rect">
              <a:avLst/>
            </a:prstGeom>
          </p:spPr>
        </p:pic>
        <p:pic>
          <p:nvPicPr>
            <p:cNvPr id="12" name="Bild 11" descr="wifilaptop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8374" y="3276600"/>
              <a:ext cx="952501" cy="819150"/>
            </a:xfrm>
            <a:prstGeom prst="rect">
              <a:avLst/>
            </a:prstGeom>
          </p:spPr>
        </p:pic>
        <p:pic>
          <p:nvPicPr>
            <p:cNvPr id="13" name="Bild 12" descr="palm2_vl.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0" y="4648200"/>
              <a:ext cx="904875" cy="952500"/>
            </a:xfrm>
            <a:prstGeom prst="rect">
              <a:avLst/>
            </a:prstGeom>
          </p:spPr>
        </p:pic>
        <p:pic>
          <p:nvPicPr>
            <p:cNvPr id="15" name="Bild 14" descr="cellphone2_vl.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9813" y="3889556"/>
              <a:ext cx="342901" cy="952499"/>
            </a:xfrm>
            <a:prstGeom prst="rect">
              <a:avLst/>
            </a:prstGeom>
          </p:spPr>
        </p:pic>
        <p:pic>
          <p:nvPicPr>
            <p:cNvPr id="16" name="Bild 15" descr="cellphone_vl.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402637" y="4841876"/>
              <a:ext cx="485775" cy="952500"/>
            </a:xfrm>
            <a:prstGeom prst="rect">
              <a:avLst/>
            </a:prstGeom>
          </p:spPr>
        </p:pic>
        <p:cxnSp>
          <p:nvCxnSpPr>
            <p:cNvPr id="20" name="Gerade Verbindung mit Pfeil 19"/>
            <p:cNvCxnSpPr>
              <a:stCxn id="12" idx="3"/>
              <a:endCxn id="11" idx="1"/>
            </p:cNvCxnSpPr>
            <p:nvPr/>
          </p:nvCxnSpPr>
          <p:spPr bwMode="auto">
            <a:xfrm>
              <a:off x="7000875" y="3686175"/>
              <a:ext cx="768350" cy="263525"/>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26" name="Gerade Verbindung mit Pfeil 25"/>
            <p:cNvCxnSpPr>
              <a:stCxn id="16" idx="0"/>
              <a:endCxn id="11" idx="2"/>
            </p:cNvCxnSpPr>
            <p:nvPr/>
          </p:nvCxnSpPr>
          <p:spPr bwMode="auto">
            <a:xfrm rot="16200000" flipV="1">
              <a:off x="8218487" y="4414838"/>
              <a:ext cx="415926" cy="438150"/>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29" name="Gerade Verbindung mit Pfeil 28"/>
            <p:cNvCxnSpPr>
              <a:stCxn id="13" idx="3"/>
              <a:endCxn id="16" idx="1"/>
            </p:cNvCxnSpPr>
            <p:nvPr/>
          </p:nvCxnSpPr>
          <p:spPr bwMode="auto">
            <a:xfrm>
              <a:off x="7000875" y="5124450"/>
              <a:ext cx="1401762" cy="193676"/>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32" name="Gerade Verbindung mit Pfeil 31"/>
            <p:cNvCxnSpPr>
              <a:stCxn id="15" idx="3"/>
              <a:endCxn id="13" idx="1"/>
            </p:cNvCxnSpPr>
            <p:nvPr/>
          </p:nvCxnSpPr>
          <p:spPr bwMode="auto">
            <a:xfrm>
              <a:off x="5192714" y="4365805"/>
              <a:ext cx="903285" cy="758644"/>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35" name="Gerade Verbindung mit Pfeil 34"/>
            <p:cNvCxnSpPr>
              <a:stCxn id="15" idx="0"/>
              <a:endCxn id="12" idx="1"/>
            </p:cNvCxnSpPr>
            <p:nvPr/>
          </p:nvCxnSpPr>
          <p:spPr bwMode="auto">
            <a:xfrm rot="5400000" flipH="1" flipV="1">
              <a:off x="5433129" y="3274313"/>
              <a:ext cx="203381" cy="1027109"/>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44" name="Gerade Verbindung mit Pfeil 43"/>
            <p:cNvCxnSpPr>
              <a:stCxn id="13" idx="0"/>
              <a:endCxn id="12" idx="2"/>
            </p:cNvCxnSpPr>
            <p:nvPr/>
          </p:nvCxnSpPr>
          <p:spPr bwMode="auto">
            <a:xfrm rot="16200000" flipV="1">
              <a:off x="6260307" y="4360068"/>
              <a:ext cx="552450" cy="23813"/>
            </a:xfrm>
            <a:prstGeom prst="straightConnector1">
              <a:avLst/>
            </a:prstGeom>
            <a:solidFill>
              <a:schemeClr val="accent1"/>
            </a:solidFill>
            <a:ln w="19050" cap="flat" cmpd="sng" algn="ctr">
              <a:solidFill>
                <a:schemeClr val="tx1"/>
              </a:solidFill>
              <a:prstDash val="solid"/>
              <a:round/>
              <a:headEnd type="arrow"/>
              <a:tailEnd type="arrow"/>
            </a:ln>
            <a:effectLst/>
          </p:spPr>
        </p:cxnSp>
      </p:grpSp>
      <p:grpSp>
        <p:nvGrpSpPr>
          <p:cNvPr id="63" name="Gruppierung 62"/>
          <p:cNvGrpSpPr/>
          <p:nvPr/>
        </p:nvGrpSpPr>
        <p:grpSpPr>
          <a:xfrm>
            <a:off x="6083240" y="4810598"/>
            <a:ext cx="2578159" cy="904402"/>
            <a:chOff x="1615979" y="4390483"/>
            <a:chExt cx="5242022" cy="1838867"/>
          </a:xfrm>
        </p:grpSpPr>
        <p:pic>
          <p:nvPicPr>
            <p:cNvPr id="49" name="Bild 48" descr="path13224.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615979" y="4390483"/>
              <a:ext cx="5242022" cy="1838867"/>
            </a:xfrm>
            <a:prstGeom prst="rect">
              <a:avLst/>
            </a:prstGeom>
          </p:spPr>
        </p:pic>
        <p:pic>
          <p:nvPicPr>
            <p:cNvPr id="48" name="Bild 47"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479143" y="5012267"/>
              <a:ext cx="693057" cy="314803"/>
            </a:xfrm>
            <a:prstGeom prst="rect">
              <a:avLst/>
            </a:prstGeom>
          </p:spPr>
        </p:pic>
        <p:pic>
          <p:nvPicPr>
            <p:cNvPr id="50" name="Bild 49"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07543" y="5012267"/>
              <a:ext cx="693057" cy="314803"/>
            </a:xfrm>
            <a:prstGeom prst="rect">
              <a:avLst/>
            </a:prstGeom>
          </p:spPr>
        </p:pic>
        <p:pic>
          <p:nvPicPr>
            <p:cNvPr id="51" name="Bild 50"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05000" y="5007265"/>
              <a:ext cx="693057" cy="314803"/>
            </a:xfrm>
            <a:prstGeom prst="rect">
              <a:avLst/>
            </a:prstGeom>
          </p:spPr>
        </p:pic>
        <p:pic>
          <p:nvPicPr>
            <p:cNvPr id="53" name="Bild 52" descr="g5002.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flipH="1">
              <a:off x="3040743" y="5358190"/>
              <a:ext cx="693057" cy="314803"/>
            </a:xfrm>
            <a:prstGeom prst="rect">
              <a:avLst/>
            </a:prstGeom>
          </p:spPr>
        </p:pic>
        <p:cxnSp>
          <p:nvCxnSpPr>
            <p:cNvPr id="54" name="Gerade Verbindung mit Pfeil 53"/>
            <p:cNvCxnSpPr>
              <a:stCxn id="50" idx="3"/>
              <a:endCxn id="48" idx="1"/>
            </p:cNvCxnSpPr>
            <p:nvPr/>
          </p:nvCxnSpPr>
          <p:spPr bwMode="auto">
            <a:xfrm>
              <a:off x="4800600" y="5169669"/>
              <a:ext cx="678543" cy="1588"/>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57" name="Gerade Verbindung mit Pfeil 56"/>
            <p:cNvCxnSpPr>
              <a:stCxn id="50" idx="1"/>
              <a:endCxn id="53" idx="1"/>
            </p:cNvCxnSpPr>
            <p:nvPr/>
          </p:nvCxnSpPr>
          <p:spPr bwMode="auto">
            <a:xfrm rot="10800000" flipV="1">
              <a:off x="3733801" y="5169668"/>
              <a:ext cx="373743" cy="345923"/>
            </a:xfrm>
            <a:prstGeom prst="straightConnector1">
              <a:avLst/>
            </a:prstGeom>
            <a:solidFill>
              <a:schemeClr val="accent1"/>
            </a:solidFill>
            <a:ln w="19050" cap="flat" cmpd="sng" algn="ctr">
              <a:solidFill>
                <a:schemeClr val="tx1"/>
              </a:solidFill>
              <a:prstDash val="solid"/>
              <a:round/>
              <a:headEnd type="arrow"/>
              <a:tailEnd type="arrow"/>
            </a:ln>
            <a:effectLst/>
          </p:spPr>
        </p:cxnSp>
        <p:cxnSp>
          <p:nvCxnSpPr>
            <p:cNvPr id="60" name="Gerade Verbindung mit Pfeil 59"/>
            <p:cNvCxnSpPr>
              <a:stCxn id="51" idx="3"/>
              <a:endCxn id="53" idx="3"/>
            </p:cNvCxnSpPr>
            <p:nvPr/>
          </p:nvCxnSpPr>
          <p:spPr bwMode="auto">
            <a:xfrm>
              <a:off x="2598057" y="5164667"/>
              <a:ext cx="442686" cy="350925"/>
            </a:xfrm>
            <a:prstGeom prst="straightConnector1">
              <a:avLst/>
            </a:prstGeom>
            <a:solidFill>
              <a:schemeClr val="accent1"/>
            </a:solidFill>
            <a:ln w="19050" cap="flat" cmpd="sng" algn="ctr">
              <a:solidFill>
                <a:schemeClr val="tx1"/>
              </a:solidFill>
              <a:prstDash val="solid"/>
              <a:round/>
              <a:headEnd type="arrow"/>
              <a:tailEnd type="arrow"/>
            </a:ln>
            <a:effectLst/>
          </p:spPr>
        </p:cxnSp>
      </p:grpSp>
    </p:spTree>
    <p:extLst>
      <p:ext uri="{BB962C8B-B14F-4D97-AF65-F5344CB8AC3E}">
        <p14:creationId xmlns:p14="http://schemas.microsoft.com/office/powerpoint/2010/main" val="287211634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solidFill>
                  <a:srgbClr val="7030A0"/>
                </a:solidFill>
              </a:rPr>
              <a:t>     Freeway  </a:t>
            </a:r>
            <a:r>
              <a:rPr lang="en-US" b="1" dirty="0"/>
              <a:t>                   ⇔            </a:t>
            </a:r>
            <a:r>
              <a:rPr lang="en-US" b="1" dirty="0">
                <a:solidFill>
                  <a:schemeClr val="accent2"/>
                </a:solidFill>
              </a:rPr>
              <a:t>Urban</a:t>
            </a:r>
          </a:p>
        </p:txBody>
      </p:sp>
      <p:sp>
        <p:nvSpPr>
          <p:cNvPr id="6" name="Content Placeholder 5"/>
          <p:cNvSpPr>
            <a:spLocks noGrp="1"/>
          </p:cNvSpPr>
          <p:nvPr>
            <p:ph idx="1"/>
          </p:nvPr>
        </p:nvSpPr>
        <p:spPr/>
        <p:txBody>
          <a:bodyPr/>
          <a:lstStyle/>
          <a:p>
            <a:r>
              <a:rPr lang="en-US" dirty="0"/>
              <a:t>1D mobility</a:t>
            </a:r>
          </a:p>
          <a:p>
            <a:r>
              <a:rPr lang="en-US" dirty="0"/>
              <a:t>Bimodal connectivity</a:t>
            </a:r>
          </a:p>
          <a:p>
            <a:pPr lvl="1"/>
            <a:r>
              <a:rPr lang="en-US" dirty="0"/>
              <a:t>Stable connection </a:t>
            </a:r>
            <a:br>
              <a:rPr lang="en-US" dirty="0"/>
            </a:br>
            <a:r>
              <a:rPr lang="en-US" dirty="0"/>
              <a:t>(vehicles on same lane)</a:t>
            </a:r>
          </a:p>
          <a:p>
            <a:pPr lvl="1"/>
            <a:r>
              <a:rPr lang="en-US" dirty="0"/>
              <a:t>AND</a:t>
            </a:r>
          </a:p>
          <a:p>
            <a:pPr lvl="1"/>
            <a:r>
              <a:rPr lang="en-US" dirty="0"/>
              <a:t>unstable connection </a:t>
            </a:r>
            <a:br>
              <a:rPr lang="en-US" dirty="0"/>
            </a:br>
            <a:r>
              <a:rPr lang="en-US" dirty="0"/>
              <a:t>(vehicles on opposite lane)</a:t>
            </a:r>
          </a:p>
          <a:p>
            <a:r>
              <a:rPr lang="en-US" dirty="0"/>
              <a:t>High speed</a:t>
            </a:r>
          </a:p>
          <a:p>
            <a:r>
              <a:rPr lang="en-US" dirty="0"/>
              <a: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43</a:t>
            </a:fld>
            <a:endParaRPr lang="en-US" dirty="0"/>
          </a:p>
        </p:txBody>
      </p:sp>
      <p:sp>
        <p:nvSpPr>
          <p:cNvPr id="7" name="Content Placeholder 6"/>
          <p:cNvSpPr>
            <a:spLocks noGrp="1"/>
          </p:cNvSpPr>
          <p:nvPr>
            <p:ph sz="quarter" idx="14"/>
          </p:nvPr>
        </p:nvSpPr>
        <p:spPr/>
        <p:txBody>
          <a:bodyPr/>
          <a:lstStyle/>
          <a:p>
            <a:r>
              <a:rPr lang="en-US" dirty="0"/>
              <a:t>2D mobility</a:t>
            </a:r>
          </a:p>
          <a:p>
            <a:r>
              <a:rPr lang="en-US" dirty="0"/>
              <a:t>Bipolar connectivity</a:t>
            </a:r>
          </a:p>
          <a:p>
            <a:pPr lvl="1"/>
            <a:r>
              <a:rPr lang="en-US" dirty="0"/>
              <a:t>Many neighbors </a:t>
            </a:r>
            <a:br>
              <a:rPr lang="en-US" dirty="0"/>
            </a:br>
            <a:r>
              <a:rPr lang="en-US" dirty="0"/>
              <a:t>(when standing)</a:t>
            </a:r>
          </a:p>
          <a:p>
            <a:pPr lvl="1"/>
            <a:r>
              <a:rPr lang="en-US" dirty="0"/>
              <a:t>OR</a:t>
            </a:r>
          </a:p>
          <a:p>
            <a:pPr lvl="1"/>
            <a:r>
              <a:rPr lang="en-US" dirty="0"/>
              <a:t>Few neighbors </a:t>
            </a:r>
            <a:br>
              <a:rPr lang="en-US" dirty="0"/>
            </a:br>
            <a:r>
              <a:rPr lang="en-US" dirty="0"/>
              <a:t>(when driving)</a:t>
            </a:r>
          </a:p>
          <a:p>
            <a:r>
              <a:rPr lang="en-US" dirty="0"/>
              <a:t>Obstacles</a:t>
            </a:r>
          </a:p>
          <a:p>
            <a:r>
              <a:rPr lang="en-US" dirty="0"/>
              <a:t>…</a:t>
            </a:r>
          </a:p>
          <a:p>
            <a:endParaRPr lang="en-US" dirty="0"/>
          </a:p>
        </p:txBody>
      </p:sp>
    </p:spTree>
    <p:extLst>
      <p:ext uri="{BB962C8B-B14F-4D97-AF65-F5344CB8AC3E}">
        <p14:creationId xmlns:p14="http://schemas.microsoft.com/office/powerpoint/2010/main" val="41509944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Levels of infrastructure support</a:t>
            </a:r>
          </a:p>
        </p:txBody>
      </p:sp>
      <p:sp>
        <p:nvSpPr>
          <p:cNvPr id="3" name="Inhaltsplatzhalter 2"/>
          <p:cNvSpPr>
            <a:spLocks noGrp="1"/>
          </p:cNvSpPr>
          <p:nvPr>
            <p:ph idx="1"/>
          </p:nvPr>
        </p:nvSpPr>
        <p:spPr/>
        <p:txBody>
          <a:bodyPr>
            <a:normAutofit fontScale="85000" lnSpcReduction="20000"/>
          </a:bodyPr>
          <a:lstStyle/>
          <a:p>
            <a:r>
              <a:rPr lang="en-US" dirty="0"/>
              <a:t>Pure ad hoc communication</a:t>
            </a:r>
            <a:br>
              <a:rPr lang="en-US" dirty="0"/>
            </a:br>
            <a:endParaRPr lang="en-US" dirty="0"/>
          </a:p>
          <a:p>
            <a:r>
              <a:rPr lang="en-US" dirty="0"/>
              <a:t>Stationary Support Units (SSU)</a:t>
            </a:r>
          </a:p>
          <a:p>
            <a:pPr lvl="1"/>
            <a:r>
              <a:rPr lang="en-US" dirty="0"/>
              <a:t>Radio-equipped autonomous computer</a:t>
            </a:r>
          </a:p>
          <a:p>
            <a:pPr lvl="1"/>
            <a:r>
              <a:rPr lang="en-US" dirty="0"/>
              <a:t>Inexhaustible storage, energy supply</a:t>
            </a:r>
          </a:p>
          <a:p>
            <a:pPr lvl="1"/>
            <a:r>
              <a:rPr lang="en-US" dirty="0"/>
              <a:t>Known position, high reliability</a:t>
            </a:r>
            <a:br>
              <a:rPr lang="en-US" dirty="0"/>
            </a:br>
            <a:endParaRPr lang="en-US" dirty="0"/>
          </a:p>
          <a:p>
            <a:r>
              <a:rPr lang="en-US" dirty="0"/>
              <a:t>Roadside Units (RSU)</a:t>
            </a:r>
          </a:p>
          <a:p>
            <a:pPr lvl="1"/>
            <a:r>
              <a:rPr lang="en-US" dirty="0"/>
              <a:t>SSU(System Synchronization Unit) plus…</a:t>
            </a:r>
          </a:p>
          <a:p>
            <a:pPr lvl="1"/>
            <a:r>
              <a:rPr lang="en-US" dirty="0"/>
              <a:t>Ethernet NIC, UMTS radio(</a:t>
            </a:r>
            <a:r>
              <a:rPr lang="fr-FR" dirty="0"/>
              <a:t>3G Universal Mobile </a:t>
            </a:r>
            <a:r>
              <a:rPr lang="fr-FR" dirty="0" err="1"/>
              <a:t>Telecommunications</a:t>
            </a:r>
            <a:r>
              <a:rPr lang="fr-FR" dirty="0"/>
              <a:t> System</a:t>
            </a:r>
            <a:r>
              <a:rPr lang="en-US" dirty="0"/>
              <a:t>), ...</a:t>
            </a:r>
          </a:p>
          <a:p>
            <a:pPr lvl="1"/>
            <a:r>
              <a:rPr lang="en-US" dirty="0"/>
              <a:t>Connected to other RSUs</a:t>
            </a:r>
            <a:br>
              <a:rPr lang="en-US" dirty="0"/>
            </a:br>
            <a:endParaRPr lang="en-US" dirty="0"/>
          </a:p>
          <a:p>
            <a:r>
              <a:rPr lang="en-US" dirty="0"/>
              <a:t>Traffic Information Center (TIC)</a:t>
            </a:r>
          </a:p>
          <a:p>
            <a:pPr lvl="1"/>
            <a:r>
              <a:rPr lang="en-US" dirty="0"/>
              <a:t>Central server connected to RSUs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4376780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    </a:t>
            </a:r>
            <a:r>
              <a:rPr lang="en-US" b="1" dirty="0">
                <a:solidFill>
                  <a:srgbClr val="7030A0"/>
                </a:solidFill>
              </a:rPr>
              <a:t> Infrastructure            </a:t>
            </a:r>
            <a:r>
              <a:rPr lang="en-US" b="1" dirty="0"/>
              <a:t>⇔       </a:t>
            </a:r>
            <a:r>
              <a:rPr lang="en-US" b="1" dirty="0">
                <a:solidFill>
                  <a:schemeClr val="accent2"/>
                </a:solidFill>
              </a:rPr>
              <a:t>No Infrastructure</a:t>
            </a:r>
          </a:p>
        </p:txBody>
      </p:sp>
      <p:sp>
        <p:nvSpPr>
          <p:cNvPr id="6" name="Content Placeholder 5"/>
          <p:cNvSpPr>
            <a:spLocks noGrp="1"/>
          </p:cNvSpPr>
          <p:nvPr>
            <p:ph idx="1"/>
          </p:nvPr>
        </p:nvSpPr>
        <p:spPr/>
        <p:txBody>
          <a:bodyPr/>
          <a:lstStyle/>
          <a:p>
            <a:r>
              <a:rPr lang="en-US" dirty="0"/>
              <a:t>Central coordination</a:t>
            </a:r>
          </a:p>
          <a:p>
            <a:pPr lvl="1"/>
            <a:r>
              <a:rPr lang="en-US" dirty="0"/>
              <a:t>Resource management</a:t>
            </a:r>
          </a:p>
          <a:p>
            <a:pPr lvl="1"/>
            <a:r>
              <a:rPr lang="en-US" dirty="0"/>
              <a:t>Security</a:t>
            </a:r>
          </a:p>
          <a:p>
            <a:r>
              <a:rPr lang="en-US" dirty="0"/>
              <a:t>High load on core network</a:t>
            </a:r>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45</a:t>
            </a:fld>
            <a:endParaRPr lang="en-US" dirty="0">
              <a:solidFill>
                <a:prstClr val="black"/>
              </a:solidFill>
            </a:endParaRPr>
          </a:p>
        </p:txBody>
      </p:sp>
      <p:sp>
        <p:nvSpPr>
          <p:cNvPr id="7" name="Content Placeholder 6"/>
          <p:cNvSpPr>
            <a:spLocks noGrp="1"/>
          </p:cNvSpPr>
          <p:nvPr>
            <p:ph sz="quarter" idx="14"/>
          </p:nvPr>
        </p:nvSpPr>
        <p:spPr/>
        <p:txBody>
          <a:bodyPr/>
          <a:lstStyle/>
          <a:p>
            <a:r>
              <a:rPr lang="en-US" dirty="0"/>
              <a:t>Self organizing system</a:t>
            </a:r>
          </a:p>
          <a:p>
            <a:pPr lvl="1"/>
            <a:r>
              <a:rPr lang="en-US" dirty="0"/>
              <a:t>Channel access</a:t>
            </a:r>
          </a:p>
          <a:p>
            <a:pPr lvl="1"/>
            <a:r>
              <a:rPr lang="en-US" dirty="0"/>
              <a:t>Authentication</a:t>
            </a:r>
          </a:p>
          <a:p>
            <a:r>
              <a:rPr lang="en-US" dirty="0"/>
              <a:t>Low data rate</a:t>
            </a:r>
          </a:p>
          <a:p>
            <a:pPr marL="0" indent="0">
              <a:buNone/>
            </a:pPr>
            <a:endParaRPr lang="en-US" dirty="0"/>
          </a:p>
        </p:txBody>
      </p:sp>
      <p:sp>
        <p:nvSpPr>
          <p:cNvPr id="13" name="Textfeld 12"/>
          <p:cNvSpPr txBox="1"/>
          <p:nvPr/>
        </p:nvSpPr>
        <p:spPr>
          <a:xfrm>
            <a:off x="6854581" y="3895619"/>
            <a:ext cx="1679819" cy="276999"/>
          </a:xfrm>
          <a:prstGeom prst="rect">
            <a:avLst/>
          </a:prstGeom>
          <a:noFill/>
        </p:spPr>
        <p:txBody>
          <a:bodyPr wrap="none" rtlCol="0" anchor="b">
            <a:spAutoFit/>
          </a:bodyPr>
          <a:lstStyle/>
          <a:p>
            <a:pPr algn="r"/>
            <a:r>
              <a:rPr lang="en-US" sz="1200" dirty="0">
                <a:solidFill>
                  <a:schemeClr val="bg2">
                    <a:lumMod val="75000"/>
                    <a:lumOff val="25000"/>
                  </a:schemeClr>
                </a:solidFill>
              </a:rPr>
              <a:t>Source: AKTIV CoCar</a:t>
            </a:r>
          </a:p>
        </p:txBody>
      </p:sp>
    </p:spTree>
    <p:extLst>
      <p:ext uri="{BB962C8B-B14F-4D97-AF65-F5344CB8AC3E}">
        <p14:creationId xmlns:p14="http://schemas.microsoft.com/office/powerpoint/2010/main" val="21156868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b="1" dirty="0"/>
              <a:t>Convergence towards heterogeneous approaches</a:t>
            </a:r>
          </a:p>
        </p:txBody>
      </p:sp>
      <p:sp>
        <p:nvSpPr>
          <p:cNvPr id="3" name="Inhaltsplatzhalter 2"/>
          <p:cNvSpPr>
            <a:spLocks noGrp="1"/>
          </p:cNvSpPr>
          <p:nvPr>
            <p:ph idx="1"/>
          </p:nvPr>
        </p:nvSpPr>
        <p:spPr/>
        <p:txBody>
          <a:bodyPr/>
          <a:lstStyle/>
          <a:p>
            <a:r>
              <a:rPr lang="en-US" dirty="0"/>
              <a:t>Same system needs to work in multiple environments</a:t>
            </a:r>
          </a:p>
          <a:p>
            <a:pPr lvl="1"/>
            <a:r>
              <a:rPr lang="en-US" dirty="0"/>
              <a:t>Vehicle starts to drive in city with infrastructure support</a:t>
            </a:r>
          </a:p>
          <a:p>
            <a:pPr lvl="1"/>
            <a:r>
              <a:rPr lang="en-US" dirty="0"/>
              <a:t>Continues driving on freeway (still with infrastructure support)</a:t>
            </a:r>
          </a:p>
          <a:p>
            <a:pPr lvl="1"/>
            <a:r>
              <a:rPr lang="en-US" dirty="0"/>
              <a:t>Loses infrastructure support when turning onto local highway</a:t>
            </a:r>
          </a:p>
          <a:p>
            <a:pPr lvl="1"/>
            <a:r>
              <a:rPr lang="en-US" dirty="0"/>
              <a:t>Finishes driving in city without infrastructure support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46</a:t>
            </a:fld>
            <a:endParaRPr lang="en-US" dirty="0"/>
          </a:p>
        </p:txBody>
      </p:sp>
    </p:spTree>
    <p:extLst>
      <p:ext uri="{BB962C8B-B14F-4D97-AF65-F5344CB8AC3E}">
        <p14:creationId xmlns:p14="http://schemas.microsoft.com/office/powerpoint/2010/main" val="303087536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Challenges of V2X communication</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47</a:t>
            </a:fld>
            <a:endParaRPr lang="en-US" dirty="0">
              <a:solidFill>
                <a:prstClr val="black"/>
              </a:solidFill>
            </a:endParaRP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954809176"/>
              </p:ext>
            </p:extLst>
          </p:nvPr>
        </p:nvGraphicFramePr>
        <p:xfrm>
          <a:off x="228600" y="1600200"/>
          <a:ext cx="8686800" cy="4648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92517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p:txBody>
          <a:bodyPr/>
          <a:lstStyle/>
          <a:p>
            <a:r>
              <a:rPr lang="en-US" dirty="0"/>
              <a:t>Technology</a:t>
            </a:r>
          </a:p>
        </p:txBody>
      </p:sp>
      <p:sp>
        <p:nvSpPr>
          <p:cNvPr id="7" name="Content Placeholder 6"/>
          <p:cNvSpPr>
            <a:spLocks noGrp="1"/>
          </p:cNvSpPr>
          <p:nvPr>
            <p:ph idx="1"/>
          </p:nvPr>
        </p:nvSpPr>
        <p:spPr/>
        <p:txBody>
          <a:bodyPr/>
          <a:lstStyle/>
          <a:p>
            <a:endParaRPr lang="en-US"/>
          </a:p>
        </p:txBody>
      </p:sp>
      <p:sp>
        <p:nvSpPr>
          <p:cNvPr id="2" name="Footer Placeholder 1"/>
          <p:cNvSpPr>
            <a:spLocks noGrp="1"/>
          </p:cNvSpPr>
          <p:nvPr>
            <p:ph type="ftr" sz="quarter" idx="11"/>
          </p:nvPr>
        </p:nvSpPr>
        <p:spPr/>
        <p:txBody>
          <a:bodyPr/>
          <a:lstStyle/>
          <a:p>
            <a:r>
              <a:rPr lang="en-US"/>
              <a:t>Vehicular Networking</a:t>
            </a:r>
            <a:endParaRPr lang="en-US" dirty="0"/>
          </a:p>
        </p:txBody>
      </p:sp>
      <p:sp>
        <p:nvSpPr>
          <p:cNvPr id="3" name="Slide Number Placeholder 2"/>
          <p:cNvSpPr>
            <a:spLocks noGrp="1"/>
          </p:cNvSpPr>
          <p:nvPr>
            <p:ph type="sldNum" sz="quarter" idx="12"/>
          </p:nvPr>
        </p:nvSpPr>
        <p:spPr/>
        <p:txBody>
          <a:bodyPr/>
          <a:lstStyle/>
          <a:p>
            <a:fld id="{73ED8BC7-2E15-43DB-8EF0-8ED7667633CE}" type="slidenum">
              <a:rPr lang="en-US" smtClean="0"/>
              <a:pPr/>
              <a:t>48</a:t>
            </a:fld>
            <a:endParaRPr lang="en-US" dirty="0"/>
          </a:p>
        </p:txBody>
      </p:sp>
    </p:spTree>
    <p:extLst>
      <p:ext uri="{BB962C8B-B14F-4D97-AF65-F5344CB8AC3E}">
        <p14:creationId xmlns:p14="http://schemas.microsoft.com/office/powerpoint/2010/main" val="3265013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Communication paradigms and media</a:t>
            </a:r>
          </a:p>
        </p:txBody>
      </p:sp>
      <p:graphicFrame>
        <p:nvGraphicFramePr>
          <p:cNvPr id="8" name="Inhaltsplatzhalter 3"/>
          <p:cNvGraphicFramePr>
            <a:graphicFrameLocks noGrp="1"/>
          </p:cNvGraphicFramePr>
          <p:nvPr>
            <p:ph idx="1"/>
            <p:extLst>
              <p:ext uri="{D42A27DB-BD31-4B8C-83A1-F6EECF244321}">
                <p14:modId xmlns:p14="http://schemas.microsoft.com/office/powerpoint/2010/main" val="388444913"/>
              </p:ext>
            </p:extLst>
          </p:nvPr>
        </p:nvGraphicFramePr>
        <p:xfrm>
          <a:off x="228600" y="1600200"/>
          <a:ext cx="8686800" cy="449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49</a:t>
            </a:fld>
            <a:endParaRPr lang="en-US" dirty="0">
              <a:solidFill>
                <a:prstClr val="black"/>
              </a:solidFill>
            </a:endParaRPr>
          </a:p>
        </p:txBody>
      </p:sp>
      <p:sp>
        <p:nvSpPr>
          <p:cNvPr id="6" name="Content Placeholder 5"/>
          <p:cNvSpPr>
            <a:spLocks noGrp="1"/>
          </p:cNvSpPr>
          <p:nvPr>
            <p:ph idx="13"/>
          </p:nvPr>
        </p:nvSpPr>
        <p:spPr/>
        <p:txBody>
          <a:bodyPr/>
          <a:lstStyle/>
          <a:p>
            <a:r>
              <a:rPr lang="en-US" dirty="0"/>
              <a:t>[1] Dar, K. et al., "Wireless Communication Technologies for ITS Applications," IEEE Communications Magazine, vol. 48 (5), pp. 156-162, May 2010</a:t>
            </a:r>
          </a:p>
        </p:txBody>
      </p:sp>
    </p:spTree>
    <p:extLst>
      <p:ext uri="{BB962C8B-B14F-4D97-AF65-F5344CB8AC3E}">
        <p14:creationId xmlns:p14="http://schemas.microsoft.com/office/powerpoint/2010/main" val="38467724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B7346-C3AA-3172-56FD-6E653C2275D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13207E-E20E-8139-6AA8-42AEA1823CA1}"/>
              </a:ext>
            </a:extLst>
          </p:cNvPr>
          <p:cNvSpPr>
            <a:spLocks noGrp="1"/>
          </p:cNvSpPr>
          <p:nvPr>
            <p:ph type="title"/>
          </p:nvPr>
        </p:nvSpPr>
        <p:spPr/>
        <p:txBody>
          <a:bodyPr/>
          <a:lstStyle/>
          <a:p>
            <a:r>
              <a:rPr lang="en-US" dirty="0"/>
              <a:t>Communication paradigms and media</a:t>
            </a:r>
          </a:p>
        </p:txBody>
      </p:sp>
      <p:sp>
        <p:nvSpPr>
          <p:cNvPr id="4" name="Footer Placeholder 3">
            <a:extLst>
              <a:ext uri="{FF2B5EF4-FFF2-40B4-BE49-F238E27FC236}">
                <a16:creationId xmlns:a16="http://schemas.microsoft.com/office/drawing/2014/main" id="{48B307BB-8A15-D6A8-AE4B-B18D3FE3D504}"/>
              </a:ext>
            </a:extLst>
          </p:cNvPr>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a:extLst>
              <a:ext uri="{FF2B5EF4-FFF2-40B4-BE49-F238E27FC236}">
                <a16:creationId xmlns:a16="http://schemas.microsoft.com/office/drawing/2014/main" id="{5614DF3A-CDC1-86DF-C1DF-7EFE96A494AE}"/>
              </a:ext>
            </a:extLst>
          </p:cNvPr>
          <p:cNvSpPr>
            <a:spLocks noGrp="1"/>
          </p:cNvSpPr>
          <p:nvPr>
            <p:ph type="sldNum" sz="quarter" idx="12"/>
          </p:nvPr>
        </p:nvSpPr>
        <p:spPr/>
        <p:txBody>
          <a:bodyPr/>
          <a:lstStyle/>
          <a:p>
            <a:fld id="{73ED8BC7-2E15-43DB-8EF0-8ED7667633CE}" type="slidenum">
              <a:rPr lang="en-US" smtClean="0">
                <a:solidFill>
                  <a:prstClr val="black"/>
                </a:solidFill>
              </a:rPr>
              <a:pPr/>
              <a:t>50</a:t>
            </a:fld>
            <a:endParaRPr lang="en-US" dirty="0">
              <a:solidFill>
                <a:prstClr val="black"/>
              </a:solidFill>
            </a:endParaRPr>
          </a:p>
        </p:txBody>
      </p:sp>
      <p:sp>
        <p:nvSpPr>
          <p:cNvPr id="10" name="TextBox 9">
            <a:extLst>
              <a:ext uri="{FF2B5EF4-FFF2-40B4-BE49-F238E27FC236}">
                <a16:creationId xmlns:a16="http://schemas.microsoft.com/office/drawing/2014/main" id="{702E4E6C-B4E4-34A8-B9E0-9926DC4E6144}"/>
              </a:ext>
            </a:extLst>
          </p:cNvPr>
          <p:cNvSpPr txBox="1"/>
          <p:nvPr/>
        </p:nvSpPr>
        <p:spPr>
          <a:xfrm>
            <a:off x="228600" y="1730250"/>
            <a:ext cx="8279296" cy="646331"/>
          </a:xfrm>
          <a:prstGeom prst="rect">
            <a:avLst/>
          </a:prstGeom>
          <a:noFill/>
        </p:spPr>
        <p:txBody>
          <a:bodyPr wrap="square">
            <a:spAutoFit/>
          </a:bodyPr>
          <a:lstStyle/>
          <a:p>
            <a:r>
              <a:rPr lang="en-US" sz="1800" b="1" i="0" u="none" strike="noStrike" baseline="0" dirty="0">
                <a:solidFill>
                  <a:srgbClr val="FF0000"/>
                </a:solidFill>
                <a:latin typeface="Arial" panose="020B0604020202020204" pitchFamily="34" charset="0"/>
              </a:rPr>
              <a:t>Cellular </a:t>
            </a:r>
            <a:r>
              <a:rPr lang="en-US" sz="1800" b="1" i="0" u="none" strike="noStrike" baseline="0" dirty="0">
                <a:solidFill>
                  <a:schemeClr val="tx2"/>
                </a:solidFill>
                <a:latin typeface="Arial" panose="020B0604020202020204" pitchFamily="34" charset="0"/>
              </a:rPr>
              <a:t>and</a:t>
            </a:r>
            <a:r>
              <a:rPr lang="en-US" sz="1800" b="1" i="0" u="none" strike="noStrike" baseline="0" dirty="0">
                <a:solidFill>
                  <a:srgbClr val="FF0000"/>
                </a:solidFill>
                <a:latin typeface="Arial" panose="020B0604020202020204" pitchFamily="34" charset="0"/>
              </a:rPr>
              <a:t> DSRC </a:t>
            </a:r>
            <a:r>
              <a:rPr lang="en-US" sz="1800" b="0" i="0" u="none" strike="noStrike" baseline="0" dirty="0">
                <a:latin typeface="Arial" panose="020B0604020202020204" pitchFamily="34" charset="0"/>
              </a:rPr>
              <a:t>prove to be potential communication technologies enabling connected cars </a:t>
            </a:r>
          </a:p>
        </p:txBody>
      </p:sp>
      <p:pic>
        <p:nvPicPr>
          <p:cNvPr id="12" name="Picture 11" descr="A diagram of a communication technology&#10;&#10;AI-generated content may be incorrect.">
            <a:extLst>
              <a:ext uri="{FF2B5EF4-FFF2-40B4-BE49-F238E27FC236}">
                <a16:creationId xmlns:a16="http://schemas.microsoft.com/office/drawing/2014/main" id="{3A8DAAE3-5537-DB72-4284-74F2D3C700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01656"/>
            <a:ext cx="9144000" cy="2054688"/>
          </a:xfrm>
          <a:prstGeom prst="rect">
            <a:avLst/>
          </a:prstGeom>
        </p:spPr>
      </p:pic>
      <p:sp>
        <p:nvSpPr>
          <p:cNvPr id="6" name="TextBox 5">
            <a:extLst>
              <a:ext uri="{FF2B5EF4-FFF2-40B4-BE49-F238E27FC236}">
                <a16:creationId xmlns:a16="http://schemas.microsoft.com/office/drawing/2014/main" id="{6FE0D4AF-D9CB-5901-98C1-4FC558E2A48C}"/>
              </a:ext>
            </a:extLst>
          </p:cNvPr>
          <p:cNvSpPr txBox="1"/>
          <p:nvPr/>
        </p:nvSpPr>
        <p:spPr>
          <a:xfrm>
            <a:off x="529258" y="4758042"/>
            <a:ext cx="8734012" cy="984885"/>
          </a:xfrm>
          <a:prstGeom prst="rect">
            <a:avLst/>
          </a:prstGeom>
          <a:noFill/>
        </p:spPr>
        <p:txBody>
          <a:bodyPr wrap="square">
            <a:spAutoFit/>
          </a:bodyPr>
          <a:lstStyle/>
          <a:p>
            <a:r>
              <a:rPr lang="en-US" dirty="0"/>
              <a:t>The two major vehicular wireless communication technological standards: </a:t>
            </a:r>
          </a:p>
          <a:p>
            <a:pPr marL="914400" lvl="1" indent="-457200">
              <a:buFont typeface="+mj-lt"/>
              <a:buAutoNum type="arabicPeriod"/>
            </a:pPr>
            <a:r>
              <a:rPr lang="en-US" sz="2000" dirty="0">
                <a:latin typeface="+mn-lt"/>
              </a:rPr>
              <a:t>IEEE 802.11p (DSRC/WAVE) 	 </a:t>
            </a:r>
          </a:p>
          <a:p>
            <a:pPr marL="914400" lvl="1" indent="-457200">
              <a:buFont typeface="+mj-lt"/>
              <a:buAutoNum type="arabicPeriod"/>
            </a:pPr>
            <a:r>
              <a:rPr lang="en-US" sz="2000" dirty="0">
                <a:latin typeface="+mn-lt"/>
              </a:rPr>
              <a:t>Cellular V2X (C-V2X)</a:t>
            </a:r>
          </a:p>
        </p:txBody>
      </p:sp>
    </p:spTree>
    <p:extLst>
      <p:ext uri="{BB962C8B-B14F-4D97-AF65-F5344CB8AC3E}">
        <p14:creationId xmlns:p14="http://schemas.microsoft.com/office/powerpoint/2010/main" val="143612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066800"/>
          </a:xfrm>
        </p:spPr>
        <p:txBody>
          <a:bodyPr>
            <a:noAutofit/>
          </a:bodyPr>
          <a:lstStyle/>
          <a:p>
            <a:r>
              <a:rPr lang="en-US" sz="3600" dirty="0"/>
              <a:t> </a:t>
            </a:r>
            <a:br>
              <a:rPr lang="en-US" sz="3600" dirty="0"/>
            </a:br>
            <a:r>
              <a:rPr lang="en-US" sz="3600" dirty="0"/>
              <a:t>Communication Technologies</a:t>
            </a:r>
            <a:br>
              <a:rPr lang="en-US" sz="3600" dirty="0"/>
            </a:br>
            <a:endParaRPr lang="en-US" sz="3600" dirty="0"/>
          </a:p>
        </p:txBody>
      </p:sp>
      <p:pic>
        <p:nvPicPr>
          <p:cNvPr id="6" name="Content Placeholder 5" descr="A diagram of a network&#10;&#10;AI-generated content may be incorrect.">
            <a:extLst>
              <a:ext uri="{FF2B5EF4-FFF2-40B4-BE49-F238E27FC236}">
                <a16:creationId xmlns:a16="http://schemas.microsoft.com/office/drawing/2014/main" id="{010EEF84-0FE7-DB02-3278-3A5047C8CFF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82444" y="1676400"/>
            <a:ext cx="6087087" cy="4324350"/>
          </a:xfrm>
        </p:spPr>
      </p:pic>
      <p:sp>
        <p:nvSpPr>
          <p:cNvPr id="4" name="Slide Number Placeholder 3"/>
          <p:cNvSpPr>
            <a:spLocks noGrp="1"/>
          </p:cNvSpPr>
          <p:nvPr>
            <p:ph type="sldNum" sz="quarter" idx="12"/>
          </p:nvPr>
        </p:nvSpPr>
        <p:spPr/>
        <p:txBody>
          <a:bodyPr/>
          <a:lstStyle/>
          <a:p>
            <a:fld id="{F1BC1D28-2A14-4E9A-AF06-251561F5AADC}" type="slidenum">
              <a:rPr lang="en-GB" smtClean="0"/>
              <a:pPr/>
              <a:t>51</a:t>
            </a:fld>
            <a:endParaRPr lang="en-GB"/>
          </a:p>
        </p:txBody>
      </p:sp>
    </p:spTree>
    <p:extLst>
      <p:ext uri="{BB962C8B-B14F-4D97-AF65-F5344CB8AC3E}">
        <p14:creationId xmlns:p14="http://schemas.microsoft.com/office/powerpoint/2010/main" val="39635314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How does this work?</a:t>
            </a:r>
          </a:p>
        </p:txBody>
      </p:sp>
      <p:sp>
        <p:nvSpPr>
          <p:cNvPr id="6" name="Content Placeholder 5"/>
          <p:cNvSpPr>
            <a:spLocks noGrp="1"/>
          </p:cNvSpPr>
          <p:nvPr>
            <p:ph idx="1"/>
          </p:nvPr>
        </p:nvSpPr>
        <p:spPr>
          <a:xfrm>
            <a:off x="609600" y="1295400"/>
            <a:ext cx="6172200" cy="4724400"/>
          </a:xfrm>
        </p:spPr>
        <p:txBody>
          <a:bodyPr/>
          <a:lstStyle/>
          <a:p>
            <a:r>
              <a:rPr lang="en-US" sz="2000" dirty="0"/>
              <a:t>It is </a:t>
            </a:r>
            <a:r>
              <a:rPr lang="en-US" sz="2000" i="1" dirty="0"/>
              <a:t>cooperative, dynamic </a:t>
            </a:r>
            <a:r>
              <a:rPr lang="en-US" sz="2000" dirty="0"/>
              <a:t>and </a:t>
            </a:r>
            <a:r>
              <a:rPr lang="en-US" sz="2000" i="1" dirty="0"/>
              <a:t>ad-hoc</a:t>
            </a:r>
          </a:p>
          <a:p>
            <a:endParaRPr lang="en-US" sz="2000" dirty="0"/>
          </a:p>
          <a:p>
            <a:r>
              <a:rPr lang="en-US" sz="2000" dirty="0"/>
              <a:t>Two different approaches, same network technology (IEEE 802.11p) </a:t>
            </a:r>
          </a:p>
          <a:p>
            <a:pPr lvl="1"/>
            <a:r>
              <a:rPr lang="en-US" sz="1800" b="1" dirty="0"/>
              <a:t>US</a:t>
            </a:r>
            <a:r>
              <a:rPr lang="en-US" sz="1800" dirty="0"/>
              <a:t>: </a:t>
            </a:r>
            <a:r>
              <a:rPr lang="en-US" sz="1800" i="1" dirty="0"/>
              <a:t>Wireless Access in Vehicular </a:t>
            </a:r>
            <a:br>
              <a:rPr lang="en-US" sz="1800" i="1" dirty="0"/>
            </a:br>
            <a:r>
              <a:rPr lang="en-US" sz="1800" i="1" dirty="0"/>
              <a:t>Environments </a:t>
            </a:r>
            <a:r>
              <a:rPr lang="en-US" sz="1800" dirty="0"/>
              <a:t>– WAVE – over Dedicated </a:t>
            </a:r>
            <a:br>
              <a:rPr lang="en-US" sz="1800" dirty="0"/>
            </a:br>
            <a:r>
              <a:rPr lang="en-US" sz="1800" dirty="0"/>
              <a:t>Short Range Communications – DSRC </a:t>
            </a:r>
          </a:p>
          <a:p>
            <a:pPr lvl="1"/>
            <a:r>
              <a:rPr lang="en-US" sz="1800" b="1" dirty="0"/>
              <a:t>EU</a:t>
            </a:r>
            <a:r>
              <a:rPr lang="en-US" sz="1800" dirty="0"/>
              <a:t>: ETSI TC ITS standards, using </a:t>
            </a:r>
            <a:br>
              <a:rPr lang="en-US" sz="1800" dirty="0"/>
            </a:br>
            <a:r>
              <a:rPr lang="en-US" sz="1800" dirty="0"/>
              <a:t>Geo-networking</a:t>
            </a:r>
          </a:p>
          <a:p>
            <a:endParaRPr lang="en-US" sz="2000" dirty="0"/>
          </a:p>
          <a:p>
            <a:r>
              <a:rPr lang="en-US" sz="2000" dirty="0"/>
              <a:t>Essentially: vehicles emit </a:t>
            </a:r>
            <a:r>
              <a:rPr lang="en-US" sz="2000" i="1" dirty="0"/>
              <a:t>periodically</a:t>
            </a:r>
            <a:r>
              <a:rPr lang="en-US" sz="2000" dirty="0"/>
              <a:t> or </a:t>
            </a:r>
            <a:br>
              <a:rPr lang="en-US" sz="2000" dirty="0"/>
            </a:br>
            <a:r>
              <a:rPr lang="en-US" sz="2000" i="1" dirty="0"/>
              <a:t>event-driven </a:t>
            </a:r>
            <a:r>
              <a:rPr lang="en-US" sz="2000" dirty="0"/>
              <a:t>status information</a:t>
            </a:r>
          </a:p>
          <a:p>
            <a:pPr lvl="1"/>
            <a:r>
              <a:rPr lang="en-US" sz="1800" dirty="0"/>
              <a:t>called </a:t>
            </a:r>
            <a:r>
              <a:rPr lang="en-US" sz="1800" i="1" dirty="0"/>
              <a:t>Basic Safety Messages </a:t>
            </a:r>
            <a:r>
              <a:rPr lang="en-US" sz="1800" dirty="0"/>
              <a:t>(BSM, US) </a:t>
            </a:r>
          </a:p>
          <a:p>
            <a:pPr lvl="1"/>
            <a:r>
              <a:rPr lang="en-US" sz="1800" dirty="0"/>
              <a:t>and </a:t>
            </a:r>
            <a:r>
              <a:rPr lang="en-US" sz="1800" i="1" dirty="0"/>
              <a:t>Cooperative Awareness Messages </a:t>
            </a:r>
            <a:r>
              <a:rPr lang="en-US" sz="1800" dirty="0"/>
              <a:t>(CAM, EU)</a:t>
            </a:r>
          </a:p>
          <a:p>
            <a:endParaRPr lang="en-US" sz="2400" dirty="0"/>
          </a:p>
        </p:txBody>
      </p:sp>
      <p:sp>
        <p:nvSpPr>
          <p:cNvPr id="2" name="Date Placeholder 1"/>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14-Aug-25</a:t>
            </a:fld>
            <a:endParaRPr lang="en-US"/>
          </a:p>
        </p:txBody>
      </p:sp>
      <p:sp>
        <p:nvSpPr>
          <p:cNvPr id="3" name="Footer Placeholder 2"/>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4" name="Slide Number Placeholder 3"/>
          <p:cNvSpPr>
            <a:spLocks noGrp="1"/>
          </p:cNvSpPr>
          <p:nvPr>
            <p:ph type="sldNum" sz="quarter" idx="12"/>
          </p:nvPr>
        </p:nvSpPr>
        <p:spPr/>
        <p:txBody>
          <a:bodyPr/>
          <a:lstStyle/>
          <a:p>
            <a:pPr>
              <a:defRPr/>
            </a:pPr>
            <a:fld id="{9D2C3173-7E31-497A-8489-E04D648A4046}" type="slidenum">
              <a:rPr lang="en-US" smtClean="0"/>
              <a:pPr>
                <a:defRPr/>
              </a:pPr>
              <a:t>52</a:t>
            </a:fld>
            <a:endParaRPr lang="en-US"/>
          </a:p>
        </p:txBody>
      </p:sp>
      <p:pic>
        <p:nvPicPr>
          <p:cNvPr id="7" name="Picture 2" descr="Department of Transportation vehicle-to-vehicle (V2V) pro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2631" y="3018272"/>
            <a:ext cx="2867025" cy="178232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6896923" y="4800600"/>
            <a:ext cx="1558440" cy="253916"/>
          </a:xfrm>
          <a:prstGeom prst="rect">
            <a:avLst/>
          </a:prstGeom>
          <a:noFill/>
        </p:spPr>
        <p:txBody>
          <a:bodyPr wrap="none" rtlCol="0">
            <a:spAutoFit/>
          </a:bodyPr>
          <a:lstStyle/>
          <a:p>
            <a:pPr marL="0" lvl="1" algn="l" eaLnBrk="1" fontAlgn="auto" hangingPunct="1">
              <a:spcBef>
                <a:spcPts val="0"/>
              </a:spcBef>
              <a:spcAft>
                <a:spcPts val="0"/>
              </a:spcAft>
              <a:buClrTx/>
            </a:pPr>
            <a:r>
              <a:rPr lang="en-US" sz="1050" b="0" dirty="0">
                <a:solidFill>
                  <a:prstClr val="black"/>
                </a:solidFill>
                <a:latin typeface="Calibri"/>
              </a:rPr>
              <a:t>picture from the Internet</a:t>
            </a:r>
            <a:endParaRPr lang="en-US" sz="600" b="0" dirty="0">
              <a:solidFill>
                <a:prstClr val="black"/>
              </a:solidFill>
              <a:latin typeface="Calibri"/>
            </a:endParaRPr>
          </a:p>
        </p:txBody>
      </p:sp>
    </p:spTree>
    <p:extLst>
      <p:ext uri="{BB962C8B-B14F-4D97-AF65-F5344CB8AC3E}">
        <p14:creationId xmlns:p14="http://schemas.microsoft.com/office/powerpoint/2010/main" val="212042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P spid="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IEEE 802.11p characteristics</a:t>
            </a:r>
          </a:p>
        </p:txBody>
      </p:sp>
      <p:sp>
        <p:nvSpPr>
          <p:cNvPr id="3" name="Content Placeholder 2"/>
          <p:cNvSpPr>
            <a:spLocks noGrp="1"/>
          </p:cNvSpPr>
          <p:nvPr>
            <p:ph idx="1"/>
          </p:nvPr>
        </p:nvSpPr>
        <p:spPr/>
        <p:txBody>
          <a:bodyPr/>
          <a:lstStyle/>
          <a:p>
            <a:r>
              <a:rPr lang="en-US" sz="2000" dirty="0"/>
              <a:t>Part of the full IEEE 802.11 (2800page) specification</a:t>
            </a:r>
          </a:p>
          <a:p>
            <a:pPr lvl="1"/>
            <a:r>
              <a:rPr lang="en-US" sz="1800" dirty="0"/>
              <a:t>enhancements for use in Vehicles</a:t>
            </a:r>
          </a:p>
          <a:p>
            <a:r>
              <a:rPr lang="en-US" sz="2000" dirty="0">
                <a:solidFill>
                  <a:schemeClr val="accent2"/>
                </a:solidFill>
              </a:rPr>
              <a:t>Connect without BSS </a:t>
            </a:r>
            <a:r>
              <a:rPr lang="en-US" sz="2000" dirty="0"/>
              <a:t>(BSS: stations with access point): </a:t>
            </a:r>
          </a:p>
          <a:p>
            <a:pPr lvl="1"/>
            <a:r>
              <a:rPr lang="en-US" sz="1800" dirty="0">
                <a:solidFill>
                  <a:srgbClr val="0070C0"/>
                </a:solidFill>
              </a:rPr>
              <a:t>no association, authentication</a:t>
            </a:r>
          </a:p>
          <a:p>
            <a:pPr lvl="1"/>
            <a:r>
              <a:rPr lang="en-US" sz="1800" dirty="0">
                <a:solidFill>
                  <a:srgbClr val="0070C0"/>
                </a:solidFill>
              </a:rPr>
              <a:t>just direct, ad-hoc messaging when in range</a:t>
            </a:r>
          </a:p>
          <a:p>
            <a:r>
              <a:rPr lang="en-US" sz="2000" dirty="0"/>
              <a:t>Support prioritizing of traffic: EDCA (from 802.11e)</a:t>
            </a:r>
          </a:p>
          <a:p>
            <a:endParaRPr lang="en-US" sz="2000" dirty="0"/>
          </a:p>
          <a:p>
            <a:r>
              <a:rPr lang="en-US" sz="2000" dirty="0"/>
              <a:t>Deal with high relative speeds of terminals</a:t>
            </a:r>
          </a:p>
          <a:p>
            <a:r>
              <a:rPr lang="en-US" sz="2000" dirty="0"/>
              <a:t>UTC-based timing reference for synchronizing time accurately</a:t>
            </a:r>
          </a:p>
          <a:p>
            <a:r>
              <a:rPr lang="en-US" sz="2000" dirty="0"/>
              <a:t>Channels in the 5.9 GHz range (~300m in free field, max 1000)</a:t>
            </a:r>
          </a:p>
          <a:p>
            <a:endParaRPr lang="en-US" sz="2000" dirty="0"/>
          </a:p>
          <a:p>
            <a:endParaRPr lang="en-US" sz="2000" dirty="0"/>
          </a:p>
          <a:p>
            <a:endParaRPr lang="en-US" sz="2000" dirty="0"/>
          </a:p>
        </p:txBody>
      </p:sp>
      <p:sp>
        <p:nvSpPr>
          <p:cNvPr id="4" name="Date Placeholder 3"/>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14-Aug-25</a:t>
            </a:fld>
            <a:endParaRPr lang="en-US"/>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53</a:t>
            </a:fld>
            <a:endParaRPr lang="en-US"/>
          </a:p>
        </p:txBody>
      </p:sp>
    </p:spTree>
    <p:extLst>
      <p:ext uri="{BB962C8B-B14F-4D97-AF65-F5344CB8AC3E}">
        <p14:creationId xmlns:p14="http://schemas.microsoft.com/office/powerpoint/2010/main" val="1244527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5C2D0A-7817-F38B-C096-A70F927EB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EF680-C373-AAC2-0002-84334468B127}"/>
              </a:ext>
            </a:extLst>
          </p:cNvPr>
          <p:cNvSpPr>
            <a:spLocks noGrp="1"/>
          </p:cNvSpPr>
          <p:nvPr>
            <p:ph type="title"/>
          </p:nvPr>
        </p:nvSpPr>
        <p:spPr>
          <a:xfrm>
            <a:off x="457200" y="609600"/>
            <a:ext cx="8229600" cy="1066800"/>
          </a:xfrm>
        </p:spPr>
        <p:txBody>
          <a:bodyPr>
            <a:noAutofit/>
          </a:bodyPr>
          <a:lstStyle/>
          <a:p>
            <a:r>
              <a:rPr lang="en-US" sz="3600" dirty="0"/>
              <a:t> </a:t>
            </a:r>
            <a:br>
              <a:rPr lang="en-US" sz="3600" dirty="0"/>
            </a:br>
            <a:r>
              <a:rPr lang="en-US" sz="3600" dirty="0"/>
              <a:t>US: WAVE/DSRC</a:t>
            </a:r>
            <a:r>
              <a:rPr lang="en-US" dirty="0"/>
              <a:t>	</a:t>
            </a:r>
            <a:br>
              <a:rPr lang="en-US" sz="3600" dirty="0"/>
            </a:br>
            <a:endParaRPr lang="en-US" sz="3600" dirty="0"/>
          </a:p>
        </p:txBody>
      </p:sp>
      <p:sp>
        <p:nvSpPr>
          <p:cNvPr id="3" name="Content Placeholder 2">
            <a:extLst>
              <a:ext uri="{FF2B5EF4-FFF2-40B4-BE49-F238E27FC236}">
                <a16:creationId xmlns:a16="http://schemas.microsoft.com/office/drawing/2014/main" id="{D7049180-ADC1-69E7-073C-E85AC35FB4F0}"/>
              </a:ext>
            </a:extLst>
          </p:cNvPr>
          <p:cNvSpPr>
            <a:spLocks noGrp="1"/>
          </p:cNvSpPr>
          <p:nvPr>
            <p:ph idx="1"/>
          </p:nvPr>
        </p:nvSpPr>
        <p:spPr>
          <a:xfrm>
            <a:off x="457200" y="1676400"/>
            <a:ext cx="8229600" cy="4325112"/>
          </a:xfrm>
        </p:spPr>
        <p:txBody>
          <a:bodyPr>
            <a:normAutofit fontScale="85000" lnSpcReduction="10000"/>
          </a:bodyPr>
          <a:lstStyle/>
          <a:p>
            <a:pPr lvl="1">
              <a:lnSpc>
                <a:spcPct val="160000"/>
              </a:lnSpc>
            </a:pPr>
            <a:r>
              <a:rPr lang="en-US" dirty="0">
                <a:solidFill>
                  <a:srgbClr val="FF0000"/>
                </a:solidFill>
                <a:latin typeface="+mn-lt"/>
              </a:rPr>
              <a:t>IEEE 802.11p standard </a:t>
            </a:r>
          </a:p>
          <a:p>
            <a:pPr lvl="2">
              <a:lnSpc>
                <a:spcPct val="160000"/>
              </a:lnSpc>
            </a:pPr>
            <a:r>
              <a:rPr lang="en-US" sz="1500" dirty="0">
                <a:latin typeface="+mn-lt"/>
              </a:rPr>
              <a:t>A Dedicated Short Range Communication (DSRC) is proposed which is operating on 5.9GHz band and uses 802.11 access methods</a:t>
            </a:r>
          </a:p>
          <a:p>
            <a:pPr lvl="2">
              <a:lnSpc>
                <a:spcPct val="160000"/>
              </a:lnSpc>
            </a:pPr>
            <a:r>
              <a:rPr lang="en-US" sz="1500" dirty="0">
                <a:latin typeface="+mn-lt"/>
              </a:rPr>
              <a:t>provides short range communication  with low latency.</a:t>
            </a:r>
          </a:p>
          <a:p>
            <a:pPr lvl="2">
              <a:lnSpc>
                <a:spcPct val="160000"/>
              </a:lnSpc>
            </a:pPr>
            <a:r>
              <a:rPr lang="en-US" sz="1500" dirty="0">
                <a:latin typeface="+mn-lt"/>
              </a:rPr>
              <a:t>add wireless access in vehicular environments (V2V, I2V  Communications) </a:t>
            </a:r>
          </a:p>
          <a:p>
            <a:pPr lvl="1">
              <a:lnSpc>
                <a:spcPct val="160000"/>
              </a:lnSpc>
            </a:pPr>
            <a:r>
              <a:rPr lang="en-US" dirty="0">
                <a:solidFill>
                  <a:srgbClr val="FF0000"/>
                </a:solidFill>
                <a:latin typeface="+mn-lt"/>
              </a:rPr>
              <a:t>IEEE 1609 standard </a:t>
            </a:r>
          </a:p>
          <a:p>
            <a:pPr lvl="2">
              <a:lnSpc>
                <a:spcPct val="160000"/>
              </a:lnSpc>
            </a:pPr>
            <a:r>
              <a:rPr lang="en-US" sz="1500" dirty="0">
                <a:latin typeface="+mn-lt"/>
              </a:rPr>
              <a:t>family of standards that function in the middle layers of the protocol stack to flexibly support safety applications in VANETs .</a:t>
            </a:r>
          </a:p>
          <a:p>
            <a:pPr lvl="1">
              <a:lnSpc>
                <a:spcPct val="160000"/>
              </a:lnSpc>
            </a:pPr>
            <a:r>
              <a:rPr lang="en-US" dirty="0">
                <a:solidFill>
                  <a:srgbClr val="FF0000"/>
                </a:solidFill>
                <a:latin typeface="+mn-lt"/>
              </a:rPr>
              <a:t>J2735 standard </a:t>
            </a:r>
          </a:p>
          <a:p>
            <a:pPr lvl="2">
              <a:lnSpc>
                <a:spcPct val="160000"/>
              </a:lnSpc>
            </a:pPr>
            <a:r>
              <a:rPr lang="en-US" sz="1500" dirty="0">
                <a:latin typeface="+mn-lt"/>
              </a:rPr>
              <a:t>placed in the application layer</a:t>
            </a:r>
          </a:p>
          <a:p>
            <a:pPr lvl="2">
              <a:lnSpc>
                <a:spcPct val="160000"/>
              </a:lnSpc>
            </a:pPr>
            <a:r>
              <a:rPr lang="en-US" sz="1500" dirty="0">
                <a:latin typeface="+mn-lt"/>
              </a:rPr>
              <a:t>It defines message sets, data frames and elements which are used for V2V and V2I safety exchanges</a:t>
            </a:r>
          </a:p>
          <a:p>
            <a:pPr lvl="2">
              <a:lnSpc>
                <a:spcPct val="160000"/>
              </a:lnSpc>
            </a:pPr>
            <a:endParaRPr lang="en-US" sz="1500" dirty="0">
              <a:latin typeface="+mn-lt"/>
            </a:endParaRPr>
          </a:p>
          <a:p>
            <a:pPr marL="457200" lvl="1" indent="0">
              <a:lnSpc>
                <a:spcPct val="160000"/>
              </a:lnSpc>
              <a:buNone/>
            </a:pPr>
            <a:endParaRPr lang="en-US" dirty="0">
              <a:latin typeface="+mn-lt"/>
            </a:endParaRPr>
          </a:p>
          <a:p>
            <a:pPr marL="457200" lvl="1" indent="0">
              <a:lnSpc>
                <a:spcPct val="160000"/>
              </a:lnSpc>
              <a:buNone/>
            </a:pPr>
            <a:endParaRPr lang="en-US" dirty="0">
              <a:latin typeface="+mn-lt"/>
            </a:endParaRPr>
          </a:p>
        </p:txBody>
      </p:sp>
      <p:sp>
        <p:nvSpPr>
          <p:cNvPr id="4" name="Slide Number Placeholder 3">
            <a:extLst>
              <a:ext uri="{FF2B5EF4-FFF2-40B4-BE49-F238E27FC236}">
                <a16:creationId xmlns:a16="http://schemas.microsoft.com/office/drawing/2014/main" id="{CC483FF4-0041-57CB-95B6-AEF2035E5732}"/>
              </a:ext>
            </a:extLst>
          </p:cNvPr>
          <p:cNvSpPr>
            <a:spLocks noGrp="1"/>
          </p:cNvSpPr>
          <p:nvPr>
            <p:ph type="sldNum" sz="quarter" idx="12"/>
          </p:nvPr>
        </p:nvSpPr>
        <p:spPr/>
        <p:txBody>
          <a:bodyPr/>
          <a:lstStyle/>
          <a:p>
            <a:fld id="{F1BC1D28-2A14-4E9A-AF06-251561F5AADC}" type="slidenum">
              <a:rPr lang="en-GB" smtClean="0"/>
              <a:pPr/>
              <a:t>54</a:t>
            </a:fld>
            <a:endParaRPr lang="en-GB"/>
          </a:p>
        </p:txBody>
      </p:sp>
    </p:spTree>
    <p:extLst>
      <p:ext uri="{BB962C8B-B14F-4D97-AF65-F5344CB8AC3E}">
        <p14:creationId xmlns:p14="http://schemas.microsoft.com/office/powerpoint/2010/main" val="3712276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 WAVE/DSRC</a:t>
            </a:r>
          </a:p>
        </p:txBody>
      </p:sp>
      <p:sp>
        <p:nvSpPr>
          <p:cNvPr id="3" name="Content Placeholder 2"/>
          <p:cNvSpPr>
            <a:spLocks noGrp="1"/>
          </p:cNvSpPr>
          <p:nvPr>
            <p:ph idx="1"/>
          </p:nvPr>
        </p:nvSpPr>
        <p:spPr>
          <a:xfrm>
            <a:off x="609600" y="1295400"/>
            <a:ext cx="4953000" cy="4724400"/>
          </a:xfrm>
        </p:spPr>
        <p:txBody>
          <a:bodyPr/>
          <a:lstStyle/>
          <a:p>
            <a:r>
              <a:rPr lang="en-US" sz="2000" dirty="0"/>
              <a:t>IEEE 1609 standardizes </a:t>
            </a:r>
            <a:r>
              <a:rPr lang="en-US" sz="2000" i="1" dirty="0"/>
              <a:t>Wireless Access in Vehicular Environments </a:t>
            </a:r>
            <a:r>
              <a:rPr lang="en-US" sz="2000" dirty="0"/>
              <a:t>over </a:t>
            </a:r>
            <a:r>
              <a:rPr lang="en-US" sz="2000" i="1" dirty="0"/>
              <a:t>Dedicated Short Range Communication</a:t>
            </a:r>
          </a:p>
          <a:p>
            <a:pPr lvl="1"/>
            <a:r>
              <a:rPr lang="en-US" sz="1800" dirty="0">
                <a:solidFill>
                  <a:srgbClr val="0070C0"/>
                </a:solidFill>
              </a:rPr>
              <a:t>1609.1: resource management</a:t>
            </a:r>
          </a:p>
          <a:p>
            <a:pPr lvl="1"/>
            <a:r>
              <a:rPr lang="en-US" sz="1800" dirty="0">
                <a:solidFill>
                  <a:schemeClr val="accent2"/>
                </a:solidFill>
              </a:rPr>
              <a:t>1609.2: security services</a:t>
            </a:r>
          </a:p>
          <a:p>
            <a:pPr lvl="1"/>
            <a:r>
              <a:rPr lang="en-US" sz="1800" dirty="0">
                <a:solidFill>
                  <a:srgbClr val="0070C0"/>
                </a:solidFill>
              </a:rPr>
              <a:t>1609.3: networking services (</a:t>
            </a:r>
            <a:r>
              <a:rPr lang="en-US" sz="1800" dirty="0" err="1">
                <a:solidFill>
                  <a:srgbClr val="0070C0"/>
                </a:solidFill>
              </a:rPr>
              <a:t>a.o.</a:t>
            </a:r>
            <a:r>
              <a:rPr lang="en-US" sz="1800" dirty="0">
                <a:solidFill>
                  <a:srgbClr val="0070C0"/>
                </a:solidFill>
              </a:rPr>
              <a:t> wave short message protocol)</a:t>
            </a:r>
          </a:p>
          <a:p>
            <a:pPr lvl="2"/>
            <a:r>
              <a:rPr lang="en-US" sz="1600" dirty="0"/>
              <a:t>broadcasting of basic safety messages</a:t>
            </a:r>
          </a:p>
          <a:p>
            <a:pPr lvl="2"/>
            <a:r>
              <a:rPr lang="en-US" sz="1600" dirty="0"/>
              <a:t>define channel number and power per message</a:t>
            </a:r>
          </a:p>
          <a:p>
            <a:pPr lvl="1"/>
            <a:r>
              <a:rPr lang="en-US" sz="1800" dirty="0">
                <a:solidFill>
                  <a:schemeClr val="accent2"/>
                </a:solidFill>
              </a:rPr>
              <a:t>1609.4; multi-channel operation</a:t>
            </a:r>
          </a:p>
          <a:p>
            <a:pPr lvl="1"/>
            <a:endParaRPr lang="en-US" sz="1800" dirty="0"/>
          </a:p>
          <a:p>
            <a:r>
              <a:rPr lang="en-US" sz="2200" dirty="0">
                <a:solidFill>
                  <a:srgbClr val="0070C0"/>
                </a:solidFill>
              </a:rPr>
              <a:t>SAE  J2735</a:t>
            </a:r>
          </a:p>
          <a:p>
            <a:pPr lvl="1"/>
            <a:r>
              <a:rPr lang="en-US" sz="1800" dirty="0">
                <a:solidFill>
                  <a:srgbClr val="0070C0"/>
                </a:solidFill>
              </a:rPr>
              <a:t>defines the message content of WSMP</a:t>
            </a:r>
          </a:p>
          <a:p>
            <a:endParaRPr lang="en-US" sz="2000" dirty="0"/>
          </a:p>
        </p:txBody>
      </p:sp>
      <p:sp>
        <p:nvSpPr>
          <p:cNvPr id="4" name="Date Placeholder 3"/>
          <p:cNvSpPr>
            <a:spLocks noGrp="1"/>
          </p:cNvSpPr>
          <p:nvPr>
            <p:ph type="dt" sz="half" idx="10"/>
          </p:nvPr>
        </p:nvSpPr>
        <p:spPr bwMode="auto">
          <a:xfrm>
            <a:off x="1447800" y="6546850"/>
            <a:ext cx="1905000" cy="3111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buClrTx/>
              <a:defRPr sz="1400" b="0" kern="1200">
                <a:solidFill>
                  <a:schemeClr val="tx1"/>
                </a:solidFill>
                <a:latin typeface="+mn-lt"/>
                <a:ea typeface="+mn-ea"/>
                <a:cs typeface="+mn-cs"/>
              </a:defRPr>
            </a:lvl1pPr>
            <a:lvl2pPr marL="4572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2pPr>
            <a:lvl3pPr marL="9144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3pPr>
            <a:lvl4pPr marL="13716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4pPr>
            <a:lvl5pPr marL="1828800" algn="ctr" rtl="0" eaLnBrk="0" fontAlgn="base" hangingPunct="0">
              <a:spcBef>
                <a:spcPct val="20000"/>
              </a:spcBef>
              <a:spcAft>
                <a:spcPct val="0"/>
              </a:spcAft>
              <a:buClr>
                <a:srgbClr val="FF0000"/>
              </a:buClr>
              <a:defRPr sz="1600" b="1" kern="1200">
                <a:solidFill>
                  <a:schemeClr val="bg2"/>
                </a:solidFill>
                <a:latin typeface="Comic Sans MS" pitchFamily="66" charset="0"/>
                <a:ea typeface="+mn-ea"/>
                <a:cs typeface="+mn-cs"/>
              </a:defRPr>
            </a:lvl5pPr>
            <a:lvl6pPr marL="2286000" algn="l" defTabSz="914400" rtl="0" eaLnBrk="1" latinLnBrk="0" hangingPunct="1">
              <a:defRPr sz="1600" b="1" kern="1200">
                <a:solidFill>
                  <a:schemeClr val="bg2"/>
                </a:solidFill>
                <a:latin typeface="Comic Sans MS" pitchFamily="66" charset="0"/>
                <a:ea typeface="+mn-ea"/>
                <a:cs typeface="+mn-cs"/>
              </a:defRPr>
            </a:lvl6pPr>
            <a:lvl7pPr marL="2743200" algn="l" defTabSz="914400" rtl="0" eaLnBrk="1" latinLnBrk="0" hangingPunct="1">
              <a:defRPr sz="1600" b="1" kern="1200">
                <a:solidFill>
                  <a:schemeClr val="bg2"/>
                </a:solidFill>
                <a:latin typeface="Comic Sans MS" pitchFamily="66" charset="0"/>
                <a:ea typeface="+mn-ea"/>
                <a:cs typeface="+mn-cs"/>
              </a:defRPr>
            </a:lvl7pPr>
            <a:lvl8pPr marL="3200400" algn="l" defTabSz="914400" rtl="0" eaLnBrk="1" latinLnBrk="0" hangingPunct="1">
              <a:defRPr sz="1600" b="1" kern="1200">
                <a:solidFill>
                  <a:schemeClr val="bg2"/>
                </a:solidFill>
                <a:latin typeface="Comic Sans MS" pitchFamily="66" charset="0"/>
                <a:ea typeface="+mn-ea"/>
                <a:cs typeface="+mn-cs"/>
              </a:defRPr>
            </a:lvl8pPr>
            <a:lvl9pPr marL="3657600" algn="l" defTabSz="914400" rtl="0" eaLnBrk="1" latinLnBrk="0" hangingPunct="1">
              <a:defRPr sz="1600" b="1" kern="1200">
                <a:solidFill>
                  <a:schemeClr val="bg2"/>
                </a:solidFill>
                <a:latin typeface="Comic Sans MS" pitchFamily="66" charset="0"/>
                <a:ea typeface="+mn-ea"/>
                <a:cs typeface="+mn-cs"/>
              </a:defRPr>
            </a:lvl9pPr>
          </a:lstStyle>
          <a:p>
            <a:pPr>
              <a:defRPr/>
            </a:pPr>
            <a:fld id="{D87FEFF1-0081-47E6-8ADD-213D1D623B57}" type="datetime5">
              <a:rPr lang="en-US" smtClean="0"/>
              <a:pPr>
                <a:defRPr/>
              </a:pPr>
              <a:t>14-Aug-25</a:t>
            </a:fld>
            <a:endParaRPr lang="en-US"/>
          </a:p>
        </p:txBody>
      </p:sp>
      <p:sp>
        <p:nvSpPr>
          <p:cNvPr id="5" name="Footer Placeholder 4"/>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6" name="Slide Number Placeholder 5"/>
          <p:cNvSpPr>
            <a:spLocks noGrp="1"/>
          </p:cNvSpPr>
          <p:nvPr>
            <p:ph type="sldNum" sz="quarter" idx="12"/>
          </p:nvPr>
        </p:nvSpPr>
        <p:spPr/>
        <p:txBody>
          <a:bodyPr/>
          <a:lstStyle/>
          <a:p>
            <a:pPr>
              <a:defRPr/>
            </a:pPr>
            <a:fld id="{505C13B1-6CE5-440C-9E13-EB2C1F54FEAC}" type="slidenum">
              <a:rPr lang="en-US" smtClean="0"/>
              <a:pPr>
                <a:defRPr/>
              </a:pPr>
              <a:t>55</a:t>
            </a:fld>
            <a:endParaRPr lang="en-US"/>
          </a:p>
        </p:txBody>
      </p:sp>
      <p:pic>
        <p:nvPicPr>
          <p:cNvPr id="3789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7375" y="1228725"/>
            <a:ext cx="3324225" cy="4791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45784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7EC43-B7D0-A3BC-2836-906ED4AE8A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EE096-AE91-8B54-9ECA-965560F5F5C6}"/>
              </a:ext>
            </a:extLst>
          </p:cNvPr>
          <p:cNvSpPr>
            <a:spLocks noGrp="1"/>
          </p:cNvSpPr>
          <p:nvPr>
            <p:ph type="title"/>
          </p:nvPr>
        </p:nvSpPr>
        <p:spPr>
          <a:xfrm>
            <a:off x="457200" y="533400"/>
            <a:ext cx="8229600" cy="1066800"/>
          </a:xfrm>
        </p:spPr>
        <p:txBody>
          <a:bodyPr>
            <a:normAutofit/>
          </a:bodyPr>
          <a:lstStyle/>
          <a:p>
            <a:r>
              <a:rPr lang="en-US" dirty="0"/>
              <a:t>Protocol Stack: IEEE 802.11p (DSRC/WAVE) 	</a:t>
            </a:r>
            <a:endParaRPr lang="en-US" dirty="0">
              <a:latin typeface="+mn-lt"/>
            </a:endParaRPr>
          </a:p>
        </p:txBody>
      </p:sp>
      <p:sp>
        <p:nvSpPr>
          <p:cNvPr id="3" name="Slide Number Placeholder 2">
            <a:extLst>
              <a:ext uri="{FF2B5EF4-FFF2-40B4-BE49-F238E27FC236}">
                <a16:creationId xmlns:a16="http://schemas.microsoft.com/office/drawing/2014/main" id="{F228B37E-A488-8B1E-0A23-8A1D56F4C505}"/>
              </a:ext>
            </a:extLst>
          </p:cNvPr>
          <p:cNvSpPr>
            <a:spLocks noGrp="1"/>
          </p:cNvSpPr>
          <p:nvPr>
            <p:ph type="sldNum" sz="quarter" idx="12"/>
          </p:nvPr>
        </p:nvSpPr>
        <p:spPr/>
        <p:txBody>
          <a:bodyPr/>
          <a:lstStyle/>
          <a:p>
            <a:fld id="{F1BC1D28-2A14-4E9A-AF06-251561F5AADC}" type="slidenum">
              <a:rPr lang="en-GB" smtClean="0"/>
              <a:pPr/>
              <a:t>56</a:t>
            </a:fld>
            <a:endParaRPr lang="en-GB"/>
          </a:p>
        </p:txBody>
      </p:sp>
      <p:pic>
        <p:nvPicPr>
          <p:cNvPr id="8" name="Content Placeholder 7">
            <a:extLst>
              <a:ext uri="{FF2B5EF4-FFF2-40B4-BE49-F238E27FC236}">
                <a16:creationId xmlns:a16="http://schemas.microsoft.com/office/drawing/2014/main" id="{B432A9E4-B769-BEE0-169D-59E57C977B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6043" y="1600200"/>
            <a:ext cx="7632307" cy="4785906"/>
          </a:xfrm>
        </p:spPr>
      </p:pic>
    </p:spTree>
    <p:extLst>
      <p:ext uri="{BB962C8B-B14F-4D97-AF65-F5344CB8AC3E}">
        <p14:creationId xmlns:p14="http://schemas.microsoft.com/office/powerpoint/2010/main" val="198367141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Combining with Internet</a:t>
            </a:r>
          </a:p>
        </p:txBody>
      </p:sp>
      <p:sp>
        <p:nvSpPr>
          <p:cNvPr id="3" name="Date Placeholder 2"/>
          <p:cNvSpPr>
            <a:spLocks noGrp="1"/>
          </p:cNvSpPr>
          <p:nvPr>
            <p:ph type="dt" sz="half" idx="10"/>
          </p:nvPr>
        </p:nvSpPr>
        <p:spPr/>
        <p:txBody>
          <a:bodyPr/>
          <a:lstStyle/>
          <a:p>
            <a:pPr>
              <a:defRPr/>
            </a:pPr>
            <a:fld id="{68F6B299-6E86-4A13-9335-BC11E37C49B7}" type="datetime5">
              <a:rPr lang="en-US" smtClean="0"/>
              <a:pPr>
                <a:defRPr/>
              </a:pPr>
              <a:t>14-Aug-25</a:t>
            </a:fld>
            <a:endParaRPr lang="en-US"/>
          </a:p>
        </p:txBody>
      </p:sp>
      <p:sp>
        <p:nvSpPr>
          <p:cNvPr id="4" name="Footer Placeholder 3"/>
          <p:cNvSpPr>
            <a:spLocks noGrp="1"/>
          </p:cNvSpPr>
          <p:nvPr>
            <p:ph type="ftr" sz="quarter" idx="11"/>
          </p:nvPr>
        </p:nvSpPr>
        <p:spPr/>
        <p:txBody>
          <a:bodyPr/>
          <a:lstStyle/>
          <a:p>
            <a:pPr>
              <a:defRPr/>
            </a:pPr>
            <a:r>
              <a:rPr lang="en-US"/>
              <a:t>Johan J. Lukkien, j.j.lukkien@tue.nl</a:t>
            </a:r>
          </a:p>
          <a:p>
            <a:pPr>
              <a:defRPr/>
            </a:pPr>
            <a:r>
              <a:rPr lang="en-GB"/>
              <a:t>TU/e Informatica, System Architecture and Networking</a:t>
            </a:r>
            <a:endParaRPr lang="en-US"/>
          </a:p>
        </p:txBody>
      </p:sp>
      <p:sp>
        <p:nvSpPr>
          <p:cNvPr id="5" name="Slide Number Placeholder 4"/>
          <p:cNvSpPr>
            <a:spLocks noGrp="1"/>
          </p:cNvSpPr>
          <p:nvPr>
            <p:ph type="sldNum" sz="quarter" idx="12"/>
          </p:nvPr>
        </p:nvSpPr>
        <p:spPr/>
        <p:txBody>
          <a:bodyPr/>
          <a:lstStyle/>
          <a:p>
            <a:pPr>
              <a:defRPr/>
            </a:pPr>
            <a:fld id="{57923A2D-505A-4C2B-A97B-FA20F34B56CE}" type="slidenum">
              <a:rPr lang="en-US" smtClean="0"/>
              <a:pPr>
                <a:defRPr/>
              </a:pPr>
              <a:t>57</a:t>
            </a:fld>
            <a:endParaRPr lang="en-US"/>
          </a:p>
        </p:txBody>
      </p:sp>
      <p:sp>
        <p:nvSpPr>
          <p:cNvPr id="6" name="Line 16"/>
          <p:cNvSpPr>
            <a:spLocks noChangeShapeType="1"/>
          </p:cNvSpPr>
          <p:nvPr/>
        </p:nvSpPr>
        <p:spPr bwMode="auto">
          <a:xfrm>
            <a:off x="6827490" y="2755652"/>
            <a:ext cx="348" cy="781298"/>
          </a:xfrm>
          <a:prstGeom prst="line">
            <a:avLst/>
          </a:prstGeom>
          <a:noFill/>
          <a:ln w="57150">
            <a:solidFill>
              <a:schemeClr val="tx1"/>
            </a:solidFill>
            <a:round/>
            <a:headEnd type="triangle" w="med" len="med"/>
            <a:tailEnd type="triangle" w="med" len="med"/>
          </a:ln>
        </p:spPr>
        <p:txBody>
          <a:bodyPr/>
          <a:lstStyle/>
          <a:p>
            <a:endParaRPr lang="en-US" b="0"/>
          </a:p>
        </p:txBody>
      </p:sp>
      <p:sp>
        <p:nvSpPr>
          <p:cNvPr id="7" name="Text Box 18"/>
          <p:cNvSpPr txBox="1">
            <a:spLocks noChangeArrowheads="1"/>
          </p:cNvSpPr>
          <p:nvPr/>
        </p:nvSpPr>
        <p:spPr bwMode="auto">
          <a:xfrm>
            <a:off x="6823154" y="3092574"/>
            <a:ext cx="741206" cy="309958"/>
          </a:xfrm>
          <a:prstGeom prst="rect">
            <a:avLst/>
          </a:prstGeom>
          <a:noFill/>
          <a:ln w="9525">
            <a:noFill/>
            <a:miter lim="800000"/>
            <a:headEnd/>
            <a:tailEnd/>
          </a:ln>
        </p:spPr>
        <p:txBody>
          <a:bodyPr wrap="none" lIns="90000" tIns="46800" rIns="90000" bIns="46800">
            <a:spAutoFit/>
          </a:bodyPr>
          <a:lstStyle/>
          <a:p>
            <a:pPr>
              <a:spcBef>
                <a:spcPct val="50000"/>
              </a:spcBef>
            </a:pPr>
            <a:r>
              <a:rPr lang="en-GB" sz="1400" b="0" dirty="0">
                <a:solidFill>
                  <a:srgbClr val="993333"/>
                </a:solidFill>
                <a:latin typeface="Arial Narrow" pitchFamily="34" charset="0"/>
              </a:rPr>
              <a:t>WSMP</a:t>
            </a:r>
          </a:p>
        </p:txBody>
      </p:sp>
      <p:sp>
        <p:nvSpPr>
          <p:cNvPr id="8" name="Line 19"/>
          <p:cNvSpPr>
            <a:spLocks noChangeShapeType="1"/>
          </p:cNvSpPr>
          <p:nvPr/>
        </p:nvSpPr>
        <p:spPr bwMode="auto">
          <a:xfrm>
            <a:off x="2930525" y="2976562"/>
            <a:ext cx="7938" cy="560388"/>
          </a:xfrm>
          <a:prstGeom prst="line">
            <a:avLst/>
          </a:prstGeom>
          <a:noFill/>
          <a:ln w="57150">
            <a:solidFill>
              <a:schemeClr val="tx1"/>
            </a:solidFill>
            <a:round/>
            <a:headEnd type="triangle" w="med" len="med"/>
            <a:tailEnd type="triangle" w="med" len="med"/>
          </a:ln>
        </p:spPr>
        <p:txBody>
          <a:bodyPr/>
          <a:lstStyle/>
          <a:p>
            <a:endParaRPr lang="en-US" b="0"/>
          </a:p>
        </p:txBody>
      </p:sp>
      <p:sp>
        <p:nvSpPr>
          <p:cNvPr id="9" name="Text Box 18"/>
          <p:cNvSpPr txBox="1">
            <a:spLocks noChangeArrowheads="1"/>
          </p:cNvSpPr>
          <p:nvPr/>
        </p:nvSpPr>
        <p:spPr bwMode="auto">
          <a:xfrm>
            <a:off x="2960700" y="3082925"/>
            <a:ext cx="925488" cy="309958"/>
          </a:xfrm>
          <a:prstGeom prst="rect">
            <a:avLst/>
          </a:prstGeom>
          <a:noFill/>
          <a:ln w="9525">
            <a:noFill/>
            <a:miter lim="800000"/>
            <a:headEnd/>
            <a:tailEnd/>
          </a:ln>
        </p:spPr>
        <p:txBody>
          <a:bodyPr wrap="none" lIns="90000" tIns="46800" rIns="90000" bIns="46800">
            <a:spAutoFit/>
          </a:bodyPr>
          <a:lstStyle/>
          <a:p>
            <a:pPr>
              <a:spcBef>
                <a:spcPct val="50000"/>
              </a:spcBef>
            </a:pPr>
            <a:r>
              <a:rPr lang="en-GB" sz="1400" b="0">
                <a:solidFill>
                  <a:srgbClr val="993333"/>
                </a:solidFill>
                <a:latin typeface="Arial Narrow" pitchFamily="34" charset="0"/>
              </a:rPr>
              <a:t>IP packet</a:t>
            </a:r>
          </a:p>
        </p:txBody>
      </p:sp>
      <p:sp>
        <p:nvSpPr>
          <p:cNvPr id="10" name="Rectangle 24"/>
          <p:cNvSpPr>
            <a:spLocks noChangeArrowheads="1"/>
          </p:cNvSpPr>
          <p:nvPr/>
        </p:nvSpPr>
        <p:spPr bwMode="auto">
          <a:xfrm>
            <a:off x="2074863" y="1676400"/>
            <a:ext cx="1655762" cy="504825"/>
          </a:xfrm>
          <a:prstGeom prst="rect">
            <a:avLst/>
          </a:prstGeom>
          <a:solidFill>
            <a:srgbClr val="8EC000"/>
          </a:solidFill>
          <a:ln w="9525">
            <a:solidFill>
              <a:schemeClr val="tx1"/>
            </a:solidFill>
            <a:miter lim="800000"/>
            <a:headEnd/>
            <a:tailEnd/>
          </a:ln>
        </p:spPr>
        <p:txBody>
          <a:bodyPr wrap="none" anchor="ctr"/>
          <a:lstStyle/>
          <a:p>
            <a:pPr algn="ctr"/>
            <a:r>
              <a:rPr lang="en-US" sz="1600" b="0" dirty="0">
                <a:solidFill>
                  <a:srgbClr val="FFFFFF"/>
                </a:solidFill>
                <a:latin typeface="+mn-lt"/>
              </a:rPr>
              <a:t>Internet Apps</a:t>
            </a:r>
          </a:p>
        </p:txBody>
      </p:sp>
      <p:sp>
        <p:nvSpPr>
          <p:cNvPr id="11" name="Rectangle 25"/>
          <p:cNvSpPr>
            <a:spLocks noChangeArrowheads="1"/>
          </p:cNvSpPr>
          <p:nvPr/>
        </p:nvSpPr>
        <p:spPr bwMode="auto">
          <a:xfrm>
            <a:off x="2074863" y="2214562"/>
            <a:ext cx="1655762" cy="360363"/>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TCP/UDP</a:t>
            </a:r>
          </a:p>
        </p:txBody>
      </p:sp>
      <p:sp>
        <p:nvSpPr>
          <p:cNvPr id="12" name="Rectangle 26"/>
          <p:cNvSpPr>
            <a:spLocks noChangeArrowheads="1"/>
          </p:cNvSpPr>
          <p:nvPr/>
        </p:nvSpPr>
        <p:spPr bwMode="auto">
          <a:xfrm>
            <a:off x="2074863" y="2601912"/>
            <a:ext cx="1655762" cy="358775"/>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IPv6</a:t>
            </a:r>
          </a:p>
        </p:txBody>
      </p:sp>
      <p:sp>
        <p:nvSpPr>
          <p:cNvPr id="13" name="Rectangle 28"/>
          <p:cNvSpPr>
            <a:spLocks noChangeArrowheads="1"/>
          </p:cNvSpPr>
          <p:nvPr/>
        </p:nvSpPr>
        <p:spPr bwMode="auto">
          <a:xfrm>
            <a:off x="1066800" y="4077865"/>
            <a:ext cx="6913563" cy="503238"/>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PHY (IEEE 802.11p)</a:t>
            </a:r>
          </a:p>
        </p:txBody>
      </p:sp>
      <p:sp>
        <p:nvSpPr>
          <p:cNvPr id="14" name="Rectangle 27"/>
          <p:cNvSpPr>
            <a:spLocks noChangeArrowheads="1"/>
          </p:cNvSpPr>
          <p:nvPr/>
        </p:nvSpPr>
        <p:spPr bwMode="auto">
          <a:xfrm>
            <a:off x="1066800" y="3536950"/>
            <a:ext cx="6913563" cy="504825"/>
          </a:xfrm>
          <a:prstGeom prst="rect">
            <a:avLst/>
          </a:prstGeom>
          <a:solidFill>
            <a:srgbClr val="00B050"/>
          </a:solidFill>
          <a:ln w="9525">
            <a:solidFill>
              <a:schemeClr val="tx1"/>
            </a:solidFill>
            <a:miter lim="800000"/>
            <a:headEnd/>
            <a:tailEnd/>
          </a:ln>
        </p:spPr>
        <p:txBody>
          <a:bodyPr wrap="none" anchor="ctr"/>
          <a:lstStyle/>
          <a:p>
            <a:pPr algn="ctr"/>
            <a:r>
              <a:rPr lang="en-US" sz="1600" b="0">
                <a:solidFill>
                  <a:srgbClr val="FFFFFF"/>
                </a:solidFill>
                <a:latin typeface="+mn-lt"/>
              </a:rPr>
              <a:t>LLC/MAC (IEEE 802.11p with CSMA/CA)               </a:t>
            </a:r>
          </a:p>
        </p:txBody>
      </p:sp>
      <p:sp>
        <p:nvSpPr>
          <p:cNvPr id="15" name="Rectangle 22"/>
          <p:cNvSpPr>
            <a:spLocks noChangeArrowheads="1"/>
          </p:cNvSpPr>
          <p:nvPr/>
        </p:nvSpPr>
        <p:spPr bwMode="auto">
          <a:xfrm>
            <a:off x="6061075" y="3648075"/>
            <a:ext cx="1730375" cy="322262"/>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GB" sz="1600" b="0" dirty="0">
                <a:solidFill>
                  <a:srgbClr val="FFFFFF"/>
                </a:solidFill>
              </a:rPr>
              <a:t>P1609.4</a:t>
            </a:r>
          </a:p>
        </p:txBody>
      </p:sp>
      <p:sp>
        <p:nvSpPr>
          <p:cNvPr id="16" name="Rectangle 15"/>
          <p:cNvSpPr/>
          <p:nvPr/>
        </p:nvSpPr>
        <p:spPr bwMode="auto">
          <a:xfrm>
            <a:off x="5962650" y="1676400"/>
            <a:ext cx="1657350" cy="50482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600" b="0" dirty="0">
                <a:solidFill>
                  <a:srgbClr val="FFFFFF"/>
                </a:solidFill>
              </a:rPr>
              <a:t>WAVE Apps</a:t>
            </a:r>
          </a:p>
        </p:txBody>
      </p:sp>
      <p:sp>
        <p:nvSpPr>
          <p:cNvPr id="17" name="Rectangle 16"/>
          <p:cNvSpPr/>
          <p:nvPr/>
        </p:nvSpPr>
        <p:spPr>
          <a:xfrm>
            <a:off x="1738292" y="4846734"/>
            <a:ext cx="5572164" cy="571504"/>
          </a:xfrm>
          <a:prstGeom prst="rect">
            <a:avLst/>
          </a:prstGeom>
        </p:spPr>
        <p:style>
          <a:lnRef idx="3">
            <a:schemeClr val="lt1"/>
          </a:lnRef>
          <a:fillRef idx="1">
            <a:schemeClr val="accent1"/>
          </a:fillRef>
          <a:effectRef idx="1">
            <a:schemeClr val="accent1"/>
          </a:effectRef>
          <a:fontRef idx="minor">
            <a:schemeClr val="lt1"/>
          </a:fontRef>
        </p:style>
        <p:txBody>
          <a:bodyPr wrap="none" lIns="0" rIns="0"/>
          <a:lstStyle/>
          <a:p>
            <a:pPr lvl="1" fontAlgn="auto">
              <a:spcAft>
                <a:spcPts val="0"/>
              </a:spcAft>
              <a:defRPr/>
            </a:pPr>
            <a:r>
              <a:rPr lang="en-US" sz="1400" b="0" i="1" dirty="0">
                <a:solidFill>
                  <a:schemeClr val="tx2"/>
                </a:solidFill>
              </a:rPr>
              <a:t>WAVE (Wireless Access in Vehicular Environment) standards: </a:t>
            </a:r>
          </a:p>
          <a:p>
            <a:pPr lvl="1" algn="ctr" fontAlgn="auto">
              <a:spcAft>
                <a:spcPts val="0"/>
              </a:spcAft>
              <a:defRPr/>
            </a:pPr>
            <a:r>
              <a:rPr lang="en-US" sz="1400" b="0" i="1" dirty="0">
                <a:solidFill>
                  <a:schemeClr val="tx2"/>
                </a:solidFill>
              </a:rPr>
              <a:t>IEEE 802.11p standard and 1609.x standards</a:t>
            </a:r>
          </a:p>
        </p:txBody>
      </p:sp>
      <p:sp>
        <p:nvSpPr>
          <p:cNvPr id="18" name="Rectangle 17"/>
          <p:cNvSpPr/>
          <p:nvPr/>
        </p:nvSpPr>
        <p:spPr bwMode="auto">
          <a:xfrm>
            <a:off x="5963394" y="2250827"/>
            <a:ext cx="1657350" cy="504825"/>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defRPr/>
            </a:pPr>
            <a:r>
              <a:rPr lang="en-US" sz="1600" b="0" dirty="0">
                <a:solidFill>
                  <a:srgbClr val="FFFFFF"/>
                </a:solidFill>
              </a:rPr>
              <a:t>1609.x</a:t>
            </a:r>
          </a:p>
          <a:p>
            <a:pPr algn="ctr">
              <a:defRPr/>
            </a:pPr>
            <a:r>
              <a:rPr lang="en-US" sz="1600" b="0" dirty="0">
                <a:solidFill>
                  <a:srgbClr val="FFFFFF"/>
                </a:solidFill>
              </a:rPr>
              <a:t>(1,2,3)</a:t>
            </a:r>
          </a:p>
        </p:txBody>
      </p:sp>
    </p:spTree>
    <p:extLst>
      <p:ext uri="{BB962C8B-B14F-4D97-AF65-F5344CB8AC3E}">
        <p14:creationId xmlns:p14="http://schemas.microsoft.com/office/powerpoint/2010/main" val="2861883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a:t>
            </a:r>
            <a:r>
              <a:rPr lang="en-US" dirty="0" err="1">
                <a:solidFill>
                  <a:schemeClr val="accent2"/>
                </a:solidFill>
              </a:rPr>
              <a:t>a,b,g,n</a:t>
            </a:r>
            <a:r>
              <a:rPr lang="en-US" dirty="0">
                <a:solidFill>
                  <a:schemeClr val="accent2"/>
                </a:solidFill>
              </a:rPr>
              <a:t>} for Car-to-X communication?</a:t>
            </a:r>
          </a:p>
        </p:txBody>
      </p:sp>
      <p:sp>
        <p:nvSpPr>
          <p:cNvPr id="3" name="Inhaltsplatzhalter 2"/>
          <p:cNvSpPr>
            <a:spLocks noGrp="1"/>
          </p:cNvSpPr>
          <p:nvPr>
            <p:ph idx="1"/>
          </p:nvPr>
        </p:nvSpPr>
        <p:spPr/>
        <p:txBody>
          <a:bodyPr>
            <a:normAutofit/>
          </a:bodyPr>
          <a:lstStyle/>
          <a:p>
            <a:pPr lvl="1"/>
            <a:r>
              <a:rPr lang="en-US" sz="2000" dirty="0">
                <a:solidFill>
                  <a:schemeClr val="accent2"/>
                </a:solidFill>
              </a:rPr>
              <a:t>Can’t be in infrastructure mode and</a:t>
            </a:r>
            <a:br>
              <a:rPr lang="en-US" sz="2000" dirty="0">
                <a:solidFill>
                  <a:schemeClr val="accent2"/>
                </a:solidFill>
              </a:rPr>
            </a:br>
            <a:r>
              <a:rPr lang="en-US" sz="2000" dirty="0">
                <a:solidFill>
                  <a:schemeClr val="accent2"/>
                </a:solidFill>
              </a:rPr>
              <a:t>ad hoc mode at the same time</a:t>
            </a:r>
          </a:p>
          <a:p>
            <a:pPr lvl="1"/>
            <a:r>
              <a:rPr lang="en-US" sz="2000" dirty="0"/>
              <a:t>Switching time consuming</a:t>
            </a:r>
          </a:p>
          <a:p>
            <a:pPr lvl="1"/>
            <a:r>
              <a:rPr lang="en-US" sz="2000" dirty="0"/>
              <a:t>Association time consuming</a:t>
            </a:r>
          </a:p>
          <a:p>
            <a:pPr lvl="1"/>
            <a:r>
              <a:rPr lang="en-US" sz="2000" dirty="0"/>
              <a:t>No integral within-network security</a:t>
            </a:r>
          </a:p>
          <a:p>
            <a:pPr lvl="1"/>
            <a:r>
              <a:rPr lang="en-US" sz="2000" dirty="0"/>
              <a:t>(Massively) shared</a:t>
            </a:r>
            <a:br>
              <a:rPr lang="en-US" sz="2000" dirty="0"/>
            </a:br>
            <a:r>
              <a:rPr lang="en-US" sz="2000" dirty="0"/>
              <a:t>spectrum (⇨ ISM)</a:t>
            </a:r>
          </a:p>
          <a:p>
            <a:pPr lvl="1"/>
            <a:r>
              <a:rPr lang="en-US" sz="2000" dirty="0"/>
              <a:t>No integral QoS</a:t>
            </a:r>
          </a:p>
          <a:p>
            <a:pPr lvl="1"/>
            <a:r>
              <a:rPr lang="en-US" sz="2000" dirty="0"/>
              <a:t>Multi-path effects</a:t>
            </a:r>
            <a:br>
              <a:rPr lang="en-US" sz="2000" dirty="0"/>
            </a:br>
            <a:r>
              <a:rPr lang="en-US" sz="2000" dirty="0"/>
              <a:t>reduce range</a:t>
            </a:r>
            <a:br>
              <a:rPr lang="en-US" sz="2000" dirty="0"/>
            </a:br>
            <a:r>
              <a:rPr lang="en-US" sz="2000" dirty="0"/>
              <a:t>and speed</a:t>
            </a:r>
          </a:p>
          <a:p>
            <a:pPr lvl="1"/>
            <a:endParaRPr lang="en-US" sz="2000" dirty="0"/>
          </a:p>
          <a:p>
            <a:endParaRPr lang="en-US" sz="2400" dirty="0"/>
          </a:p>
          <a:p>
            <a:pPr lvl="1"/>
            <a:endParaRPr lang="en-US" sz="2000" dirty="0"/>
          </a:p>
          <a:p>
            <a:pPr lvl="1"/>
            <a:endParaRPr lang="en-US" sz="2000"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230774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802.11p</a:t>
            </a:r>
          </a:p>
        </p:txBody>
      </p:sp>
      <p:sp>
        <p:nvSpPr>
          <p:cNvPr id="3" name="Inhaltsplatzhalter 2"/>
          <p:cNvSpPr>
            <a:spLocks noGrp="1"/>
          </p:cNvSpPr>
          <p:nvPr>
            <p:ph idx="1"/>
          </p:nvPr>
        </p:nvSpPr>
        <p:spPr/>
        <p:txBody>
          <a:bodyPr>
            <a:normAutofit fontScale="85000" lnSpcReduction="20000"/>
          </a:bodyPr>
          <a:lstStyle/>
          <a:p>
            <a:r>
              <a:rPr lang="en-US" dirty="0"/>
              <a:t>IEEE 802.11p</a:t>
            </a:r>
          </a:p>
          <a:p>
            <a:pPr lvl="1"/>
            <a:r>
              <a:rPr lang="en-US" dirty="0"/>
              <a:t>PHY layer mostly </a:t>
            </a:r>
            <a:r>
              <a:rPr lang="en-US" dirty="0">
                <a:solidFill>
                  <a:schemeClr val="accent2"/>
                </a:solidFill>
              </a:rPr>
              <a:t>identical to IEEE 802.11a</a:t>
            </a:r>
          </a:p>
          <a:p>
            <a:pPr lvl="2"/>
            <a:r>
              <a:rPr lang="en-US" dirty="0">
                <a:solidFill>
                  <a:schemeClr val="accent2"/>
                </a:solidFill>
              </a:rPr>
              <a:t>Variant with OFDM and 16 QAM</a:t>
            </a:r>
          </a:p>
          <a:p>
            <a:pPr lvl="2"/>
            <a:r>
              <a:rPr lang="en-US" dirty="0"/>
              <a:t>Higher demands on tolerances</a:t>
            </a:r>
          </a:p>
          <a:p>
            <a:pPr lvl="2"/>
            <a:r>
              <a:rPr lang="en-US" dirty="0">
                <a:solidFill>
                  <a:schemeClr val="accent2"/>
                </a:solidFill>
              </a:rPr>
              <a:t>Reduction of inter symbol interference</a:t>
            </a:r>
            <a:br>
              <a:rPr lang="en-US" dirty="0"/>
            </a:br>
            <a:r>
              <a:rPr lang="en-US" dirty="0">
                <a:solidFill>
                  <a:srgbClr val="00B050"/>
                </a:solidFill>
              </a:rPr>
              <a:t>because of multi-path effects</a:t>
            </a:r>
          </a:p>
          <a:p>
            <a:pPr lvl="3"/>
            <a:r>
              <a:rPr lang="en-US" dirty="0">
                <a:solidFill>
                  <a:schemeClr val="accent2"/>
                </a:solidFill>
              </a:rPr>
              <a:t>Double timing parameters</a:t>
            </a:r>
          </a:p>
          <a:p>
            <a:pPr lvl="3"/>
            <a:r>
              <a:rPr lang="en-US" dirty="0">
                <a:solidFill>
                  <a:srgbClr val="00B050"/>
                </a:solidFill>
              </a:rPr>
              <a:t>Channel bandwidth down to 10 MHz (from 20 MHz)</a:t>
            </a:r>
          </a:p>
          <a:p>
            <a:pPr lvl="3"/>
            <a:r>
              <a:rPr lang="en-US" dirty="0">
                <a:solidFill>
                  <a:schemeClr val="accent2"/>
                </a:solidFill>
              </a:rPr>
              <a:t>Throughput down to 3 ... 27 Mbit/s (from 6 ... 54 Mbit/s)</a:t>
            </a:r>
          </a:p>
          <a:p>
            <a:pPr lvl="3"/>
            <a:r>
              <a:rPr lang="en-US" dirty="0"/>
              <a:t>Range up to 1000 m, speed up to 200 km/h</a:t>
            </a:r>
          </a:p>
          <a:p>
            <a:pPr lvl="1"/>
            <a:r>
              <a:rPr lang="en-US" dirty="0">
                <a:solidFill>
                  <a:schemeClr val="accent2"/>
                </a:solidFill>
              </a:rPr>
              <a:t>MAC layer of IEEE 802.11a plus extensions</a:t>
            </a:r>
          </a:p>
          <a:p>
            <a:pPr lvl="2"/>
            <a:r>
              <a:rPr lang="en-US" dirty="0">
                <a:solidFill>
                  <a:srgbClr val="00B0F0"/>
                </a:solidFill>
              </a:rPr>
              <a:t>Random MAC Address</a:t>
            </a:r>
          </a:p>
          <a:p>
            <a:pPr lvl="2"/>
            <a:r>
              <a:rPr lang="en-US" dirty="0">
                <a:solidFill>
                  <a:srgbClr val="7030A0"/>
                </a:solidFill>
              </a:rPr>
              <a:t>QoS (EDCA priority access, cf. IEEE 802.11e, ...)</a:t>
            </a:r>
          </a:p>
          <a:p>
            <a:pPr lvl="2"/>
            <a:r>
              <a:rPr lang="en-US" dirty="0"/>
              <a:t>Multi-Frequency and Multi-Radio capabilities</a:t>
            </a:r>
          </a:p>
          <a:p>
            <a:pPr lvl="2"/>
            <a:r>
              <a:rPr lang="en-US" dirty="0">
                <a:solidFill>
                  <a:srgbClr val="7030A0"/>
                </a:solidFill>
              </a:rPr>
              <a:t>New Ad Hoc mode</a:t>
            </a:r>
          </a:p>
          <a:p>
            <a:pPr lvl="2"/>
            <a:r>
              <a:rPr lang="en-US" dirty="0"/>
              <a:t>...</a:t>
            </a:r>
          </a:p>
          <a:p>
            <a:pPr lvl="3"/>
            <a:endParaRPr lang="en-US" dirty="0"/>
          </a:p>
          <a:p>
            <a:pPr lvl="2"/>
            <a:endParaRPr lang="en-US" dirty="0"/>
          </a:p>
          <a:p>
            <a:pPr lvl="1"/>
            <a:endParaRPr lang="en-US" dirty="0"/>
          </a:p>
          <a:p>
            <a:pPr lvl="1"/>
            <a:endParaRPr lang="en-US" dirty="0"/>
          </a:p>
          <a:p>
            <a:endParaRPr lang="en-US" dirty="0"/>
          </a:p>
        </p:txBody>
      </p:sp>
      <p:grpSp>
        <p:nvGrpSpPr>
          <p:cNvPr id="25" name="Gruppierung 24"/>
          <p:cNvGrpSpPr/>
          <p:nvPr/>
        </p:nvGrpSpPr>
        <p:grpSpPr>
          <a:xfrm>
            <a:off x="6205416" y="1321539"/>
            <a:ext cx="2857500" cy="1220789"/>
            <a:chOff x="5791199" y="1979081"/>
            <a:chExt cx="2857500" cy="1220789"/>
          </a:xfrm>
          <a:effectLst>
            <a:outerShdw blurRad="50800" dist="38100" dir="2700000" algn="br">
              <a:srgbClr val="000000">
                <a:alpha val="43000"/>
              </a:srgbClr>
            </a:outerShdw>
          </a:effectLst>
          <a:scene3d>
            <a:camera prst="isometricBottomUp">
              <a:rot lat="2124000" lon="18882001" rev="17987999"/>
            </a:camera>
            <a:lightRig rig="threePt" dir="t"/>
          </a:scene3d>
        </p:grpSpPr>
        <p:cxnSp>
          <p:nvCxnSpPr>
            <p:cNvPr id="7" name="Gekrümmte Verbindung 6"/>
            <p:cNvCxnSpPr/>
            <p:nvPr/>
          </p:nvCxnSpPr>
          <p:spPr bwMode="auto">
            <a:xfrm flipV="1">
              <a:off x="5791199" y="1979081"/>
              <a:ext cx="1435099" cy="406577"/>
            </a:xfrm>
            <a:prstGeom prst="curvedConnector3">
              <a:avLst>
                <a:gd name="adj1" fmla="val 50000"/>
              </a:avLst>
            </a:prstGeom>
            <a:solidFill>
              <a:schemeClr val="accent1"/>
            </a:solidFill>
            <a:ln w="69850" cap="flat" cmpd="sng" algn="ctr">
              <a:solidFill>
                <a:srgbClr val="800000"/>
              </a:solidFill>
              <a:prstDash val="solid"/>
              <a:round/>
              <a:headEnd type="none" w="med" len="med"/>
              <a:tailEnd type="none" w="med" len="med"/>
            </a:ln>
            <a:effectLst/>
          </p:spPr>
        </p:cxnSp>
        <p:cxnSp>
          <p:nvCxnSpPr>
            <p:cNvPr id="8" name="Gekrümmte Verbindung 7"/>
            <p:cNvCxnSpPr/>
            <p:nvPr/>
          </p:nvCxnSpPr>
          <p:spPr bwMode="auto">
            <a:xfrm flipV="1">
              <a:off x="5846395" y="2131547"/>
              <a:ext cx="1379903" cy="254110"/>
            </a:xfrm>
            <a:prstGeom prst="curvedConnector3">
              <a:avLst>
                <a:gd name="adj1" fmla="val 50000"/>
              </a:avLst>
            </a:prstGeom>
            <a:solidFill>
              <a:schemeClr val="accent1"/>
            </a:solidFill>
            <a:ln w="69850" cap="flat" cmpd="sng" algn="ctr">
              <a:solidFill>
                <a:srgbClr val="FF0000"/>
              </a:solidFill>
              <a:prstDash val="solid"/>
              <a:round/>
              <a:headEnd type="none" w="med" len="med"/>
              <a:tailEnd type="none" w="med" len="med"/>
            </a:ln>
            <a:effectLst/>
          </p:spPr>
        </p:cxnSp>
        <p:cxnSp>
          <p:nvCxnSpPr>
            <p:cNvPr id="9" name="Gekrümmte Verbindung 8"/>
            <p:cNvCxnSpPr/>
            <p:nvPr/>
          </p:nvCxnSpPr>
          <p:spPr bwMode="auto">
            <a:xfrm flipV="1">
              <a:off x="5901591" y="2284013"/>
              <a:ext cx="1324707" cy="101644"/>
            </a:xfrm>
            <a:prstGeom prst="curvedConnector3">
              <a:avLst>
                <a:gd name="adj1" fmla="val 50000"/>
              </a:avLst>
            </a:prstGeom>
            <a:solidFill>
              <a:schemeClr val="accent1"/>
            </a:solidFill>
            <a:ln w="69850" cap="flat" cmpd="sng" algn="ctr">
              <a:solidFill>
                <a:srgbClr val="FF6600"/>
              </a:solidFill>
              <a:prstDash val="solid"/>
              <a:round/>
              <a:headEnd type="none" w="med" len="med"/>
              <a:tailEnd type="none" w="med" len="med"/>
            </a:ln>
            <a:effectLst/>
          </p:spPr>
        </p:cxnSp>
        <p:cxnSp>
          <p:nvCxnSpPr>
            <p:cNvPr id="10" name="Gekrümmte Verbindung 9"/>
            <p:cNvCxnSpPr/>
            <p:nvPr/>
          </p:nvCxnSpPr>
          <p:spPr bwMode="auto">
            <a:xfrm>
              <a:off x="5956787" y="2385658"/>
              <a:ext cx="1269511" cy="50822"/>
            </a:xfrm>
            <a:prstGeom prst="curvedConnector3">
              <a:avLst>
                <a:gd name="adj1" fmla="val 50000"/>
              </a:avLst>
            </a:prstGeom>
            <a:solidFill>
              <a:schemeClr val="accent1"/>
            </a:solidFill>
            <a:ln w="69850" cap="flat" cmpd="sng" algn="ctr">
              <a:solidFill>
                <a:srgbClr val="FFFF00"/>
              </a:solidFill>
              <a:prstDash val="solid"/>
              <a:round/>
              <a:headEnd type="none" w="med" len="med"/>
              <a:tailEnd type="none" w="med" len="med"/>
            </a:ln>
            <a:effectLst/>
          </p:spPr>
        </p:cxnSp>
        <p:cxnSp>
          <p:nvCxnSpPr>
            <p:cNvPr id="11" name="Gekrümmte Verbindung 10"/>
            <p:cNvCxnSpPr/>
            <p:nvPr/>
          </p:nvCxnSpPr>
          <p:spPr bwMode="auto">
            <a:xfrm>
              <a:off x="6011984" y="2385658"/>
              <a:ext cx="1214315" cy="204347"/>
            </a:xfrm>
            <a:prstGeom prst="curvedConnector3">
              <a:avLst>
                <a:gd name="adj1" fmla="val 50000"/>
              </a:avLst>
            </a:prstGeom>
            <a:solidFill>
              <a:schemeClr val="accent1"/>
            </a:solidFill>
            <a:ln w="69850" cap="flat" cmpd="sng" algn="ctr">
              <a:solidFill>
                <a:srgbClr val="008000"/>
              </a:solidFill>
              <a:prstDash val="solid"/>
              <a:round/>
              <a:headEnd type="none" w="med" len="med"/>
              <a:tailEnd type="none" w="med" len="med"/>
            </a:ln>
            <a:effectLst/>
          </p:spPr>
        </p:cxnSp>
        <p:cxnSp>
          <p:nvCxnSpPr>
            <p:cNvPr id="12" name="Gekrümmte Verbindung 11"/>
            <p:cNvCxnSpPr/>
            <p:nvPr/>
          </p:nvCxnSpPr>
          <p:spPr bwMode="auto">
            <a:xfrm rot="10800000">
              <a:off x="6067180" y="2385658"/>
              <a:ext cx="1159119" cy="356814"/>
            </a:xfrm>
            <a:prstGeom prst="curvedConnector3">
              <a:avLst>
                <a:gd name="adj1" fmla="val 50000"/>
              </a:avLst>
            </a:prstGeom>
            <a:solidFill>
              <a:schemeClr val="accent1"/>
            </a:solidFill>
            <a:ln w="69850" cap="flat" cmpd="sng" algn="ctr">
              <a:solidFill>
                <a:srgbClr val="3366FF"/>
              </a:solidFill>
              <a:prstDash val="solid"/>
              <a:round/>
              <a:headEnd type="none" w="med" len="med"/>
              <a:tailEnd type="none" w="med" len="med"/>
            </a:ln>
            <a:effectLst/>
          </p:spPr>
        </p:cxnSp>
        <p:cxnSp>
          <p:nvCxnSpPr>
            <p:cNvPr id="13" name="Gekrümmte Verbindung 12"/>
            <p:cNvCxnSpPr/>
            <p:nvPr/>
          </p:nvCxnSpPr>
          <p:spPr bwMode="auto">
            <a:xfrm rot="10800000">
              <a:off x="6122376" y="2385658"/>
              <a:ext cx="1103923" cy="509280"/>
            </a:xfrm>
            <a:prstGeom prst="curvedConnector3">
              <a:avLst>
                <a:gd name="adj1" fmla="val 50000"/>
              </a:avLst>
            </a:prstGeom>
            <a:solidFill>
              <a:schemeClr val="accent1"/>
            </a:solidFill>
            <a:ln w="69850" cap="flat" cmpd="sng" algn="ctr">
              <a:solidFill>
                <a:srgbClr val="0000FF"/>
              </a:solidFill>
              <a:prstDash val="solid"/>
              <a:round/>
              <a:headEnd type="none" w="med" len="med"/>
              <a:tailEnd type="none" w="med" len="med"/>
            </a:ln>
            <a:effectLst/>
          </p:spPr>
        </p:cxnSp>
        <p:cxnSp>
          <p:nvCxnSpPr>
            <p:cNvPr id="14" name="Gekrümmte Verbindung 13"/>
            <p:cNvCxnSpPr/>
            <p:nvPr/>
          </p:nvCxnSpPr>
          <p:spPr bwMode="auto">
            <a:xfrm rot="10800000">
              <a:off x="6177572" y="2385658"/>
              <a:ext cx="1048728" cy="661746"/>
            </a:xfrm>
            <a:prstGeom prst="curvedConnector3">
              <a:avLst>
                <a:gd name="adj1" fmla="val 50000"/>
              </a:avLst>
            </a:prstGeom>
            <a:solidFill>
              <a:schemeClr val="accent1"/>
            </a:solidFill>
            <a:ln w="69850" cap="flat" cmpd="sng" algn="ctr">
              <a:solidFill>
                <a:srgbClr val="000090"/>
              </a:solidFill>
              <a:prstDash val="solid"/>
              <a:round/>
              <a:headEnd type="none" w="med" len="med"/>
              <a:tailEnd type="none" w="med" len="med"/>
            </a:ln>
            <a:effectLst/>
          </p:spPr>
        </p:cxnSp>
        <p:cxnSp>
          <p:nvCxnSpPr>
            <p:cNvPr id="15" name="Gekrümmte Verbindung 14"/>
            <p:cNvCxnSpPr/>
            <p:nvPr/>
          </p:nvCxnSpPr>
          <p:spPr bwMode="auto">
            <a:xfrm rot="10800000">
              <a:off x="6232768" y="2385658"/>
              <a:ext cx="993530" cy="814212"/>
            </a:xfrm>
            <a:prstGeom prst="curvedConnector3">
              <a:avLst>
                <a:gd name="adj1" fmla="val 50000"/>
              </a:avLst>
            </a:prstGeom>
            <a:solidFill>
              <a:schemeClr val="accent1"/>
            </a:solidFill>
            <a:ln w="69850" cap="flat" cmpd="sng" algn="ctr">
              <a:solidFill>
                <a:srgbClr val="660066"/>
              </a:solidFill>
              <a:prstDash val="solid"/>
              <a:round/>
              <a:headEnd type="none" w="med" len="med"/>
              <a:tailEnd type="none" w="med" len="med"/>
            </a:ln>
            <a:effectLst/>
          </p:spPr>
        </p:cxnSp>
        <p:cxnSp>
          <p:nvCxnSpPr>
            <p:cNvPr id="16" name="Gekrümmte Verbindung 15"/>
            <p:cNvCxnSpPr/>
            <p:nvPr/>
          </p:nvCxnSpPr>
          <p:spPr bwMode="auto">
            <a:xfrm flipH="1">
              <a:off x="7213600" y="2793293"/>
              <a:ext cx="1435099" cy="406577"/>
            </a:xfrm>
            <a:prstGeom prst="curvedConnector3">
              <a:avLst>
                <a:gd name="adj1" fmla="val 50000"/>
              </a:avLst>
            </a:prstGeom>
            <a:solidFill>
              <a:schemeClr val="accent1"/>
            </a:solidFill>
            <a:ln w="69850" cap="flat" cmpd="sng" algn="ctr">
              <a:solidFill>
                <a:srgbClr val="660066"/>
              </a:solidFill>
              <a:prstDash val="solid"/>
              <a:round/>
              <a:headEnd type="none" w="med" len="med"/>
              <a:tailEnd type="none" w="med" len="med"/>
            </a:ln>
            <a:effectLst/>
          </p:spPr>
        </p:cxnSp>
        <p:cxnSp>
          <p:nvCxnSpPr>
            <p:cNvPr id="17" name="Gekrümmte Verbindung 16"/>
            <p:cNvCxnSpPr/>
            <p:nvPr/>
          </p:nvCxnSpPr>
          <p:spPr bwMode="auto">
            <a:xfrm flipH="1">
              <a:off x="7213600" y="2793293"/>
              <a:ext cx="1379903" cy="254110"/>
            </a:xfrm>
            <a:prstGeom prst="curvedConnector3">
              <a:avLst>
                <a:gd name="adj1" fmla="val 50000"/>
              </a:avLst>
            </a:prstGeom>
            <a:solidFill>
              <a:schemeClr val="accent1"/>
            </a:solidFill>
            <a:ln w="69850" cap="flat" cmpd="sng" algn="ctr">
              <a:solidFill>
                <a:srgbClr val="000090"/>
              </a:solidFill>
              <a:prstDash val="solid"/>
              <a:round/>
              <a:headEnd type="none" w="med" len="med"/>
              <a:tailEnd type="none" w="med" len="med"/>
            </a:ln>
            <a:effectLst/>
          </p:spPr>
        </p:cxnSp>
        <p:cxnSp>
          <p:nvCxnSpPr>
            <p:cNvPr id="18" name="Gekrümmte Verbindung 17"/>
            <p:cNvCxnSpPr/>
            <p:nvPr/>
          </p:nvCxnSpPr>
          <p:spPr bwMode="auto">
            <a:xfrm flipH="1">
              <a:off x="7213600" y="2793293"/>
              <a:ext cx="1324707" cy="101644"/>
            </a:xfrm>
            <a:prstGeom prst="curvedConnector3">
              <a:avLst>
                <a:gd name="adj1" fmla="val 50000"/>
              </a:avLst>
            </a:prstGeom>
            <a:solidFill>
              <a:schemeClr val="accent1"/>
            </a:solidFill>
            <a:ln w="69850" cap="flat" cmpd="sng" algn="ctr">
              <a:solidFill>
                <a:srgbClr val="0000FF"/>
              </a:solidFill>
              <a:prstDash val="solid"/>
              <a:round/>
              <a:headEnd type="none" w="med" len="med"/>
              <a:tailEnd type="none" w="med" len="med"/>
            </a:ln>
            <a:effectLst/>
          </p:spPr>
        </p:cxnSp>
        <p:cxnSp>
          <p:nvCxnSpPr>
            <p:cNvPr id="19" name="Gekrümmte Verbindung 18"/>
            <p:cNvCxnSpPr/>
            <p:nvPr/>
          </p:nvCxnSpPr>
          <p:spPr bwMode="auto">
            <a:xfrm flipH="1" flipV="1">
              <a:off x="7213600" y="2742471"/>
              <a:ext cx="1269511" cy="50822"/>
            </a:xfrm>
            <a:prstGeom prst="curvedConnector3">
              <a:avLst>
                <a:gd name="adj1" fmla="val 50000"/>
              </a:avLst>
            </a:prstGeom>
            <a:solidFill>
              <a:schemeClr val="accent1"/>
            </a:solidFill>
            <a:ln w="69850" cap="flat" cmpd="sng" algn="ctr">
              <a:solidFill>
                <a:srgbClr val="3366FF"/>
              </a:solidFill>
              <a:prstDash val="solid"/>
              <a:round/>
              <a:headEnd type="none" w="med" len="med"/>
              <a:tailEnd type="none" w="med" len="med"/>
            </a:ln>
            <a:effectLst/>
          </p:spPr>
        </p:cxnSp>
        <p:cxnSp>
          <p:nvCxnSpPr>
            <p:cNvPr id="20" name="Gekrümmte Verbindung 19"/>
            <p:cNvCxnSpPr/>
            <p:nvPr/>
          </p:nvCxnSpPr>
          <p:spPr bwMode="auto">
            <a:xfrm flipH="1" flipV="1">
              <a:off x="7213600" y="2588946"/>
              <a:ext cx="1214315" cy="204347"/>
            </a:xfrm>
            <a:prstGeom prst="curvedConnector3">
              <a:avLst>
                <a:gd name="adj1" fmla="val 50000"/>
              </a:avLst>
            </a:prstGeom>
            <a:solidFill>
              <a:schemeClr val="accent1"/>
            </a:solidFill>
            <a:ln w="69850" cap="flat" cmpd="sng" algn="ctr">
              <a:solidFill>
                <a:srgbClr val="008000"/>
              </a:solidFill>
              <a:prstDash val="solid"/>
              <a:round/>
              <a:headEnd type="none" w="med" len="med"/>
              <a:tailEnd type="none" w="med" len="med"/>
            </a:ln>
            <a:effectLst/>
          </p:spPr>
        </p:cxnSp>
        <p:cxnSp>
          <p:nvCxnSpPr>
            <p:cNvPr id="21" name="Gekrümmte Verbindung 20"/>
            <p:cNvCxnSpPr/>
            <p:nvPr/>
          </p:nvCxnSpPr>
          <p:spPr bwMode="auto">
            <a:xfrm rot="10800000" flipH="1" flipV="1">
              <a:off x="7213600" y="2436480"/>
              <a:ext cx="1159119" cy="356814"/>
            </a:xfrm>
            <a:prstGeom prst="curvedConnector3">
              <a:avLst>
                <a:gd name="adj1" fmla="val 50000"/>
              </a:avLst>
            </a:prstGeom>
            <a:solidFill>
              <a:schemeClr val="accent1"/>
            </a:solidFill>
            <a:ln w="69850" cap="flat" cmpd="sng" algn="ctr">
              <a:solidFill>
                <a:srgbClr val="FFFF00"/>
              </a:solidFill>
              <a:prstDash val="solid"/>
              <a:round/>
              <a:headEnd type="none" w="med" len="med"/>
              <a:tailEnd type="none" w="med" len="med"/>
            </a:ln>
            <a:effectLst/>
          </p:spPr>
        </p:cxnSp>
        <p:cxnSp>
          <p:nvCxnSpPr>
            <p:cNvPr id="22" name="Gekrümmte Verbindung 21"/>
            <p:cNvCxnSpPr/>
            <p:nvPr/>
          </p:nvCxnSpPr>
          <p:spPr bwMode="auto">
            <a:xfrm rot="10800000" flipH="1" flipV="1">
              <a:off x="7213600" y="2284013"/>
              <a:ext cx="1103923" cy="509280"/>
            </a:xfrm>
            <a:prstGeom prst="curvedConnector3">
              <a:avLst>
                <a:gd name="adj1" fmla="val 50000"/>
              </a:avLst>
            </a:prstGeom>
            <a:solidFill>
              <a:schemeClr val="accent1"/>
            </a:solidFill>
            <a:ln w="69850" cap="flat" cmpd="sng" algn="ctr">
              <a:solidFill>
                <a:srgbClr val="FF6600"/>
              </a:solidFill>
              <a:prstDash val="solid"/>
              <a:round/>
              <a:headEnd type="none" w="med" len="med"/>
              <a:tailEnd type="none" w="med" len="med"/>
            </a:ln>
            <a:effectLst/>
          </p:spPr>
        </p:cxnSp>
        <p:cxnSp>
          <p:nvCxnSpPr>
            <p:cNvPr id="23" name="Gekrümmte Verbindung 22"/>
            <p:cNvCxnSpPr/>
            <p:nvPr/>
          </p:nvCxnSpPr>
          <p:spPr bwMode="auto">
            <a:xfrm rot="10800000" flipH="1" flipV="1">
              <a:off x="7213598" y="2131547"/>
              <a:ext cx="1048728" cy="661746"/>
            </a:xfrm>
            <a:prstGeom prst="curvedConnector3">
              <a:avLst>
                <a:gd name="adj1" fmla="val 50000"/>
              </a:avLst>
            </a:prstGeom>
            <a:solidFill>
              <a:schemeClr val="accent1"/>
            </a:solidFill>
            <a:ln w="69850" cap="flat" cmpd="sng" algn="ctr">
              <a:solidFill>
                <a:srgbClr val="FF0000"/>
              </a:solidFill>
              <a:prstDash val="solid"/>
              <a:round/>
              <a:headEnd type="none" w="med" len="med"/>
              <a:tailEnd type="none" w="med" len="med"/>
            </a:ln>
            <a:effectLst/>
          </p:spPr>
        </p:cxnSp>
        <p:cxnSp>
          <p:nvCxnSpPr>
            <p:cNvPr id="24" name="Gekrümmte Verbindung 23"/>
            <p:cNvCxnSpPr/>
            <p:nvPr/>
          </p:nvCxnSpPr>
          <p:spPr bwMode="auto">
            <a:xfrm rot="10800000" flipH="1" flipV="1">
              <a:off x="7213600" y="1979081"/>
              <a:ext cx="993530" cy="814212"/>
            </a:xfrm>
            <a:prstGeom prst="curvedConnector3">
              <a:avLst>
                <a:gd name="adj1" fmla="val 50000"/>
              </a:avLst>
            </a:prstGeom>
            <a:solidFill>
              <a:schemeClr val="accent1"/>
            </a:solidFill>
            <a:ln w="69850" cap="flat" cmpd="sng" algn="ctr">
              <a:solidFill>
                <a:srgbClr val="800000"/>
              </a:solidFill>
              <a:prstDash val="solid"/>
              <a:round/>
              <a:headEnd type="none" w="med" len="med"/>
              <a:tailEnd type="none" w="med" len="med"/>
            </a:ln>
            <a:effectLst/>
          </p:spPr>
        </p:cxnSp>
      </p:grpSp>
      <p:grpSp>
        <p:nvGrpSpPr>
          <p:cNvPr id="27" name="Gruppierung 26"/>
          <p:cNvGrpSpPr/>
          <p:nvPr/>
        </p:nvGrpSpPr>
        <p:grpSpPr>
          <a:xfrm>
            <a:off x="7542579" y="3048000"/>
            <a:ext cx="1219200" cy="1219200"/>
            <a:chOff x="3733800" y="1828800"/>
            <a:chExt cx="1219200" cy="1219200"/>
          </a:xfrm>
        </p:grpSpPr>
        <p:sp>
          <p:nvSpPr>
            <p:cNvPr id="28" name="Oval 27"/>
            <p:cNvSpPr/>
            <p:nvPr/>
          </p:nvSpPr>
          <p:spPr bwMode="auto">
            <a:xfrm>
              <a:off x="37338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Oval 28"/>
            <p:cNvSpPr/>
            <p:nvPr/>
          </p:nvSpPr>
          <p:spPr bwMode="auto">
            <a:xfrm>
              <a:off x="40386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0" name="Oval 29"/>
            <p:cNvSpPr/>
            <p:nvPr/>
          </p:nvSpPr>
          <p:spPr bwMode="auto">
            <a:xfrm>
              <a:off x="43434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1" name="Oval 30"/>
            <p:cNvSpPr/>
            <p:nvPr/>
          </p:nvSpPr>
          <p:spPr bwMode="auto">
            <a:xfrm>
              <a:off x="4648200" y="19812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Oval 31"/>
            <p:cNvSpPr/>
            <p:nvPr/>
          </p:nvSpPr>
          <p:spPr bwMode="auto">
            <a:xfrm>
              <a:off x="37338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Oval 32"/>
            <p:cNvSpPr/>
            <p:nvPr/>
          </p:nvSpPr>
          <p:spPr bwMode="auto">
            <a:xfrm>
              <a:off x="40386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4" name="Oval 33"/>
            <p:cNvSpPr/>
            <p:nvPr/>
          </p:nvSpPr>
          <p:spPr bwMode="auto">
            <a:xfrm>
              <a:off x="43434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5" name="Oval 34"/>
            <p:cNvSpPr/>
            <p:nvPr/>
          </p:nvSpPr>
          <p:spPr bwMode="auto">
            <a:xfrm>
              <a:off x="4648200" y="22860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Oval 35"/>
            <p:cNvSpPr/>
            <p:nvPr/>
          </p:nvSpPr>
          <p:spPr bwMode="auto">
            <a:xfrm>
              <a:off x="37338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Oval 36"/>
            <p:cNvSpPr/>
            <p:nvPr/>
          </p:nvSpPr>
          <p:spPr bwMode="auto">
            <a:xfrm>
              <a:off x="40386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Oval 37"/>
            <p:cNvSpPr/>
            <p:nvPr/>
          </p:nvSpPr>
          <p:spPr bwMode="auto">
            <a:xfrm>
              <a:off x="43434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9" name="Oval 38"/>
            <p:cNvSpPr/>
            <p:nvPr/>
          </p:nvSpPr>
          <p:spPr bwMode="auto">
            <a:xfrm>
              <a:off x="4648200" y="25908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Oval 39"/>
            <p:cNvSpPr/>
            <p:nvPr/>
          </p:nvSpPr>
          <p:spPr bwMode="auto">
            <a:xfrm>
              <a:off x="37338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Oval 40"/>
            <p:cNvSpPr/>
            <p:nvPr/>
          </p:nvSpPr>
          <p:spPr bwMode="auto">
            <a:xfrm>
              <a:off x="40386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Oval 41"/>
            <p:cNvSpPr/>
            <p:nvPr/>
          </p:nvSpPr>
          <p:spPr bwMode="auto">
            <a:xfrm>
              <a:off x="43434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Oval 42"/>
            <p:cNvSpPr/>
            <p:nvPr/>
          </p:nvSpPr>
          <p:spPr bwMode="auto">
            <a:xfrm>
              <a:off x="4648200" y="2895600"/>
              <a:ext cx="152400" cy="152400"/>
            </a:xfrm>
            <a:prstGeom prst="ellipse">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cxnSp>
          <p:nvCxnSpPr>
            <p:cNvPr id="44" name="Gerade Verbindung mit Pfeil 43"/>
            <p:cNvCxnSpPr/>
            <p:nvPr/>
          </p:nvCxnSpPr>
          <p:spPr bwMode="auto">
            <a:xfrm rot="5400000" flipH="1" flipV="1">
              <a:off x="3658394" y="2437606"/>
              <a:ext cx="1218406" cy="794"/>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45" name="Gerade Verbindung mit Pfeil 44"/>
            <p:cNvCxnSpPr/>
            <p:nvPr/>
          </p:nvCxnSpPr>
          <p:spPr bwMode="auto">
            <a:xfrm rot="10800000" flipH="1" flipV="1">
              <a:off x="3734594" y="2514600"/>
              <a:ext cx="1218406" cy="794"/>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1511157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B0FDB8-1F9D-692F-95E1-3782565DD1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2833B-0B2E-63D3-1AC4-67AB64E380D6}"/>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pic>
        <p:nvPicPr>
          <p:cNvPr id="14338" name="Picture 2">
            <a:extLst>
              <a:ext uri="{FF2B5EF4-FFF2-40B4-BE49-F238E27FC236}">
                <a16:creationId xmlns:a16="http://schemas.microsoft.com/office/drawing/2014/main" id="{259D5E90-494B-3057-CFDE-5271A4C2CE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480930" y="1670110"/>
            <a:ext cx="5999921" cy="4576211"/>
          </a:xfrm>
          <a:prstGeom prst="rect">
            <a:avLst/>
          </a:prstGeom>
          <a:noFill/>
        </p:spPr>
      </p:pic>
      <p:sp>
        <p:nvSpPr>
          <p:cNvPr id="3" name="Arrow: Right 2">
            <a:extLst>
              <a:ext uri="{FF2B5EF4-FFF2-40B4-BE49-F238E27FC236}">
                <a16:creationId xmlns:a16="http://schemas.microsoft.com/office/drawing/2014/main" id="{28ECF1E2-5DE4-0E71-4338-F0F95A042797}"/>
              </a:ext>
            </a:extLst>
          </p:cNvPr>
          <p:cNvSpPr/>
          <p:nvPr/>
        </p:nvSpPr>
        <p:spPr>
          <a:xfrm>
            <a:off x="988944" y="5824330"/>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4" name="Arrow: Right 3">
            <a:extLst>
              <a:ext uri="{FF2B5EF4-FFF2-40B4-BE49-F238E27FC236}">
                <a16:creationId xmlns:a16="http://schemas.microsoft.com/office/drawing/2014/main" id="{CB38643A-ABEE-188A-9990-DBCACCEF11CB}"/>
              </a:ext>
            </a:extLst>
          </p:cNvPr>
          <p:cNvSpPr/>
          <p:nvPr/>
        </p:nvSpPr>
        <p:spPr>
          <a:xfrm>
            <a:off x="988944" y="4615414"/>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48CEEEF3-AA41-2334-1714-587A0657D45B}"/>
              </a:ext>
            </a:extLst>
          </p:cNvPr>
          <p:cNvSpPr/>
          <p:nvPr/>
        </p:nvSpPr>
        <p:spPr>
          <a:xfrm>
            <a:off x="988944" y="4024553"/>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468B9CAA-D1B1-381E-C4B8-E06D29E4A707}"/>
              </a:ext>
            </a:extLst>
          </p:cNvPr>
          <p:cNvSpPr/>
          <p:nvPr/>
        </p:nvSpPr>
        <p:spPr>
          <a:xfrm>
            <a:off x="988944" y="2514600"/>
            <a:ext cx="407504" cy="27829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209417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97C5E-4E6D-5D8E-0504-C0D6EF1655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CA4CAE-4D0E-7C11-E407-77FE2396BD32}"/>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solidFill>
                  <a:srgbClr val="FF0000"/>
                </a:solidFill>
              </a:rPr>
              <a:t>Differences between IEEE 802.11p and</a:t>
            </a:r>
            <a:br>
              <a:rPr lang="en-US" sz="3600" dirty="0">
                <a:solidFill>
                  <a:srgbClr val="FF0000"/>
                </a:solidFill>
              </a:rPr>
            </a:br>
            <a:r>
              <a:rPr lang="en-US" sz="3600" dirty="0">
                <a:solidFill>
                  <a:srgbClr val="FF0000"/>
                </a:solidFill>
              </a:rPr>
              <a:t>IEEE 802.11a</a:t>
            </a:r>
          </a:p>
        </p:txBody>
      </p:sp>
      <p:sp>
        <p:nvSpPr>
          <p:cNvPr id="13315" name="Content Placeholder 2">
            <a:extLst>
              <a:ext uri="{FF2B5EF4-FFF2-40B4-BE49-F238E27FC236}">
                <a16:creationId xmlns:a16="http://schemas.microsoft.com/office/drawing/2014/main" id="{0DC92BE6-5CB5-6BA3-BB05-138C0D841523}"/>
              </a:ext>
            </a:extLst>
          </p:cNvPr>
          <p:cNvSpPr>
            <a:spLocks noGrp="1"/>
          </p:cNvSpPr>
          <p:nvPr>
            <p:ph idx="1"/>
          </p:nvPr>
        </p:nvSpPr>
        <p:spPr>
          <a:xfrm>
            <a:off x="152400" y="1749287"/>
            <a:ext cx="8991600" cy="3992217"/>
          </a:xfrm>
        </p:spPr>
        <p:txBody>
          <a:bodyPr>
            <a:normAutofit/>
          </a:bodyPr>
          <a:lstStyle/>
          <a:p>
            <a:r>
              <a:rPr lang="en-US" sz="2000" b="1" dirty="0">
                <a:solidFill>
                  <a:srgbClr val="0070C0"/>
                </a:solidFill>
              </a:rPr>
              <a:t>Narrower bandwidth </a:t>
            </a:r>
            <a:r>
              <a:rPr lang="en-US" sz="2000" b="1" dirty="0">
                <a:solidFill>
                  <a:schemeClr val="accent2"/>
                </a:solidFill>
              </a:rPr>
              <a:t>(10 MHz)</a:t>
            </a:r>
          </a:p>
          <a:p>
            <a:pPr lvl="1"/>
            <a:r>
              <a:rPr lang="en-US" sz="1800" b="1" dirty="0">
                <a:solidFill>
                  <a:srgbClr val="7030A0"/>
                </a:solidFill>
              </a:rPr>
              <a:t>Halves </a:t>
            </a:r>
            <a:r>
              <a:rPr lang="en-US" sz="1800" dirty="0"/>
              <a:t>the occupied frequency space compared to </a:t>
            </a:r>
            <a:r>
              <a:rPr lang="en-US" sz="1800" dirty="0">
                <a:solidFill>
                  <a:srgbClr val="7030A0"/>
                </a:solidFill>
              </a:rPr>
              <a:t>20 MHz in 802.11a</a:t>
            </a:r>
          </a:p>
          <a:p>
            <a:pPr lvl="1"/>
            <a:r>
              <a:rPr lang="en-US" sz="2000" b="1" dirty="0">
                <a:solidFill>
                  <a:srgbClr val="FF0000"/>
                </a:solidFill>
              </a:rPr>
              <a:t>You speak fewer words per second but more clearly, </a:t>
            </a:r>
          </a:p>
          <a:p>
            <a:pPr lvl="1"/>
            <a:r>
              <a:rPr lang="en-US" sz="1800" dirty="0"/>
              <a:t>so </a:t>
            </a:r>
            <a:r>
              <a:rPr lang="en-US" sz="1800" dirty="0">
                <a:solidFill>
                  <a:srgbClr val="00B050"/>
                </a:solidFill>
              </a:rPr>
              <a:t>the </a:t>
            </a:r>
            <a:r>
              <a:rPr lang="en-US" sz="2000" b="1" dirty="0">
                <a:solidFill>
                  <a:srgbClr val="00B050"/>
                </a:solidFill>
              </a:rPr>
              <a:t>listener can catch them despite wind and echoes. </a:t>
            </a:r>
          </a:p>
          <a:p>
            <a:r>
              <a:rPr lang="en-US" sz="2000" b="1" dirty="0">
                <a:solidFill>
                  <a:srgbClr val="0070C0"/>
                </a:solidFill>
              </a:rPr>
              <a:t>Carrier spacing halved</a:t>
            </a:r>
          </a:p>
          <a:p>
            <a:pPr lvl="1"/>
            <a:r>
              <a:rPr lang="en-US" altLang="en-US" sz="1800" dirty="0"/>
              <a:t>The 802.11p signal uses a carrier spacing reduced by ½ compared to 802.11a.</a:t>
            </a:r>
          </a:p>
          <a:p>
            <a:r>
              <a:rPr lang="en-US" sz="2000" b="1" dirty="0">
                <a:solidFill>
                  <a:srgbClr val="0070C0"/>
                </a:solidFill>
              </a:rPr>
              <a:t>Symbol length doubled</a:t>
            </a:r>
            <a:endParaRPr lang="en-US" sz="2000" dirty="0">
              <a:solidFill>
                <a:srgbClr val="0070C0"/>
              </a:solidFill>
            </a:endParaRPr>
          </a:p>
          <a:p>
            <a:pPr lvl="1"/>
            <a:r>
              <a:rPr lang="en-US" sz="1800" dirty="0"/>
              <a:t>Symbol time = 1 ÷ carrier spacing.</a:t>
            </a:r>
          </a:p>
          <a:p>
            <a:pPr lvl="1"/>
            <a:r>
              <a:rPr lang="en-US" sz="1800" dirty="0"/>
              <a:t>Halving the spacing doubles the symbol duration (from 4 µs to 8 µs, plus guard interval), improving tolerance to multipath delay spread.</a:t>
            </a:r>
          </a:p>
          <a:p>
            <a:pPr>
              <a:lnSpc>
                <a:spcPct val="80000"/>
              </a:lnSpc>
              <a:buNone/>
            </a:pPr>
            <a:endParaRPr lang="en-US" altLang="en-US" sz="2000" dirty="0"/>
          </a:p>
        </p:txBody>
      </p:sp>
      <p:sp>
        <p:nvSpPr>
          <p:cNvPr id="5" name="TextBox 4">
            <a:extLst>
              <a:ext uri="{FF2B5EF4-FFF2-40B4-BE49-F238E27FC236}">
                <a16:creationId xmlns:a16="http://schemas.microsoft.com/office/drawing/2014/main" id="{E6DFB37D-249C-2615-1495-E505920CB6FC}"/>
              </a:ext>
            </a:extLst>
          </p:cNvPr>
          <p:cNvSpPr txBox="1"/>
          <p:nvPr/>
        </p:nvSpPr>
        <p:spPr>
          <a:xfrm>
            <a:off x="152400" y="5372172"/>
            <a:ext cx="8603974" cy="369332"/>
          </a:xfrm>
          <a:prstGeom prst="rect">
            <a:avLst/>
          </a:prstGeom>
          <a:noFill/>
        </p:spPr>
        <p:txBody>
          <a:bodyPr wrap="square">
            <a:spAutoFit/>
          </a:bodyPr>
          <a:lstStyle/>
          <a:p>
            <a:r>
              <a:rPr lang="en-US" dirty="0">
                <a:solidFill>
                  <a:srgbClr val="7030A0"/>
                </a:solidFill>
              </a:rPr>
              <a:t>"Narrower bandwidth (10 MHz) →Carrier spacing halved →Symbol length doubled</a:t>
            </a:r>
          </a:p>
        </p:txBody>
      </p:sp>
      <p:sp>
        <p:nvSpPr>
          <p:cNvPr id="7" name="TextBox 6">
            <a:extLst>
              <a:ext uri="{FF2B5EF4-FFF2-40B4-BE49-F238E27FC236}">
                <a16:creationId xmlns:a16="http://schemas.microsoft.com/office/drawing/2014/main" id="{70955984-236C-7964-A6EF-323A1944E1F6}"/>
              </a:ext>
            </a:extLst>
          </p:cNvPr>
          <p:cNvSpPr txBox="1"/>
          <p:nvPr/>
        </p:nvSpPr>
        <p:spPr>
          <a:xfrm>
            <a:off x="278709" y="5972540"/>
            <a:ext cx="8738981" cy="535531"/>
          </a:xfrm>
          <a:prstGeom prst="rect">
            <a:avLst/>
          </a:prstGeom>
          <a:noFill/>
        </p:spPr>
        <p:txBody>
          <a:bodyPr wrap="square">
            <a:spAutoFit/>
          </a:bodyPr>
          <a:lstStyle/>
          <a:p>
            <a:pPr>
              <a:lnSpc>
                <a:spcPct val="80000"/>
              </a:lnSpc>
              <a:buNone/>
            </a:pPr>
            <a:r>
              <a:rPr lang="en-US" sz="1800" i="1" dirty="0">
                <a:solidFill>
                  <a:schemeClr val="accent2"/>
                </a:solidFill>
              </a:rPr>
              <a:t>Halves data rate--&gt;doubles symbol time = improving tolerance to multipath delay spread.</a:t>
            </a:r>
            <a:endParaRPr lang="en-US" altLang="en-US" sz="1800" dirty="0">
              <a:solidFill>
                <a:schemeClr val="accent2"/>
              </a:solidFill>
            </a:endParaRPr>
          </a:p>
        </p:txBody>
      </p:sp>
    </p:spTree>
    <p:extLst>
      <p:ext uri="{BB962C8B-B14F-4D97-AF65-F5344CB8AC3E}">
        <p14:creationId xmlns:p14="http://schemas.microsoft.com/office/powerpoint/2010/main" val="18726878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31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31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80F82-1B68-8B0E-5A15-281F70761B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EE2F6-6BDE-5274-9A07-B9FE98CD80B0}"/>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sp>
        <p:nvSpPr>
          <p:cNvPr id="13315" name="Content Placeholder 2">
            <a:extLst>
              <a:ext uri="{FF2B5EF4-FFF2-40B4-BE49-F238E27FC236}">
                <a16:creationId xmlns:a16="http://schemas.microsoft.com/office/drawing/2014/main" id="{9B5C4722-0BA7-12AB-BC47-DC039D585C24}"/>
              </a:ext>
            </a:extLst>
          </p:cNvPr>
          <p:cNvSpPr>
            <a:spLocks noGrp="1"/>
          </p:cNvSpPr>
          <p:nvPr>
            <p:ph idx="1"/>
          </p:nvPr>
        </p:nvSpPr>
        <p:spPr>
          <a:xfrm>
            <a:off x="152400" y="1749287"/>
            <a:ext cx="8991600" cy="3992217"/>
          </a:xfrm>
        </p:spPr>
        <p:txBody>
          <a:bodyPr>
            <a:normAutofit/>
          </a:bodyPr>
          <a:lstStyle/>
          <a:p>
            <a:r>
              <a:rPr lang="en-US" sz="2000" b="1" dirty="0"/>
              <a:t>Carrier spacing halved</a:t>
            </a:r>
            <a:endParaRPr lang="en-US" sz="2000" dirty="0"/>
          </a:p>
          <a:p>
            <a:pPr eaLnBrk="1" hangingPunct="1">
              <a:lnSpc>
                <a:spcPct val="80000"/>
              </a:lnSpc>
              <a:buFont typeface="Arial" panose="020B0604020202020204" pitchFamily="34" charset="0"/>
              <a:buNone/>
            </a:pPr>
            <a:r>
              <a:rPr lang="en-US" altLang="en-US" sz="2000" dirty="0"/>
              <a:t>      The 802.11p signal uses a carrier spacing reduced by ½ compared to 802.11a.</a:t>
            </a:r>
          </a:p>
          <a:p>
            <a:r>
              <a:rPr lang="en-US" sz="2000" dirty="0"/>
              <a:t> </a:t>
            </a:r>
            <a:r>
              <a:rPr lang="en-US" sz="2000" dirty="0">
                <a:solidFill>
                  <a:srgbClr val="FF0000"/>
                </a:solidFill>
                <a:latin typeface="Baguet Script" panose="020F0502020204030204" pitchFamily="2" charset="0"/>
                <a:cs typeface="Arabic Typesetting" panose="020F0502020204030204" pitchFamily="66" charset="-78"/>
              </a:rPr>
              <a:t>carrier spacing = bandwidth ÷ number of subcarriers.</a:t>
            </a:r>
          </a:p>
          <a:p>
            <a:r>
              <a:rPr lang="en-US" sz="2000" dirty="0"/>
              <a:t>Keeping </a:t>
            </a:r>
            <a:r>
              <a:rPr lang="en-US" sz="2000" dirty="0">
                <a:solidFill>
                  <a:srgbClr val="0070C0"/>
                </a:solidFill>
              </a:rPr>
              <a:t>52 subcarriers but halving bandwidth from 20 MHz to 10 MHz halves the spacing (from 312.5 kHz to 156.25 kHz).</a:t>
            </a:r>
          </a:p>
          <a:p>
            <a:pPr eaLnBrk="1" hangingPunct="1">
              <a:lnSpc>
                <a:spcPct val="80000"/>
              </a:lnSpc>
              <a:buFont typeface="Arial" panose="020B0604020202020204" pitchFamily="34" charset="0"/>
              <a:buNone/>
            </a:pPr>
            <a:endParaRPr lang="en-US" altLang="en-US" sz="2000" dirty="0"/>
          </a:p>
        </p:txBody>
      </p:sp>
      <p:pic>
        <p:nvPicPr>
          <p:cNvPr id="4" name="Picture 3" descr="A graph of a graph&#10;&#10;AI-generated content may be incorrect.">
            <a:extLst>
              <a:ext uri="{FF2B5EF4-FFF2-40B4-BE49-F238E27FC236}">
                <a16:creationId xmlns:a16="http://schemas.microsoft.com/office/drawing/2014/main" id="{23782332-6499-2262-3863-9845F731E52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39716" y="3536775"/>
            <a:ext cx="6064568" cy="3003172"/>
          </a:xfrm>
          <a:prstGeom prst="rect">
            <a:avLst/>
          </a:prstGeom>
        </p:spPr>
      </p:pic>
    </p:spTree>
    <p:extLst>
      <p:ext uri="{BB962C8B-B14F-4D97-AF65-F5344CB8AC3E}">
        <p14:creationId xmlns:p14="http://schemas.microsoft.com/office/powerpoint/2010/main" val="1594697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166B8-5AA4-51AE-C0BE-BFF3926C62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6C25B-E4AF-BF8A-AC8D-D72142DD5BE8}"/>
              </a:ext>
            </a:extLst>
          </p:cNvPr>
          <p:cNvSpPr>
            <a:spLocks noGrp="1"/>
          </p:cNvSpPr>
          <p:nvPr>
            <p:ph type="title"/>
          </p:nvPr>
        </p:nvSpPr>
        <p:spPr>
          <a:xfrm>
            <a:off x="152400" y="506896"/>
            <a:ext cx="8603974" cy="1417638"/>
          </a:xfrm>
        </p:spPr>
        <p:txBody>
          <a:bodyPr rtlCol="0">
            <a:normAutofit/>
          </a:bodyPr>
          <a:lstStyle/>
          <a:p>
            <a:pPr eaLnBrk="1" fontAlgn="auto" hangingPunct="1">
              <a:spcAft>
                <a:spcPts val="0"/>
              </a:spcAft>
              <a:defRPr/>
            </a:pPr>
            <a:r>
              <a:rPr lang="en-US" sz="3600" dirty="0"/>
              <a:t>Differences between IEEE 802.11p and</a:t>
            </a:r>
            <a:br>
              <a:rPr lang="en-US" sz="3600" dirty="0"/>
            </a:br>
            <a:r>
              <a:rPr lang="en-US" sz="3600" dirty="0"/>
              <a:t>IEEE 802.11a</a:t>
            </a:r>
          </a:p>
        </p:txBody>
      </p:sp>
      <p:sp>
        <p:nvSpPr>
          <p:cNvPr id="13315" name="Content Placeholder 2">
            <a:extLst>
              <a:ext uri="{FF2B5EF4-FFF2-40B4-BE49-F238E27FC236}">
                <a16:creationId xmlns:a16="http://schemas.microsoft.com/office/drawing/2014/main" id="{60F3A71E-22C8-CA69-487D-556C5E78847E}"/>
              </a:ext>
            </a:extLst>
          </p:cNvPr>
          <p:cNvSpPr>
            <a:spLocks noGrp="1"/>
          </p:cNvSpPr>
          <p:nvPr>
            <p:ph idx="1"/>
          </p:nvPr>
        </p:nvSpPr>
        <p:spPr>
          <a:xfrm>
            <a:off x="76200" y="2534480"/>
            <a:ext cx="8968409" cy="3816624"/>
          </a:xfrm>
        </p:spPr>
        <p:txBody>
          <a:bodyPr>
            <a:noAutofit/>
          </a:bodyPr>
          <a:lstStyle/>
          <a:p>
            <a:r>
              <a:rPr lang="en-US" sz="1800" dirty="0"/>
              <a:t>Think of it like </a:t>
            </a:r>
            <a:r>
              <a:rPr lang="en-US" sz="1800" b="1" dirty="0"/>
              <a:t>cars on a highway</a:t>
            </a:r>
            <a:r>
              <a:rPr lang="en-US" sz="1800" dirty="0"/>
              <a:t>:</a:t>
            </a:r>
          </a:p>
          <a:p>
            <a:r>
              <a:rPr lang="en-US" sz="1800" dirty="0"/>
              <a:t>In </a:t>
            </a:r>
            <a:r>
              <a:rPr lang="en-US" sz="1800" b="1" dirty="0">
                <a:solidFill>
                  <a:srgbClr val="7030A0"/>
                </a:solidFill>
              </a:rPr>
              <a:t>802.11a (blue)</a:t>
            </a:r>
            <a:r>
              <a:rPr lang="en-US" sz="1800" dirty="0">
                <a:solidFill>
                  <a:srgbClr val="7030A0"/>
                </a:solidFill>
              </a:rPr>
              <a:t>, </a:t>
            </a:r>
            <a:r>
              <a:rPr lang="en-US" sz="1800" dirty="0"/>
              <a:t>the lanes (carrier spacing) are wide apart, and cars are going very fast (short symbol time). </a:t>
            </a:r>
          </a:p>
          <a:p>
            <a:r>
              <a:rPr lang="en-US" sz="1800" dirty="0"/>
              <a:t>That’s fine on a smooth, straight road, but if there are bumps (signal reflections) or gusts of wind (Doppler shifts), you can easily lose control because everything happens so quickly.</a:t>
            </a:r>
          </a:p>
          <a:p>
            <a:endParaRPr lang="en-US" sz="1800" dirty="0"/>
          </a:p>
          <a:p>
            <a:r>
              <a:rPr lang="en-US" sz="1800" dirty="0"/>
              <a:t>In </a:t>
            </a:r>
            <a:r>
              <a:rPr lang="en-US" sz="1800" b="1" dirty="0">
                <a:solidFill>
                  <a:srgbClr val="FF3300"/>
                </a:solidFill>
              </a:rPr>
              <a:t>802.11p (red)</a:t>
            </a:r>
            <a:r>
              <a:rPr lang="en-US" sz="1800" dirty="0">
                <a:solidFill>
                  <a:srgbClr val="FF3300"/>
                </a:solidFill>
              </a:rPr>
              <a:t>, </a:t>
            </a:r>
            <a:r>
              <a:rPr lang="en-US" sz="1800" dirty="0"/>
              <a:t>the lanes are closer together (smaller carrier spacing) and all cars drive slower (longer symbol time). </a:t>
            </a:r>
          </a:p>
          <a:p>
            <a:r>
              <a:rPr lang="en-US" sz="1800" dirty="0"/>
              <a:t>Because they’re moving slower, they have more reaction time if a bump or gust happens — </a:t>
            </a:r>
          </a:p>
          <a:p>
            <a:r>
              <a:rPr lang="en-US" sz="1800" dirty="0"/>
              <a:t>meaning </a:t>
            </a:r>
            <a:r>
              <a:rPr lang="en-US" sz="1800" b="1" dirty="0"/>
              <a:t>the system can handle reflections and frequency shifts without “crashing” the communication</a:t>
            </a:r>
            <a:r>
              <a:rPr lang="en-US" sz="1800" dirty="0"/>
              <a:t>.</a:t>
            </a:r>
          </a:p>
          <a:p>
            <a:pPr eaLnBrk="1" hangingPunct="1">
              <a:lnSpc>
                <a:spcPct val="80000"/>
              </a:lnSpc>
              <a:buFont typeface="Arial" panose="020B0604020202020204" pitchFamily="34" charset="0"/>
              <a:buNone/>
            </a:pPr>
            <a:endParaRPr lang="en-US" altLang="en-US" sz="1100" dirty="0"/>
          </a:p>
        </p:txBody>
      </p:sp>
      <p:sp>
        <p:nvSpPr>
          <p:cNvPr id="3" name="TextBox 2">
            <a:extLst>
              <a:ext uri="{FF2B5EF4-FFF2-40B4-BE49-F238E27FC236}">
                <a16:creationId xmlns:a16="http://schemas.microsoft.com/office/drawing/2014/main" id="{E4574606-41AF-96C7-B4DF-F8124CE9EE1C}"/>
              </a:ext>
            </a:extLst>
          </p:cNvPr>
          <p:cNvSpPr txBox="1"/>
          <p:nvPr/>
        </p:nvSpPr>
        <p:spPr>
          <a:xfrm>
            <a:off x="152400" y="1924534"/>
            <a:ext cx="8738981" cy="535531"/>
          </a:xfrm>
          <a:prstGeom prst="rect">
            <a:avLst/>
          </a:prstGeom>
          <a:noFill/>
        </p:spPr>
        <p:txBody>
          <a:bodyPr wrap="square">
            <a:spAutoFit/>
          </a:bodyPr>
          <a:lstStyle/>
          <a:p>
            <a:pPr>
              <a:lnSpc>
                <a:spcPct val="80000"/>
              </a:lnSpc>
              <a:buNone/>
            </a:pPr>
            <a:r>
              <a:rPr lang="en-US" sz="1800" i="1" dirty="0">
                <a:solidFill>
                  <a:schemeClr val="accent2"/>
                </a:solidFill>
              </a:rPr>
              <a:t>Halves data rate--&gt;doubles symbol time = improving tolerance to multipath delay spread.</a:t>
            </a:r>
            <a:endParaRPr lang="en-US" altLang="en-US" sz="1800" dirty="0">
              <a:solidFill>
                <a:schemeClr val="accent2"/>
              </a:solidFill>
            </a:endParaRPr>
          </a:p>
        </p:txBody>
      </p:sp>
    </p:spTree>
    <p:extLst>
      <p:ext uri="{BB962C8B-B14F-4D97-AF65-F5344CB8AC3E}">
        <p14:creationId xmlns:p14="http://schemas.microsoft.com/office/powerpoint/2010/main" val="2227513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31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31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31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Classic IEEE 802.11</a:t>
            </a:r>
          </a:p>
        </p:txBody>
      </p:sp>
      <p:sp>
        <p:nvSpPr>
          <p:cNvPr id="3" name="Inhaltsplatzhalter 2"/>
          <p:cNvSpPr>
            <a:spLocks noGrp="1"/>
          </p:cNvSpPr>
          <p:nvPr>
            <p:ph idx="1"/>
          </p:nvPr>
        </p:nvSpPr>
        <p:spPr/>
        <p:txBody>
          <a:bodyPr>
            <a:normAutofit fontScale="92500" lnSpcReduction="10000"/>
          </a:bodyPr>
          <a:lstStyle/>
          <a:p>
            <a:r>
              <a:rPr lang="en-US" dirty="0"/>
              <a:t>Classic IEEE 802.11 Basic Service Set (BSS)</a:t>
            </a:r>
          </a:p>
          <a:p>
            <a:pPr lvl="1"/>
            <a:r>
              <a:rPr lang="en-US" dirty="0"/>
              <a:t>Divides networks into logical units</a:t>
            </a:r>
          </a:p>
          <a:p>
            <a:pPr lvl="2"/>
            <a:r>
              <a:rPr lang="en-US" dirty="0"/>
              <a:t>Nodes belong to (exactly one) BSS</a:t>
            </a:r>
          </a:p>
          <a:p>
            <a:pPr lvl="2"/>
            <a:r>
              <a:rPr lang="en-US" dirty="0"/>
              <a:t>Packets contain BSSID</a:t>
            </a:r>
          </a:p>
          <a:p>
            <a:pPr lvl="2"/>
            <a:r>
              <a:rPr lang="en-US" dirty="0"/>
              <a:t>Nodes ignore packets from “foreign” BSSs</a:t>
            </a:r>
          </a:p>
          <a:p>
            <a:pPr lvl="2"/>
            <a:r>
              <a:rPr lang="en-US" dirty="0"/>
              <a:t>Exception: Wildcard-BSSID (-1) for probes</a:t>
            </a:r>
          </a:p>
          <a:p>
            <a:pPr lvl="2"/>
            <a:r>
              <a:rPr lang="en-US" dirty="0"/>
              <a:t>Ad hoc networks emulate infrastructure mode</a:t>
            </a:r>
          </a:p>
          <a:p>
            <a:pPr lvl="1"/>
            <a:endParaRPr lang="en-US" dirty="0"/>
          </a:p>
          <a:p>
            <a:pPr lvl="1"/>
            <a:r>
              <a:rPr lang="en-US" dirty="0"/>
              <a:t>Joining a BSS</a:t>
            </a:r>
          </a:p>
          <a:p>
            <a:pPr lvl="2"/>
            <a:r>
              <a:rPr lang="en-US" dirty="0"/>
              <a:t>Access Point sends beacon</a:t>
            </a:r>
          </a:p>
          <a:p>
            <a:pPr lvl="2"/>
            <a:r>
              <a:rPr lang="en-US" dirty="0"/>
              <a:t>Authentication dialogue</a:t>
            </a:r>
          </a:p>
          <a:p>
            <a:pPr lvl="2"/>
            <a:r>
              <a:rPr lang="en-US" dirty="0"/>
              <a:t>Association dialogue</a:t>
            </a:r>
          </a:p>
          <a:p>
            <a:pPr lvl="2"/>
            <a:r>
              <a:rPr lang="en-US" dirty="0"/>
              <a:t>Node has joined BSS</a:t>
            </a:r>
          </a:p>
          <a:p>
            <a:pPr lvl="2"/>
            <a:endParaRPr lang="en-US" dirty="0"/>
          </a:p>
          <a:p>
            <a:pPr lvl="2"/>
            <a:endParaRPr lang="en-US" dirty="0"/>
          </a:p>
          <a:p>
            <a:pPr lvl="2"/>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pic>
        <p:nvPicPr>
          <p:cNvPr id="10" name="Bild 9"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54743" y="3738168"/>
            <a:ext cx="608057" cy="522929"/>
          </a:xfrm>
          <a:prstGeom prst="rect">
            <a:avLst/>
          </a:prstGeom>
        </p:spPr>
      </p:pic>
      <p:cxnSp>
        <p:nvCxnSpPr>
          <p:cNvPr id="18" name="Gerade Verbindung mit Pfeil 17"/>
          <p:cNvCxnSpPr>
            <a:stCxn id="20" idx="1"/>
            <a:endCxn id="10" idx="3"/>
          </p:cNvCxnSpPr>
          <p:nvPr/>
        </p:nvCxnSpPr>
        <p:spPr bwMode="auto">
          <a:xfrm rot="10800000">
            <a:off x="7162800" y="3999634"/>
            <a:ext cx="558800" cy="389677"/>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19" name="Gerade Verbindung mit Pfeil 18"/>
          <p:cNvCxnSpPr>
            <a:stCxn id="21" idx="0"/>
            <a:endCxn id="10" idx="1"/>
          </p:cNvCxnSpPr>
          <p:nvPr/>
        </p:nvCxnSpPr>
        <p:spPr bwMode="auto">
          <a:xfrm rot="5400000" flipH="1" flipV="1">
            <a:off x="5972451" y="4035336"/>
            <a:ext cx="617994" cy="546589"/>
          </a:xfrm>
          <a:prstGeom prst="straightConnector1">
            <a:avLst/>
          </a:prstGeom>
          <a:solidFill>
            <a:schemeClr val="accent1"/>
          </a:solidFill>
          <a:ln w="19050" cap="flat" cmpd="sng" algn="ctr">
            <a:solidFill>
              <a:schemeClr val="tx1">
                <a:lumMod val="60000"/>
                <a:lumOff val="40000"/>
              </a:schemeClr>
            </a:solidFill>
            <a:prstDash val="solid"/>
            <a:round/>
            <a:headEnd type="arrow"/>
            <a:tailEnd type="arrow"/>
          </a:ln>
          <a:effectLst/>
        </p:spPr>
      </p:cxnSp>
      <p:pic>
        <p:nvPicPr>
          <p:cNvPr id="20" name="Bild 19"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21600" y="4133324"/>
            <a:ext cx="668976" cy="511972"/>
          </a:xfrm>
          <a:prstGeom prst="rect">
            <a:avLst/>
          </a:prstGeom>
        </p:spPr>
      </p:pic>
      <p:pic>
        <p:nvPicPr>
          <p:cNvPr id="21" name="Bild 20"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73666" y="4617627"/>
            <a:ext cx="668976" cy="511972"/>
          </a:xfrm>
          <a:prstGeom prst="rect">
            <a:avLst/>
          </a:prstGeom>
        </p:spPr>
      </p:pic>
      <p:pic>
        <p:nvPicPr>
          <p:cNvPr id="29" name="Bild 28"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81800" y="4910700"/>
            <a:ext cx="608057" cy="522929"/>
          </a:xfrm>
          <a:prstGeom prst="rect">
            <a:avLst/>
          </a:prstGeom>
        </p:spPr>
      </p:pic>
      <p:cxnSp>
        <p:nvCxnSpPr>
          <p:cNvPr id="30" name="Gerade Verbindung mit Pfeil 29"/>
          <p:cNvCxnSpPr>
            <a:stCxn id="21" idx="3"/>
            <a:endCxn id="29" idx="1"/>
          </p:cNvCxnSpPr>
          <p:nvPr/>
        </p:nvCxnSpPr>
        <p:spPr bwMode="auto">
          <a:xfrm>
            <a:off x="6342642" y="4873613"/>
            <a:ext cx="439158" cy="298552"/>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33" name="Gerade Verbindung mit Pfeil 32"/>
          <p:cNvCxnSpPr>
            <a:stCxn id="29" idx="3"/>
            <a:endCxn id="20" idx="2"/>
          </p:cNvCxnSpPr>
          <p:nvPr/>
        </p:nvCxnSpPr>
        <p:spPr bwMode="auto">
          <a:xfrm flipV="1">
            <a:off x="7389857" y="4645296"/>
            <a:ext cx="666231" cy="526869"/>
          </a:xfrm>
          <a:prstGeom prst="straightConnector1">
            <a:avLst/>
          </a:prstGeom>
          <a:solidFill>
            <a:schemeClr val="accent1"/>
          </a:solidFill>
          <a:ln w="19050" cap="flat" cmpd="sng" algn="ctr">
            <a:solidFill>
              <a:srgbClr val="FF0000"/>
            </a:solidFill>
            <a:prstDash val="solid"/>
            <a:round/>
            <a:headEnd type="arrow"/>
            <a:tailEnd type="arrow"/>
          </a:ln>
          <a:effectLst/>
        </p:spPr>
      </p:cxnSp>
      <p:sp>
        <p:nvSpPr>
          <p:cNvPr id="36" name="Oval 35"/>
          <p:cNvSpPr/>
          <p:nvPr/>
        </p:nvSpPr>
        <p:spPr bwMode="auto">
          <a:xfrm rot="2503845">
            <a:off x="5624345" y="3295931"/>
            <a:ext cx="1332606" cy="2342869"/>
          </a:xfrm>
          <a:prstGeom prst="ellipse">
            <a:avLst/>
          </a:prstGeom>
          <a:noFill/>
          <a:ln w="19050" cap="flat" cmpd="sng" algn="ctr">
            <a:solidFill>
              <a:schemeClr val="tx1"/>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Oval 36"/>
          <p:cNvSpPr/>
          <p:nvPr/>
        </p:nvSpPr>
        <p:spPr bwMode="auto">
          <a:xfrm rot="2503845">
            <a:off x="7048304" y="3676931"/>
            <a:ext cx="1332606" cy="2342869"/>
          </a:xfrm>
          <a:prstGeom prst="ellipse">
            <a:avLst/>
          </a:prstGeom>
          <a:noFill/>
          <a:ln w="19050" cap="flat" cmpd="sng" algn="ctr">
            <a:solidFill>
              <a:srgbClr val="FF0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Textfeld 37"/>
          <p:cNvSpPr txBox="1"/>
          <p:nvPr/>
        </p:nvSpPr>
        <p:spPr>
          <a:xfrm>
            <a:off x="4903723" y="5404097"/>
            <a:ext cx="1095172" cy="646331"/>
          </a:xfrm>
          <a:prstGeom prst="rect">
            <a:avLst/>
          </a:prstGeom>
          <a:noFill/>
        </p:spPr>
        <p:txBody>
          <a:bodyPr wrap="none" rtlCol="0">
            <a:spAutoFit/>
          </a:bodyPr>
          <a:lstStyle/>
          <a:p>
            <a:r>
              <a:rPr lang="en-US" dirty="0"/>
              <a:t>BSS</a:t>
            </a:r>
          </a:p>
          <a:p>
            <a:r>
              <a:rPr lang="en-US" dirty="0"/>
              <a:t>SSID “A”</a:t>
            </a:r>
          </a:p>
        </p:txBody>
      </p:sp>
      <p:sp>
        <p:nvSpPr>
          <p:cNvPr id="39" name="Textfeld 38"/>
          <p:cNvSpPr txBox="1"/>
          <p:nvPr/>
        </p:nvSpPr>
        <p:spPr>
          <a:xfrm>
            <a:off x="5984888" y="5404097"/>
            <a:ext cx="1095172" cy="646331"/>
          </a:xfrm>
          <a:prstGeom prst="rect">
            <a:avLst/>
          </a:prstGeom>
          <a:noFill/>
        </p:spPr>
        <p:txBody>
          <a:bodyPr wrap="none" rtlCol="0">
            <a:spAutoFit/>
          </a:bodyPr>
          <a:lstStyle/>
          <a:p>
            <a:r>
              <a:rPr lang="en-US" dirty="0">
                <a:solidFill>
                  <a:srgbClr val="FF0000"/>
                </a:solidFill>
              </a:rPr>
              <a:t>BSS</a:t>
            </a:r>
          </a:p>
          <a:p>
            <a:r>
              <a:rPr lang="en-US" dirty="0">
                <a:solidFill>
                  <a:srgbClr val="FF0000"/>
                </a:solidFill>
              </a:rPr>
              <a:t>SSID “B”</a:t>
            </a:r>
          </a:p>
        </p:txBody>
      </p:sp>
      <p:pic>
        <p:nvPicPr>
          <p:cNvPr id="22" name="Bild 2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42483" y="2931505"/>
            <a:ext cx="608057" cy="522929"/>
          </a:xfrm>
          <a:prstGeom prst="rect">
            <a:avLst/>
          </a:prstGeom>
        </p:spPr>
      </p:pic>
      <p:pic>
        <p:nvPicPr>
          <p:cNvPr id="23" name="Bild 22"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75543" y="1775771"/>
            <a:ext cx="608057" cy="522929"/>
          </a:xfrm>
          <a:prstGeom prst="rect">
            <a:avLst/>
          </a:prstGeom>
        </p:spPr>
      </p:pic>
      <p:sp>
        <p:nvSpPr>
          <p:cNvPr id="24" name="Oval 23"/>
          <p:cNvSpPr/>
          <p:nvPr/>
        </p:nvSpPr>
        <p:spPr bwMode="auto">
          <a:xfrm rot="1999228">
            <a:off x="7239562" y="1388267"/>
            <a:ext cx="1332606" cy="2342869"/>
          </a:xfrm>
          <a:prstGeom prst="ellipse">
            <a:avLst/>
          </a:prstGeom>
          <a:noFill/>
          <a:ln w="19050" cap="flat" cmpd="sng" algn="ctr">
            <a:solidFill>
              <a:srgbClr val="008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cxnSp>
        <p:nvCxnSpPr>
          <p:cNvPr id="25" name="Gerade Verbindung mit Pfeil 24"/>
          <p:cNvCxnSpPr>
            <a:endCxn id="23" idx="2"/>
          </p:cNvCxnSpPr>
          <p:nvPr/>
        </p:nvCxnSpPr>
        <p:spPr bwMode="auto">
          <a:xfrm rot="5400000" flipH="1" flipV="1">
            <a:off x="7697684" y="2449618"/>
            <a:ext cx="632806" cy="330970"/>
          </a:xfrm>
          <a:prstGeom prst="straightConnector1">
            <a:avLst/>
          </a:prstGeom>
          <a:solidFill>
            <a:schemeClr val="accent1"/>
          </a:solidFill>
          <a:ln w="19050" cap="flat" cmpd="sng" algn="ctr">
            <a:solidFill>
              <a:srgbClr val="008000"/>
            </a:solidFill>
            <a:prstDash val="solid"/>
            <a:round/>
            <a:headEnd type="arrow"/>
            <a:tailEnd type="arrow"/>
          </a:ln>
          <a:effectLst/>
        </p:spPr>
      </p:cxnSp>
      <p:sp>
        <p:nvSpPr>
          <p:cNvPr id="28" name="Textfeld 27"/>
          <p:cNvSpPr txBox="1"/>
          <p:nvPr/>
        </p:nvSpPr>
        <p:spPr>
          <a:xfrm>
            <a:off x="7848600" y="3250624"/>
            <a:ext cx="1107996" cy="646331"/>
          </a:xfrm>
          <a:prstGeom prst="rect">
            <a:avLst/>
          </a:prstGeom>
          <a:noFill/>
        </p:spPr>
        <p:txBody>
          <a:bodyPr wrap="none" rtlCol="0">
            <a:spAutoFit/>
          </a:bodyPr>
          <a:lstStyle/>
          <a:p>
            <a:r>
              <a:rPr lang="en-US" dirty="0">
                <a:solidFill>
                  <a:srgbClr val="008000"/>
                </a:solidFill>
              </a:rPr>
              <a:t>BSS</a:t>
            </a:r>
          </a:p>
          <a:p>
            <a:r>
              <a:rPr lang="en-US" dirty="0">
                <a:solidFill>
                  <a:srgbClr val="008000"/>
                </a:solidFill>
              </a:rPr>
              <a:t>SSID “C”</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1590740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lstStyle/>
          <a:p>
            <a:r>
              <a:rPr lang="en-US" dirty="0"/>
              <a:t>New: 802.11 WAVE Mode</a:t>
            </a:r>
          </a:p>
          <a:p>
            <a:pPr lvl="1"/>
            <a:r>
              <a:rPr lang="en-US" dirty="0"/>
              <a:t>Default mode of nodes in WAVE</a:t>
            </a:r>
          </a:p>
          <a:p>
            <a:pPr lvl="1"/>
            <a:r>
              <a:rPr lang="en-US" dirty="0"/>
              <a:t>Nodes may always use Wildcard BSS in packets</a:t>
            </a:r>
          </a:p>
          <a:p>
            <a:pPr lvl="1"/>
            <a:r>
              <a:rPr lang="en-US" dirty="0"/>
              <a:t>Nodes will always receive Wildcard BSS packets</a:t>
            </a:r>
          </a:p>
          <a:p>
            <a:pPr lvl="1"/>
            <a:r>
              <a:rPr lang="en-US" dirty="0"/>
              <a:t>May join BSS and still use Wildcard BSS</a:t>
            </a:r>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65</a:t>
            </a:fld>
            <a:endParaRPr lang="en-US" dirty="0">
              <a:solidFill>
                <a:prstClr val="black"/>
              </a:solidFill>
            </a:endParaRPr>
          </a:p>
        </p:txBody>
      </p:sp>
      <p:sp>
        <p:nvSpPr>
          <p:cNvPr id="6" name="Content Placeholder 5"/>
          <p:cNvSpPr>
            <a:spLocks noGrp="1"/>
          </p:cNvSpPr>
          <p:nvPr>
            <p:ph sz="quarter" idx="14"/>
          </p:nvPr>
        </p:nvSpPr>
        <p:spPr/>
        <p:txBody>
          <a:bodyPr/>
          <a:lstStyle/>
          <a:p>
            <a:endParaRPr lang="en-US"/>
          </a:p>
        </p:txBody>
      </p:sp>
      <p:pic>
        <p:nvPicPr>
          <p:cNvPr id="7" name="Bild 6"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1186" y="3091104"/>
            <a:ext cx="608057" cy="522929"/>
          </a:xfrm>
          <a:prstGeom prst="rect">
            <a:avLst/>
          </a:prstGeom>
        </p:spPr>
      </p:pic>
      <p:cxnSp>
        <p:nvCxnSpPr>
          <p:cNvPr id="8" name="Gerade Verbindung mit Pfeil 7"/>
          <p:cNvCxnSpPr>
            <a:stCxn id="10" idx="1"/>
            <a:endCxn id="7" idx="3"/>
          </p:cNvCxnSpPr>
          <p:nvPr/>
        </p:nvCxnSpPr>
        <p:spPr bwMode="auto">
          <a:xfrm rot="10800000">
            <a:off x="6759243" y="3352570"/>
            <a:ext cx="558800" cy="389677"/>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9" name="Gerade Verbindung mit Pfeil 8"/>
          <p:cNvCxnSpPr>
            <a:stCxn id="11" idx="0"/>
            <a:endCxn id="7" idx="1"/>
          </p:cNvCxnSpPr>
          <p:nvPr/>
        </p:nvCxnSpPr>
        <p:spPr bwMode="auto">
          <a:xfrm rot="5400000" flipH="1" flipV="1">
            <a:off x="5568894" y="3388272"/>
            <a:ext cx="617994" cy="546589"/>
          </a:xfrm>
          <a:prstGeom prst="straightConnector1">
            <a:avLst/>
          </a:prstGeom>
          <a:solidFill>
            <a:schemeClr val="accent1"/>
          </a:solidFill>
          <a:ln w="19050" cap="flat" cmpd="sng" algn="ctr">
            <a:solidFill>
              <a:schemeClr val="tx1">
                <a:lumMod val="60000"/>
                <a:lumOff val="40000"/>
              </a:schemeClr>
            </a:solidFill>
            <a:prstDash val="solid"/>
            <a:round/>
            <a:headEnd type="arrow"/>
            <a:tailEnd type="arrow"/>
          </a:ln>
          <a:effectLst/>
        </p:spPr>
      </p:cxnSp>
      <p:pic>
        <p:nvPicPr>
          <p:cNvPr id="10" name="Bild 9"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18043" y="3486260"/>
            <a:ext cx="668976" cy="511972"/>
          </a:xfrm>
          <a:prstGeom prst="rect">
            <a:avLst/>
          </a:prstGeom>
        </p:spPr>
      </p:pic>
      <p:pic>
        <p:nvPicPr>
          <p:cNvPr id="11" name="Bild 10" descr="accesspoint_vl.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70109" y="3970563"/>
            <a:ext cx="668976" cy="511972"/>
          </a:xfrm>
          <a:prstGeom prst="rect">
            <a:avLst/>
          </a:prstGeom>
        </p:spPr>
      </p:pic>
      <p:pic>
        <p:nvPicPr>
          <p:cNvPr id="12" name="Bild 1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378243" y="4263636"/>
            <a:ext cx="608057" cy="522929"/>
          </a:xfrm>
          <a:prstGeom prst="rect">
            <a:avLst/>
          </a:prstGeom>
        </p:spPr>
      </p:pic>
      <p:cxnSp>
        <p:nvCxnSpPr>
          <p:cNvPr id="13" name="Gerade Verbindung mit Pfeil 12"/>
          <p:cNvCxnSpPr>
            <a:stCxn id="11" idx="3"/>
            <a:endCxn id="12" idx="1"/>
          </p:cNvCxnSpPr>
          <p:nvPr/>
        </p:nvCxnSpPr>
        <p:spPr bwMode="auto">
          <a:xfrm>
            <a:off x="5939085" y="4226549"/>
            <a:ext cx="439158" cy="298552"/>
          </a:xfrm>
          <a:prstGeom prst="straightConnector1">
            <a:avLst/>
          </a:prstGeom>
          <a:solidFill>
            <a:schemeClr val="accent1"/>
          </a:solidFill>
          <a:ln w="19050" cap="flat" cmpd="sng" algn="ctr">
            <a:solidFill>
              <a:schemeClr val="bg1">
                <a:lumMod val="50000"/>
              </a:schemeClr>
            </a:solidFill>
            <a:prstDash val="solid"/>
            <a:round/>
            <a:headEnd type="arrow"/>
            <a:tailEnd type="arrow"/>
          </a:ln>
          <a:effectLst/>
        </p:spPr>
      </p:cxnSp>
      <p:cxnSp>
        <p:nvCxnSpPr>
          <p:cNvPr id="14" name="Gerade Verbindung mit Pfeil 13"/>
          <p:cNvCxnSpPr>
            <a:stCxn id="12" idx="3"/>
            <a:endCxn id="10" idx="2"/>
          </p:cNvCxnSpPr>
          <p:nvPr/>
        </p:nvCxnSpPr>
        <p:spPr bwMode="auto">
          <a:xfrm flipV="1">
            <a:off x="6986300" y="3998232"/>
            <a:ext cx="666231" cy="526869"/>
          </a:xfrm>
          <a:prstGeom prst="straightConnector1">
            <a:avLst/>
          </a:prstGeom>
          <a:solidFill>
            <a:schemeClr val="accent1"/>
          </a:solidFill>
          <a:ln w="19050" cap="flat" cmpd="sng" algn="ctr">
            <a:solidFill>
              <a:srgbClr val="FF0000"/>
            </a:solidFill>
            <a:prstDash val="solid"/>
            <a:round/>
            <a:headEnd type="arrow"/>
            <a:tailEnd type="arrow"/>
          </a:ln>
          <a:effectLst/>
        </p:spPr>
      </p:cxnSp>
      <p:sp>
        <p:nvSpPr>
          <p:cNvPr id="15" name="Oval 14"/>
          <p:cNvSpPr/>
          <p:nvPr/>
        </p:nvSpPr>
        <p:spPr bwMode="auto">
          <a:xfrm rot="2503845">
            <a:off x="5220788" y="2648867"/>
            <a:ext cx="1332606" cy="2342869"/>
          </a:xfrm>
          <a:prstGeom prst="ellipse">
            <a:avLst/>
          </a:prstGeom>
          <a:noFill/>
          <a:ln w="19050" cap="flat" cmpd="sng" algn="ctr">
            <a:solidFill>
              <a:schemeClr val="tx1"/>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6" name="Oval 15"/>
          <p:cNvSpPr/>
          <p:nvPr/>
        </p:nvSpPr>
        <p:spPr bwMode="auto">
          <a:xfrm rot="2503845">
            <a:off x="6644747" y="3029867"/>
            <a:ext cx="1332606" cy="2342869"/>
          </a:xfrm>
          <a:prstGeom prst="ellipse">
            <a:avLst/>
          </a:prstGeom>
          <a:noFill/>
          <a:ln w="19050" cap="flat" cmpd="sng" algn="ctr">
            <a:solidFill>
              <a:srgbClr val="FF0000"/>
            </a:solidFill>
            <a:prstDash val="dash"/>
            <a:round/>
            <a:headEnd type="none" w="med" len="med"/>
            <a:tailEnd type="triangle" w="med" len="med"/>
          </a:ln>
          <a:effectLst/>
        </p:spPr>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7" name="Textfeld 16"/>
          <p:cNvSpPr txBox="1"/>
          <p:nvPr/>
        </p:nvSpPr>
        <p:spPr>
          <a:xfrm>
            <a:off x="4500166" y="4757033"/>
            <a:ext cx="1095172" cy="646331"/>
          </a:xfrm>
          <a:prstGeom prst="rect">
            <a:avLst/>
          </a:prstGeom>
          <a:noFill/>
        </p:spPr>
        <p:txBody>
          <a:bodyPr wrap="none" rtlCol="0">
            <a:spAutoFit/>
          </a:bodyPr>
          <a:lstStyle/>
          <a:p>
            <a:r>
              <a:rPr lang="en-US" dirty="0"/>
              <a:t>BSS</a:t>
            </a:r>
          </a:p>
          <a:p>
            <a:r>
              <a:rPr lang="en-US" dirty="0"/>
              <a:t>SSID “A”</a:t>
            </a:r>
          </a:p>
        </p:txBody>
      </p:sp>
      <p:sp>
        <p:nvSpPr>
          <p:cNvPr id="18" name="Textfeld 17"/>
          <p:cNvSpPr txBox="1"/>
          <p:nvPr/>
        </p:nvSpPr>
        <p:spPr>
          <a:xfrm>
            <a:off x="5581331" y="4757033"/>
            <a:ext cx="1095172" cy="646331"/>
          </a:xfrm>
          <a:prstGeom prst="rect">
            <a:avLst/>
          </a:prstGeom>
          <a:noFill/>
        </p:spPr>
        <p:txBody>
          <a:bodyPr wrap="none" rtlCol="0">
            <a:spAutoFit/>
          </a:bodyPr>
          <a:lstStyle/>
          <a:p>
            <a:r>
              <a:rPr lang="en-US" dirty="0">
                <a:solidFill>
                  <a:srgbClr val="FF0000"/>
                </a:solidFill>
              </a:rPr>
              <a:t>BSS</a:t>
            </a:r>
          </a:p>
          <a:p>
            <a:r>
              <a:rPr lang="en-US" dirty="0">
                <a:solidFill>
                  <a:srgbClr val="FF0000"/>
                </a:solidFill>
              </a:rPr>
              <a:t>SSID “B”</a:t>
            </a:r>
          </a:p>
        </p:txBody>
      </p:sp>
      <p:cxnSp>
        <p:nvCxnSpPr>
          <p:cNvPr id="19" name="Gerade Verbindung mit Pfeil 18"/>
          <p:cNvCxnSpPr>
            <a:stCxn id="12" idx="0"/>
            <a:endCxn id="7" idx="2"/>
          </p:cNvCxnSpPr>
          <p:nvPr/>
        </p:nvCxnSpPr>
        <p:spPr bwMode="auto">
          <a:xfrm rot="16200000" flipV="1">
            <a:off x="6243943" y="3825306"/>
            <a:ext cx="649603" cy="227057"/>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pic>
        <p:nvPicPr>
          <p:cNvPr id="22" name="Bild 21"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38566" y="2477136"/>
            <a:ext cx="608057" cy="522929"/>
          </a:xfrm>
          <a:prstGeom prst="rect">
            <a:avLst/>
          </a:prstGeom>
        </p:spPr>
      </p:pic>
      <p:pic>
        <p:nvPicPr>
          <p:cNvPr id="23" name="Bild 22" descr="wifilaptop_vl.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59309" y="2716207"/>
            <a:ext cx="608057" cy="522929"/>
          </a:xfrm>
          <a:prstGeom prst="rect">
            <a:avLst/>
          </a:prstGeom>
        </p:spPr>
      </p:pic>
      <p:cxnSp>
        <p:nvCxnSpPr>
          <p:cNvPr id="24" name="Gerade Verbindung mit Pfeil 23"/>
          <p:cNvCxnSpPr>
            <a:stCxn id="22" idx="1"/>
            <a:endCxn id="7" idx="0"/>
          </p:cNvCxnSpPr>
          <p:nvPr/>
        </p:nvCxnSpPr>
        <p:spPr bwMode="auto">
          <a:xfrm rot="10800000" flipV="1">
            <a:off x="6455216" y="2738600"/>
            <a:ext cx="483351" cy="352503"/>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cxnSp>
        <p:nvCxnSpPr>
          <p:cNvPr id="32" name="Gerade Verbindung mit Pfeil 31"/>
          <p:cNvCxnSpPr>
            <a:stCxn id="23" idx="1"/>
            <a:endCxn id="22" idx="3"/>
          </p:cNvCxnSpPr>
          <p:nvPr/>
        </p:nvCxnSpPr>
        <p:spPr bwMode="auto">
          <a:xfrm rot="10800000">
            <a:off x="7546623" y="2738602"/>
            <a:ext cx="612686" cy="239071"/>
          </a:xfrm>
          <a:prstGeom prst="straightConnector1">
            <a:avLst/>
          </a:prstGeom>
          <a:solidFill>
            <a:schemeClr val="accent1"/>
          </a:solidFill>
          <a:ln w="47625" cap="flat" cmpd="sng" algn="ctr">
            <a:solidFill>
              <a:srgbClr val="FF6600"/>
            </a:solidFill>
            <a:prstDash val="solid"/>
            <a:round/>
            <a:headEnd type="arrow" w="med" len="med"/>
            <a:tailEnd type="arrow" w="med" len="med"/>
          </a:ln>
          <a:effectLst/>
        </p:spPr>
      </p:cxnSp>
    </p:spTree>
    <p:extLst>
      <p:ext uri="{BB962C8B-B14F-4D97-AF65-F5344CB8AC3E}">
        <p14:creationId xmlns:p14="http://schemas.microsoft.com/office/powerpoint/2010/main" val="8472988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normAutofit fontScale="77500" lnSpcReduction="20000"/>
          </a:bodyPr>
          <a:lstStyle/>
          <a:p>
            <a:r>
              <a:rPr lang="en-US" dirty="0"/>
              <a:t>New: 802.11 WAVE BSS</a:t>
            </a:r>
          </a:p>
          <a:p>
            <a:pPr lvl="1"/>
            <a:r>
              <a:rPr lang="en-US" dirty="0">
                <a:solidFill>
                  <a:srgbClr val="FF3300"/>
                </a:solidFill>
              </a:rPr>
              <a:t>No strict separation between Host and Access Point (AP)</a:t>
            </a:r>
          </a:p>
          <a:p>
            <a:pPr lvl="1"/>
            <a:r>
              <a:rPr lang="en-US" dirty="0"/>
              <a:t>Instead, loose classification according to:</a:t>
            </a:r>
          </a:p>
          <a:p>
            <a:pPr lvl="2"/>
            <a:r>
              <a:rPr lang="en-US" dirty="0"/>
              <a:t>Equipment: Roadside Unit (RSU) / On-Board Unit (OBU)</a:t>
            </a:r>
          </a:p>
          <a:p>
            <a:pPr lvl="2"/>
            <a:r>
              <a:rPr lang="en-US" dirty="0"/>
              <a:t>Role in data exchange: Provider (offers service) / User (uses service)</a:t>
            </a:r>
          </a:p>
          <a:p>
            <a:pPr lvl="1"/>
            <a:r>
              <a:rPr lang="en-US" dirty="0"/>
              <a:t>No technical difference between Provider and User —no hardware difference.</a:t>
            </a:r>
          </a:p>
          <a:p>
            <a:pPr lvl="1"/>
            <a:r>
              <a:rPr lang="en-US" dirty="0">
                <a:solidFill>
                  <a:srgbClr val="FF3300"/>
                </a:solidFill>
              </a:rPr>
              <a:t>Provider sends On-Demand Beacon</a:t>
            </a:r>
          </a:p>
          <a:p>
            <a:pPr lvl="2"/>
            <a:r>
              <a:rPr lang="en-US" dirty="0">
                <a:solidFill>
                  <a:srgbClr val="FF3300"/>
                </a:solidFill>
              </a:rPr>
              <a:t>Analogous to standard 802.11-Beacon</a:t>
            </a:r>
          </a:p>
          <a:p>
            <a:pPr lvl="2"/>
            <a:r>
              <a:rPr lang="en-US" dirty="0"/>
              <a:t>Beacon contains all information and parameters needed to join</a:t>
            </a:r>
          </a:p>
          <a:p>
            <a:pPr lvl="1"/>
            <a:r>
              <a:rPr lang="en-US" dirty="0"/>
              <a:t>User configures lower layers accordingly</a:t>
            </a:r>
          </a:p>
          <a:p>
            <a:pPr lvl="2"/>
            <a:r>
              <a:rPr lang="en-US" dirty="0"/>
              <a:t>Starts using provided service</a:t>
            </a:r>
          </a:p>
          <a:p>
            <a:pPr lvl="2"/>
            <a:r>
              <a:rPr lang="en-US" dirty="0">
                <a:solidFill>
                  <a:srgbClr val="FF3300"/>
                </a:solidFill>
              </a:rPr>
              <a:t>No additional exchange of data needed</a:t>
            </a:r>
          </a:p>
          <a:p>
            <a:pPr lvl="1"/>
            <a:r>
              <a:rPr lang="en-US" dirty="0"/>
              <a:t>BSS membership now only implied</a:t>
            </a:r>
          </a:p>
          <a:p>
            <a:pPr lvl="2"/>
            <a:r>
              <a:rPr lang="en-US" dirty="0">
                <a:solidFill>
                  <a:srgbClr val="FF3300"/>
                </a:solidFill>
              </a:rPr>
              <a:t>There's </a:t>
            </a:r>
            <a:r>
              <a:rPr lang="en-US" b="1" dirty="0">
                <a:solidFill>
                  <a:srgbClr val="FF3300"/>
                </a:solidFill>
              </a:rPr>
              <a:t>no formal “join” process</a:t>
            </a:r>
            <a:r>
              <a:rPr lang="en-US" dirty="0">
                <a:solidFill>
                  <a:srgbClr val="FF3300"/>
                </a:solidFill>
              </a:rPr>
              <a:t>.</a:t>
            </a:r>
          </a:p>
          <a:p>
            <a:pPr lvl="2"/>
            <a:r>
              <a:rPr lang="en-US" dirty="0">
                <a:solidFill>
                  <a:srgbClr val="0070C0"/>
                </a:solidFill>
              </a:rPr>
              <a:t>Once a beacon is received and used, the User is considered </a:t>
            </a:r>
            <a:r>
              <a:rPr lang="en-US" b="1" dirty="0">
                <a:solidFill>
                  <a:srgbClr val="0070C0"/>
                </a:solidFill>
              </a:rPr>
              <a:t>part of the BSS</a:t>
            </a:r>
            <a:r>
              <a:rPr lang="en-US" dirty="0">
                <a:solidFill>
                  <a:srgbClr val="0070C0"/>
                </a:solidFill>
              </a:rPr>
              <a:t>.</a:t>
            </a:r>
          </a:p>
          <a:p>
            <a:pPr lvl="2"/>
            <a:r>
              <a:rPr lang="en-US" dirty="0"/>
              <a:t>BSS continues to exist even after provider leaves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3543949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
                                            <p:txEl>
                                              <p:pRg st="13" end="13"/>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
                                            <p:txEl>
                                              <p:pRg st="14" end="14"/>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 DCF</a:t>
            </a:r>
          </a:p>
        </p:txBody>
      </p:sp>
      <p:sp>
        <p:nvSpPr>
          <p:cNvPr id="3" name="Inhaltsplatzhalter 2"/>
          <p:cNvSpPr>
            <a:spLocks noGrp="1"/>
          </p:cNvSpPr>
          <p:nvPr>
            <p:ph idx="1"/>
          </p:nvPr>
        </p:nvSpPr>
        <p:spPr/>
        <p:txBody>
          <a:bodyPr>
            <a:normAutofit fontScale="92500" lnSpcReduction="10000"/>
          </a:bodyPr>
          <a:lstStyle/>
          <a:p>
            <a:r>
              <a:rPr lang="en-US" dirty="0"/>
              <a:t>IEEE 802.11 Distributed Coordination Function (DCF)</a:t>
            </a:r>
          </a:p>
          <a:p>
            <a:pPr lvl="1"/>
            <a:r>
              <a:rPr lang="en-US" dirty="0"/>
              <a:t>aka “Contention Period”</a:t>
            </a:r>
          </a:p>
          <a:p>
            <a:pPr lvl="1"/>
            <a:endParaRPr lang="en-US" dirty="0"/>
          </a:p>
          <a:p>
            <a:pPr lvl="1"/>
            <a:endParaRPr lang="en-US" dirty="0"/>
          </a:p>
          <a:p>
            <a:pPr lvl="1"/>
            <a:endParaRPr lang="en-US" dirty="0"/>
          </a:p>
          <a:p>
            <a:pPr lvl="1"/>
            <a:endParaRPr lang="en-US" dirty="0"/>
          </a:p>
          <a:p>
            <a:pPr lvl="1"/>
            <a:endParaRPr lang="en-US" dirty="0"/>
          </a:p>
          <a:p>
            <a:pPr lvl="1">
              <a:buNone/>
            </a:pPr>
            <a:endParaRPr lang="en-US" dirty="0"/>
          </a:p>
          <a:p>
            <a:pPr lvl="1"/>
            <a:r>
              <a:rPr lang="en-US" dirty="0"/>
              <a:t>Priority access via SIFS (ACK, CTS, ...) and DIFS (payload)</a:t>
            </a:r>
          </a:p>
          <a:p>
            <a:pPr lvl="1"/>
            <a:r>
              <a:rPr lang="en-US" dirty="0"/>
              <a:t>Wait until medium has been free for duration of DIFS</a:t>
            </a:r>
          </a:p>
          <a:p>
            <a:pPr lvl="1"/>
            <a:r>
              <a:rPr lang="en-US" dirty="0"/>
              <a:t>If medium busy, wait until idle, then wait DIFS</a:t>
            </a:r>
            <a:br>
              <a:rPr lang="en-US" dirty="0"/>
            </a:br>
            <a:r>
              <a:rPr lang="en-US" dirty="0"/>
              <a:t>plus random backoff time</a:t>
            </a:r>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Rectangle 3"/>
          <p:cNvSpPr/>
          <p:nvPr/>
        </p:nvSpPr>
        <p:spPr>
          <a:xfrm>
            <a:off x="2112137" y="3051021"/>
            <a:ext cx="19318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Medium busy</a:t>
            </a:r>
          </a:p>
        </p:txBody>
      </p:sp>
      <p:sp>
        <p:nvSpPr>
          <p:cNvPr id="9" name="Rectangle 8"/>
          <p:cNvSpPr/>
          <p:nvPr/>
        </p:nvSpPr>
        <p:spPr>
          <a:xfrm>
            <a:off x="5782616" y="3051021"/>
            <a:ext cx="19318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dirty="0"/>
              <a:t>TX starts</a:t>
            </a:r>
          </a:p>
        </p:txBody>
      </p:sp>
      <p:sp>
        <p:nvSpPr>
          <p:cNvPr id="10" name="Rectangle 9"/>
          <p:cNvSpPr/>
          <p:nvPr/>
        </p:nvSpPr>
        <p:spPr>
          <a:xfrm>
            <a:off x="5679585"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1" name="Rectangle 10"/>
          <p:cNvSpPr/>
          <p:nvPr/>
        </p:nvSpPr>
        <p:spPr>
          <a:xfrm>
            <a:off x="5577905"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Rectangle 11"/>
          <p:cNvSpPr/>
          <p:nvPr/>
        </p:nvSpPr>
        <p:spPr>
          <a:xfrm>
            <a:off x="5476223"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3" name="Rectangle 12"/>
          <p:cNvSpPr/>
          <p:nvPr/>
        </p:nvSpPr>
        <p:spPr>
          <a:xfrm>
            <a:off x="5374541"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4" name="Rectangle 13"/>
          <p:cNvSpPr/>
          <p:nvPr/>
        </p:nvSpPr>
        <p:spPr>
          <a:xfrm>
            <a:off x="5272859"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5" name="Rectangle 14"/>
          <p:cNvSpPr/>
          <p:nvPr/>
        </p:nvSpPr>
        <p:spPr>
          <a:xfrm>
            <a:off x="5171177" y="3056387"/>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cxnSp>
        <p:nvCxnSpPr>
          <p:cNvPr id="17" name="Straight Arrow Connector 16"/>
          <p:cNvCxnSpPr/>
          <p:nvPr/>
        </p:nvCxnSpPr>
        <p:spPr>
          <a:xfrm>
            <a:off x="4061139" y="3372993"/>
            <a:ext cx="592429"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061139" y="3234008"/>
            <a:ext cx="768440" cy="75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4061139" y="3095023"/>
            <a:ext cx="901521" cy="751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5069495" y="3052630"/>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4" name="Rectangle 23"/>
          <p:cNvSpPr/>
          <p:nvPr/>
        </p:nvSpPr>
        <p:spPr>
          <a:xfrm>
            <a:off x="4967813" y="3052630"/>
            <a:ext cx="103031" cy="38636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25" name="TextBox 24"/>
          <p:cNvSpPr txBox="1"/>
          <p:nvPr/>
        </p:nvSpPr>
        <p:spPr>
          <a:xfrm>
            <a:off x="3515472" y="2587383"/>
            <a:ext cx="1992853" cy="369332"/>
          </a:xfrm>
          <a:prstGeom prst="rect">
            <a:avLst/>
          </a:prstGeom>
          <a:noFill/>
        </p:spPr>
        <p:txBody>
          <a:bodyPr wrap="none" rtlCol="0">
            <a:spAutoFit/>
          </a:bodyPr>
          <a:lstStyle/>
          <a:p>
            <a:r>
              <a:rPr lang="en-US" dirty="0"/>
              <a:t>SIFS, PIFS, DIFS</a:t>
            </a:r>
          </a:p>
        </p:txBody>
      </p:sp>
      <p:sp>
        <p:nvSpPr>
          <p:cNvPr id="28" name="Right Brace 27"/>
          <p:cNvSpPr/>
          <p:nvPr/>
        </p:nvSpPr>
        <p:spPr>
          <a:xfrm rot="5400000">
            <a:off x="5287296" y="3210449"/>
            <a:ext cx="192146" cy="7984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9" name="TextBox 28"/>
          <p:cNvSpPr txBox="1"/>
          <p:nvPr/>
        </p:nvSpPr>
        <p:spPr>
          <a:xfrm>
            <a:off x="4297478" y="3808730"/>
            <a:ext cx="3305136" cy="369332"/>
          </a:xfrm>
          <a:prstGeom prst="rect">
            <a:avLst/>
          </a:prstGeom>
          <a:noFill/>
        </p:spPr>
        <p:txBody>
          <a:bodyPr wrap="none" rtlCol="0">
            <a:spAutoFit/>
          </a:bodyPr>
          <a:lstStyle/>
          <a:p>
            <a:pPr algn="ctr"/>
            <a:r>
              <a:rPr lang="en-US" dirty="0"/>
              <a:t>Time slots in contention period</a:t>
            </a:r>
          </a:p>
        </p:txBody>
      </p:sp>
      <p:cxnSp>
        <p:nvCxnSpPr>
          <p:cNvPr id="8" name="Straight Arrow Connector 7"/>
          <p:cNvCxnSpPr/>
          <p:nvPr/>
        </p:nvCxnSpPr>
        <p:spPr>
          <a:xfrm>
            <a:off x="1592695" y="3450266"/>
            <a:ext cx="6688428"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67</a:t>
            </a:fld>
            <a:endParaRPr lang="en-US" dirty="0">
              <a:solidFill>
                <a:prstClr val="black"/>
              </a:solidFill>
            </a:endParaRPr>
          </a:p>
        </p:txBody>
      </p:sp>
    </p:spTree>
    <p:extLst>
      <p:ext uri="{BB962C8B-B14F-4D97-AF65-F5344CB8AC3E}">
        <p14:creationId xmlns:p14="http://schemas.microsoft.com/office/powerpoint/2010/main" val="103535950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 DCF</a:t>
            </a:r>
          </a:p>
        </p:txBody>
      </p:sp>
      <p:sp>
        <p:nvSpPr>
          <p:cNvPr id="3" name="Inhaltsplatzhalter 2"/>
          <p:cNvSpPr>
            <a:spLocks noGrp="1"/>
          </p:cNvSpPr>
          <p:nvPr>
            <p:ph idx="1"/>
          </p:nvPr>
        </p:nvSpPr>
        <p:spPr/>
        <p:txBody>
          <a:bodyPr>
            <a:normAutofit lnSpcReduction="10000"/>
          </a:bodyPr>
          <a:lstStyle/>
          <a:p>
            <a:r>
              <a:rPr lang="en-US" dirty="0"/>
              <a:t>IEEE 802.11 Distributed Coordination Function (DCF)</a:t>
            </a:r>
          </a:p>
          <a:p>
            <a:pPr lvl="1"/>
            <a:r>
              <a:rPr lang="en-US" dirty="0"/>
              <a:t>Backoff if</a:t>
            </a:r>
          </a:p>
          <a:p>
            <a:pPr marL="1257300" lvl="2" indent="-342900">
              <a:buFont typeface="+mj-lt"/>
              <a:buAutoNum type="alphaLcParenR"/>
            </a:pPr>
            <a:r>
              <a:rPr lang="en-US" dirty="0"/>
              <a:t>Node is ready to send and channel becomes busy</a:t>
            </a:r>
          </a:p>
          <a:p>
            <a:pPr marL="1257300" lvl="2" indent="-342900">
              <a:buFont typeface="+mj-lt"/>
              <a:buAutoNum type="alphaLcParenR"/>
            </a:pPr>
            <a:r>
              <a:rPr lang="en-US" dirty="0"/>
              <a:t>A higher priority queue (⇨ next slides) becomes ready to send</a:t>
            </a:r>
          </a:p>
          <a:p>
            <a:pPr marL="1257300" lvl="2" indent="-342900">
              <a:buFont typeface="+mj-lt"/>
              <a:buAutoNum type="alphaLcParenR"/>
            </a:pPr>
            <a:r>
              <a:rPr lang="en-US" dirty="0"/>
              <a:t>Unicast transmission failed (no ACK)</a:t>
            </a:r>
          </a:p>
          <a:p>
            <a:pPr marL="1257300" lvl="2" indent="-342900">
              <a:buFont typeface="+mj-lt"/>
              <a:buAutoNum type="alphaLcParenR"/>
            </a:pPr>
            <a:r>
              <a:rPr lang="en-US" dirty="0"/>
              <a:t>Transmission completed successfully</a:t>
            </a:r>
          </a:p>
          <a:p>
            <a:pPr lvl="1"/>
            <a:endParaRPr lang="en-US" dirty="0"/>
          </a:p>
          <a:p>
            <a:pPr lvl="1"/>
            <a:r>
              <a:rPr lang="en-US" dirty="0"/>
              <a:t>Backoff: Random slot count from interval [0, CW]</a:t>
            </a:r>
          </a:p>
          <a:p>
            <a:pPr lvl="1"/>
            <a:r>
              <a:rPr lang="en-US" dirty="0"/>
              <a:t>Decrement by one after channel was idle for one slot</a:t>
            </a:r>
            <a:br>
              <a:rPr lang="en-US" dirty="0"/>
            </a:br>
            <a:r>
              <a:rPr lang="en-US" dirty="0"/>
              <a:t>(only in contention period)</a:t>
            </a:r>
          </a:p>
          <a:p>
            <a:pPr lvl="1"/>
            <a:r>
              <a:rPr lang="en-US" dirty="0"/>
              <a:t>In cases b) and c), double CW (but no larger than </a:t>
            </a:r>
            <a:r>
              <a:rPr lang="en-US" dirty="0" err="1"/>
              <a:t>CW</a:t>
            </a:r>
            <a:r>
              <a:rPr lang="en-US" baseline="-25000" dirty="0" err="1"/>
              <a:t>max</a:t>
            </a:r>
            <a:r>
              <a:rPr lang="en-US" dirty="0"/>
              <a:t>)</a:t>
            </a:r>
          </a:p>
          <a:p>
            <a:pPr lvl="1"/>
            <a:r>
              <a:rPr lang="en-US" dirty="0"/>
              <a:t>In case d), set CW to </a:t>
            </a:r>
            <a:r>
              <a:rPr lang="en-US" dirty="0" err="1"/>
              <a:t>CW</a:t>
            </a:r>
            <a:r>
              <a:rPr lang="en-US" baseline="-25000" dirty="0" err="1"/>
              <a:t>min</a:t>
            </a:r>
            <a:endParaRPr lang="en-US" baseline="-25000" dirty="0"/>
          </a:p>
          <a:p>
            <a:pPr lvl="1"/>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68</a:t>
            </a:fld>
            <a:endParaRPr lang="en-US" dirty="0">
              <a:solidFill>
                <a:prstClr val="black"/>
              </a:solidFill>
            </a:endParaRPr>
          </a:p>
        </p:txBody>
      </p:sp>
    </p:spTree>
    <p:extLst>
      <p:ext uri="{BB962C8B-B14F-4D97-AF65-F5344CB8AC3E}">
        <p14:creationId xmlns:p14="http://schemas.microsoft.com/office/powerpoint/2010/main" val="26592923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solidFill>
                  <a:schemeClr val="accent2"/>
                </a:solidFill>
              </a:rPr>
              <a:t>IEEE 802.11p</a:t>
            </a:r>
          </a:p>
        </p:txBody>
      </p:sp>
      <p:sp>
        <p:nvSpPr>
          <p:cNvPr id="3" name="Inhaltsplatzhalter 2"/>
          <p:cNvSpPr>
            <a:spLocks noGrp="1"/>
          </p:cNvSpPr>
          <p:nvPr>
            <p:ph idx="1"/>
          </p:nvPr>
        </p:nvSpPr>
        <p:spPr/>
        <p:txBody>
          <a:bodyPr>
            <a:normAutofit fontScale="85000" lnSpcReduction="20000"/>
          </a:bodyPr>
          <a:lstStyle/>
          <a:p>
            <a:r>
              <a:rPr lang="en-US" dirty="0"/>
              <a:t>QoS in 802.11p (HCF)</a:t>
            </a:r>
          </a:p>
          <a:p>
            <a:pPr lvl="1"/>
            <a:r>
              <a:rPr lang="en-US" dirty="0"/>
              <a:t>cf. </a:t>
            </a:r>
            <a:r>
              <a:rPr lang="en-US" dirty="0">
                <a:solidFill>
                  <a:schemeClr val="accent2"/>
                </a:solidFill>
              </a:rPr>
              <a:t>IEEE 802.11e EDCA</a:t>
            </a:r>
          </a:p>
          <a:p>
            <a:pPr lvl="1"/>
            <a:r>
              <a:rPr lang="en-US" dirty="0"/>
              <a:t>DIFS ⇨ </a:t>
            </a:r>
            <a:r>
              <a:rPr lang="en-US" dirty="0">
                <a:solidFill>
                  <a:schemeClr val="accent2"/>
                </a:solidFill>
              </a:rPr>
              <a:t>AIFS (Arbitration Inter-Frame Space)</a:t>
            </a:r>
          </a:p>
          <a:p>
            <a:pPr lvl="2"/>
            <a:r>
              <a:rPr lang="en-US" dirty="0"/>
              <a:t>DCF ⇨ </a:t>
            </a:r>
            <a:r>
              <a:rPr lang="en-US" dirty="0">
                <a:solidFill>
                  <a:srgbClr val="0070C0"/>
                </a:solidFill>
              </a:rPr>
              <a:t>EDCA (Enhanced Distributed Channel Access)</a:t>
            </a:r>
          </a:p>
          <a:p>
            <a:pPr lvl="2"/>
            <a:endParaRPr lang="en-US" dirty="0"/>
          </a:p>
          <a:p>
            <a:pPr lvl="1"/>
            <a:r>
              <a:rPr lang="en-US" dirty="0"/>
              <a:t>Classify user data into </a:t>
            </a:r>
            <a:r>
              <a:rPr lang="en-US" dirty="0">
                <a:solidFill>
                  <a:srgbClr val="0070C0"/>
                </a:solidFill>
              </a:rPr>
              <a:t>4 ACs (Access Categories)</a:t>
            </a:r>
          </a:p>
          <a:p>
            <a:pPr lvl="2"/>
            <a:r>
              <a:rPr lang="en-US" dirty="0">
                <a:solidFill>
                  <a:srgbClr val="0070C0"/>
                </a:solidFill>
              </a:rPr>
              <a:t>AC0 (lowest priority) </a:t>
            </a:r>
          </a:p>
          <a:p>
            <a:pPr lvl="2"/>
            <a:r>
              <a:rPr lang="en-US" dirty="0"/>
              <a:t>…</a:t>
            </a:r>
          </a:p>
          <a:p>
            <a:pPr lvl="2"/>
            <a:r>
              <a:rPr lang="en-US" dirty="0">
                <a:solidFill>
                  <a:schemeClr val="accent2"/>
                </a:solidFill>
              </a:rPr>
              <a:t>AC3 (highest priority)</a:t>
            </a:r>
          </a:p>
          <a:p>
            <a:pPr lvl="2"/>
            <a:endParaRPr lang="en-US" dirty="0"/>
          </a:p>
          <a:p>
            <a:pPr lvl="1"/>
            <a:r>
              <a:rPr lang="en-US" dirty="0">
                <a:solidFill>
                  <a:schemeClr val="accent2"/>
                </a:solidFill>
              </a:rPr>
              <a:t>Each ACs has different...</a:t>
            </a:r>
          </a:p>
          <a:p>
            <a:pPr lvl="2"/>
            <a:r>
              <a:rPr lang="en-US" dirty="0" err="1">
                <a:solidFill>
                  <a:srgbClr val="0070C0"/>
                </a:solidFill>
              </a:rPr>
              <a:t>CW</a:t>
            </a:r>
            <a:r>
              <a:rPr lang="en-US" baseline="-25000" dirty="0" err="1">
                <a:solidFill>
                  <a:srgbClr val="0070C0"/>
                </a:solidFill>
              </a:rPr>
              <a:t>min</a:t>
            </a:r>
            <a:r>
              <a:rPr lang="en-US" dirty="0">
                <a:solidFill>
                  <a:srgbClr val="0070C0"/>
                </a:solidFill>
              </a:rPr>
              <a:t>, </a:t>
            </a:r>
            <a:r>
              <a:rPr lang="en-US" dirty="0" err="1">
                <a:solidFill>
                  <a:srgbClr val="0070C0"/>
                </a:solidFill>
              </a:rPr>
              <a:t>CW</a:t>
            </a:r>
            <a:r>
              <a:rPr lang="en-US" baseline="-25000" dirty="0" err="1">
                <a:solidFill>
                  <a:srgbClr val="0070C0"/>
                </a:solidFill>
              </a:rPr>
              <a:t>max</a:t>
            </a:r>
            <a:r>
              <a:rPr lang="en-US" dirty="0">
                <a:solidFill>
                  <a:srgbClr val="0070C0"/>
                </a:solidFill>
              </a:rPr>
              <a:t>, AIFS, TXOP limit (max. continuous transmissions)</a:t>
            </a:r>
          </a:p>
          <a:p>
            <a:pPr lvl="1"/>
            <a:endParaRPr lang="en-US" dirty="0"/>
          </a:p>
          <a:p>
            <a:pPr lvl="1"/>
            <a:r>
              <a:rPr lang="en-US" dirty="0"/>
              <a:t>Management data </a:t>
            </a:r>
            <a:r>
              <a:rPr lang="en-US" sz="1600" dirty="0" err="1"/>
              <a:t>e.g</a:t>
            </a:r>
            <a:r>
              <a:rPr lang="en-US" sz="1600" dirty="0"/>
              <a:t>, </a:t>
            </a:r>
            <a:r>
              <a:rPr lang="en-US" altLang="en-US" sz="1600" dirty="0"/>
              <a:t>WAVE Service Advertisement (WSA), Timing synchronization</a:t>
            </a:r>
            <a:r>
              <a:rPr lang="en-US" sz="1600" dirty="0"/>
              <a:t>) </a:t>
            </a:r>
            <a:r>
              <a:rPr lang="en-US" dirty="0"/>
              <a:t>uses DIFS (not AIFS)</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69</a:t>
            </a:fld>
            <a:endParaRPr lang="en-US" dirty="0">
              <a:solidFill>
                <a:prstClr val="black"/>
              </a:solidFill>
            </a:endParaRPr>
          </a:p>
        </p:txBody>
      </p:sp>
    </p:spTree>
    <p:extLst>
      <p:ext uri="{BB962C8B-B14F-4D97-AF65-F5344CB8AC3E}">
        <p14:creationId xmlns:p14="http://schemas.microsoft.com/office/powerpoint/2010/main" val="3374403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E120B-74DE-3F44-04F6-494ABD984943}"/>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6E8C96C-ED43-2EE1-11CB-E0F16A807716}"/>
              </a:ext>
            </a:extLst>
          </p:cNvPr>
          <p:cNvSpPr>
            <a:spLocks noGrp="1"/>
          </p:cNvSpPr>
          <p:nvPr>
            <p:ph type="title"/>
          </p:nvPr>
        </p:nvSpPr>
        <p:spPr/>
        <p:txBody>
          <a:bodyPr/>
          <a:lstStyle/>
          <a:p>
            <a:r>
              <a:rPr lang="en-US" dirty="0"/>
              <a:t>IEEE 802.11p</a:t>
            </a:r>
          </a:p>
        </p:txBody>
      </p:sp>
      <p:sp>
        <p:nvSpPr>
          <p:cNvPr id="3" name="Inhaltsplatzhalter 2">
            <a:extLst>
              <a:ext uri="{FF2B5EF4-FFF2-40B4-BE49-F238E27FC236}">
                <a16:creationId xmlns:a16="http://schemas.microsoft.com/office/drawing/2014/main" id="{7BE9C1F5-C22F-A711-A48B-69E966C1BDBF}"/>
              </a:ext>
            </a:extLst>
          </p:cNvPr>
          <p:cNvSpPr>
            <a:spLocks noGrp="1"/>
          </p:cNvSpPr>
          <p:nvPr>
            <p:ph idx="1"/>
          </p:nvPr>
        </p:nvSpPr>
        <p:spPr>
          <a:xfrm>
            <a:off x="0" y="1282148"/>
            <a:ext cx="9134060" cy="4966252"/>
          </a:xfrm>
        </p:spPr>
        <p:txBody>
          <a:bodyPr/>
          <a:lstStyle/>
          <a:p>
            <a:r>
              <a:rPr lang="en-US" dirty="0"/>
              <a:t>QoS in 802.11p (HCF)</a:t>
            </a:r>
          </a:p>
          <a:p>
            <a:pPr lvl="1"/>
            <a:r>
              <a:rPr lang="en-US" dirty="0">
                <a:solidFill>
                  <a:schemeClr val="accent2"/>
                </a:solidFill>
              </a:rPr>
              <a:t>Map 8 user priorities </a:t>
            </a:r>
            <a:r>
              <a:rPr lang="en-US" sz="1800" dirty="0">
                <a:solidFill>
                  <a:srgbClr val="0070C0"/>
                </a:solidFill>
              </a:rPr>
              <a:t>(Min:0 Max:7) </a:t>
            </a:r>
            <a:r>
              <a:rPr lang="en-US" dirty="0"/>
              <a:t>⇨ </a:t>
            </a:r>
            <a:r>
              <a:rPr lang="en-US" dirty="0">
                <a:solidFill>
                  <a:schemeClr val="accent2"/>
                </a:solidFill>
              </a:rPr>
              <a:t>4 access categories </a:t>
            </a:r>
            <a:r>
              <a:rPr lang="en-US" dirty="0"/>
              <a:t>⇨ 4 queues</a:t>
            </a:r>
          </a:p>
          <a:p>
            <a:pPr lvl="1"/>
            <a:r>
              <a:rPr lang="en-US" dirty="0"/>
              <a:t>Queues compete independently for medium access</a:t>
            </a:r>
          </a:p>
        </p:txBody>
      </p:sp>
      <p:grpSp>
        <p:nvGrpSpPr>
          <p:cNvPr id="91" name="Gruppierung 90">
            <a:extLst>
              <a:ext uri="{FF2B5EF4-FFF2-40B4-BE49-F238E27FC236}">
                <a16:creationId xmlns:a16="http://schemas.microsoft.com/office/drawing/2014/main" id="{B0A049D4-9AC3-0BFB-A050-341F18C3744A}"/>
              </a:ext>
            </a:extLst>
          </p:cNvPr>
          <p:cNvGrpSpPr/>
          <p:nvPr/>
        </p:nvGrpSpPr>
        <p:grpSpPr>
          <a:xfrm>
            <a:off x="2238780" y="3172503"/>
            <a:ext cx="5029200" cy="2773677"/>
            <a:chOff x="914400" y="2788923"/>
            <a:chExt cx="5029200" cy="2773677"/>
          </a:xfrm>
        </p:grpSpPr>
        <p:sp>
          <p:nvSpPr>
            <p:cNvPr id="19" name="Rechteck 18">
              <a:extLst>
                <a:ext uri="{FF2B5EF4-FFF2-40B4-BE49-F238E27FC236}">
                  <a16:creationId xmlns:a16="http://schemas.microsoft.com/office/drawing/2014/main" id="{603F84A2-C477-81DF-39D3-265ECFA4DBC7}"/>
                </a:ext>
              </a:extLst>
            </p:cNvPr>
            <p:cNvSpPr/>
            <p:nvPr/>
          </p:nvSpPr>
          <p:spPr bwMode="auto">
            <a:xfrm>
              <a:off x="28194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0" name="Rechteck 19">
              <a:extLst>
                <a:ext uri="{FF2B5EF4-FFF2-40B4-BE49-F238E27FC236}">
                  <a16:creationId xmlns:a16="http://schemas.microsoft.com/office/drawing/2014/main" id="{62AB3076-476B-F225-B814-3380D81D445A}"/>
                </a:ext>
              </a:extLst>
            </p:cNvPr>
            <p:cNvSpPr/>
            <p:nvPr/>
          </p:nvSpPr>
          <p:spPr bwMode="auto">
            <a:xfrm>
              <a:off x="28956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3" name="Rechteck 22">
              <a:extLst>
                <a:ext uri="{FF2B5EF4-FFF2-40B4-BE49-F238E27FC236}">
                  <a16:creationId xmlns:a16="http://schemas.microsoft.com/office/drawing/2014/main" id="{DF3E34BD-7F42-4537-CB84-C7164C994C38}"/>
                </a:ext>
              </a:extLst>
            </p:cNvPr>
            <p:cNvSpPr/>
            <p:nvPr/>
          </p:nvSpPr>
          <p:spPr bwMode="auto">
            <a:xfrm>
              <a:off x="29718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4" name="Rechteck 23">
              <a:extLst>
                <a:ext uri="{FF2B5EF4-FFF2-40B4-BE49-F238E27FC236}">
                  <a16:creationId xmlns:a16="http://schemas.microsoft.com/office/drawing/2014/main" id="{47B6B0DE-0428-2175-AA19-6E600CB05E8A}"/>
                </a:ext>
              </a:extLst>
            </p:cNvPr>
            <p:cNvSpPr/>
            <p:nvPr/>
          </p:nvSpPr>
          <p:spPr bwMode="auto">
            <a:xfrm>
              <a:off x="30480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5" name="Rechteck 24">
              <a:extLst>
                <a:ext uri="{FF2B5EF4-FFF2-40B4-BE49-F238E27FC236}">
                  <a16:creationId xmlns:a16="http://schemas.microsoft.com/office/drawing/2014/main" id="{660FB334-BAC0-F177-3F17-8682A3EEDD2D}"/>
                </a:ext>
              </a:extLst>
            </p:cNvPr>
            <p:cNvSpPr/>
            <p:nvPr/>
          </p:nvSpPr>
          <p:spPr bwMode="auto">
            <a:xfrm>
              <a:off x="31242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6" name="Rechteck 25">
              <a:extLst>
                <a:ext uri="{FF2B5EF4-FFF2-40B4-BE49-F238E27FC236}">
                  <a16:creationId xmlns:a16="http://schemas.microsoft.com/office/drawing/2014/main" id="{CCE5E430-B064-596C-12D7-2B4AC59DB21C}"/>
                </a:ext>
              </a:extLst>
            </p:cNvPr>
            <p:cNvSpPr/>
            <p:nvPr/>
          </p:nvSpPr>
          <p:spPr bwMode="auto">
            <a:xfrm>
              <a:off x="32004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7" name="Rechteck 26">
              <a:extLst>
                <a:ext uri="{FF2B5EF4-FFF2-40B4-BE49-F238E27FC236}">
                  <a16:creationId xmlns:a16="http://schemas.microsoft.com/office/drawing/2014/main" id="{5E951954-4F9E-0BF1-C5C1-8D52CEC3ED04}"/>
                </a:ext>
              </a:extLst>
            </p:cNvPr>
            <p:cNvSpPr/>
            <p:nvPr/>
          </p:nvSpPr>
          <p:spPr bwMode="auto">
            <a:xfrm>
              <a:off x="32766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8" name="Rechteck 27">
              <a:extLst>
                <a:ext uri="{FF2B5EF4-FFF2-40B4-BE49-F238E27FC236}">
                  <a16:creationId xmlns:a16="http://schemas.microsoft.com/office/drawing/2014/main" id="{EEE55344-111F-866B-2F66-C8F4B3A253BF}"/>
                </a:ext>
              </a:extLst>
            </p:cNvPr>
            <p:cNvSpPr/>
            <p:nvPr/>
          </p:nvSpPr>
          <p:spPr bwMode="auto">
            <a:xfrm>
              <a:off x="33528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Rechteck 28">
              <a:extLst>
                <a:ext uri="{FF2B5EF4-FFF2-40B4-BE49-F238E27FC236}">
                  <a16:creationId xmlns:a16="http://schemas.microsoft.com/office/drawing/2014/main" id="{0809FB3F-B6DF-B997-8AE0-EB5892AADCFF}"/>
                </a:ext>
              </a:extLst>
            </p:cNvPr>
            <p:cNvSpPr/>
            <p:nvPr/>
          </p:nvSpPr>
          <p:spPr bwMode="auto">
            <a:xfrm>
              <a:off x="3429000" y="2910842"/>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Rechteck 31">
              <a:extLst>
                <a:ext uri="{FF2B5EF4-FFF2-40B4-BE49-F238E27FC236}">
                  <a16:creationId xmlns:a16="http://schemas.microsoft.com/office/drawing/2014/main" id="{EB4D2C40-5921-5AB3-7DC4-55F508A1E575}"/>
                </a:ext>
              </a:extLst>
            </p:cNvPr>
            <p:cNvSpPr/>
            <p:nvPr/>
          </p:nvSpPr>
          <p:spPr bwMode="auto">
            <a:xfrm>
              <a:off x="2286000" y="3368042"/>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Rechteck 32">
              <a:extLst>
                <a:ext uri="{FF2B5EF4-FFF2-40B4-BE49-F238E27FC236}">
                  <a16:creationId xmlns:a16="http://schemas.microsoft.com/office/drawing/2014/main" id="{5282DB60-9AE3-529B-C510-1B829E30ACFA}"/>
                </a:ext>
              </a:extLst>
            </p:cNvPr>
            <p:cNvSpPr/>
            <p:nvPr/>
          </p:nvSpPr>
          <p:spPr bwMode="auto">
            <a:xfrm>
              <a:off x="2286000" y="2788923"/>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5" name="Rechteck 34">
              <a:extLst>
                <a:ext uri="{FF2B5EF4-FFF2-40B4-BE49-F238E27FC236}">
                  <a16:creationId xmlns:a16="http://schemas.microsoft.com/office/drawing/2014/main" id="{10971C2C-7583-9776-B8ED-1D29C353960D}"/>
                </a:ext>
              </a:extLst>
            </p:cNvPr>
            <p:cNvSpPr/>
            <p:nvPr/>
          </p:nvSpPr>
          <p:spPr bwMode="auto">
            <a:xfrm rot="5400000">
              <a:off x="3291841" y="3078484"/>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Rechteck 35">
              <a:extLst>
                <a:ext uri="{FF2B5EF4-FFF2-40B4-BE49-F238E27FC236}">
                  <a16:creationId xmlns:a16="http://schemas.microsoft.com/office/drawing/2014/main" id="{F51DDB57-6C65-CCFD-6B8D-DD254FEBEB3A}"/>
                </a:ext>
              </a:extLst>
            </p:cNvPr>
            <p:cNvSpPr/>
            <p:nvPr/>
          </p:nvSpPr>
          <p:spPr bwMode="auto">
            <a:xfrm>
              <a:off x="914400" y="2834642"/>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39" name="Rechteck 38">
              <a:extLst>
                <a:ext uri="{FF2B5EF4-FFF2-40B4-BE49-F238E27FC236}">
                  <a16:creationId xmlns:a16="http://schemas.microsoft.com/office/drawing/2014/main" id="{8B4190D5-4457-ABDA-27D3-EFE4B14C5CE4}"/>
                </a:ext>
              </a:extLst>
            </p:cNvPr>
            <p:cNvSpPr/>
            <p:nvPr/>
          </p:nvSpPr>
          <p:spPr bwMode="auto">
            <a:xfrm>
              <a:off x="28956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Rechteck 39">
              <a:extLst>
                <a:ext uri="{FF2B5EF4-FFF2-40B4-BE49-F238E27FC236}">
                  <a16:creationId xmlns:a16="http://schemas.microsoft.com/office/drawing/2014/main" id="{F1CA5A73-FAFA-389A-BE61-8DC390E95F46}"/>
                </a:ext>
              </a:extLst>
            </p:cNvPr>
            <p:cNvSpPr/>
            <p:nvPr/>
          </p:nvSpPr>
          <p:spPr bwMode="auto">
            <a:xfrm>
              <a:off x="29718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Rechteck 40">
              <a:extLst>
                <a:ext uri="{FF2B5EF4-FFF2-40B4-BE49-F238E27FC236}">
                  <a16:creationId xmlns:a16="http://schemas.microsoft.com/office/drawing/2014/main" id="{88C2680C-E6CA-6044-7DA6-59C4624C2A4D}"/>
                </a:ext>
              </a:extLst>
            </p:cNvPr>
            <p:cNvSpPr/>
            <p:nvPr/>
          </p:nvSpPr>
          <p:spPr bwMode="auto">
            <a:xfrm>
              <a:off x="30480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Rechteck 41">
              <a:extLst>
                <a:ext uri="{FF2B5EF4-FFF2-40B4-BE49-F238E27FC236}">
                  <a16:creationId xmlns:a16="http://schemas.microsoft.com/office/drawing/2014/main" id="{CBC73969-3488-9076-6917-65C3418635B2}"/>
                </a:ext>
              </a:extLst>
            </p:cNvPr>
            <p:cNvSpPr/>
            <p:nvPr/>
          </p:nvSpPr>
          <p:spPr bwMode="auto">
            <a:xfrm>
              <a:off x="31242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Rechteck 42">
              <a:extLst>
                <a:ext uri="{FF2B5EF4-FFF2-40B4-BE49-F238E27FC236}">
                  <a16:creationId xmlns:a16="http://schemas.microsoft.com/office/drawing/2014/main" id="{95F7378E-C9F5-6A3A-9961-0DB1D5A0F1DC}"/>
                </a:ext>
              </a:extLst>
            </p:cNvPr>
            <p:cNvSpPr/>
            <p:nvPr/>
          </p:nvSpPr>
          <p:spPr bwMode="auto">
            <a:xfrm>
              <a:off x="32004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4" name="Rechteck 43">
              <a:extLst>
                <a:ext uri="{FF2B5EF4-FFF2-40B4-BE49-F238E27FC236}">
                  <a16:creationId xmlns:a16="http://schemas.microsoft.com/office/drawing/2014/main" id="{699C7179-CF00-74AC-990F-D4C008AAAF98}"/>
                </a:ext>
              </a:extLst>
            </p:cNvPr>
            <p:cNvSpPr/>
            <p:nvPr/>
          </p:nvSpPr>
          <p:spPr bwMode="auto">
            <a:xfrm>
              <a:off x="32766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5" name="Rechteck 44">
              <a:extLst>
                <a:ext uri="{FF2B5EF4-FFF2-40B4-BE49-F238E27FC236}">
                  <a16:creationId xmlns:a16="http://schemas.microsoft.com/office/drawing/2014/main" id="{93C79C1B-1F57-DC67-B96B-E4CEA85E286B}"/>
                </a:ext>
              </a:extLst>
            </p:cNvPr>
            <p:cNvSpPr/>
            <p:nvPr/>
          </p:nvSpPr>
          <p:spPr bwMode="auto">
            <a:xfrm>
              <a:off x="33528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6" name="Rechteck 45">
              <a:extLst>
                <a:ext uri="{FF2B5EF4-FFF2-40B4-BE49-F238E27FC236}">
                  <a16:creationId xmlns:a16="http://schemas.microsoft.com/office/drawing/2014/main" id="{01A31A53-18A1-53C6-10C2-46C9BCFF920B}"/>
                </a:ext>
              </a:extLst>
            </p:cNvPr>
            <p:cNvSpPr/>
            <p:nvPr/>
          </p:nvSpPr>
          <p:spPr bwMode="auto">
            <a:xfrm>
              <a:off x="3429000" y="3627121"/>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7" name="Rechteck 46">
              <a:extLst>
                <a:ext uri="{FF2B5EF4-FFF2-40B4-BE49-F238E27FC236}">
                  <a16:creationId xmlns:a16="http://schemas.microsoft.com/office/drawing/2014/main" id="{8893622C-19EA-A997-0C85-8C1A0AED6A2C}"/>
                </a:ext>
              </a:extLst>
            </p:cNvPr>
            <p:cNvSpPr/>
            <p:nvPr/>
          </p:nvSpPr>
          <p:spPr bwMode="auto">
            <a:xfrm>
              <a:off x="2286000" y="4084321"/>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8" name="Rechteck 47">
              <a:extLst>
                <a:ext uri="{FF2B5EF4-FFF2-40B4-BE49-F238E27FC236}">
                  <a16:creationId xmlns:a16="http://schemas.microsoft.com/office/drawing/2014/main" id="{0E10956D-8BC8-F5DD-0797-D7302C7634C2}"/>
                </a:ext>
              </a:extLst>
            </p:cNvPr>
            <p:cNvSpPr/>
            <p:nvPr/>
          </p:nvSpPr>
          <p:spPr bwMode="auto">
            <a:xfrm>
              <a:off x="2286000" y="3505202"/>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9" name="Rechteck 48">
              <a:extLst>
                <a:ext uri="{FF2B5EF4-FFF2-40B4-BE49-F238E27FC236}">
                  <a16:creationId xmlns:a16="http://schemas.microsoft.com/office/drawing/2014/main" id="{E8377DB4-53F1-DFDA-D860-C7CC222A4C22}"/>
                </a:ext>
              </a:extLst>
            </p:cNvPr>
            <p:cNvSpPr/>
            <p:nvPr/>
          </p:nvSpPr>
          <p:spPr bwMode="auto">
            <a:xfrm rot="5400000">
              <a:off x="3291841" y="3794763"/>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0" name="Rechteck 49">
              <a:extLst>
                <a:ext uri="{FF2B5EF4-FFF2-40B4-BE49-F238E27FC236}">
                  <a16:creationId xmlns:a16="http://schemas.microsoft.com/office/drawing/2014/main" id="{2A363140-6301-9A9F-1F54-498ED7B07BF2}"/>
                </a:ext>
              </a:extLst>
            </p:cNvPr>
            <p:cNvSpPr/>
            <p:nvPr/>
          </p:nvSpPr>
          <p:spPr bwMode="auto">
            <a:xfrm>
              <a:off x="914400" y="3550921"/>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54" name="Rechteck 53">
              <a:extLst>
                <a:ext uri="{FF2B5EF4-FFF2-40B4-BE49-F238E27FC236}">
                  <a16:creationId xmlns:a16="http://schemas.microsoft.com/office/drawing/2014/main" id="{C2D7FDCE-6FE6-6B7A-7F1F-D53D1AD9717F}"/>
                </a:ext>
              </a:extLst>
            </p:cNvPr>
            <p:cNvSpPr/>
            <p:nvPr/>
          </p:nvSpPr>
          <p:spPr bwMode="auto">
            <a:xfrm>
              <a:off x="29718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5" name="Rechteck 54">
              <a:extLst>
                <a:ext uri="{FF2B5EF4-FFF2-40B4-BE49-F238E27FC236}">
                  <a16:creationId xmlns:a16="http://schemas.microsoft.com/office/drawing/2014/main" id="{363DE526-1070-338E-FA2F-E5217B67DA1E}"/>
                </a:ext>
              </a:extLst>
            </p:cNvPr>
            <p:cNvSpPr/>
            <p:nvPr/>
          </p:nvSpPr>
          <p:spPr bwMode="auto">
            <a:xfrm>
              <a:off x="30480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6" name="Rechteck 55">
              <a:extLst>
                <a:ext uri="{FF2B5EF4-FFF2-40B4-BE49-F238E27FC236}">
                  <a16:creationId xmlns:a16="http://schemas.microsoft.com/office/drawing/2014/main" id="{AB593CCB-0630-58C4-F7DF-63255AE0DC91}"/>
                </a:ext>
              </a:extLst>
            </p:cNvPr>
            <p:cNvSpPr/>
            <p:nvPr/>
          </p:nvSpPr>
          <p:spPr bwMode="auto">
            <a:xfrm>
              <a:off x="31242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7" name="Rechteck 56">
              <a:extLst>
                <a:ext uri="{FF2B5EF4-FFF2-40B4-BE49-F238E27FC236}">
                  <a16:creationId xmlns:a16="http://schemas.microsoft.com/office/drawing/2014/main" id="{CA89FE4D-823D-2379-699A-646A531C1A6E}"/>
                </a:ext>
              </a:extLst>
            </p:cNvPr>
            <p:cNvSpPr/>
            <p:nvPr/>
          </p:nvSpPr>
          <p:spPr bwMode="auto">
            <a:xfrm>
              <a:off x="32004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8" name="Rechteck 57">
              <a:extLst>
                <a:ext uri="{FF2B5EF4-FFF2-40B4-BE49-F238E27FC236}">
                  <a16:creationId xmlns:a16="http://schemas.microsoft.com/office/drawing/2014/main" id="{41210261-2D43-185E-D0B3-95AD38DF9A6A}"/>
                </a:ext>
              </a:extLst>
            </p:cNvPr>
            <p:cNvSpPr/>
            <p:nvPr/>
          </p:nvSpPr>
          <p:spPr bwMode="auto">
            <a:xfrm>
              <a:off x="32766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9" name="Rechteck 58">
              <a:extLst>
                <a:ext uri="{FF2B5EF4-FFF2-40B4-BE49-F238E27FC236}">
                  <a16:creationId xmlns:a16="http://schemas.microsoft.com/office/drawing/2014/main" id="{0AB6E955-6466-B9D0-44D4-267D93511B44}"/>
                </a:ext>
              </a:extLst>
            </p:cNvPr>
            <p:cNvSpPr/>
            <p:nvPr/>
          </p:nvSpPr>
          <p:spPr bwMode="auto">
            <a:xfrm>
              <a:off x="33528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0" name="Rechteck 59">
              <a:extLst>
                <a:ext uri="{FF2B5EF4-FFF2-40B4-BE49-F238E27FC236}">
                  <a16:creationId xmlns:a16="http://schemas.microsoft.com/office/drawing/2014/main" id="{32CACA1A-4650-9BC0-3AAA-B62DCF3B8E7E}"/>
                </a:ext>
              </a:extLst>
            </p:cNvPr>
            <p:cNvSpPr/>
            <p:nvPr/>
          </p:nvSpPr>
          <p:spPr bwMode="auto">
            <a:xfrm>
              <a:off x="3429000" y="4343400"/>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1" name="Rechteck 60">
              <a:extLst>
                <a:ext uri="{FF2B5EF4-FFF2-40B4-BE49-F238E27FC236}">
                  <a16:creationId xmlns:a16="http://schemas.microsoft.com/office/drawing/2014/main" id="{4342F553-F82C-7210-F48E-F12541F373F0}"/>
                </a:ext>
              </a:extLst>
            </p:cNvPr>
            <p:cNvSpPr/>
            <p:nvPr/>
          </p:nvSpPr>
          <p:spPr bwMode="auto">
            <a:xfrm>
              <a:off x="2286000" y="4800600"/>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2" name="Rechteck 61">
              <a:extLst>
                <a:ext uri="{FF2B5EF4-FFF2-40B4-BE49-F238E27FC236}">
                  <a16:creationId xmlns:a16="http://schemas.microsoft.com/office/drawing/2014/main" id="{D860ACBC-CF88-8E99-F8B9-545A5A4A95FA}"/>
                </a:ext>
              </a:extLst>
            </p:cNvPr>
            <p:cNvSpPr/>
            <p:nvPr/>
          </p:nvSpPr>
          <p:spPr bwMode="auto">
            <a:xfrm>
              <a:off x="2286000" y="4221481"/>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3" name="Rechteck 62">
              <a:extLst>
                <a:ext uri="{FF2B5EF4-FFF2-40B4-BE49-F238E27FC236}">
                  <a16:creationId xmlns:a16="http://schemas.microsoft.com/office/drawing/2014/main" id="{CE09F97D-285E-B87C-B997-4BDE7D635AD0}"/>
                </a:ext>
              </a:extLst>
            </p:cNvPr>
            <p:cNvSpPr/>
            <p:nvPr/>
          </p:nvSpPr>
          <p:spPr bwMode="auto">
            <a:xfrm rot="5400000">
              <a:off x="3291841" y="4511042"/>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4" name="Rechteck 63">
              <a:extLst>
                <a:ext uri="{FF2B5EF4-FFF2-40B4-BE49-F238E27FC236}">
                  <a16:creationId xmlns:a16="http://schemas.microsoft.com/office/drawing/2014/main" id="{20366CCA-C0ED-6C2F-42AB-D1D653652848}"/>
                </a:ext>
              </a:extLst>
            </p:cNvPr>
            <p:cNvSpPr/>
            <p:nvPr/>
          </p:nvSpPr>
          <p:spPr bwMode="auto">
            <a:xfrm>
              <a:off x="914400" y="4267200"/>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84" name="Gruppierung 83">
              <a:extLst>
                <a:ext uri="{FF2B5EF4-FFF2-40B4-BE49-F238E27FC236}">
                  <a16:creationId xmlns:a16="http://schemas.microsoft.com/office/drawing/2014/main" id="{75C10BD9-6E9A-DED0-B7A3-EACDB1587C06}"/>
                </a:ext>
              </a:extLst>
            </p:cNvPr>
            <p:cNvGrpSpPr/>
            <p:nvPr/>
          </p:nvGrpSpPr>
          <p:grpSpPr>
            <a:xfrm>
              <a:off x="1905000" y="2910842"/>
              <a:ext cx="609600" cy="2529837"/>
              <a:chOff x="1905000" y="2910842"/>
              <a:chExt cx="609600" cy="2529837"/>
            </a:xfrm>
          </p:grpSpPr>
          <p:sp>
            <p:nvSpPr>
              <p:cNvPr id="11" name="Gestreifter Pfeil nach rechts 10">
                <a:extLst>
                  <a:ext uri="{FF2B5EF4-FFF2-40B4-BE49-F238E27FC236}">
                    <a16:creationId xmlns:a16="http://schemas.microsoft.com/office/drawing/2014/main" id="{8C99872E-1354-9C41-44A8-239CD376A404}"/>
                  </a:ext>
                </a:extLst>
              </p:cNvPr>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Gestreifter Pfeil nach rechts 36">
                <a:extLst>
                  <a:ext uri="{FF2B5EF4-FFF2-40B4-BE49-F238E27FC236}">
                    <a16:creationId xmlns:a16="http://schemas.microsoft.com/office/drawing/2014/main" id="{59810217-B315-8079-0D14-185FD09EF762}"/>
                  </a:ext>
                </a:extLst>
              </p:cNvPr>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1" name="Gestreifter Pfeil nach rechts 50">
                <a:extLst>
                  <a:ext uri="{FF2B5EF4-FFF2-40B4-BE49-F238E27FC236}">
                    <a16:creationId xmlns:a16="http://schemas.microsoft.com/office/drawing/2014/main" id="{4EF4BD6F-5CB6-07F9-7D7B-2C294C5C4367}"/>
                  </a:ext>
                </a:extLst>
              </p:cNvPr>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5" name="Gestreifter Pfeil nach rechts 64">
                <a:extLst>
                  <a:ext uri="{FF2B5EF4-FFF2-40B4-BE49-F238E27FC236}">
                    <a16:creationId xmlns:a16="http://schemas.microsoft.com/office/drawing/2014/main" id="{06BAFC73-2C27-091A-A232-0D285222A7D4}"/>
                  </a:ext>
                </a:extLst>
              </p:cNvPr>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72" name="Rechteck 71">
              <a:extLst>
                <a:ext uri="{FF2B5EF4-FFF2-40B4-BE49-F238E27FC236}">
                  <a16:creationId xmlns:a16="http://schemas.microsoft.com/office/drawing/2014/main" id="{9B5C43B5-FC2F-160A-F567-7053F45B8324}"/>
                </a:ext>
              </a:extLst>
            </p:cNvPr>
            <p:cNvSpPr/>
            <p:nvPr/>
          </p:nvSpPr>
          <p:spPr bwMode="auto">
            <a:xfrm>
              <a:off x="32766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3" name="Rechteck 72">
              <a:extLst>
                <a:ext uri="{FF2B5EF4-FFF2-40B4-BE49-F238E27FC236}">
                  <a16:creationId xmlns:a16="http://schemas.microsoft.com/office/drawing/2014/main" id="{0EEE4056-CDE9-FCAF-8915-FE65CFC2E6C6}"/>
                </a:ext>
              </a:extLst>
            </p:cNvPr>
            <p:cNvSpPr/>
            <p:nvPr/>
          </p:nvSpPr>
          <p:spPr bwMode="auto">
            <a:xfrm>
              <a:off x="33528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4" name="Rechteck 73">
              <a:extLst>
                <a:ext uri="{FF2B5EF4-FFF2-40B4-BE49-F238E27FC236}">
                  <a16:creationId xmlns:a16="http://schemas.microsoft.com/office/drawing/2014/main" id="{B96113C8-7DF6-80B2-6667-5B959F60A958}"/>
                </a:ext>
              </a:extLst>
            </p:cNvPr>
            <p:cNvSpPr/>
            <p:nvPr/>
          </p:nvSpPr>
          <p:spPr bwMode="auto">
            <a:xfrm>
              <a:off x="3429000" y="5059679"/>
              <a:ext cx="762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5" name="Rechteck 74">
              <a:extLst>
                <a:ext uri="{FF2B5EF4-FFF2-40B4-BE49-F238E27FC236}">
                  <a16:creationId xmlns:a16="http://schemas.microsoft.com/office/drawing/2014/main" id="{E2B9515A-AC8A-1D9F-590A-7AD92A288DFD}"/>
                </a:ext>
              </a:extLst>
            </p:cNvPr>
            <p:cNvSpPr/>
            <p:nvPr/>
          </p:nvSpPr>
          <p:spPr bwMode="auto">
            <a:xfrm>
              <a:off x="2286000" y="5516879"/>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6" name="Rechteck 75">
              <a:extLst>
                <a:ext uri="{FF2B5EF4-FFF2-40B4-BE49-F238E27FC236}">
                  <a16:creationId xmlns:a16="http://schemas.microsoft.com/office/drawing/2014/main" id="{BAF8F718-5E37-38DF-CEBB-772BFC903B64}"/>
                </a:ext>
              </a:extLst>
            </p:cNvPr>
            <p:cNvSpPr/>
            <p:nvPr/>
          </p:nvSpPr>
          <p:spPr bwMode="auto">
            <a:xfrm>
              <a:off x="2286000" y="4937760"/>
              <a:ext cx="1295400"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7" name="Rechteck 76">
              <a:extLst>
                <a:ext uri="{FF2B5EF4-FFF2-40B4-BE49-F238E27FC236}">
                  <a16:creationId xmlns:a16="http://schemas.microsoft.com/office/drawing/2014/main" id="{E03A7CF0-6AA4-1B65-7E3F-F869CEC16F97}"/>
                </a:ext>
              </a:extLst>
            </p:cNvPr>
            <p:cNvSpPr/>
            <p:nvPr/>
          </p:nvSpPr>
          <p:spPr bwMode="auto">
            <a:xfrm rot="5400000">
              <a:off x="3291841" y="5227321"/>
              <a:ext cx="624838" cy="45719"/>
            </a:xfrm>
            <a:prstGeom prst="rect">
              <a:avLst/>
            </a:prstGeom>
            <a:ln>
              <a:headEnd type="none" w="med" len="med"/>
              <a:tailEnd type="triangle" w="med" len="med"/>
            </a:ln>
          </p:spPr>
          <p:style>
            <a:lnRef idx="0">
              <a:schemeClr val="accent1"/>
            </a:lnRef>
            <a:fillRef idx="3">
              <a:schemeClr val="accent1"/>
            </a:fillRef>
            <a:effectRef idx="3">
              <a:schemeClr val="accent1"/>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8" name="Rechteck 77">
              <a:extLst>
                <a:ext uri="{FF2B5EF4-FFF2-40B4-BE49-F238E27FC236}">
                  <a16:creationId xmlns:a16="http://schemas.microsoft.com/office/drawing/2014/main" id="{971E27D7-4780-016D-F5F2-553A31B137AF}"/>
                </a:ext>
              </a:extLst>
            </p:cNvPr>
            <p:cNvSpPr/>
            <p:nvPr/>
          </p:nvSpPr>
          <p:spPr bwMode="auto">
            <a:xfrm>
              <a:off x="914400" y="4983479"/>
              <a:ext cx="838200" cy="5334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83" name="Gruppierung 82">
              <a:extLst>
                <a:ext uri="{FF2B5EF4-FFF2-40B4-BE49-F238E27FC236}">
                  <a16:creationId xmlns:a16="http://schemas.microsoft.com/office/drawing/2014/main" id="{95AE3495-23F6-34D8-7BB4-1CC0B8F44BA5}"/>
                </a:ext>
              </a:extLst>
            </p:cNvPr>
            <p:cNvGrpSpPr/>
            <p:nvPr/>
          </p:nvGrpSpPr>
          <p:grpSpPr>
            <a:xfrm>
              <a:off x="3733800" y="2910842"/>
              <a:ext cx="609600" cy="2529837"/>
              <a:chOff x="3810000" y="2895600"/>
              <a:chExt cx="609600" cy="2529837"/>
            </a:xfrm>
          </p:grpSpPr>
          <p:sp>
            <p:nvSpPr>
              <p:cNvPr id="79" name="Gestreifter Pfeil nach rechts 78">
                <a:extLst>
                  <a:ext uri="{FF2B5EF4-FFF2-40B4-BE49-F238E27FC236}">
                    <a16:creationId xmlns:a16="http://schemas.microsoft.com/office/drawing/2014/main" id="{D079749F-6BB3-29B3-7326-A1FCC524CE3A}"/>
                  </a:ext>
                </a:extLst>
              </p:cNvPr>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0" name="Gestreifter Pfeil nach rechts 79">
                <a:extLst>
                  <a:ext uri="{FF2B5EF4-FFF2-40B4-BE49-F238E27FC236}">
                    <a16:creationId xmlns:a16="http://schemas.microsoft.com/office/drawing/2014/main" id="{997DC97D-7FB4-21F5-78C9-A8304FD48CC7}"/>
                  </a:ext>
                </a:extLst>
              </p:cNvPr>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1" name="Gestreifter Pfeil nach rechts 80">
                <a:extLst>
                  <a:ext uri="{FF2B5EF4-FFF2-40B4-BE49-F238E27FC236}">
                    <a16:creationId xmlns:a16="http://schemas.microsoft.com/office/drawing/2014/main" id="{4B74B65C-396C-35D9-FE3E-5EB9CA1E6B3E}"/>
                  </a:ext>
                </a:extLst>
              </p:cNvPr>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2" name="Gestreifter Pfeil nach rechts 81">
                <a:extLst>
                  <a:ext uri="{FF2B5EF4-FFF2-40B4-BE49-F238E27FC236}">
                    <a16:creationId xmlns:a16="http://schemas.microsoft.com/office/drawing/2014/main" id="{90349238-D1A2-FE8B-CF48-0C02DB786FE8}"/>
                  </a:ext>
                </a:extLst>
              </p:cNvPr>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85" name="Rechteck 84">
              <a:extLst>
                <a:ext uri="{FF2B5EF4-FFF2-40B4-BE49-F238E27FC236}">
                  <a16:creationId xmlns:a16="http://schemas.microsoft.com/office/drawing/2014/main" id="{C0EAE882-ECCE-2348-E05C-81E7F0C2D067}"/>
                </a:ext>
              </a:extLst>
            </p:cNvPr>
            <p:cNvSpPr/>
            <p:nvPr/>
          </p:nvSpPr>
          <p:spPr bwMode="auto">
            <a:xfrm>
              <a:off x="4419600" y="2834641"/>
              <a:ext cx="838200" cy="268223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virtual collision</a:t>
              </a:r>
            </a:p>
          </p:txBody>
        </p:sp>
        <p:sp>
          <p:nvSpPr>
            <p:cNvPr id="87" name="Gestreifter Pfeil nach rechts 86">
              <a:extLst>
                <a:ext uri="{FF2B5EF4-FFF2-40B4-BE49-F238E27FC236}">
                  <a16:creationId xmlns:a16="http://schemas.microsoft.com/office/drawing/2014/main" id="{1DBFA0EF-2FBE-D38B-5109-323E4E6D5971}"/>
                </a:ext>
              </a:extLst>
            </p:cNvPr>
            <p:cNvSpPr/>
            <p:nvPr/>
          </p:nvSpPr>
          <p:spPr bwMode="auto">
            <a:xfrm>
              <a:off x="5334000" y="398525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4" name="Footer Placeholder 3">
            <a:extLst>
              <a:ext uri="{FF2B5EF4-FFF2-40B4-BE49-F238E27FC236}">
                <a16:creationId xmlns:a16="http://schemas.microsoft.com/office/drawing/2014/main" id="{FFA5A161-0D06-3A9F-59CA-729B2450075E}"/>
              </a:ext>
            </a:extLst>
          </p:cNvPr>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a:extLst>
              <a:ext uri="{FF2B5EF4-FFF2-40B4-BE49-F238E27FC236}">
                <a16:creationId xmlns:a16="http://schemas.microsoft.com/office/drawing/2014/main" id="{6606B8B5-3CF6-9973-9050-BAAD11D1E8D8}"/>
              </a:ext>
            </a:extLst>
          </p:cNvPr>
          <p:cNvSpPr>
            <a:spLocks noGrp="1"/>
          </p:cNvSpPr>
          <p:nvPr>
            <p:ph type="sldNum" sz="quarter" idx="12"/>
          </p:nvPr>
        </p:nvSpPr>
        <p:spPr/>
        <p:txBody>
          <a:bodyPr/>
          <a:lstStyle/>
          <a:p>
            <a:fld id="{73ED8BC7-2E15-43DB-8EF0-8ED7667633CE}" type="slidenum">
              <a:rPr lang="en-US" smtClean="0">
                <a:solidFill>
                  <a:prstClr val="black"/>
                </a:solidFill>
              </a:rPr>
              <a:pPr/>
              <a:t>70</a:t>
            </a:fld>
            <a:endParaRPr lang="en-US" dirty="0">
              <a:solidFill>
                <a:prstClr val="black"/>
              </a:solidFill>
            </a:endParaRPr>
          </a:p>
        </p:txBody>
      </p:sp>
    </p:spTree>
    <p:extLst>
      <p:ext uri="{BB962C8B-B14F-4D97-AF65-F5344CB8AC3E}">
        <p14:creationId xmlns:p14="http://schemas.microsoft.com/office/powerpoint/2010/main" val="96385829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a:xfrm>
            <a:off x="0" y="1282148"/>
            <a:ext cx="9134060" cy="4966252"/>
          </a:xfrm>
        </p:spPr>
        <p:txBody>
          <a:bodyPr/>
          <a:lstStyle/>
          <a:p>
            <a:r>
              <a:rPr lang="en-US" dirty="0"/>
              <a:t>QoS in 802.11p (HCF)</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71</a:t>
            </a:fld>
            <a:endParaRPr lang="en-US" dirty="0">
              <a:solidFill>
                <a:prstClr val="black"/>
              </a:solidFill>
            </a:endParaRPr>
          </a:p>
        </p:txBody>
      </p:sp>
      <p:sp>
        <p:nvSpPr>
          <p:cNvPr id="6" name="TextBox 5">
            <a:extLst>
              <a:ext uri="{FF2B5EF4-FFF2-40B4-BE49-F238E27FC236}">
                <a16:creationId xmlns:a16="http://schemas.microsoft.com/office/drawing/2014/main" id="{B0BC080B-0009-12D0-A59F-3E6B4E1FD8F6}"/>
              </a:ext>
            </a:extLst>
          </p:cNvPr>
          <p:cNvSpPr txBox="1"/>
          <p:nvPr/>
        </p:nvSpPr>
        <p:spPr>
          <a:xfrm>
            <a:off x="6877878" y="3429000"/>
            <a:ext cx="1888435" cy="2365513"/>
          </a:xfrm>
          <a:prstGeom prst="rect">
            <a:avLst/>
          </a:prstGeom>
          <a:noFill/>
        </p:spPr>
        <p:txBody>
          <a:bodyPr wrap="square" rtlCol="0">
            <a:spAutoFit/>
          </a:bodyPr>
          <a:lstStyle/>
          <a:p>
            <a:endParaRPr lang="en-US" dirty="0"/>
          </a:p>
        </p:txBody>
      </p:sp>
      <p:sp>
        <p:nvSpPr>
          <p:cNvPr id="7" name="Rectangle 1">
            <a:extLst>
              <a:ext uri="{FF2B5EF4-FFF2-40B4-BE49-F238E27FC236}">
                <a16:creationId xmlns:a16="http://schemas.microsoft.com/office/drawing/2014/main" id="{3A1AB733-7FEA-8BE2-5759-A2315C3B17BE}"/>
              </a:ext>
            </a:extLst>
          </p:cNvPr>
          <p:cNvSpPr>
            <a:spLocks noChangeArrowheads="1"/>
          </p:cNvSpPr>
          <p:nvPr/>
        </p:nvSpPr>
        <p:spPr bwMode="auto">
          <a:xfrm>
            <a:off x="280780" y="4369833"/>
            <a:ext cx="88532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hangingPunct="0">
              <a:buFontTx/>
              <a:buChar char="•"/>
            </a:pPr>
            <a:r>
              <a:rPr kumimoji="0" lang="en-US" altLang="en-US" sz="1800" b="1" i="0" u="none" strike="noStrike" cap="none" normalizeH="0" baseline="0" dirty="0">
                <a:ln>
                  <a:noFill/>
                </a:ln>
                <a:solidFill>
                  <a:srgbClr val="0070C0"/>
                </a:solidFill>
                <a:effectLst/>
                <a:latin typeface="Arial" panose="020B0604020202020204" pitchFamily="34" charset="0"/>
              </a:rPr>
              <a:t>AC_VO</a:t>
            </a:r>
            <a:r>
              <a:rPr kumimoji="0" lang="en-US" altLang="en-US" sz="1800" b="0" i="0" u="none" strike="noStrike" cap="none" normalizeH="0" baseline="0" dirty="0">
                <a:ln>
                  <a:noFill/>
                </a:ln>
                <a:solidFill>
                  <a:srgbClr val="0070C0"/>
                </a:solidFill>
                <a:effectLst/>
                <a:latin typeface="Arial" panose="020B0604020202020204" pitchFamily="34" charset="0"/>
              </a:rPr>
              <a:t> →</a:t>
            </a:r>
            <a:r>
              <a:rPr lang="en-US" dirty="0"/>
              <a:t> Priority (P):6-7  #</a:t>
            </a:r>
            <a:r>
              <a:rPr kumimoji="0" lang="en-US" altLang="en-US" sz="1800" b="0" i="0" u="none" strike="noStrike" cap="none" normalizeH="0" baseline="0" dirty="0">
                <a:ln>
                  <a:noFill/>
                </a:ln>
                <a:solidFill>
                  <a:srgbClr val="0070C0"/>
                </a:solidFill>
                <a:effectLst/>
                <a:latin typeface="Arial" panose="020B0604020202020204" pitchFamily="34" charset="0"/>
              </a:rPr>
              <a:t> </a:t>
            </a:r>
            <a:r>
              <a:rPr kumimoji="0" lang="en-US" altLang="en-US" sz="1800" b="0" i="0" u="none" strike="noStrike" cap="none" normalizeH="0" baseline="0" dirty="0">
                <a:ln>
                  <a:noFill/>
                </a:ln>
                <a:solidFill>
                  <a:srgbClr val="FF3300"/>
                </a:solidFill>
                <a:effectLst/>
                <a:latin typeface="Arial" panose="020B0604020202020204" pitchFamily="34" charset="0"/>
              </a:rPr>
              <a:t>Used for safety-critical messages </a:t>
            </a:r>
            <a:r>
              <a:rPr kumimoji="0" lang="en-US" altLang="en-US" sz="1800" b="0" i="0" u="none" strike="noStrike" cap="none" normalizeH="0" baseline="0" dirty="0">
                <a:ln>
                  <a:noFill/>
                </a:ln>
                <a:solidFill>
                  <a:srgbClr val="0070C0"/>
                </a:solidFill>
                <a:effectLst/>
                <a:latin typeface="Arial" panose="020B0604020202020204" pitchFamily="34" charset="0"/>
              </a:rPr>
              <a:t>(e.g., BSM) →                  				(</a:t>
            </a:r>
            <a:r>
              <a:rPr kumimoji="0" lang="en-US" altLang="en-US" sz="1800" b="0" i="0" u="none" strike="noStrike" cap="none" normalizeH="0" baseline="0" dirty="0">
                <a:ln>
                  <a:noFill/>
                </a:ln>
                <a:solidFill>
                  <a:srgbClr val="FF3300"/>
                </a:solidFill>
                <a:effectLst/>
                <a:latin typeface="Arial" panose="020B0604020202020204" pitchFamily="34" charset="0"/>
              </a:rPr>
              <a:t>shortest AIFS, smallest contention window</a:t>
            </a:r>
            <a:r>
              <a:rPr kumimoji="0" lang="en-US" altLang="en-US" sz="1800" b="0" i="0" u="none" strike="noStrike" cap="none" normalizeH="0" baseline="0" dirty="0">
                <a:ln>
                  <a:noFill/>
                </a:ln>
                <a:solidFill>
                  <a:srgbClr val="0070C0"/>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AC_VI</a:t>
            </a: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dirty="0"/>
              <a:t> Priority (P):4-5  # </a:t>
            </a:r>
            <a:r>
              <a:rPr kumimoji="0" lang="en-US" altLang="en-US" sz="1800" b="0" i="0" u="none" strike="noStrike" cap="none" normalizeH="0" baseline="0" dirty="0">
                <a:ln>
                  <a:noFill/>
                </a:ln>
                <a:solidFill>
                  <a:srgbClr val="00B050"/>
                </a:solidFill>
                <a:effectLst/>
                <a:latin typeface="Arial" panose="020B0604020202020204" pitchFamily="34" charset="0"/>
              </a:rPr>
              <a:t>Non-critical but time-sensitive infotainment.</a:t>
            </a: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AC_BE</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dirty="0"/>
              <a:t> Priority (P):1-3 #</a:t>
            </a:r>
            <a:r>
              <a:rPr kumimoji="0" lang="en-US" altLang="en-US" sz="1800" b="0" i="0" u="none" strike="noStrike" cap="none" normalizeH="0" baseline="0" dirty="0">
                <a:ln>
                  <a:noFill/>
                </a:ln>
                <a:solidFill>
                  <a:schemeClr val="tx1"/>
                </a:solidFill>
                <a:effectLst/>
                <a:latin typeface="Arial" panose="020B0604020202020204" pitchFamily="34" charset="0"/>
              </a:rPr>
              <a:t> Default for general data.</a:t>
            </a:r>
          </a:p>
          <a:p>
            <a:pPr lvl="0" eaLnBrk="0" hangingPunct="0">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AC_BK</a:t>
            </a:r>
            <a:r>
              <a:rPr kumimoji="0" lang="en-US" altLang="en-US" sz="1800" b="0" i="0" u="none" strike="noStrike" cap="none" normalizeH="0" baseline="0" dirty="0">
                <a:ln>
                  <a:noFill/>
                </a:ln>
                <a:solidFill>
                  <a:schemeClr val="tx1"/>
                </a:solidFill>
                <a:effectLst/>
                <a:latin typeface="Arial" panose="020B0604020202020204" pitchFamily="34" charset="0"/>
              </a:rPr>
              <a:t> → </a:t>
            </a:r>
            <a:r>
              <a:rPr lang="en-US" dirty="0"/>
              <a:t>Priority (P):0    #</a:t>
            </a:r>
            <a:r>
              <a:rPr kumimoji="0" lang="en-US" altLang="en-US" sz="1800" b="0" i="0" u="none" strike="noStrike" cap="none" normalizeH="0" baseline="0" dirty="0">
                <a:ln>
                  <a:noFill/>
                </a:ln>
                <a:solidFill>
                  <a:schemeClr val="tx1"/>
                </a:solidFill>
                <a:effectLst/>
                <a:latin typeface="Arial" panose="020B0604020202020204" pitchFamily="34" charset="0"/>
              </a:rPr>
              <a:t> Low-priority background updates.</a:t>
            </a:r>
          </a:p>
        </p:txBody>
      </p:sp>
      <p:sp>
        <p:nvSpPr>
          <p:cNvPr id="9" name="TextBox 8">
            <a:extLst>
              <a:ext uri="{FF2B5EF4-FFF2-40B4-BE49-F238E27FC236}">
                <a16:creationId xmlns:a16="http://schemas.microsoft.com/office/drawing/2014/main" id="{F516FB7D-0DE4-2E82-C140-3F2B35F03D85}"/>
              </a:ext>
            </a:extLst>
          </p:cNvPr>
          <p:cNvSpPr txBox="1"/>
          <p:nvPr/>
        </p:nvSpPr>
        <p:spPr>
          <a:xfrm>
            <a:off x="566531" y="2097950"/>
            <a:ext cx="8199782" cy="1938992"/>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accent2"/>
                </a:solidFill>
                <a:latin typeface="+mn-lt"/>
              </a:rPr>
              <a:t>IEEE 802.11e defines 8 possible priorities (0–7), </a:t>
            </a:r>
          </a:p>
          <a:p>
            <a:pPr marL="342900" indent="-342900">
              <a:buFont typeface="Arial" panose="020B0604020202020204" pitchFamily="34" charset="0"/>
              <a:buChar char="•"/>
            </a:pPr>
            <a:r>
              <a:rPr lang="en-US" sz="2000" dirty="0">
                <a:latin typeface="+mn-lt"/>
              </a:rPr>
              <a:t>but </a:t>
            </a:r>
            <a:r>
              <a:rPr lang="en-US" sz="2000" dirty="0">
                <a:solidFill>
                  <a:srgbClr val="0070C0"/>
                </a:solidFill>
                <a:latin typeface="+mn-lt"/>
              </a:rPr>
              <a:t>EDCA only supports 4 queues in hardware:</a:t>
            </a:r>
          </a:p>
          <a:p>
            <a:pPr marL="800100" lvl="1" indent="-342900">
              <a:buFont typeface="Arial" panose="020B0604020202020204" pitchFamily="34" charset="0"/>
              <a:buChar char="•"/>
            </a:pPr>
            <a:r>
              <a:rPr lang="en-US" sz="2000" dirty="0">
                <a:latin typeface="+mn-lt"/>
              </a:rPr>
              <a:t>AC_VO (Voice)</a:t>
            </a:r>
          </a:p>
          <a:p>
            <a:pPr marL="800100" lvl="1" indent="-342900">
              <a:buFont typeface="Arial" panose="020B0604020202020204" pitchFamily="34" charset="0"/>
              <a:buChar char="•"/>
            </a:pPr>
            <a:r>
              <a:rPr lang="en-US" sz="2000" dirty="0">
                <a:latin typeface="+mn-lt"/>
              </a:rPr>
              <a:t>AC_VI (Video)</a:t>
            </a:r>
          </a:p>
          <a:p>
            <a:pPr marL="800100" lvl="1" indent="-342900">
              <a:buFont typeface="Arial" panose="020B0604020202020204" pitchFamily="34" charset="0"/>
              <a:buChar char="•"/>
            </a:pPr>
            <a:r>
              <a:rPr lang="en-US" sz="2000" dirty="0">
                <a:latin typeface="+mn-lt"/>
              </a:rPr>
              <a:t>AC_BE (Best Effort)</a:t>
            </a:r>
          </a:p>
          <a:p>
            <a:pPr marL="800100" lvl="1" indent="-342900">
              <a:buFont typeface="Arial" panose="020B0604020202020204" pitchFamily="34" charset="0"/>
              <a:buChar char="•"/>
            </a:pPr>
            <a:r>
              <a:rPr lang="en-US" sz="2000" dirty="0">
                <a:latin typeface="+mn-lt"/>
              </a:rPr>
              <a:t>AC_BK (Background)</a:t>
            </a:r>
          </a:p>
        </p:txBody>
      </p:sp>
    </p:spTree>
    <p:extLst>
      <p:ext uri="{BB962C8B-B14F-4D97-AF65-F5344CB8AC3E}">
        <p14:creationId xmlns:p14="http://schemas.microsoft.com/office/powerpoint/2010/main" val="4153085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a:xfrm>
            <a:off x="228600" y="1302026"/>
            <a:ext cx="8686800" cy="4946374"/>
          </a:xfrm>
        </p:spPr>
        <p:txBody>
          <a:bodyPr/>
          <a:lstStyle/>
          <a:p>
            <a:r>
              <a:rPr lang="en-US" dirty="0"/>
              <a:t>QoS in 802.11p (HCF)</a:t>
            </a:r>
          </a:p>
          <a:p>
            <a:pPr lvl="1"/>
            <a:r>
              <a:rPr lang="en-US" dirty="0"/>
              <a:t>Parameterization</a:t>
            </a:r>
          </a:p>
          <a:p>
            <a:pPr lvl="1"/>
            <a:endParaRPr lang="en-US" dirty="0"/>
          </a:p>
          <a:p>
            <a:pPr lvl="1"/>
            <a:endParaRPr lang="en-US" dirty="0"/>
          </a:p>
          <a:p>
            <a:pPr lvl="1"/>
            <a:endParaRPr lang="en-US" dirty="0"/>
          </a:p>
          <a:p>
            <a:pPr lvl="1"/>
            <a:endParaRPr lang="en-US" dirty="0"/>
          </a:p>
          <a:p>
            <a:pPr lvl="1"/>
            <a:endParaRPr lang="en-US" dirty="0"/>
          </a:p>
          <a:p>
            <a:pPr marL="457200" lvl="1" indent="0">
              <a:buNone/>
            </a:pPr>
            <a:endParaRPr lang="en-US" dirty="0"/>
          </a:p>
          <a:p>
            <a:pPr lvl="1"/>
            <a:r>
              <a:rPr lang="en-US" dirty="0"/>
              <a:t>Sample queue configuration</a:t>
            </a:r>
          </a:p>
          <a:p>
            <a:pPr lvl="1"/>
            <a:endParaRPr lang="en-US" dirty="0"/>
          </a:p>
        </p:txBody>
      </p:sp>
      <p:graphicFrame>
        <p:nvGraphicFramePr>
          <p:cNvPr id="4" name="Tabelle 3"/>
          <p:cNvGraphicFramePr>
            <a:graphicFrameLocks noGrp="1"/>
          </p:cNvGraphicFramePr>
          <p:nvPr>
            <p:extLst>
              <p:ext uri="{D42A27DB-BD31-4B8C-83A1-F6EECF244321}">
                <p14:modId xmlns:p14="http://schemas.microsoft.com/office/powerpoint/2010/main" val="2596772392"/>
              </p:ext>
            </p:extLst>
          </p:nvPr>
        </p:nvGraphicFramePr>
        <p:xfrm>
          <a:off x="1580586" y="2681328"/>
          <a:ext cx="5976000" cy="1645920"/>
        </p:xfrm>
        <a:graphic>
          <a:graphicData uri="http://schemas.openxmlformats.org/drawingml/2006/table">
            <a:tbl>
              <a:tblPr firstRow="1" bandRow="1">
                <a:tableStyleId>{5C22544A-7EE6-4342-B048-85BDC9FD1C3A}</a:tableStyleId>
              </a:tblPr>
              <a:tblGrid>
                <a:gridCol w="2988000">
                  <a:extLst>
                    <a:ext uri="{9D8B030D-6E8A-4147-A177-3AD203B41FA5}">
                      <a16:colId xmlns:a16="http://schemas.microsoft.com/office/drawing/2014/main" val="20000"/>
                    </a:ext>
                  </a:extLst>
                </a:gridCol>
                <a:gridCol w="2988000">
                  <a:extLst>
                    <a:ext uri="{9D8B030D-6E8A-4147-A177-3AD203B41FA5}">
                      <a16:colId xmlns:a16="http://schemas.microsoft.com/office/drawing/2014/main" val="20001"/>
                    </a:ext>
                  </a:extLst>
                </a:gridCol>
              </a:tblGrid>
              <a:tr h="252000">
                <a:tc>
                  <a:txBody>
                    <a:bodyPr/>
                    <a:lstStyle/>
                    <a:p>
                      <a:r>
                        <a:rPr lang="de-DE" sz="1200" dirty="0"/>
                        <a:t>Parameter</a:t>
                      </a:r>
                    </a:p>
                  </a:txBody>
                  <a:tcPr/>
                </a:tc>
                <a:tc>
                  <a:txBody>
                    <a:bodyPr/>
                    <a:lstStyle/>
                    <a:p>
                      <a:r>
                        <a:rPr lang="de-DE" sz="1200" dirty="0"/>
                        <a:t>Value</a:t>
                      </a:r>
                    </a:p>
                  </a:txBody>
                  <a:tcPr/>
                </a:tc>
                <a:extLst>
                  <a:ext uri="{0D108BD9-81ED-4DB2-BD59-A6C34878D82A}">
                    <a16:rowId xmlns:a16="http://schemas.microsoft.com/office/drawing/2014/main" val="10000"/>
                  </a:ext>
                </a:extLst>
              </a:tr>
              <a:tr h="252000">
                <a:tc>
                  <a:txBody>
                    <a:bodyPr/>
                    <a:lstStyle/>
                    <a:p>
                      <a:r>
                        <a:rPr lang="de-DE" sz="1200" dirty="0" err="1"/>
                        <a:t>SlotTime</a:t>
                      </a:r>
                      <a:endParaRPr lang="de-DE" sz="1200" dirty="0"/>
                    </a:p>
                  </a:txBody>
                  <a:tcPr/>
                </a:tc>
                <a:tc>
                  <a:txBody>
                    <a:bodyPr/>
                    <a:lstStyle/>
                    <a:p>
                      <a:r>
                        <a:rPr lang="de-DE" sz="1200" dirty="0"/>
                        <a:t>13µs</a:t>
                      </a:r>
                    </a:p>
                  </a:txBody>
                  <a:tcPr/>
                </a:tc>
                <a:extLst>
                  <a:ext uri="{0D108BD9-81ED-4DB2-BD59-A6C34878D82A}">
                    <a16:rowId xmlns:a16="http://schemas.microsoft.com/office/drawing/2014/main" val="10001"/>
                  </a:ext>
                </a:extLst>
              </a:tr>
              <a:tr h="252000">
                <a:tc>
                  <a:txBody>
                    <a:bodyPr/>
                    <a:lstStyle/>
                    <a:p>
                      <a:r>
                        <a:rPr lang="de-DE" sz="1200" dirty="0"/>
                        <a:t>SIFS</a:t>
                      </a:r>
                    </a:p>
                  </a:txBody>
                  <a:tcPr/>
                </a:tc>
                <a:tc>
                  <a:txBody>
                    <a:bodyPr/>
                    <a:lstStyle/>
                    <a:p>
                      <a:r>
                        <a:rPr lang="de-DE" sz="1200" dirty="0"/>
                        <a:t>32µs</a:t>
                      </a:r>
                    </a:p>
                  </a:txBody>
                  <a:tcPr/>
                </a:tc>
                <a:extLst>
                  <a:ext uri="{0D108BD9-81ED-4DB2-BD59-A6C34878D82A}">
                    <a16:rowId xmlns:a16="http://schemas.microsoft.com/office/drawing/2014/main" val="10002"/>
                  </a:ext>
                </a:extLst>
              </a:tr>
              <a:tr h="252000">
                <a:tc>
                  <a:txBody>
                    <a:bodyPr/>
                    <a:lstStyle/>
                    <a:p>
                      <a:r>
                        <a:rPr lang="de-DE" sz="1200" dirty="0" err="1"/>
                        <a:t>CW</a:t>
                      </a:r>
                      <a:r>
                        <a:rPr lang="de-DE" sz="1200" baseline="-25000" dirty="0" err="1"/>
                        <a:t>min</a:t>
                      </a:r>
                      <a:endParaRPr lang="de-DE" sz="1200" baseline="-25000" dirty="0"/>
                    </a:p>
                  </a:txBody>
                  <a:tcPr/>
                </a:tc>
                <a:tc>
                  <a:txBody>
                    <a:bodyPr/>
                    <a:lstStyle/>
                    <a:p>
                      <a:r>
                        <a:rPr lang="de-DE" sz="1200" dirty="0"/>
                        <a:t>15</a:t>
                      </a:r>
                    </a:p>
                  </a:txBody>
                  <a:tcPr/>
                </a:tc>
                <a:extLst>
                  <a:ext uri="{0D108BD9-81ED-4DB2-BD59-A6C34878D82A}">
                    <a16:rowId xmlns:a16="http://schemas.microsoft.com/office/drawing/2014/main" val="10003"/>
                  </a:ext>
                </a:extLst>
              </a:tr>
              <a:tr h="252000">
                <a:tc>
                  <a:txBody>
                    <a:bodyPr/>
                    <a:lstStyle/>
                    <a:p>
                      <a:r>
                        <a:rPr lang="de-DE" sz="1200" dirty="0" err="1"/>
                        <a:t>CW</a:t>
                      </a:r>
                      <a:r>
                        <a:rPr lang="de-DE" sz="1200" baseline="-25000" dirty="0" err="1"/>
                        <a:t>max</a:t>
                      </a:r>
                      <a:endParaRPr lang="de-DE" sz="1200" baseline="-25000" dirty="0"/>
                    </a:p>
                  </a:txBody>
                  <a:tcPr/>
                </a:tc>
                <a:tc>
                  <a:txBody>
                    <a:bodyPr/>
                    <a:lstStyle/>
                    <a:p>
                      <a:r>
                        <a:rPr lang="de-DE" sz="1200" dirty="0"/>
                        <a:t>1023</a:t>
                      </a:r>
                    </a:p>
                  </a:txBody>
                  <a:tcPr/>
                </a:tc>
                <a:extLst>
                  <a:ext uri="{0D108BD9-81ED-4DB2-BD59-A6C34878D82A}">
                    <a16:rowId xmlns:a16="http://schemas.microsoft.com/office/drawing/2014/main" val="10004"/>
                  </a:ext>
                </a:extLst>
              </a:tr>
              <a:tr h="252000">
                <a:tc>
                  <a:txBody>
                    <a:bodyPr/>
                    <a:lstStyle/>
                    <a:p>
                      <a:r>
                        <a:rPr lang="de-DE" sz="1200" dirty="0"/>
                        <a:t>Bandwidth</a:t>
                      </a:r>
                    </a:p>
                  </a:txBody>
                  <a:tcPr/>
                </a:tc>
                <a:tc>
                  <a:txBody>
                    <a:bodyPr/>
                    <a:lstStyle/>
                    <a:p>
                      <a:r>
                        <a:rPr lang="de-DE" sz="1200" dirty="0"/>
                        <a:t>3 .. 27 mbit/s</a:t>
                      </a:r>
                    </a:p>
                  </a:txBody>
                  <a:tcPr/>
                </a:tc>
                <a:extLst>
                  <a:ext uri="{0D108BD9-81ED-4DB2-BD59-A6C34878D82A}">
                    <a16:rowId xmlns:a16="http://schemas.microsoft.com/office/drawing/2014/main" val="10005"/>
                  </a:ext>
                </a:extLst>
              </a:tr>
            </a:tbl>
          </a:graphicData>
        </a:graphic>
      </p:graphicFrame>
      <p:graphicFrame>
        <p:nvGraphicFramePr>
          <p:cNvPr id="7" name="Tabelle 6"/>
          <p:cNvGraphicFramePr>
            <a:graphicFrameLocks noGrp="1"/>
          </p:cNvGraphicFramePr>
          <p:nvPr>
            <p:extLst>
              <p:ext uri="{D42A27DB-BD31-4B8C-83A1-F6EECF244321}">
                <p14:modId xmlns:p14="http://schemas.microsoft.com/office/powerpoint/2010/main" val="629452546"/>
              </p:ext>
            </p:extLst>
          </p:nvPr>
        </p:nvGraphicFramePr>
        <p:xfrm>
          <a:off x="537269" y="4546054"/>
          <a:ext cx="7920880" cy="1152000"/>
        </p:xfrm>
        <a:graphic>
          <a:graphicData uri="http://schemas.openxmlformats.org/drawingml/2006/table">
            <a:tbl>
              <a:tblPr firstRow="1" bandRow="1">
                <a:tableStyleId>{5C22544A-7EE6-4342-B048-85BDC9FD1C3A}</a:tableStyleId>
              </a:tblPr>
              <a:tblGrid>
                <a:gridCol w="1766925">
                  <a:extLst>
                    <a:ext uri="{9D8B030D-6E8A-4147-A177-3AD203B41FA5}">
                      <a16:colId xmlns:a16="http://schemas.microsoft.com/office/drawing/2014/main" val="20000"/>
                    </a:ext>
                  </a:extLst>
                </a:gridCol>
                <a:gridCol w="1185404">
                  <a:extLst>
                    <a:ext uri="{9D8B030D-6E8A-4147-A177-3AD203B41FA5}">
                      <a16:colId xmlns:a16="http://schemas.microsoft.com/office/drawing/2014/main" val="20001"/>
                    </a:ext>
                  </a:extLst>
                </a:gridCol>
                <a:gridCol w="1152128">
                  <a:extLst>
                    <a:ext uri="{9D8B030D-6E8A-4147-A177-3AD203B41FA5}">
                      <a16:colId xmlns:a16="http://schemas.microsoft.com/office/drawing/2014/main" val="20002"/>
                    </a:ext>
                  </a:extLst>
                </a:gridCol>
                <a:gridCol w="1800200">
                  <a:extLst>
                    <a:ext uri="{9D8B030D-6E8A-4147-A177-3AD203B41FA5}">
                      <a16:colId xmlns:a16="http://schemas.microsoft.com/office/drawing/2014/main" val="20003"/>
                    </a:ext>
                  </a:extLst>
                </a:gridCol>
                <a:gridCol w="2016223">
                  <a:extLst>
                    <a:ext uri="{9D8B030D-6E8A-4147-A177-3AD203B41FA5}">
                      <a16:colId xmlns:a16="http://schemas.microsoft.com/office/drawing/2014/main" val="20004"/>
                    </a:ext>
                  </a:extLst>
                </a:gridCol>
              </a:tblGrid>
              <a:tr h="288000">
                <a:tc>
                  <a:txBody>
                    <a:bodyPr/>
                    <a:lstStyle/>
                    <a:p>
                      <a:r>
                        <a:rPr lang="de-DE" sz="1200" dirty="0"/>
                        <a:t>Parameter</a:t>
                      </a:r>
                    </a:p>
                  </a:txBody>
                  <a:tcPr/>
                </a:tc>
                <a:tc>
                  <a:txBody>
                    <a:bodyPr/>
                    <a:lstStyle/>
                    <a:p>
                      <a:r>
                        <a:rPr lang="de-DE" sz="1200" dirty="0"/>
                        <a:t>AC_BK</a:t>
                      </a:r>
                    </a:p>
                  </a:txBody>
                  <a:tcPr/>
                </a:tc>
                <a:tc>
                  <a:txBody>
                    <a:bodyPr/>
                    <a:lstStyle/>
                    <a:p>
                      <a:r>
                        <a:rPr lang="de-DE" sz="1200" dirty="0"/>
                        <a:t>AC_BE</a:t>
                      </a:r>
                    </a:p>
                  </a:txBody>
                  <a:tcPr/>
                </a:tc>
                <a:tc>
                  <a:txBody>
                    <a:bodyPr/>
                    <a:lstStyle/>
                    <a:p>
                      <a:r>
                        <a:rPr lang="de-DE" sz="1200" dirty="0"/>
                        <a:t>AC_VI</a:t>
                      </a:r>
                    </a:p>
                  </a:txBody>
                  <a:tcPr/>
                </a:tc>
                <a:tc>
                  <a:txBody>
                    <a:bodyPr/>
                    <a:lstStyle/>
                    <a:p>
                      <a:r>
                        <a:rPr lang="de-DE" sz="1200" dirty="0"/>
                        <a:t>AC_VO</a:t>
                      </a:r>
                    </a:p>
                  </a:txBody>
                  <a:tcPr/>
                </a:tc>
                <a:extLst>
                  <a:ext uri="{0D108BD9-81ED-4DB2-BD59-A6C34878D82A}">
                    <a16:rowId xmlns:a16="http://schemas.microsoft.com/office/drawing/2014/main" val="10000"/>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+1)/2]-1</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+1)/4]-1</a:t>
                      </a:r>
                      <a:endParaRPr lang="de-DE" sz="1200" dirty="0"/>
                    </a:p>
                  </a:txBody>
                  <a:tcPr/>
                </a:tc>
                <a:extLst>
                  <a:ext uri="{0D108BD9-81ED-4DB2-BD59-A6C34878D82A}">
                    <a16:rowId xmlns:a16="http://schemas.microsoft.com/office/drawing/2014/main" val="10001"/>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max</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CW</a:t>
                      </a:r>
                      <a:r>
                        <a:rPr lang="de-DE" sz="1200" baseline="-25000" dirty="0" err="1"/>
                        <a:t>min</a:t>
                      </a:r>
                      <a:endParaRPr lang="de-DE" sz="1200" baseline="-250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a:t>[(CW</a:t>
                      </a:r>
                      <a:r>
                        <a:rPr lang="de-DE" sz="1200" baseline="-25000" dirty="0"/>
                        <a:t>min</a:t>
                      </a:r>
                      <a:r>
                        <a:rPr lang="de-DE" sz="1200" baseline="0" dirty="0"/>
                        <a:t>+1)/2]-1</a:t>
                      </a:r>
                      <a:endParaRPr lang="de-DE" sz="1200" dirty="0"/>
                    </a:p>
                  </a:txBody>
                  <a:tcPr/>
                </a:tc>
                <a:extLst>
                  <a:ext uri="{0D108BD9-81ED-4DB2-BD59-A6C34878D82A}">
                    <a16:rowId xmlns:a16="http://schemas.microsoft.com/office/drawing/2014/main" val="10002"/>
                  </a:ext>
                </a:extLst>
              </a:tr>
              <a:tr h="288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200" dirty="0" err="1"/>
                        <a:t>AIFSn</a:t>
                      </a:r>
                      <a:endParaRPr lang="de-DE" sz="1200" dirty="0"/>
                    </a:p>
                  </a:txBody>
                  <a:tcPr/>
                </a:tc>
                <a:tc>
                  <a:txBody>
                    <a:bodyPr/>
                    <a:lstStyle/>
                    <a:p>
                      <a:r>
                        <a:rPr lang="de-DE" sz="1200" dirty="0"/>
                        <a:t>9</a:t>
                      </a:r>
                    </a:p>
                  </a:txBody>
                  <a:tcPr/>
                </a:tc>
                <a:tc>
                  <a:txBody>
                    <a:bodyPr/>
                    <a:lstStyle/>
                    <a:p>
                      <a:r>
                        <a:rPr lang="de-DE" sz="1200" dirty="0"/>
                        <a:t>6</a:t>
                      </a:r>
                    </a:p>
                  </a:txBody>
                  <a:tcPr/>
                </a:tc>
                <a:tc>
                  <a:txBody>
                    <a:bodyPr/>
                    <a:lstStyle/>
                    <a:p>
                      <a:r>
                        <a:rPr lang="de-DE" sz="1200" dirty="0"/>
                        <a:t>3</a:t>
                      </a:r>
                    </a:p>
                  </a:txBody>
                  <a:tcPr/>
                </a:tc>
                <a:tc>
                  <a:txBody>
                    <a:bodyPr/>
                    <a:lstStyle/>
                    <a:p>
                      <a:r>
                        <a:rPr lang="de-DE" sz="1200" dirty="0"/>
                        <a:t>2</a:t>
                      </a:r>
                    </a:p>
                  </a:txBody>
                  <a:tcPr/>
                </a:tc>
                <a:extLst>
                  <a:ext uri="{0D108BD9-81ED-4DB2-BD59-A6C34878D82A}">
                    <a16:rowId xmlns:a16="http://schemas.microsoft.com/office/drawing/2014/main" val="10003"/>
                  </a:ext>
                </a:extLst>
              </a:tr>
            </a:tbl>
          </a:graphicData>
        </a:graphic>
      </p:graphicFrame>
      <p:sp>
        <p:nvSpPr>
          <p:cNvPr id="5" name="Footer Placeholder 4"/>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6" name="Slide Number Placeholder 5"/>
          <p:cNvSpPr>
            <a:spLocks noGrp="1"/>
          </p:cNvSpPr>
          <p:nvPr>
            <p:ph type="sldNum" sz="quarter" idx="12"/>
          </p:nvPr>
        </p:nvSpPr>
        <p:spPr/>
        <p:txBody>
          <a:bodyPr/>
          <a:lstStyle/>
          <a:p>
            <a:fld id="{73ED8BC7-2E15-43DB-8EF0-8ED7667633CE}" type="slidenum">
              <a:rPr lang="en-US" smtClean="0">
                <a:solidFill>
                  <a:prstClr val="black"/>
                </a:solidFill>
              </a:rPr>
              <a:pPr/>
              <a:t>72</a:t>
            </a:fld>
            <a:endParaRPr lang="en-US" dirty="0">
              <a:solidFill>
                <a:prstClr val="black"/>
              </a:solidFill>
            </a:endParaRPr>
          </a:p>
        </p:txBody>
      </p:sp>
    </p:spTree>
    <p:extLst>
      <p:ext uri="{BB962C8B-B14F-4D97-AF65-F5344CB8AC3E}">
        <p14:creationId xmlns:p14="http://schemas.microsoft.com/office/powerpoint/2010/main" val="26721288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1417718" y="1978375"/>
            <a:ext cx="6669156" cy="258417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208722" y="4844502"/>
            <a:ext cx="8488017" cy="774663"/>
          </a:xfrm>
          <a:prstGeom prst="rect">
            <a:avLst/>
          </a:prstGeom>
        </p:spPr>
        <p:txBody>
          <a:bodyPr vert="horz" wrap="square" lIns="0" tIns="52669" rIns="0" bIns="0" rtlCol="0">
            <a:spAutoFit/>
          </a:bodyPr>
          <a:lstStyle/>
          <a:p>
            <a:pPr marL="303531" marR="89049" indent="-293214">
              <a:lnSpc>
                <a:spcPct val="80000"/>
              </a:lnSpc>
              <a:spcBef>
                <a:spcPts val="414"/>
              </a:spcBef>
              <a:buClr>
                <a:srgbClr val="00659A"/>
              </a:buClr>
              <a:buSzPct val="87500"/>
              <a:buFont typeface="Liberation Sans"/>
              <a:buChar char="◗"/>
              <a:tabLst>
                <a:tab pos="303531" algn="l"/>
                <a:tab pos="304074" algn="l"/>
              </a:tabLst>
            </a:pPr>
            <a:r>
              <a:rPr sz="1368" spc="-30" dirty="0">
                <a:latin typeface="Trebuchet MS"/>
                <a:cs typeface="Trebuchet MS"/>
              </a:rPr>
              <a:t>After </a:t>
            </a:r>
            <a:r>
              <a:rPr sz="1368" spc="-34" dirty="0">
                <a:latin typeface="Trebuchet MS"/>
                <a:cs typeface="Trebuchet MS"/>
              </a:rPr>
              <a:t>detecting the medium </a:t>
            </a:r>
            <a:r>
              <a:rPr sz="1368" spc="-21" dirty="0">
                <a:latin typeface="Trebuchet MS"/>
                <a:cs typeface="Trebuchet MS"/>
              </a:rPr>
              <a:t>being </a:t>
            </a:r>
            <a:r>
              <a:rPr sz="1368" spc="-64" dirty="0">
                <a:latin typeface="Trebuchet MS"/>
                <a:cs typeface="Trebuchet MS"/>
              </a:rPr>
              <a:t>idle </a:t>
            </a:r>
            <a:r>
              <a:rPr sz="1368" spc="-26" dirty="0">
                <a:latin typeface="Trebuchet MS"/>
                <a:cs typeface="Trebuchet MS"/>
              </a:rPr>
              <a:t>for </a:t>
            </a:r>
            <a:r>
              <a:rPr sz="1368" spc="-47" dirty="0">
                <a:latin typeface="Trebuchet MS"/>
                <a:cs typeface="Trebuchet MS"/>
              </a:rPr>
              <a:t>a </a:t>
            </a:r>
            <a:r>
              <a:rPr sz="1368" spc="-34" dirty="0">
                <a:latin typeface="Trebuchet MS"/>
                <a:cs typeface="Trebuchet MS"/>
              </a:rPr>
              <a:t>duration </a:t>
            </a:r>
            <a:r>
              <a:rPr sz="1368" spc="-9" dirty="0">
                <a:latin typeface="Trebuchet MS"/>
                <a:cs typeface="Trebuchet MS"/>
              </a:rPr>
              <a:t>of AIFS[AC] </a:t>
            </a:r>
            <a:r>
              <a:rPr sz="1368" spc="-34" dirty="0">
                <a:latin typeface="Trebuchet MS"/>
                <a:cs typeface="Trebuchet MS"/>
              </a:rPr>
              <a:t>(Arbitration  </a:t>
            </a:r>
            <a:r>
              <a:rPr sz="1368" spc="-38" dirty="0">
                <a:latin typeface="Trebuchet MS"/>
                <a:cs typeface="Trebuchet MS"/>
              </a:rPr>
              <a:t>Interframe</a:t>
            </a:r>
            <a:r>
              <a:rPr sz="1368" spc="-128" dirty="0">
                <a:latin typeface="Trebuchet MS"/>
                <a:cs typeface="Trebuchet MS"/>
              </a:rPr>
              <a:t> </a:t>
            </a:r>
            <a:r>
              <a:rPr sz="1368" spc="-47" dirty="0">
                <a:latin typeface="Trebuchet MS"/>
                <a:cs typeface="Trebuchet MS"/>
              </a:rPr>
              <a:t>Space),</a:t>
            </a:r>
            <a:r>
              <a:rPr sz="1368" spc="-115" dirty="0">
                <a:latin typeface="Trebuchet MS"/>
                <a:cs typeface="Trebuchet MS"/>
              </a:rPr>
              <a:t> </a:t>
            </a:r>
            <a:r>
              <a:rPr sz="1368" spc="-30" dirty="0">
                <a:latin typeface="Trebuchet MS"/>
                <a:cs typeface="Trebuchet MS"/>
              </a:rPr>
              <a:t>backoff</a:t>
            </a:r>
            <a:r>
              <a:rPr sz="1368" spc="-111" dirty="0">
                <a:latin typeface="Trebuchet MS"/>
                <a:cs typeface="Trebuchet MS"/>
              </a:rPr>
              <a:t> </a:t>
            </a:r>
            <a:r>
              <a:rPr sz="1368" spc="-47" dirty="0">
                <a:latin typeface="Trebuchet MS"/>
                <a:cs typeface="Trebuchet MS"/>
              </a:rPr>
              <a:t>entity</a:t>
            </a:r>
            <a:r>
              <a:rPr sz="1368" spc="-107" dirty="0">
                <a:latin typeface="Trebuchet MS"/>
                <a:cs typeface="Trebuchet MS"/>
              </a:rPr>
              <a:t> </a:t>
            </a:r>
            <a:r>
              <a:rPr sz="1368" spc="-38" dirty="0">
                <a:latin typeface="Trebuchet MS"/>
                <a:cs typeface="Trebuchet MS"/>
              </a:rPr>
              <a:t>start</a:t>
            </a:r>
            <a:r>
              <a:rPr sz="1368" spc="-115" dirty="0">
                <a:latin typeface="Trebuchet MS"/>
                <a:cs typeface="Trebuchet MS"/>
              </a:rPr>
              <a:t> </a:t>
            </a:r>
            <a:r>
              <a:rPr sz="1368" spc="-30" dirty="0">
                <a:latin typeface="Trebuchet MS"/>
                <a:cs typeface="Trebuchet MS"/>
              </a:rPr>
              <a:t>down‐counting.</a:t>
            </a:r>
            <a:r>
              <a:rPr sz="1368" spc="-133" dirty="0">
                <a:latin typeface="Trebuchet MS"/>
                <a:cs typeface="Trebuchet MS"/>
              </a:rPr>
              <a:t> </a:t>
            </a:r>
            <a:r>
              <a:rPr sz="1368" spc="4" dirty="0">
                <a:latin typeface="Trebuchet MS"/>
                <a:cs typeface="Trebuchet MS"/>
              </a:rPr>
              <a:t>AIFS</a:t>
            </a:r>
            <a:r>
              <a:rPr sz="1368" spc="-124" dirty="0">
                <a:latin typeface="Trebuchet MS"/>
                <a:cs typeface="Trebuchet MS"/>
              </a:rPr>
              <a:t> </a:t>
            </a:r>
            <a:r>
              <a:rPr sz="1368" spc="-38" dirty="0">
                <a:latin typeface="Trebuchet MS"/>
                <a:cs typeface="Trebuchet MS"/>
              </a:rPr>
              <a:t>is</a:t>
            </a:r>
            <a:r>
              <a:rPr sz="1368" spc="-103" dirty="0">
                <a:latin typeface="Trebuchet MS"/>
                <a:cs typeface="Trebuchet MS"/>
              </a:rPr>
              <a:t> </a:t>
            </a:r>
            <a:r>
              <a:rPr sz="1368" spc="-51" dirty="0">
                <a:latin typeface="Trebuchet MS"/>
                <a:cs typeface="Trebuchet MS"/>
              </a:rPr>
              <a:t>calculated</a:t>
            </a:r>
            <a:r>
              <a:rPr sz="1368" spc="-120" dirty="0">
                <a:latin typeface="Trebuchet MS"/>
                <a:cs typeface="Trebuchet MS"/>
              </a:rPr>
              <a:t> </a:t>
            </a:r>
            <a:r>
              <a:rPr sz="1368" spc="-17" dirty="0">
                <a:latin typeface="Trebuchet MS"/>
                <a:cs typeface="Trebuchet MS"/>
              </a:rPr>
              <a:t>as</a:t>
            </a:r>
            <a:r>
              <a:rPr sz="1368" spc="-107" dirty="0">
                <a:latin typeface="Trebuchet MS"/>
                <a:cs typeface="Trebuchet MS"/>
              </a:rPr>
              <a:t> </a:t>
            </a:r>
            <a:r>
              <a:rPr sz="1368" spc="-47" dirty="0">
                <a:latin typeface="Trebuchet MS"/>
                <a:cs typeface="Trebuchet MS"/>
              </a:rPr>
              <a:t>follow:</a:t>
            </a:r>
            <a:endParaRPr sz="1368" dirty="0">
              <a:latin typeface="Trebuchet MS"/>
              <a:cs typeface="Trebuchet MS"/>
            </a:endParaRPr>
          </a:p>
          <a:p>
            <a:pPr marL="646156" lvl="1" indent="-244345">
              <a:lnSpc>
                <a:spcPts val="1432"/>
              </a:lnSpc>
              <a:spcBef>
                <a:spcPts val="9"/>
              </a:spcBef>
              <a:buClr>
                <a:srgbClr val="F0A73C"/>
              </a:buClr>
              <a:buSzPct val="89285"/>
              <a:buFont typeface="Liberation Sans"/>
              <a:buChar char="◗"/>
              <a:tabLst>
                <a:tab pos="645613" algn="l"/>
                <a:tab pos="646156" algn="l"/>
                <a:tab pos="4082188" algn="l"/>
              </a:tabLst>
            </a:pPr>
            <a:r>
              <a:rPr sz="1197" b="1" spc="-13" dirty="0">
                <a:solidFill>
                  <a:srgbClr val="FF0000"/>
                </a:solidFill>
                <a:latin typeface="Trebuchet MS"/>
                <a:cs typeface="Trebuchet MS"/>
              </a:rPr>
              <a:t>AIFS[AC] </a:t>
            </a:r>
            <a:r>
              <a:rPr sz="1197" b="1" spc="-26" dirty="0">
                <a:solidFill>
                  <a:srgbClr val="FF0000"/>
                </a:solidFill>
                <a:latin typeface="Trebuchet MS"/>
                <a:cs typeface="Trebuchet MS"/>
              </a:rPr>
              <a:t>= </a:t>
            </a:r>
            <a:r>
              <a:rPr sz="1197" b="1" dirty="0">
                <a:solidFill>
                  <a:srgbClr val="FF0000"/>
                </a:solidFill>
                <a:latin typeface="Trebuchet MS"/>
                <a:cs typeface="Trebuchet MS"/>
              </a:rPr>
              <a:t>SIFS</a:t>
            </a:r>
            <a:r>
              <a:rPr sz="1197" b="1" spc="-231" dirty="0">
                <a:solidFill>
                  <a:srgbClr val="FF0000"/>
                </a:solidFill>
                <a:latin typeface="Trebuchet MS"/>
                <a:cs typeface="Trebuchet MS"/>
              </a:rPr>
              <a:t> </a:t>
            </a:r>
            <a:r>
              <a:rPr sz="1197" b="1" spc="-26" dirty="0">
                <a:solidFill>
                  <a:srgbClr val="FF0000"/>
                </a:solidFill>
                <a:latin typeface="Trebuchet MS"/>
                <a:cs typeface="Trebuchet MS"/>
              </a:rPr>
              <a:t>+</a:t>
            </a:r>
            <a:r>
              <a:rPr sz="1197" b="1" spc="-107" dirty="0">
                <a:solidFill>
                  <a:srgbClr val="FF0000"/>
                </a:solidFill>
                <a:latin typeface="Trebuchet MS"/>
                <a:cs typeface="Trebuchet MS"/>
              </a:rPr>
              <a:t> </a:t>
            </a:r>
            <a:r>
              <a:rPr sz="1197" b="1" spc="-17" dirty="0">
                <a:solidFill>
                  <a:srgbClr val="FF0000"/>
                </a:solidFill>
                <a:latin typeface="Trebuchet MS"/>
                <a:cs typeface="Trebuchet MS"/>
              </a:rPr>
              <a:t>AIFSN[AC]</a:t>
            </a:r>
            <a:r>
              <a:rPr sz="1197" b="1" spc="-17" dirty="0">
                <a:solidFill>
                  <a:srgbClr val="FF0000"/>
                </a:solidFill>
                <a:latin typeface="Arial Black"/>
                <a:cs typeface="Arial Black"/>
              </a:rPr>
              <a:t>∙</a:t>
            </a:r>
            <a:r>
              <a:rPr sz="1197" b="1" spc="-17" dirty="0">
                <a:solidFill>
                  <a:srgbClr val="FF0000"/>
                </a:solidFill>
                <a:latin typeface="Trebuchet MS"/>
                <a:cs typeface="Trebuchet MS"/>
              </a:rPr>
              <a:t>aSlotTime</a:t>
            </a:r>
            <a:r>
              <a:rPr sz="1197" spc="-17" dirty="0">
                <a:latin typeface="Trebuchet MS"/>
                <a:cs typeface="Trebuchet MS"/>
              </a:rPr>
              <a:t>	</a:t>
            </a:r>
            <a:r>
              <a:rPr sz="1197" spc="-26" dirty="0">
                <a:latin typeface="Trebuchet MS"/>
                <a:cs typeface="Trebuchet MS"/>
              </a:rPr>
              <a:t>&gt;=</a:t>
            </a:r>
            <a:r>
              <a:rPr sz="1197" spc="-120" dirty="0">
                <a:latin typeface="Trebuchet MS"/>
                <a:cs typeface="Trebuchet MS"/>
              </a:rPr>
              <a:t> </a:t>
            </a:r>
            <a:r>
              <a:rPr sz="1197" spc="-77" dirty="0">
                <a:latin typeface="Trebuchet MS"/>
                <a:cs typeface="Trebuchet MS"/>
              </a:rPr>
              <a:t>2</a:t>
            </a:r>
            <a:endParaRPr sz="1197" dirty="0">
              <a:latin typeface="Trebuchet MS"/>
              <a:cs typeface="Trebuchet MS"/>
            </a:endParaRPr>
          </a:p>
          <a:p>
            <a:pPr marL="304074" indent="-293214">
              <a:lnSpc>
                <a:spcPts val="1637"/>
              </a:lnSpc>
              <a:buClr>
                <a:srgbClr val="00659A"/>
              </a:buClr>
              <a:buSzPct val="87500"/>
              <a:buFont typeface="Liberation Sans"/>
              <a:buChar char="◗"/>
              <a:tabLst>
                <a:tab pos="303531" algn="l"/>
                <a:tab pos="304074" algn="l"/>
              </a:tabLst>
            </a:pPr>
            <a:r>
              <a:rPr sz="1368" spc="30" dirty="0">
                <a:latin typeface="Trebuchet MS"/>
                <a:cs typeface="Trebuchet MS"/>
              </a:rPr>
              <a:t>Min</a:t>
            </a:r>
            <a:r>
              <a:rPr sz="1368" spc="-128" dirty="0">
                <a:latin typeface="Trebuchet MS"/>
                <a:cs typeface="Trebuchet MS"/>
              </a:rPr>
              <a:t> </a:t>
            </a:r>
            <a:r>
              <a:rPr sz="1368" spc="-21" dirty="0">
                <a:latin typeface="Trebuchet MS"/>
                <a:cs typeface="Trebuchet MS"/>
              </a:rPr>
              <a:t>and</a:t>
            </a:r>
            <a:r>
              <a:rPr sz="1368" spc="-124" dirty="0">
                <a:latin typeface="Trebuchet MS"/>
                <a:cs typeface="Trebuchet MS"/>
              </a:rPr>
              <a:t> </a:t>
            </a:r>
            <a:r>
              <a:rPr sz="1368" spc="51" dirty="0">
                <a:latin typeface="Trebuchet MS"/>
                <a:cs typeface="Trebuchet MS"/>
              </a:rPr>
              <a:t>Max</a:t>
            </a:r>
            <a:r>
              <a:rPr sz="1368" spc="-115" dirty="0">
                <a:latin typeface="Trebuchet MS"/>
                <a:cs typeface="Trebuchet MS"/>
              </a:rPr>
              <a:t> </a:t>
            </a:r>
            <a:r>
              <a:rPr sz="1368" spc="-9" dirty="0">
                <a:latin typeface="Trebuchet MS"/>
                <a:cs typeface="Trebuchet MS"/>
              </a:rPr>
              <a:t>of</a:t>
            </a:r>
            <a:r>
              <a:rPr sz="1368" spc="-111" dirty="0">
                <a:latin typeface="Trebuchet MS"/>
                <a:cs typeface="Trebuchet MS"/>
              </a:rPr>
              <a:t> </a:t>
            </a:r>
            <a:r>
              <a:rPr sz="1368" spc="-34" dirty="0">
                <a:latin typeface="Trebuchet MS"/>
                <a:cs typeface="Trebuchet MS"/>
              </a:rPr>
              <a:t>the</a:t>
            </a:r>
            <a:r>
              <a:rPr sz="1368" spc="-124" dirty="0">
                <a:latin typeface="Trebuchet MS"/>
                <a:cs typeface="Trebuchet MS"/>
              </a:rPr>
              <a:t> </a:t>
            </a:r>
            <a:r>
              <a:rPr sz="1368" spc="-26" dirty="0">
                <a:latin typeface="Trebuchet MS"/>
                <a:cs typeface="Trebuchet MS"/>
              </a:rPr>
              <a:t>contention</a:t>
            </a:r>
            <a:r>
              <a:rPr sz="1368" spc="-120" dirty="0">
                <a:latin typeface="Trebuchet MS"/>
                <a:cs typeface="Trebuchet MS"/>
              </a:rPr>
              <a:t> </a:t>
            </a:r>
            <a:r>
              <a:rPr sz="1368" spc="-4" dirty="0">
                <a:latin typeface="Trebuchet MS"/>
                <a:cs typeface="Trebuchet MS"/>
              </a:rPr>
              <a:t>window</a:t>
            </a:r>
            <a:r>
              <a:rPr sz="1368" spc="-120" dirty="0">
                <a:latin typeface="Trebuchet MS"/>
                <a:cs typeface="Trebuchet MS"/>
              </a:rPr>
              <a:t> </a:t>
            </a:r>
            <a:r>
              <a:rPr sz="1368" spc="-47" dirty="0">
                <a:latin typeface="Trebuchet MS"/>
                <a:cs typeface="Trebuchet MS"/>
              </a:rPr>
              <a:t>are</a:t>
            </a:r>
            <a:r>
              <a:rPr sz="1368" spc="-124" dirty="0">
                <a:latin typeface="Trebuchet MS"/>
                <a:cs typeface="Trebuchet MS"/>
              </a:rPr>
              <a:t> </a:t>
            </a:r>
            <a:r>
              <a:rPr sz="1368" spc="-34" dirty="0">
                <a:latin typeface="Trebuchet MS"/>
                <a:cs typeface="Trebuchet MS"/>
              </a:rPr>
              <a:t>the</a:t>
            </a:r>
            <a:r>
              <a:rPr sz="1368" spc="-111" dirty="0">
                <a:latin typeface="Trebuchet MS"/>
                <a:cs typeface="Trebuchet MS"/>
              </a:rPr>
              <a:t> </a:t>
            </a:r>
            <a:r>
              <a:rPr sz="1368" spc="-26" dirty="0">
                <a:latin typeface="Trebuchet MS"/>
                <a:cs typeface="Trebuchet MS"/>
              </a:rPr>
              <a:t>other</a:t>
            </a:r>
            <a:r>
              <a:rPr sz="1368" spc="-124" dirty="0">
                <a:latin typeface="Trebuchet MS"/>
                <a:cs typeface="Trebuchet MS"/>
              </a:rPr>
              <a:t> </a:t>
            </a:r>
            <a:r>
              <a:rPr sz="1368" spc="-34" dirty="0">
                <a:latin typeface="Trebuchet MS"/>
                <a:cs typeface="Trebuchet MS"/>
              </a:rPr>
              <a:t>parameters</a:t>
            </a:r>
            <a:r>
              <a:rPr sz="1368" spc="-120" dirty="0">
                <a:latin typeface="Trebuchet MS"/>
                <a:cs typeface="Trebuchet MS"/>
              </a:rPr>
              <a:t> </a:t>
            </a:r>
            <a:r>
              <a:rPr sz="1368" spc="-26" dirty="0">
                <a:latin typeface="Trebuchet MS"/>
                <a:cs typeface="Trebuchet MS"/>
              </a:rPr>
              <a:t>dependent</a:t>
            </a:r>
            <a:r>
              <a:rPr sz="1368" spc="-128" dirty="0">
                <a:latin typeface="Trebuchet MS"/>
                <a:cs typeface="Trebuchet MS"/>
              </a:rPr>
              <a:t> </a:t>
            </a:r>
            <a:r>
              <a:rPr sz="1368" spc="9" dirty="0">
                <a:latin typeface="Trebuchet MS"/>
                <a:cs typeface="Trebuchet MS"/>
              </a:rPr>
              <a:t>on</a:t>
            </a:r>
            <a:r>
              <a:rPr sz="1368" spc="-111" dirty="0">
                <a:latin typeface="Trebuchet MS"/>
                <a:cs typeface="Trebuchet MS"/>
              </a:rPr>
              <a:t> </a:t>
            </a:r>
            <a:r>
              <a:rPr sz="1368" spc="-64" dirty="0">
                <a:latin typeface="Trebuchet MS"/>
                <a:cs typeface="Trebuchet MS"/>
              </a:rPr>
              <a:t>AC.</a:t>
            </a:r>
            <a:endParaRPr sz="1368" dirty="0">
              <a:latin typeface="Trebuchet MS"/>
              <a:cs typeface="Trebuchet MS"/>
            </a:endParaRPr>
          </a:p>
        </p:txBody>
      </p:sp>
      <p:sp>
        <p:nvSpPr>
          <p:cNvPr id="14" name="Slide Number Placeholder 13">
            <a:extLst>
              <a:ext uri="{FF2B5EF4-FFF2-40B4-BE49-F238E27FC236}">
                <a16:creationId xmlns:a16="http://schemas.microsoft.com/office/drawing/2014/main" id="{FC382371-FE3A-49F7-8475-0A2D31023556}"/>
              </a:ext>
            </a:extLst>
          </p:cNvPr>
          <p:cNvSpPr>
            <a:spLocks noGrp="1"/>
          </p:cNvSpPr>
          <p:nvPr>
            <p:ph type="sldNum" sz="quarter" idx="7"/>
          </p:nvPr>
        </p:nvSpPr>
        <p:spPr>
          <a:xfrm>
            <a:off x="7699248" y="7033450"/>
            <a:ext cx="2459482" cy="378142"/>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mtClean="0"/>
              <a:pPr/>
              <a:t>73</a:t>
            </a:fld>
            <a:endParaRPr lang="en-US"/>
          </a:p>
        </p:txBody>
      </p:sp>
      <p:sp>
        <p:nvSpPr>
          <p:cNvPr id="18" name="Titel 1">
            <a:extLst>
              <a:ext uri="{FF2B5EF4-FFF2-40B4-BE49-F238E27FC236}">
                <a16:creationId xmlns:a16="http://schemas.microsoft.com/office/drawing/2014/main" id="{39666F1E-7D6B-6B86-A33D-533FD80BCD5B}"/>
              </a:ext>
            </a:extLst>
          </p:cNvPr>
          <p:cNvSpPr>
            <a:spLocks noGrp="1"/>
          </p:cNvSpPr>
          <p:nvPr>
            <p:ph type="title"/>
          </p:nvPr>
        </p:nvSpPr>
        <p:spPr>
          <a:xfrm>
            <a:off x="0" y="685800"/>
            <a:ext cx="9144000" cy="731838"/>
          </a:xfrm>
        </p:spPr>
        <p:txBody>
          <a:bodyPr/>
          <a:lstStyle/>
          <a:p>
            <a:r>
              <a:rPr lang="en-US" dirty="0"/>
              <a:t>Classical IEEE 802.11</a:t>
            </a:r>
          </a:p>
        </p:txBody>
      </p:sp>
      <p:sp>
        <p:nvSpPr>
          <p:cNvPr id="20" name="TextBox 19">
            <a:extLst>
              <a:ext uri="{FF2B5EF4-FFF2-40B4-BE49-F238E27FC236}">
                <a16:creationId xmlns:a16="http://schemas.microsoft.com/office/drawing/2014/main" id="{BB33F700-4715-90A4-9DF3-DE242E59A239}"/>
              </a:ext>
            </a:extLst>
          </p:cNvPr>
          <p:cNvSpPr txBox="1"/>
          <p:nvPr/>
        </p:nvSpPr>
        <p:spPr>
          <a:xfrm>
            <a:off x="129209" y="1332044"/>
            <a:ext cx="5188226" cy="646331"/>
          </a:xfrm>
          <a:prstGeom prst="rect">
            <a:avLst/>
          </a:prstGeom>
          <a:noFill/>
        </p:spPr>
        <p:txBody>
          <a:bodyPr wrap="square">
            <a:spAutoFit/>
          </a:bodyPr>
          <a:lstStyle/>
          <a:p>
            <a:r>
              <a:rPr lang="en-US" dirty="0"/>
              <a:t>QoS in 802.11p (HCF)</a:t>
            </a:r>
          </a:p>
          <a:p>
            <a:pPr lvl="1"/>
            <a:r>
              <a:rPr lang="en-US" dirty="0"/>
              <a:t>Parameterization</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9" name="Gerade Verbindung mit Pfeil 98"/>
          <p:cNvCxnSpPr>
            <a:stCxn id="82" idx="2"/>
          </p:cNvCxnSpPr>
          <p:nvPr/>
        </p:nvCxnSpPr>
        <p:spPr>
          <a:xfrm rot="5400000">
            <a:off x="5428985"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sp>
        <p:nvSpPr>
          <p:cNvPr id="100" name="Rechteck 99"/>
          <p:cNvSpPr/>
          <p:nvPr/>
        </p:nvSpPr>
        <p:spPr>
          <a:xfrm>
            <a:off x="3410641"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6" name="Gruppieren 95"/>
          <p:cNvGrpSpPr/>
          <p:nvPr/>
        </p:nvGrpSpPr>
        <p:grpSpPr>
          <a:xfrm>
            <a:off x="3324655" y="1214422"/>
            <a:ext cx="5016571" cy="2357454"/>
            <a:chOff x="2155194" y="1285860"/>
            <a:chExt cx="5016571" cy="2357454"/>
          </a:xfrm>
        </p:grpSpPr>
        <p:grpSp>
          <p:nvGrpSpPr>
            <p:cNvPr id="80" name="Gruppieren 79"/>
            <p:cNvGrpSpPr/>
            <p:nvPr/>
          </p:nvGrpSpPr>
          <p:grpSpPr>
            <a:xfrm>
              <a:off x="2155194" y="1285860"/>
              <a:ext cx="811441" cy="2357454"/>
              <a:chOff x="1869442" y="1000108"/>
              <a:chExt cx="811441" cy="2357454"/>
            </a:xfrm>
          </p:grpSpPr>
          <p:grpSp>
            <p:nvGrpSpPr>
              <p:cNvPr id="62"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79" name="Gruppieren 78"/>
            <p:cNvGrpSpPr/>
            <p:nvPr/>
          </p:nvGrpSpPr>
          <p:grpSpPr>
            <a:xfrm>
              <a:off x="3594280" y="1285860"/>
              <a:ext cx="742511" cy="2357454"/>
              <a:chOff x="3308528" y="1000108"/>
              <a:chExt cx="742511" cy="2357454"/>
            </a:xfrm>
          </p:grpSpPr>
          <p:grpSp>
            <p:nvGrpSpPr>
              <p:cNvPr id="41"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78" name="Gruppieren 77"/>
            <p:cNvGrpSpPr/>
            <p:nvPr/>
          </p:nvGrpSpPr>
          <p:grpSpPr>
            <a:xfrm>
              <a:off x="5000685" y="1285860"/>
              <a:ext cx="779381" cy="2357454"/>
              <a:chOff x="4714933" y="1000108"/>
              <a:chExt cx="779381" cy="2357454"/>
            </a:xfrm>
          </p:grpSpPr>
          <p:grpSp>
            <p:nvGrpSpPr>
              <p:cNvPr id="52"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77" name="Gruppieren 76"/>
            <p:cNvGrpSpPr/>
            <p:nvPr/>
          </p:nvGrpSpPr>
          <p:grpSpPr>
            <a:xfrm>
              <a:off x="6387576" y="1285860"/>
              <a:ext cx="784189" cy="2357454"/>
              <a:chOff x="6101824" y="1000108"/>
              <a:chExt cx="784189" cy="2357454"/>
            </a:xfrm>
          </p:grpSpPr>
          <p:grpSp>
            <p:nvGrpSpPr>
              <p:cNvPr id="63"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592"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566"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2877"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297"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89944"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7"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3" name="Textfeld 102"/>
          <p:cNvSpPr txBox="1"/>
          <p:nvPr/>
        </p:nvSpPr>
        <p:spPr>
          <a:xfrm>
            <a:off x="4550443"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6959"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0915" y="3321636"/>
            <a:ext cx="282450" cy="307777"/>
          </a:xfrm>
          <a:prstGeom prst="rect">
            <a:avLst/>
          </a:prstGeom>
          <a:noFill/>
        </p:spPr>
        <p:txBody>
          <a:bodyPr wrap="none" rtlCol="0">
            <a:spAutoFit/>
          </a:bodyPr>
          <a:lstStyle/>
          <a:p>
            <a:r>
              <a:rPr lang="en-US" sz="1400" dirty="0">
                <a:latin typeface="+mn-lt"/>
              </a:rPr>
              <a:t>0</a:t>
            </a:r>
          </a:p>
        </p:txBody>
      </p:sp>
      <p:sp>
        <p:nvSpPr>
          <p:cNvPr id="2" name="Titel 1"/>
          <p:cNvSpPr>
            <a:spLocks noGrp="1"/>
          </p:cNvSpPr>
          <p:nvPr>
            <p:ph type="title"/>
          </p:nvPr>
        </p:nvSpPr>
        <p:spPr/>
        <p:txBody>
          <a:bodyPr/>
          <a:lstStyle/>
          <a:p>
            <a:r>
              <a:rPr lang="en-US" dirty="0"/>
              <a:t>IEEE 802.11p</a:t>
            </a:r>
            <a:endParaRPr lang="en-US" dirty="0">
              <a:latin typeface="+mn-lt"/>
            </a:endParaRPr>
          </a:p>
        </p:txBody>
      </p:sp>
      <p:sp>
        <p:nvSpPr>
          <p:cNvPr id="3" name="Content Placeholder 2"/>
          <p:cNvSpPr>
            <a:spLocks noGrp="1"/>
          </p:cNvSpPr>
          <p:nvPr>
            <p:ph idx="1"/>
          </p:nvPr>
        </p:nvSpPr>
        <p:spPr/>
        <p:txBody>
          <a:bodyPr/>
          <a:lstStyle/>
          <a:p>
            <a:endParaRPr lang="en-US" dirty="0"/>
          </a:p>
        </p:txBody>
      </p:sp>
      <p:sp>
        <p:nvSpPr>
          <p:cNvPr id="13" name="Footer Placeholder 1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14" name="Slide Number Placeholder 13"/>
          <p:cNvSpPr>
            <a:spLocks noGrp="1"/>
          </p:cNvSpPr>
          <p:nvPr>
            <p:ph type="sldNum" sz="quarter" idx="12"/>
          </p:nvPr>
        </p:nvSpPr>
        <p:spPr/>
        <p:txBody>
          <a:bodyPr/>
          <a:lstStyle/>
          <a:p>
            <a:fld id="{73ED8BC7-2E15-43DB-8EF0-8ED7667633CE}" type="slidenum">
              <a:rPr lang="en-US" smtClean="0">
                <a:solidFill>
                  <a:prstClr val="black"/>
                </a:solidFill>
              </a:rPr>
              <a:pPr/>
              <a:t>74</a:t>
            </a:fld>
            <a:endParaRPr lang="en-US" dirty="0">
              <a:solidFill>
                <a:prstClr val="black"/>
              </a:solidFill>
            </a:endParaRPr>
          </a:p>
        </p:txBody>
      </p:sp>
    </p:spTree>
    <p:extLst>
      <p:ext uri="{BB962C8B-B14F-4D97-AF65-F5344CB8AC3E}">
        <p14:creationId xmlns:p14="http://schemas.microsoft.com/office/powerpoint/2010/main" val="3483330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childTnLst>
                                </p:cTn>
                              </p:par>
                              <p:par>
                                <p:cTn id="7" presetID="0" presetClass="path" presetSubtype="0" accel="50000" decel="50000" fill="hold" grpId="1" nodeType="withEffect">
                                  <p:stCondLst>
                                    <p:cond delay="0"/>
                                  </p:stCondLst>
                                  <p:childTnLst>
                                    <p:animMotion origin="layout" path="M 3.88889E-6 -0.00139 L 3.88889E-6 0.36597 " pathEditMode="relative" rAng="0" ptsTypes="AA">
                                      <p:cBhvr>
                                        <p:cTn id="8" dur="2000" fill="hold"/>
                                        <p:tgtEl>
                                          <p:spTgt spid="100"/>
                                        </p:tgtEl>
                                        <p:attrNameLst>
                                          <p:attrName>ppt_x</p:attrName>
                                          <p:attrName>ppt_y</p:attrName>
                                        </p:attrNameLst>
                                      </p:cBhvr>
                                      <p:rCtr x="0" y="18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0"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hteck 7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66"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836"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73"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747"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58"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78"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125"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3" name="Textfeld 102"/>
          <p:cNvSpPr txBox="1"/>
          <p:nvPr/>
        </p:nvSpPr>
        <p:spPr>
          <a:xfrm>
            <a:off x="4550624"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140"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96" y="3321636"/>
            <a:ext cx="282450" cy="307777"/>
          </a:xfrm>
          <a:prstGeom prst="rect">
            <a:avLst/>
          </a:prstGeom>
          <a:noFill/>
        </p:spPr>
        <p:txBody>
          <a:bodyPr wrap="none" rtlCol="0">
            <a:spAutoFit/>
          </a:bodyPr>
          <a:lstStyle/>
          <a:p>
            <a:r>
              <a:rPr lang="en-US" sz="1400" dirty="0">
                <a:latin typeface="+mn-lt"/>
              </a:rPr>
              <a:t>0</a:t>
            </a:r>
          </a:p>
        </p:txBody>
      </p:sp>
      <p:cxnSp>
        <p:nvCxnSpPr>
          <p:cNvPr id="94" name="Gewinkelte Verbindung 93"/>
          <p:cNvCxnSpPr/>
          <p:nvPr/>
        </p:nvCxnSpPr>
        <p:spPr>
          <a:xfrm>
            <a:off x="782136" y="5467367"/>
            <a:ext cx="428628" cy="327542"/>
          </a:xfrm>
          <a:prstGeom prst="bentConnector3">
            <a:avLst>
              <a:gd name="adj1" fmla="val -155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Gewinkelte Verbindung 89"/>
          <p:cNvCxnSpPr/>
          <p:nvPr/>
        </p:nvCxnSpPr>
        <p:spPr>
          <a:xfrm rot="5400000">
            <a:off x="192771" y="4461286"/>
            <a:ext cx="1164445" cy="14286"/>
          </a:xfrm>
          <a:prstGeom prst="bentConnector3">
            <a:avLst>
              <a:gd name="adj1" fmla="val -235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Textfeld 77"/>
          <p:cNvSpPr txBox="1"/>
          <p:nvPr/>
        </p:nvSpPr>
        <p:spPr>
          <a:xfrm>
            <a:off x="235703" y="3600455"/>
            <a:ext cx="1546257" cy="369332"/>
          </a:xfrm>
          <a:prstGeom prst="rect">
            <a:avLst/>
          </a:prstGeom>
          <a:solidFill>
            <a:schemeClr val="bg1"/>
          </a:solidFill>
          <a:ln>
            <a:solidFill>
              <a:schemeClr val="tx1"/>
            </a:solidFill>
          </a:ln>
        </p:spPr>
        <p:txBody>
          <a:bodyPr wrap="none" rtlCol="0">
            <a:spAutoFit/>
          </a:bodyPr>
          <a:lstStyle/>
          <a:p>
            <a:r>
              <a:rPr lang="en-US" dirty="0">
                <a:latin typeface="+mn-lt"/>
              </a:rPr>
              <a:t>Channel busy?</a:t>
            </a:r>
          </a:p>
        </p:txBody>
      </p:sp>
      <p:sp>
        <p:nvSpPr>
          <p:cNvPr id="80" name="Textfeld 79"/>
          <p:cNvSpPr txBox="1"/>
          <p:nvPr/>
        </p:nvSpPr>
        <p:spPr>
          <a:xfrm>
            <a:off x="1214414" y="5600719"/>
            <a:ext cx="2286016" cy="369332"/>
          </a:xfrm>
          <a:prstGeom prst="rect">
            <a:avLst/>
          </a:prstGeom>
          <a:solidFill>
            <a:schemeClr val="bg1"/>
          </a:solidFill>
          <a:ln>
            <a:solidFill>
              <a:schemeClr val="tx1"/>
            </a:solidFill>
          </a:ln>
        </p:spPr>
        <p:txBody>
          <a:bodyPr wrap="square" rtlCol="0">
            <a:spAutoFit/>
          </a:bodyPr>
          <a:lstStyle/>
          <a:p>
            <a:r>
              <a:rPr lang="en-US" dirty="0">
                <a:latin typeface="+mn-lt"/>
              </a:rPr>
              <a:t>Start Contention</a:t>
            </a:r>
          </a:p>
        </p:txBody>
      </p:sp>
      <p:sp>
        <p:nvSpPr>
          <p:cNvPr id="81" name="Textfeld 80"/>
          <p:cNvSpPr txBox="1"/>
          <p:nvPr/>
        </p:nvSpPr>
        <p:spPr>
          <a:xfrm>
            <a:off x="1254847" y="5088511"/>
            <a:ext cx="1343573" cy="369332"/>
          </a:xfrm>
          <a:prstGeom prst="rect">
            <a:avLst/>
          </a:prstGeom>
          <a:solidFill>
            <a:schemeClr val="bg1"/>
          </a:solidFill>
          <a:ln>
            <a:solidFill>
              <a:schemeClr val="tx1"/>
            </a:solidFill>
          </a:ln>
        </p:spPr>
        <p:txBody>
          <a:bodyPr wrap="none" rtlCol="0">
            <a:spAutoFit/>
          </a:bodyPr>
          <a:lstStyle/>
          <a:p>
            <a:r>
              <a:rPr lang="en-US" dirty="0">
                <a:latin typeface="+mn-lt"/>
              </a:rPr>
              <a:t>Wait for Idle</a:t>
            </a:r>
          </a:p>
        </p:txBody>
      </p:sp>
      <p:cxnSp>
        <p:nvCxnSpPr>
          <p:cNvPr id="112" name="Gerade Verbindung mit Pfeil 111"/>
          <p:cNvCxnSpPr/>
          <p:nvPr/>
        </p:nvCxnSpPr>
        <p:spPr>
          <a:xfrm>
            <a:off x="710698" y="52435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Rechteck 84"/>
          <p:cNvSpPr/>
          <p:nvPr/>
        </p:nvSpPr>
        <p:spPr>
          <a:xfrm rot="2535422">
            <a:off x="626771" y="5113141"/>
            <a:ext cx="285752" cy="28575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4"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75</a:t>
            </a:fld>
            <a:endParaRPr lang="en-US" dirty="0">
              <a:solidFill>
                <a:prstClr val="black"/>
              </a:solidFill>
            </a:endParaRPr>
          </a:p>
        </p:txBody>
      </p:sp>
    </p:spTree>
    <p:extLst>
      <p:ext uri="{BB962C8B-B14F-4D97-AF65-F5344CB8AC3E}">
        <p14:creationId xmlns:p14="http://schemas.microsoft.com/office/powerpoint/2010/main" val="128903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0"/>
                                        </p:tgtEl>
                                        <p:attrNameLst>
                                          <p:attrName>fillcolor</p:attrName>
                                        </p:attrNameLst>
                                      </p:cBhvr>
                                      <p:to>
                                        <a:srgbClr val="2CFF0F"/>
                                      </p:to>
                                    </p:animClr>
                                    <p:set>
                                      <p:cBhvr>
                                        <p:cTn id="7" dur="500" fill="hold"/>
                                        <p:tgtEl>
                                          <p:spTgt spid="80"/>
                                        </p:tgtEl>
                                        <p:attrNameLst>
                                          <p:attrName>fill.type</p:attrName>
                                        </p:attrNameLst>
                                      </p:cBhvr>
                                      <p:to>
                                        <p:strVal val="solid"/>
                                      </p:to>
                                    </p:set>
                                    <p:set>
                                      <p:cBhvr>
                                        <p:cTn id="8" dur="500" fill="hold"/>
                                        <p:tgtEl>
                                          <p:spTgt spid="80"/>
                                        </p:tgtEl>
                                        <p:attrNameLst>
                                          <p:attrName>fill.on</p:attrName>
                                        </p:attrNameLst>
                                      </p:cBhvr>
                                      <p:to>
                                        <p:strVal val="true"/>
                                      </p:to>
                                    </p:set>
                                  </p:childTnLst>
                                </p:cTn>
                              </p:par>
                              <p:par>
                                <p:cTn id="9" presetID="7" presetClass="emph" presetSubtype="2" fill="hold" nodeType="withEffect">
                                  <p:stCondLst>
                                    <p:cond delay="0"/>
                                  </p:stCondLst>
                                  <p:childTnLst>
                                    <p:animClr clrSpc="rgb" dir="cw">
                                      <p:cBhvr>
                                        <p:cTn id="10" dur="500" fill="hold"/>
                                        <p:tgtEl>
                                          <p:spTgt spid="94"/>
                                        </p:tgtEl>
                                        <p:attrNameLst>
                                          <p:attrName>stroke.color</p:attrName>
                                        </p:attrNameLst>
                                      </p:cBhvr>
                                      <p:to>
                                        <a:srgbClr val="2CFF0F"/>
                                      </p:to>
                                    </p:animClr>
                                    <p:set>
                                      <p:cBhvr>
                                        <p:cTn id="11" dur="500" fill="hold"/>
                                        <p:tgtEl>
                                          <p:spTgt spid="94"/>
                                        </p:tgtEl>
                                        <p:attrNameLst>
                                          <p:attrName>stroke.on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90"/>
                                        </p:tgtEl>
                                        <p:attrNameLst>
                                          <p:attrName>stroke.color</p:attrName>
                                        </p:attrNameLst>
                                      </p:cBhvr>
                                      <p:to>
                                        <a:srgbClr val="2CFF0F"/>
                                      </p:to>
                                    </p:animClr>
                                    <p:set>
                                      <p:cBhvr>
                                        <p:cTn id="14" dur="500" fill="hold"/>
                                        <p:tgtEl>
                                          <p:spTgt spid="90"/>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hteck 7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66"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836"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73"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747"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58"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78"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125"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3" name="Textfeld 102"/>
          <p:cNvSpPr txBox="1"/>
          <p:nvPr/>
        </p:nvSpPr>
        <p:spPr>
          <a:xfrm>
            <a:off x="4550624"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140"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96" y="3321636"/>
            <a:ext cx="282450" cy="307777"/>
          </a:xfrm>
          <a:prstGeom prst="rect">
            <a:avLst/>
          </a:prstGeom>
          <a:noFill/>
        </p:spPr>
        <p:txBody>
          <a:bodyPr wrap="none" rtlCol="0">
            <a:spAutoFit/>
          </a:bodyPr>
          <a:lstStyle/>
          <a:p>
            <a:r>
              <a:rPr lang="en-US" sz="1400" dirty="0">
                <a:latin typeface="+mn-lt"/>
              </a:rPr>
              <a:t>0</a:t>
            </a:r>
          </a:p>
        </p:txBody>
      </p:sp>
      <p:cxnSp>
        <p:nvCxnSpPr>
          <p:cNvPr id="94" name="Gewinkelte Verbindung 93"/>
          <p:cNvCxnSpPr/>
          <p:nvPr/>
        </p:nvCxnSpPr>
        <p:spPr>
          <a:xfrm>
            <a:off x="782136" y="5657867"/>
            <a:ext cx="428628" cy="327542"/>
          </a:xfrm>
          <a:prstGeom prst="bentConnector3">
            <a:avLst>
              <a:gd name="adj1" fmla="val -1555"/>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0" name="Gewinkelte Verbindung 89"/>
          <p:cNvCxnSpPr/>
          <p:nvPr/>
        </p:nvCxnSpPr>
        <p:spPr>
          <a:xfrm rot="5400000">
            <a:off x="192771" y="4651786"/>
            <a:ext cx="1164445" cy="14286"/>
          </a:xfrm>
          <a:prstGeom prst="bentConnector3">
            <a:avLst>
              <a:gd name="adj1" fmla="val -2351"/>
            </a:avLst>
          </a:prstGeom>
          <a:ln>
            <a:tailEnd type="arrow"/>
          </a:ln>
        </p:spPr>
        <p:style>
          <a:lnRef idx="1">
            <a:schemeClr val="accent1"/>
          </a:lnRef>
          <a:fillRef idx="0">
            <a:schemeClr val="accent1"/>
          </a:fillRef>
          <a:effectRef idx="0">
            <a:schemeClr val="accent1"/>
          </a:effectRef>
          <a:fontRef idx="minor">
            <a:schemeClr val="tx1"/>
          </a:fontRef>
        </p:style>
      </p:cxnSp>
      <p:sp>
        <p:nvSpPr>
          <p:cNvPr id="78" name="Textfeld 77"/>
          <p:cNvSpPr txBox="1"/>
          <p:nvPr/>
        </p:nvSpPr>
        <p:spPr>
          <a:xfrm>
            <a:off x="224385" y="3790955"/>
            <a:ext cx="1152495" cy="369332"/>
          </a:xfrm>
          <a:prstGeom prst="rect">
            <a:avLst/>
          </a:prstGeom>
          <a:solidFill>
            <a:schemeClr val="bg1"/>
          </a:solidFill>
          <a:ln>
            <a:solidFill>
              <a:schemeClr val="tx1"/>
            </a:solidFill>
          </a:ln>
        </p:spPr>
        <p:txBody>
          <a:bodyPr wrap="none" rtlCol="0">
            <a:spAutoFit/>
          </a:bodyPr>
          <a:lstStyle/>
          <a:p>
            <a:r>
              <a:rPr lang="en-US" dirty="0">
                <a:latin typeface="+mn-lt"/>
              </a:rPr>
              <a:t>Backoff 0?</a:t>
            </a:r>
          </a:p>
        </p:txBody>
      </p:sp>
      <p:sp>
        <p:nvSpPr>
          <p:cNvPr id="80" name="Textfeld 79"/>
          <p:cNvSpPr txBox="1"/>
          <p:nvPr/>
        </p:nvSpPr>
        <p:spPr>
          <a:xfrm>
            <a:off x="1214414" y="5791219"/>
            <a:ext cx="3920764" cy="369332"/>
          </a:xfrm>
          <a:prstGeom prst="rect">
            <a:avLst/>
          </a:prstGeom>
          <a:solidFill>
            <a:schemeClr val="bg1"/>
          </a:solidFill>
          <a:ln>
            <a:solidFill>
              <a:schemeClr val="tx1"/>
            </a:solidFill>
          </a:ln>
        </p:spPr>
        <p:txBody>
          <a:bodyPr wrap="square" rtlCol="0">
            <a:spAutoFit/>
          </a:bodyPr>
          <a:lstStyle/>
          <a:p>
            <a:r>
              <a:rPr lang="en-US" dirty="0">
                <a:latin typeface="+mn-lt"/>
              </a:rPr>
              <a:t>Wait AIFS (SIFS + </a:t>
            </a:r>
            <a:r>
              <a:rPr lang="en-US" dirty="0" err="1">
                <a:latin typeface="+mn-lt"/>
              </a:rPr>
              <a:t>AIFSn</a:t>
            </a:r>
            <a:r>
              <a:rPr lang="en-US" dirty="0">
                <a:latin typeface="+mn-lt"/>
              </a:rPr>
              <a:t> * Slot </a:t>
            </a:r>
            <a:r>
              <a:rPr lang="en-US" dirty="0" err="1">
                <a:latin typeface="+mn-lt"/>
              </a:rPr>
              <a:t>len</a:t>
            </a:r>
            <a:r>
              <a:rPr lang="en-US" dirty="0">
                <a:latin typeface="+mn-lt"/>
              </a:rPr>
              <a:t>)</a:t>
            </a:r>
          </a:p>
        </p:txBody>
      </p:sp>
      <p:sp>
        <p:nvSpPr>
          <p:cNvPr id="81" name="Textfeld 80"/>
          <p:cNvSpPr txBox="1"/>
          <p:nvPr/>
        </p:nvSpPr>
        <p:spPr>
          <a:xfrm>
            <a:off x="1214226" y="5279011"/>
            <a:ext cx="2021259" cy="369332"/>
          </a:xfrm>
          <a:prstGeom prst="rect">
            <a:avLst/>
          </a:prstGeom>
          <a:solidFill>
            <a:schemeClr val="bg1"/>
          </a:solidFill>
          <a:ln>
            <a:solidFill>
              <a:schemeClr val="tx1"/>
            </a:solidFill>
          </a:ln>
        </p:spPr>
        <p:txBody>
          <a:bodyPr wrap="none" rtlCol="0">
            <a:spAutoFit/>
          </a:bodyPr>
          <a:lstStyle/>
          <a:p>
            <a:r>
              <a:rPr lang="en-US" dirty="0">
                <a:latin typeface="+mn-lt"/>
              </a:rPr>
              <a:t>Wait for backoff = 0</a:t>
            </a:r>
          </a:p>
        </p:txBody>
      </p:sp>
      <p:cxnSp>
        <p:nvCxnSpPr>
          <p:cNvPr id="112" name="Gerade Verbindung mit Pfeil 111"/>
          <p:cNvCxnSpPr/>
          <p:nvPr/>
        </p:nvCxnSpPr>
        <p:spPr>
          <a:xfrm>
            <a:off x="710698" y="5434029"/>
            <a:ext cx="500066"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5" name="Rechteck 84"/>
          <p:cNvSpPr/>
          <p:nvPr/>
        </p:nvSpPr>
        <p:spPr>
          <a:xfrm rot="2535422">
            <a:off x="626771" y="5303641"/>
            <a:ext cx="285752" cy="28575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feld 78"/>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83"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4"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76</a:t>
            </a:fld>
            <a:endParaRPr lang="en-US" dirty="0">
              <a:solidFill>
                <a:prstClr val="black"/>
              </a:solidFill>
            </a:endParaRPr>
          </a:p>
        </p:txBody>
      </p:sp>
    </p:spTree>
    <p:extLst>
      <p:ext uri="{BB962C8B-B14F-4D97-AF65-F5344CB8AC3E}">
        <p14:creationId xmlns:p14="http://schemas.microsoft.com/office/powerpoint/2010/main" val="977107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80"/>
                                        </p:tgtEl>
                                        <p:attrNameLst>
                                          <p:attrName>fillcolor</p:attrName>
                                        </p:attrNameLst>
                                      </p:cBhvr>
                                      <p:to>
                                        <a:srgbClr val="2CFF0F"/>
                                      </p:to>
                                    </p:animClr>
                                    <p:set>
                                      <p:cBhvr>
                                        <p:cTn id="7" dur="500" fill="hold"/>
                                        <p:tgtEl>
                                          <p:spTgt spid="80"/>
                                        </p:tgtEl>
                                        <p:attrNameLst>
                                          <p:attrName>fill.type</p:attrName>
                                        </p:attrNameLst>
                                      </p:cBhvr>
                                      <p:to>
                                        <p:strVal val="solid"/>
                                      </p:to>
                                    </p:set>
                                    <p:set>
                                      <p:cBhvr>
                                        <p:cTn id="8" dur="500" fill="hold"/>
                                        <p:tgtEl>
                                          <p:spTgt spid="80"/>
                                        </p:tgtEl>
                                        <p:attrNameLst>
                                          <p:attrName>fill.on</p:attrName>
                                        </p:attrNameLst>
                                      </p:cBhvr>
                                      <p:to>
                                        <p:strVal val="true"/>
                                      </p:to>
                                    </p:set>
                                  </p:childTnLst>
                                </p:cTn>
                              </p:par>
                              <p:par>
                                <p:cTn id="9" presetID="7" presetClass="emph" presetSubtype="2" fill="hold" nodeType="withEffect">
                                  <p:stCondLst>
                                    <p:cond delay="0"/>
                                  </p:stCondLst>
                                  <p:childTnLst>
                                    <p:animClr clrSpc="rgb" dir="cw">
                                      <p:cBhvr>
                                        <p:cTn id="10" dur="500" fill="hold"/>
                                        <p:tgtEl>
                                          <p:spTgt spid="94"/>
                                        </p:tgtEl>
                                        <p:attrNameLst>
                                          <p:attrName>stroke.color</p:attrName>
                                        </p:attrNameLst>
                                      </p:cBhvr>
                                      <p:to>
                                        <a:srgbClr val="2CFF0F"/>
                                      </p:to>
                                    </p:animClr>
                                    <p:set>
                                      <p:cBhvr>
                                        <p:cTn id="11" dur="500" fill="hold"/>
                                        <p:tgtEl>
                                          <p:spTgt spid="94"/>
                                        </p:tgtEl>
                                        <p:attrNameLst>
                                          <p:attrName>stroke.on</p:attrName>
                                        </p:attrNameLst>
                                      </p:cBhvr>
                                      <p:to>
                                        <p:strVal val="true"/>
                                      </p:to>
                                    </p:set>
                                  </p:childTnLst>
                                </p:cTn>
                              </p:par>
                              <p:par>
                                <p:cTn id="12" presetID="7" presetClass="emph" presetSubtype="2" fill="hold" nodeType="withEffect">
                                  <p:stCondLst>
                                    <p:cond delay="0"/>
                                  </p:stCondLst>
                                  <p:childTnLst>
                                    <p:animClr clrSpc="rgb" dir="cw">
                                      <p:cBhvr>
                                        <p:cTn id="13" dur="500" fill="hold"/>
                                        <p:tgtEl>
                                          <p:spTgt spid="90"/>
                                        </p:tgtEl>
                                        <p:attrNameLst>
                                          <p:attrName>stroke.color</p:attrName>
                                        </p:attrNameLst>
                                      </p:cBhvr>
                                      <p:to>
                                        <a:srgbClr val="2CFF0F"/>
                                      </p:to>
                                    </p:animClr>
                                    <p:set>
                                      <p:cBhvr>
                                        <p:cTn id="14" dur="500" fill="hold"/>
                                        <p:tgtEl>
                                          <p:spTgt spid="90"/>
                                        </p:tgtEl>
                                        <p:attrNameLst>
                                          <p:attrName>stroke.on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0" presetClass="path" presetSubtype="0" accel="50000" decel="50000" fill="hold" grpId="0" nodeType="clickEffect">
                                  <p:stCondLst>
                                    <p:cond delay="0"/>
                                  </p:stCondLst>
                                  <p:childTnLst>
                                    <p:animMotion origin="layout" path="M 1.66667E-6 -0.00232 C -0.00104 -0.00787 0.00069 0.01435 -0.00018 0.09005 C -0.00104 0.09213 0.23073 0.08843 0.22917 0.08912 C 0.22899 0.08935 0.22673 0.44699 0.22587 0.51991 " pathEditMode="relative" rAng="0" ptsTypes="ffff">
                                      <p:cBhvr>
                                        <p:cTn id="18" dur="2000" fill="hold"/>
                                        <p:tgtEl>
                                          <p:spTgt spid="77"/>
                                        </p:tgtEl>
                                        <p:attrNameLst>
                                          <p:attrName>ppt_x</p:attrName>
                                          <p:attrName>ppt_y</p:attrName>
                                        </p:attrNameLst>
                                      </p:cBhvr>
                                      <p:rCtr x="11500" y="25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feld 101"/>
          <p:cNvSpPr txBox="1"/>
          <p:nvPr/>
        </p:nvSpPr>
        <p:spPr>
          <a:xfrm>
            <a:off x="2272714" y="3317781"/>
            <a:ext cx="1021690" cy="307777"/>
          </a:xfrm>
          <a:prstGeom prst="rect">
            <a:avLst/>
          </a:prstGeom>
          <a:noFill/>
        </p:spPr>
        <p:txBody>
          <a:bodyPr wrap="none" rtlCol="0">
            <a:spAutoFit/>
          </a:bodyPr>
          <a:lstStyle/>
          <a:p>
            <a:r>
              <a:rPr lang="en-US" sz="1400" dirty="0">
                <a:latin typeface="+mn-lt"/>
              </a:rPr>
              <a:t>Backoff:    0</a:t>
            </a:r>
          </a:p>
        </p:txBody>
      </p:sp>
      <p:sp>
        <p:nvSpPr>
          <p:cNvPr id="79" name="Rechteck 78"/>
          <p:cNvSpPr/>
          <p:nvPr/>
        </p:nvSpPr>
        <p:spPr>
          <a:xfrm>
            <a:off x="3410641"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hteck 82"/>
          <p:cNvSpPr/>
          <p:nvPr/>
        </p:nvSpPr>
        <p:spPr>
          <a:xfrm>
            <a:off x="4812767" y="857232"/>
            <a:ext cx="642942" cy="214314"/>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9" name="Gerade Verbindung mit Pfeil 98"/>
          <p:cNvCxnSpPr>
            <a:stCxn id="82" idx="2"/>
          </p:cNvCxnSpPr>
          <p:nvPr/>
        </p:nvCxnSpPr>
        <p:spPr>
          <a:xfrm rot="5400000">
            <a:off x="5428985" y="5598864"/>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655" y="1214422"/>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592" y="4572008"/>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566" y="3021685"/>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2877" y="3723996"/>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297" y="3707468"/>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89944" y="3012821"/>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21636"/>
            <a:ext cx="1021690" cy="307777"/>
          </a:xfrm>
          <a:prstGeom prst="rect">
            <a:avLst/>
          </a:prstGeom>
          <a:noFill/>
        </p:spPr>
        <p:txBody>
          <a:bodyPr wrap="none" rtlCol="0">
            <a:spAutoFit/>
          </a:bodyPr>
          <a:lstStyle/>
          <a:p>
            <a:r>
              <a:rPr lang="en-US" sz="1400" dirty="0">
                <a:latin typeface="+mn-lt"/>
              </a:rPr>
              <a:t>Backoff:    2</a:t>
            </a:r>
          </a:p>
        </p:txBody>
      </p:sp>
      <p:sp>
        <p:nvSpPr>
          <p:cNvPr id="103" name="Textfeld 102"/>
          <p:cNvSpPr txBox="1"/>
          <p:nvPr/>
        </p:nvSpPr>
        <p:spPr>
          <a:xfrm>
            <a:off x="4550443" y="3321636"/>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6959" y="3321636"/>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0915" y="3321636"/>
            <a:ext cx="282450" cy="307777"/>
          </a:xfrm>
          <a:prstGeom prst="rect">
            <a:avLst/>
          </a:prstGeom>
          <a:noFill/>
        </p:spPr>
        <p:txBody>
          <a:bodyPr wrap="none" rtlCol="0">
            <a:spAutoFit/>
          </a:bodyPr>
          <a:lstStyle/>
          <a:p>
            <a:r>
              <a:rPr lang="en-US" sz="1400" dirty="0">
                <a:latin typeface="+mn-lt"/>
              </a:rPr>
              <a:t>0</a:t>
            </a:r>
          </a:p>
        </p:txBody>
      </p:sp>
      <p:sp>
        <p:nvSpPr>
          <p:cNvPr id="84" name="Abgerundetes Rechteck 83"/>
          <p:cNvSpPr/>
          <p:nvPr/>
        </p:nvSpPr>
        <p:spPr>
          <a:xfrm>
            <a:off x="142844" y="5601047"/>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Transmission </a:t>
            </a:r>
          </a:p>
          <a:p>
            <a:pPr algn="ctr"/>
            <a:r>
              <a:rPr lang="en-US" dirty="0">
                <a:solidFill>
                  <a:schemeClr val="tx1"/>
                </a:solidFill>
              </a:rPr>
              <a:t>Over</a:t>
            </a:r>
          </a:p>
        </p:txBody>
      </p:sp>
      <p:sp>
        <p:nvSpPr>
          <p:cNvPr id="92" name="Abgerundetes Rechteck 91"/>
          <p:cNvSpPr/>
          <p:nvPr/>
        </p:nvSpPr>
        <p:spPr>
          <a:xfrm>
            <a:off x="2357422" y="5601047"/>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Post Transmit</a:t>
            </a:r>
          </a:p>
          <a:p>
            <a:pPr algn="ctr"/>
            <a:r>
              <a:rPr lang="en-US" dirty="0">
                <a:solidFill>
                  <a:schemeClr val="tx1"/>
                </a:solidFill>
              </a:rPr>
              <a:t>Backoff</a:t>
            </a:r>
          </a:p>
        </p:txBody>
      </p:sp>
      <p:cxnSp>
        <p:nvCxnSpPr>
          <p:cNvPr id="98" name="Gewinkelte Verbindung 97"/>
          <p:cNvCxnSpPr/>
          <p:nvPr/>
        </p:nvCxnSpPr>
        <p:spPr>
          <a:xfrm>
            <a:off x="1785918" y="5851080"/>
            <a:ext cx="57150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77"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78"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77</a:t>
            </a:fld>
            <a:endParaRPr lang="en-US" dirty="0">
              <a:solidFill>
                <a:prstClr val="black"/>
              </a:solidFill>
            </a:endParaRPr>
          </a:p>
        </p:txBody>
      </p:sp>
    </p:spTree>
    <p:extLst>
      <p:ext uri="{BB962C8B-B14F-4D97-AF65-F5344CB8AC3E}">
        <p14:creationId xmlns:p14="http://schemas.microsoft.com/office/powerpoint/2010/main" val="15422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92"/>
                                        </p:tgtEl>
                                        <p:attrNameLst>
                                          <p:attrName>fillcolor</p:attrName>
                                        </p:attrNameLst>
                                      </p:cBhvr>
                                      <p:to>
                                        <a:srgbClr val="2CFF0F"/>
                                      </p:to>
                                    </p:animClr>
                                    <p:set>
                                      <p:cBhvr>
                                        <p:cTn id="7" dur="2000" fill="hold"/>
                                        <p:tgtEl>
                                          <p:spTgt spid="92"/>
                                        </p:tgtEl>
                                        <p:attrNameLst>
                                          <p:attrName>fill.type</p:attrName>
                                        </p:attrNameLst>
                                      </p:cBhvr>
                                      <p:to>
                                        <p:strVal val="solid"/>
                                      </p:to>
                                    </p:set>
                                    <p:set>
                                      <p:cBhvr>
                                        <p:cTn id="8" dur="2000" fill="hold"/>
                                        <p:tgtEl>
                                          <p:spTgt spid="92"/>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98"/>
                                        </p:tgtEl>
                                        <p:attrNameLst>
                                          <p:attrName>fillcolor</p:attrName>
                                        </p:attrNameLst>
                                      </p:cBhvr>
                                      <p:to>
                                        <a:srgbClr val="2CFF0F"/>
                                      </p:to>
                                    </p:animClr>
                                    <p:set>
                                      <p:cBhvr>
                                        <p:cTn id="11" dur="2000" fill="hold"/>
                                        <p:tgtEl>
                                          <p:spTgt spid="98"/>
                                        </p:tgtEl>
                                        <p:attrNameLst>
                                          <p:attrName>fill.type</p:attrName>
                                        </p:attrNameLst>
                                      </p:cBhvr>
                                      <p:to>
                                        <p:strVal val="solid"/>
                                      </p:to>
                                    </p:set>
                                    <p:set>
                                      <p:cBhvr>
                                        <p:cTn id="12" dur="2000" fill="hold"/>
                                        <p:tgtEl>
                                          <p:spTgt spid="98"/>
                                        </p:tgtEl>
                                        <p:attrNameLst>
                                          <p:attrName>fill.on</p:attrName>
                                        </p:attrNameLst>
                                      </p:cBhvr>
                                      <p:to>
                                        <p:strVal val="true"/>
                                      </p:to>
                                    </p:set>
                                  </p:childTnLst>
                                </p:cTn>
                              </p:par>
                              <p:par>
                                <p:cTn id="13" presetID="3" presetClass="exit" presetSubtype="10" fill="hold" grpId="0" nodeType="withEffect">
                                  <p:stCondLst>
                                    <p:cond delay="0"/>
                                  </p:stCondLst>
                                  <p:childTnLst>
                                    <p:animEffect transition="out" filter="blinds(horizontal)">
                                      <p:cBhvr>
                                        <p:cTn id="14" dur="500"/>
                                        <p:tgtEl>
                                          <p:spTgt spid="102"/>
                                        </p:tgtEl>
                                      </p:cBhvr>
                                    </p:animEffect>
                                    <p:set>
                                      <p:cBhvr>
                                        <p:cTn id="15" dur="1" fill="hold">
                                          <p:stCondLst>
                                            <p:cond delay="499"/>
                                          </p:stCondLst>
                                        </p:cTn>
                                        <p:tgtEl>
                                          <p:spTgt spid="102"/>
                                        </p:tgtEl>
                                        <p:attrNameLst>
                                          <p:attrName>style.visibility</p:attrName>
                                        </p:attrNameLst>
                                      </p:cBhvr>
                                      <p:to>
                                        <p:strVal val="hidden"/>
                                      </p:to>
                                    </p:set>
                                  </p:childTnLst>
                                </p:cTn>
                              </p:par>
                              <p:par>
                                <p:cTn id="16" presetID="3" presetClass="entr" presetSubtype="10" fill="hold" grpId="0" nodeType="withEffect">
                                  <p:stCondLst>
                                    <p:cond delay="0"/>
                                  </p:stCondLst>
                                  <p:childTnLst>
                                    <p:set>
                                      <p:cBhvr>
                                        <p:cTn id="17" dur="1" fill="hold">
                                          <p:stCondLst>
                                            <p:cond delay="0"/>
                                          </p:stCondLst>
                                        </p:cTn>
                                        <p:tgtEl>
                                          <p:spTgt spid="101"/>
                                        </p:tgtEl>
                                        <p:attrNameLst>
                                          <p:attrName>style.visibility</p:attrName>
                                        </p:attrNameLst>
                                      </p:cBhvr>
                                      <p:to>
                                        <p:strVal val="visible"/>
                                      </p:to>
                                    </p:set>
                                    <p:animEffect transition="in" filter="blinds(horizontal)">
                                      <p:cBhvr>
                                        <p:cTn id="18" dur="2000"/>
                                        <p:tgtEl>
                                          <p:spTgt spid="101"/>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9"/>
                                        </p:tgtEl>
                                        <p:attrNameLst>
                                          <p:attrName>style.visibility</p:attrName>
                                        </p:attrNameLst>
                                      </p:cBhvr>
                                      <p:to>
                                        <p:strVal val="visible"/>
                                      </p:to>
                                    </p:set>
                                  </p:childTnLst>
                                </p:cTn>
                              </p:par>
                              <p:par>
                                <p:cTn id="23" presetID="0" presetClass="path" presetSubtype="0" accel="50000" decel="50000" fill="hold" grpId="1" nodeType="withEffect">
                                  <p:stCondLst>
                                    <p:cond delay="0"/>
                                  </p:stCondLst>
                                  <p:childTnLst>
                                    <p:animMotion origin="layout" path="M 3.88889E-6 -0.00139 L 3.88889E-6 0.36597 " pathEditMode="relative" rAng="0" ptsTypes="AA">
                                      <p:cBhvr>
                                        <p:cTn id="24" dur="2000" fill="hold"/>
                                        <p:tgtEl>
                                          <p:spTgt spid="79"/>
                                        </p:tgtEl>
                                        <p:attrNameLst>
                                          <p:attrName>ppt_x</p:attrName>
                                          <p:attrName>ppt_y</p:attrName>
                                        </p:attrNameLst>
                                      </p:cBhvr>
                                      <p:rCtr x="0" y="18356"/>
                                    </p:animMotion>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0" presetClass="path" presetSubtype="0" accel="50000" decel="50000" fill="hold" grpId="1" nodeType="withEffect">
                                  <p:stCondLst>
                                    <p:cond delay="0"/>
                                  </p:stCondLst>
                                  <p:childTnLst>
                                    <p:animMotion origin="layout" path="M 1.66667E-6 -0.00139 L 1.66667E-6 0.36597 " pathEditMode="relative" rAng="0" ptsTypes="AA">
                                      <p:cBhvr>
                                        <p:cTn id="28" dur="2000" fill="hold"/>
                                        <p:tgtEl>
                                          <p:spTgt spid="83"/>
                                        </p:tgtEl>
                                        <p:attrNameLst>
                                          <p:attrName>ppt_x</p:attrName>
                                          <p:attrName>ppt_y</p:attrName>
                                        </p:attrNameLst>
                                      </p:cBhvr>
                                      <p:rCtr x="0" y="183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79" grpId="0" animBg="1"/>
      <p:bldP spid="79" grpId="1" animBg="1"/>
      <p:bldP spid="83" grpId="0" animBg="1"/>
      <p:bldP spid="83" grpId="1" animBg="1"/>
      <p:bldP spid="101"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Textfeld 91"/>
          <p:cNvSpPr txBox="1"/>
          <p:nvPr/>
        </p:nvSpPr>
        <p:spPr>
          <a:xfrm>
            <a:off x="4551406" y="3314392"/>
            <a:ext cx="282450" cy="307777"/>
          </a:xfrm>
          <a:prstGeom prst="rect">
            <a:avLst/>
          </a:prstGeom>
          <a:noFill/>
        </p:spPr>
        <p:txBody>
          <a:bodyPr wrap="none" rtlCol="0">
            <a:spAutoFit/>
          </a:bodyPr>
          <a:lstStyle/>
          <a:p>
            <a:r>
              <a:rPr lang="en-US" sz="1400" dirty="0">
                <a:latin typeface="+mn-lt"/>
              </a:rPr>
              <a:t>2</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77" name="Rechteck 76"/>
          <p:cNvSpPr/>
          <p:nvPr/>
        </p:nvSpPr>
        <p:spPr>
          <a:xfrm>
            <a:off x="3410768"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18247"/>
            <a:ext cx="1021690" cy="307777"/>
          </a:xfrm>
          <a:prstGeom prst="rect">
            <a:avLst/>
          </a:prstGeom>
          <a:noFill/>
        </p:spPr>
        <p:txBody>
          <a:bodyPr wrap="none" rtlCol="0">
            <a:spAutoFit/>
          </a:bodyPr>
          <a:lstStyle/>
          <a:p>
            <a:r>
              <a:rPr lang="en-US" sz="1400" dirty="0">
                <a:latin typeface="+mn-lt"/>
              </a:rPr>
              <a:t>Backoff:    2</a:t>
            </a:r>
          </a:p>
        </p:txBody>
      </p:sp>
      <p:sp>
        <p:nvSpPr>
          <p:cNvPr id="103" name="Textfeld 102"/>
          <p:cNvSpPr txBox="1"/>
          <p:nvPr/>
        </p:nvSpPr>
        <p:spPr>
          <a:xfrm>
            <a:off x="4550570" y="3318247"/>
            <a:ext cx="282450" cy="307777"/>
          </a:xfrm>
          <a:prstGeom prst="rect">
            <a:avLst/>
          </a:prstGeom>
          <a:noFill/>
        </p:spPr>
        <p:txBody>
          <a:bodyPr wrap="none" rtlCol="0">
            <a:spAutoFit/>
          </a:bodyPr>
          <a:lstStyle/>
          <a:p>
            <a:r>
              <a:rPr lang="en-US" sz="1400" dirty="0">
                <a:latin typeface="+mn-lt"/>
              </a:rPr>
              <a:t>0</a:t>
            </a:r>
          </a:p>
        </p:txBody>
      </p: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83" name="Abgerundetes Rechteck 82"/>
          <p:cNvSpPr/>
          <p:nvPr/>
        </p:nvSpPr>
        <p:spPr>
          <a:xfrm>
            <a:off x="142844" y="5581966"/>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AC_VI Queue ready to send… wait AIFS</a:t>
            </a:r>
          </a:p>
        </p:txBody>
      </p:sp>
      <p:sp>
        <p:nvSpPr>
          <p:cNvPr id="84" name="Abgerundetes Rechteck 83"/>
          <p:cNvSpPr/>
          <p:nvPr/>
        </p:nvSpPr>
        <p:spPr>
          <a:xfrm>
            <a:off x="2714612" y="5581966"/>
            <a:ext cx="1643074" cy="500066"/>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Backoff</a:t>
            </a:r>
          </a:p>
        </p:txBody>
      </p:sp>
      <p:cxnSp>
        <p:nvCxnSpPr>
          <p:cNvPr id="86" name="Gewinkelte Verbindung 85"/>
          <p:cNvCxnSpPr>
            <a:endCxn id="84" idx="1"/>
          </p:cNvCxnSpPr>
          <p:nvPr/>
        </p:nvCxnSpPr>
        <p:spPr>
          <a:xfrm>
            <a:off x="1785918" y="5831999"/>
            <a:ext cx="928694"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88" name="Textfeld 87"/>
          <p:cNvSpPr txBox="1"/>
          <p:nvPr/>
        </p:nvSpPr>
        <p:spPr>
          <a:xfrm>
            <a:off x="1475455" y="5149949"/>
            <a:ext cx="1327286" cy="646331"/>
          </a:xfrm>
          <a:prstGeom prst="rect">
            <a:avLst/>
          </a:prstGeom>
          <a:noFill/>
        </p:spPr>
        <p:txBody>
          <a:bodyPr wrap="none" rtlCol="0">
            <a:spAutoFit/>
          </a:bodyPr>
          <a:lstStyle/>
          <a:p>
            <a:r>
              <a:rPr lang="en-US" dirty="0" err="1">
                <a:latin typeface="+mn-lt"/>
              </a:rPr>
              <a:t>Ch</a:t>
            </a:r>
            <a:r>
              <a:rPr lang="en-US" dirty="0">
                <a:latin typeface="+mn-lt"/>
              </a:rPr>
              <a:t> becomes</a:t>
            </a:r>
          </a:p>
          <a:p>
            <a:pPr algn="ctr"/>
            <a:r>
              <a:rPr lang="en-US" dirty="0">
                <a:latin typeface="+mn-lt"/>
              </a:rPr>
              <a:t>busy</a:t>
            </a:r>
          </a:p>
        </p:txBody>
      </p:sp>
      <p:sp>
        <p:nvSpPr>
          <p:cNvPr id="78"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0"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78</a:t>
            </a:fld>
            <a:endParaRPr lang="en-US" dirty="0">
              <a:solidFill>
                <a:prstClr val="black"/>
              </a:solidFill>
            </a:endParaRPr>
          </a:p>
        </p:txBody>
      </p:sp>
    </p:spTree>
    <p:extLst>
      <p:ext uri="{BB962C8B-B14F-4D97-AF65-F5344CB8AC3E}">
        <p14:creationId xmlns:p14="http://schemas.microsoft.com/office/powerpoint/2010/main" val="24996917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
                                        </p:tgtEl>
                                        <p:attrNameLst>
                                          <p:attrName>style.visibility</p:attrName>
                                        </p:attrNameLst>
                                      </p:cBhvr>
                                      <p:to>
                                        <p:strVal val="visible"/>
                                      </p:to>
                                    </p:set>
                                    <p:animEffect transition="in" filter="blinds(horizontal)">
                                      <p:cBhvr>
                                        <p:cTn id="7" dur="1000"/>
                                        <p:tgtEl>
                                          <p:spTgt spid="92"/>
                                        </p:tgtEl>
                                      </p:cBhvr>
                                    </p:animEffect>
                                  </p:childTnLst>
                                </p:cTn>
                              </p:par>
                              <p:par>
                                <p:cTn id="8" presetID="3" presetClass="exit" presetSubtype="10" fill="hold" grpId="0" nodeType="withEffect">
                                  <p:stCondLst>
                                    <p:cond delay="0"/>
                                  </p:stCondLst>
                                  <p:childTnLst>
                                    <p:animEffect transition="out" filter="blinds(horizontal)">
                                      <p:cBhvr>
                                        <p:cTn id="9" dur="500"/>
                                        <p:tgtEl>
                                          <p:spTgt spid="103"/>
                                        </p:tgtEl>
                                      </p:cBhvr>
                                    </p:animEffect>
                                    <p:set>
                                      <p:cBhvr>
                                        <p:cTn id="10" dur="1" fill="hold">
                                          <p:stCondLst>
                                            <p:cond delay="499"/>
                                          </p:stCondLst>
                                        </p:cTn>
                                        <p:tgtEl>
                                          <p:spTgt spid="103"/>
                                        </p:tgtEl>
                                        <p:attrNameLst>
                                          <p:attrName>style.visibility</p:attrName>
                                        </p:attrNameLst>
                                      </p:cBhvr>
                                      <p:to>
                                        <p:strVal val="hidden"/>
                                      </p:to>
                                    </p:set>
                                  </p:childTnLst>
                                </p:cTn>
                              </p:par>
                              <p:par>
                                <p:cTn id="11" presetID="1" presetClass="emph" presetSubtype="2" fill="hold" nodeType="withEffect">
                                  <p:stCondLst>
                                    <p:cond delay="0"/>
                                  </p:stCondLst>
                                  <p:childTnLst>
                                    <p:animClr clrSpc="rgb" dir="cw">
                                      <p:cBhvr>
                                        <p:cTn id="12" dur="2000" fill="hold"/>
                                        <p:tgtEl>
                                          <p:spTgt spid="86"/>
                                        </p:tgtEl>
                                        <p:attrNameLst>
                                          <p:attrName>fillcolor</p:attrName>
                                        </p:attrNameLst>
                                      </p:cBhvr>
                                      <p:to>
                                        <a:srgbClr val="2CFF0F"/>
                                      </p:to>
                                    </p:animClr>
                                    <p:set>
                                      <p:cBhvr>
                                        <p:cTn id="13" dur="2000" fill="hold"/>
                                        <p:tgtEl>
                                          <p:spTgt spid="86"/>
                                        </p:tgtEl>
                                        <p:attrNameLst>
                                          <p:attrName>fill.type</p:attrName>
                                        </p:attrNameLst>
                                      </p:cBhvr>
                                      <p:to>
                                        <p:strVal val="solid"/>
                                      </p:to>
                                    </p:set>
                                    <p:set>
                                      <p:cBhvr>
                                        <p:cTn id="14" dur="2000" fill="hold"/>
                                        <p:tgtEl>
                                          <p:spTgt spid="86"/>
                                        </p:tgtEl>
                                        <p:attrNameLst>
                                          <p:attrName>fill.on</p:attrName>
                                        </p:attrNameLst>
                                      </p:cBhvr>
                                      <p:to>
                                        <p:strVal val="true"/>
                                      </p:to>
                                    </p:set>
                                  </p:childTnLst>
                                </p:cTn>
                              </p:par>
                              <p:par>
                                <p:cTn id="15" presetID="1" presetClass="emph" presetSubtype="2" fill="hold" nodeType="withEffect">
                                  <p:stCondLst>
                                    <p:cond delay="0"/>
                                  </p:stCondLst>
                                  <p:childTnLst>
                                    <p:animClr clrSpc="rgb" dir="cw">
                                      <p:cBhvr>
                                        <p:cTn id="16" dur="2000" fill="hold"/>
                                        <p:tgtEl>
                                          <p:spTgt spid="84"/>
                                        </p:tgtEl>
                                        <p:attrNameLst>
                                          <p:attrName>fillcolor</p:attrName>
                                        </p:attrNameLst>
                                      </p:cBhvr>
                                      <p:to>
                                        <a:srgbClr val="2CFF0F"/>
                                      </p:to>
                                    </p:animClr>
                                    <p:set>
                                      <p:cBhvr>
                                        <p:cTn id="17" dur="2000" fill="hold"/>
                                        <p:tgtEl>
                                          <p:spTgt spid="84"/>
                                        </p:tgtEl>
                                        <p:attrNameLst>
                                          <p:attrName>fill.type</p:attrName>
                                        </p:attrNameLst>
                                      </p:cBhvr>
                                      <p:to>
                                        <p:strVal val="solid"/>
                                      </p:to>
                                    </p:set>
                                    <p:set>
                                      <p:cBhvr>
                                        <p:cTn id="18" dur="2000" fill="hold"/>
                                        <p:tgtEl>
                                          <p:spTgt spid="8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 grpId="0"/>
      <p:bldP spid="103"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Textfeld 99"/>
          <p:cNvSpPr txBox="1"/>
          <p:nvPr/>
        </p:nvSpPr>
        <p:spPr>
          <a:xfrm>
            <a:off x="2272714" y="3317781"/>
            <a:ext cx="1021690" cy="307777"/>
          </a:xfrm>
          <a:prstGeom prst="rect">
            <a:avLst/>
          </a:prstGeom>
          <a:noFill/>
        </p:spPr>
        <p:txBody>
          <a:bodyPr wrap="none" rtlCol="0">
            <a:spAutoFit/>
          </a:bodyPr>
          <a:lstStyle/>
          <a:p>
            <a:r>
              <a:rPr lang="en-US" sz="1400" dirty="0">
                <a:latin typeface="+mn-lt"/>
              </a:rPr>
              <a:t>Backoff:    2</a:t>
            </a:r>
          </a:p>
        </p:txBody>
      </p:sp>
      <p:sp>
        <p:nvSpPr>
          <p:cNvPr id="102" name="Textfeld 101"/>
          <p:cNvSpPr txBox="1"/>
          <p:nvPr/>
        </p:nvSpPr>
        <p:spPr>
          <a:xfrm>
            <a:off x="4551874" y="3317781"/>
            <a:ext cx="282450" cy="307777"/>
          </a:xfrm>
          <a:prstGeom prst="rect">
            <a:avLst/>
          </a:prstGeom>
          <a:noFill/>
        </p:spPr>
        <p:txBody>
          <a:bodyPr wrap="none" rtlCol="0">
            <a:spAutoFit/>
          </a:bodyPr>
          <a:lstStyle/>
          <a:p>
            <a:r>
              <a:rPr lang="en-US" sz="1400" dirty="0">
                <a:latin typeface="+mn-lt"/>
              </a:rPr>
              <a:t>2</a:t>
            </a:r>
          </a:p>
        </p:txBody>
      </p:sp>
      <p:sp>
        <p:nvSpPr>
          <p:cNvPr id="92" name="Textfeld 91"/>
          <p:cNvSpPr txBox="1"/>
          <p:nvPr/>
        </p:nvSpPr>
        <p:spPr>
          <a:xfrm>
            <a:off x="4551406" y="3314392"/>
            <a:ext cx="282450" cy="307777"/>
          </a:xfrm>
          <a:prstGeom prst="rect">
            <a:avLst/>
          </a:prstGeom>
          <a:noFill/>
        </p:spPr>
        <p:txBody>
          <a:bodyPr wrap="none" rtlCol="0">
            <a:spAutoFit/>
          </a:bodyPr>
          <a:lstStyle/>
          <a:p>
            <a:r>
              <a:rPr lang="en-US" sz="1400" dirty="0">
                <a:latin typeface="+mn-lt"/>
              </a:rPr>
              <a:t>1</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77" name="Rechteck 76"/>
          <p:cNvSpPr/>
          <p:nvPr/>
        </p:nvSpPr>
        <p:spPr>
          <a:xfrm>
            <a:off x="3410768"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1" name="Textfeld 100"/>
          <p:cNvSpPr txBox="1"/>
          <p:nvPr/>
        </p:nvSpPr>
        <p:spPr>
          <a:xfrm>
            <a:off x="2272714" y="3318247"/>
            <a:ext cx="1021690" cy="307777"/>
          </a:xfrm>
          <a:prstGeom prst="rect">
            <a:avLst/>
          </a:prstGeom>
          <a:noFill/>
        </p:spPr>
        <p:txBody>
          <a:bodyPr wrap="none" rtlCol="0">
            <a:spAutoFit/>
          </a:bodyPr>
          <a:lstStyle/>
          <a:p>
            <a:r>
              <a:rPr lang="en-US" sz="1400" dirty="0">
                <a:latin typeface="+mn-lt"/>
              </a:rPr>
              <a:t>Backoff:    1</a:t>
            </a:r>
          </a:p>
        </p:txBody>
      </p: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83" name="Abgerundetes Rechteck 82"/>
          <p:cNvSpPr/>
          <p:nvPr/>
        </p:nvSpPr>
        <p:spPr>
          <a:xfrm>
            <a:off x="285720" y="3114677"/>
            <a:ext cx="1571636" cy="100013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Channel</a:t>
            </a:r>
            <a:br>
              <a:rPr lang="en-US" dirty="0">
                <a:solidFill>
                  <a:schemeClr val="tx1"/>
                </a:solidFill>
              </a:rPr>
            </a:br>
            <a:r>
              <a:rPr lang="en-US" dirty="0">
                <a:solidFill>
                  <a:schemeClr val="tx1"/>
                </a:solidFill>
              </a:rPr>
              <a:t>idle</a:t>
            </a:r>
          </a:p>
        </p:txBody>
      </p:sp>
      <p:sp>
        <p:nvSpPr>
          <p:cNvPr id="84" name="Abgerundetes Rechteck 83"/>
          <p:cNvSpPr/>
          <p:nvPr/>
        </p:nvSpPr>
        <p:spPr>
          <a:xfrm>
            <a:off x="285720" y="5043503"/>
            <a:ext cx="1571636" cy="100013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Channel busy</a:t>
            </a:r>
          </a:p>
        </p:txBody>
      </p:sp>
      <p:cxnSp>
        <p:nvCxnSpPr>
          <p:cNvPr id="80" name="Gerade Verbindung mit Pfeil 79"/>
          <p:cNvCxnSpPr>
            <a:stCxn id="83" idx="2"/>
            <a:endCxn id="84" idx="0"/>
          </p:cNvCxnSpPr>
          <p:nvPr/>
        </p:nvCxnSpPr>
        <p:spPr>
          <a:xfrm rot="5400000">
            <a:off x="607191" y="4579156"/>
            <a:ext cx="928694" cy="1588"/>
          </a:xfrm>
          <a:prstGeom prst="straightConnector1">
            <a:avLst/>
          </a:prstGeom>
          <a:ln>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7" name="Form 86"/>
          <p:cNvCxnSpPr>
            <a:stCxn id="83" idx="1"/>
            <a:endCxn id="83" idx="3"/>
          </p:cNvCxnSpPr>
          <p:nvPr/>
        </p:nvCxnSpPr>
        <p:spPr>
          <a:xfrm rot="10800000" flipH="1">
            <a:off x="285720" y="3614743"/>
            <a:ext cx="1571636" cy="1588"/>
          </a:xfrm>
          <a:prstGeom prst="bentConnector5">
            <a:avLst>
              <a:gd name="adj1" fmla="val -14545"/>
              <a:gd name="adj2" fmla="val 72161043"/>
              <a:gd name="adj3" fmla="val 114545"/>
            </a:avLst>
          </a:prstGeom>
          <a:ln>
            <a:tailEnd type="arrow"/>
          </a:ln>
        </p:spPr>
        <p:style>
          <a:lnRef idx="1">
            <a:schemeClr val="accent1"/>
          </a:lnRef>
          <a:fillRef idx="0">
            <a:schemeClr val="accent1"/>
          </a:fillRef>
          <a:effectRef idx="0">
            <a:schemeClr val="accent1"/>
          </a:effectRef>
          <a:fontRef idx="minor">
            <a:schemeClr val="tx1"/>
          </a:fontRef>
        </p:style>
      </p:cxnSp>
      <p:sp>
        <p:nvSpPr>
          <p:cNvPr id="94" name="Textfeld 93"/>
          <p:cNvSpPr txBox="1"/>
          <p:nvPr/>
        </p:nvSpPr>
        <p:spPr>
          <a:xfrm>
            <a:off x="158521" y="1757355"/>
            <a:ext cx="2062681" cy="646331"/>
          </a:xfrm>
          <a:prstGeom prst="rect">
            <a:avLst/>
          </a:prstGeom>
          <a:noFill/>
        </p:spPr>
        <p:txBody>
          <a:bodyPr wrap="none" rtlCol="0">
            <a:spAutoFit/>
          </a:bodyPr>
          <a:lstStyle/>
          <a:p>
            <a:r>
              <a:rPr lang="en-US" dirty="0">
                <a:latin typeface="+mn-lt"/>
              </a:rPr>
              <a:t>[Slot time passed]</a:t>
            </a:r>
          </a:p>
          <a:p>
            <a:r>
              <a:rPr lang="en-US" dirty="0">
                <a:latin typeface="+mn-lt"/>
              </a:rPr>
              <a:t>/Decrement Backoff</a:t>
            </a:r>
          </a:p>
        </p:txBody>
      </p:sp>
      <p:sp>
        <p:nvSpPr>
          <p:cNvPr id="96" name="Textfeld 95"/>
          <p:cNvSpPr txBox="1"/>
          <p:nvPr/>
        </p:nvSpPr>
        <p:spPr>
          <a:xfrm>
            <a:off x="1161667" y="4257685"/>
            <a:ext cx="1465081" cy="646331"/>
          </a:xfrm>
          <a:prstGeom prst="rect">
            <a:avLst/>
          </a:prstGeom>
          <a:noFill/>
        </p:spPr>
        <p:txBody>
          <a:bodyPr wrap="none" rtlCol="0">
            <a:spAutoFit/>
          </a:bodyPr>
          <a:lstStyle/>
          <a:p>
            <a:r>
              <a:rPr lang="en-US" dirty="0">
                <a:latin typeface="+mn-lt"/>
              </a:rPr>
              <a:t>Channel state</a:t>
            </a:r>
            <a:br>
              <a:rPr lang="en-US" dirty="0">
                <a:latin typeface="+mn-lt"/>
              </a:rPr>
            </a:br>
            <a:r>
              <a:rPr lang="en-US" dirty="0">
                <a:latin typeface="+mn-lt"/>
              </a:rPr>
              <a:t>changes</a:t>
            </a:r>
          </a:p>
        </p:txBody>
      </p:sp>
      <p:sp>
        <p:nvSpPr>
          <p:cNvPr id="104" name="Textfeld 103"/>
          <p:cNvSpPr txBox="1"/>
          <p:nvPr/>
        </p:nvSpPr>
        <p:spPr>
          <a:xfrm>
            <a:off x="2272714" y="3321636"/>
            <a:ext cx="1021690" cy="307777"/>
          </a:xfrm>
          <a:prstGeom prst="rect">
            <a:avLst/>
          </a:prstGeom>
          <a:noFill/>
        </p:spPr>
        <p:txBody>
          <a:bodyPr wrap="none" rtlCol="0">
            <a:spAutoFit/>
          </a:bodyPr>
          <a:lstStyle/>
          <a:p>
            <a:r>
              <a:rPr lang="en-US" sz="1400" dirty="0">
                <a:latin typeface="+mn-lt"/>
              </a:rPr>
              <a:t>Backoff:    0</a:t>
            </a:r>
          </a:p>
        </p:txBody>
      </p:sp>
      <p:sp>
        <p:nvSpPr>
          <p:cNvPr id="108" name="Textfeld 107"/>
          <p:cNvSpPr txBox="1"/>
          <p:nvPr/>
        </p:nvSpPr>
        <p:spPr>
          <a:xfrm>
            <a:off x="4551452" y="3318609"/>
            <a:ext cx="282450" cy="307777"/>
          </a:xfrm>
          <a:prstGeom prst="rect">
            <a:avLst/>
          </a:prstGeom>
          <a:noFill/>
        </p:spPr>
        <p:txBody>
          <a:bodyPr wrap="none" rtlCol="0">
            <a:spAutoFit/>
          </a:bodyPr>
          <a:lstStyle/>
          <a:p>
            <a:r>
              <a:rPr lang="en-US" sz="1400" dirty="0">
                <a:latin typeface="+mn-lt"/>
              </a:rPr>
              <a:t>0</a:t>
            </a:r>
          </a:p>
        </p:txBody>
      </p:sp>
      <p:sp>
        <p:nvSpPr>
          <p:cNvPr id="78"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1"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79</a:t>
            </a:fld>
            <a:endParaRPr lang="en-US" dirty="0">
              <a:solidFill>
                <a:prstClr val="black"/>
              </a:solidFill>
            </a:endParaRPr>
          </a:p>
        </p:txBody>
      </p:sp>
    </p:spTree>
    <p:extLst>
      <p:ext uri="{BB962C8B-B14F-4D97-AF65-F5344CB8AC3E}">
        <p14:creationId xmlns:p14="http://schemas.microsoft.com/office/powerpoint/2010/main" val="3240889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94"/>
                                        </p:tgtEl>
                                        <p:attrNameLst>
                                          <p:attrName>fillcolor</p:attrName>
                                        </p:attrNameLst>
                                      </p:cBhvr>
                                      <p:to>
                                        <a:srgbClr val="2CFF0F"/>
                                      </p:to>
                                    </p:animClr>
                                    <p:set>
                                      <p:cBhvr>
                                        <p:cTn id="7" dur="2000" fill="hold"/>
                                        <p:tgtEl>
                                          <p:spTgt spid="94"/>
                                        </p:tgtEl>
                                        <p:attrNameLst>
                                          <p:attrName>fill.type</p:attrName>
                                        </p:attrNameLst>
                                      </p:cBhvr>
                                      <p:to>
                                        <p:strVal val="solid"/>
                                      </p:to>
                                    </p:set>
                                    <p:set>
                                      <p:cBhvr>
                                        <p:cTn id="8" dur="2000" fill="hold"/>
                                        <p:tgtEl>
                                          <p:spTgt spid="94"/>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83"/>
                                        </p:tgtEl>
                                        <p:attrNameLst>
                                          <p:attrName>fillcolor</p:attrName>
                                        </p:attrNameLst>
                                      </p:cBhvr>
                                      <p:to>
                                        <a:srgbClr val="2CFF0F"/>
                                      </p:to>
                                    </p:animClr>
                                    <p:set>
                                      <p:cBhvr>
                                        <p:cTn id="11" dur="2000" fill="hold"/>
                                        <p:tgtEl>
                                          <p:spTgt spid="83"/>
                                        </p:tgtEl>
                                        <p:attrNameLst>
                                          <p:attrName>fill.type</p:attrName>
                                        </p:attrNameLst>
                                      </p:cBhvr>
                                      <p:to>
                                        <p:strVal val="solid"/>
                                      </p:to>
                                    </p:set>
                                    <p:set>
                                      <p:cBhvr>
                                        <p:cTn id="12" dur="2000" fill="hold"/>
                                        <p:tgtEl>
                                          <p:spTgt spid="83"/>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3" presetClass="exit" presetSubtype="10" fill="hold" grpId="0" nodeType="clickEffect">
                                  <p:stCondLst>
                                    <p:cond delay="0"/>
                                  </p:stCondLst>
                                  <p:childTnLst>
                                    <p:animEffect transition="out" filter="blinds(horizontal)">
                                      <p:cBhvr>
                                        <p:cTn id="16" dur="500"/>
                                        <p:tgtEl>
                                          <p:spTgt spid="102"/>
                                        </p:tgtEl>
                                      </p:cBhvr>
                                    </p:animEffect>
                                    <p:set>
                                      <p:cBhvr>
                                        <p:cTn id="17" dur="1" fill="hold">
                                          <p:stCondLst>
                                            <p:cond delay="499"/>
                                          </p:stCondLst>
                                        </p:cTn>
                                        <p:tgtEl>
                                          <p:spTgt spid="102"/>
                                        </p:tgtEl>
                                        <p:attrNameLst>
                                          <p:attrName>style.visibility</p:attrName>
                                        </p:attrNameLst>
                                      </p:cBhvr>
                                      <p:to>
                                        <p:strVal val="hidden"/>
                                      </p:to>
                                    </p:set>
                                  </p:childTnLst>
                                </p:cTn>
                              </p:par>
                              <p:par>
                                <p:cTn id="18" presetID="3" presetClass="exit" presetSubtype="10" fill="hold" grpId="0" nodeType="withEffect">
                                  <p:stCondLst>
                                    <p:cond delay="0"/>
                                  </p:stCondLst>
                                  <p:childTnLst>
                                    <p:animEffect transition="out" filter="blinds(horizontal)">
                                      <p:cBhvr>
                                        <p:cTn id="19" dur="500"/>
                                        <p:tgtEl>
                                          <p:spTgt spid="100"/>
                                        </p:tgtEl>
                                      </p:cBhvr>
                                    </p:animEffect>
                                    <p:set>
                                      <p:cBhvr>
                                        <p:cTn id="20" dur="1" fill="hold">
                                          <p:stCondLst>
                                            <p:cond delay="499"/>
                                          </p:stCondLst>
                                        </p:cTn>
                                        <p:tgtEl>
                                          <p:spTgt spid="100"/>
                                        </p:tgtEl>
                                        <p:attrNameLst>
                                          <p:attrName>style.visibility</p:attrName>
                                        </p:attrNameLst>
                                      </p:cBhvr>
                                      <p:to>
                                        <p:strVal val="hidden"/>
                                      </p:to>
                                    </p:set>
                                  </p:childTnLst>
                                </p:cTn>
                              </p:par>
                              <p:par>
                                <p:cTn id="21" presetID="3" presetClass="entr" presetSubtype="10" fill="hold" grpId="0" nodeType="with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blinds(horizontal)">
                                      <p:cBhvr>
                                        <p:cTn id="23" dur="2000"/>
                                        <p:tgtEl>
                                          <p:spTgt spid="92"/>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101"/>
                                        </p:tgtEl>
                                        <p:attrNameLst>
                                          <p:attrName>style.visibility</p:attrName>
                                        </p:attrNameLst>
                                      </p:cBhvr>
                                      <p:to>
                                        <p:strVal val="visible"/>
                                      </p:to>
                                    </p:set>
                                    <p:animEffect transition="in" filter="blinds(horizontal)">
                                      <p:cBhvr>
                                        <p:cTn id="26" dur="2000"/>
                                        <p:tgtEl>
                                          <p:spTgt spid="101"/>
                                        </p:tgtEl>
                                      </p:cBhvr>
                                    </p:animEffect>
                                  </p:childTnLst>
                                </p:cTn>
                              </p:par>
                              <p:par>
                                <p:cTn id="27" presetID="1" presetClass="emph" presetSubtype="2" fill="hold" nodeType="withEffect">
                                  <p:stCondLst>
                                    <p:cond delay="0"/>
                                  </p:stCondLst>
                                  <p:childTnLst>
                                    <p:animClr clrSpc="rgb" dir="cw">
                                      <p:cBhvr>
                                        <p:cTn id="28" dur="2000" fill="hold"/>
                                        <p:tgtEl>
                                          <p:spTgt spid="94"/>
                                        </p:tgtEl>
                                        <p:attrNameLst>
                                          <p:attrName>fillcolor</p:attrName>
                                        </p:attrNameLst>
                                      </p:cBhvr>
                                      <p:to>
                                        <a:schemeClr val="bg1"/>
                                      </p:to>
                                    </p:animClr>
                                    <p:set>
                                      <p:cBhvr>
                                        <p:cTn id="29" dur="2000" fill="hold"/>
                                        <p:tgtEl>
                                          <p:spTgt spid="94"/>
                                        </p:tgtEl>
                                        <p:attrNameLst>
                                          <p:attrName>fill.type</p:attrName>
                                        </p:attrNameLst>
                                      </p:cBhvr>
                                      <p:to>
                                        <p:strVal val="solid"/>
                                      </p:to>
                                    </p:set>
                                    <p:set>
                                      <p:cBhvr>
                                        <p:cTn id="30" dur="2000" fill="hold"/>
                                        <p:tgtEl>
                                          <p:spTgt spid="94"/>
                                        </p:tgtEl>
                                        <p:attrNameLst>
                                          <p:attrName>fill.on</p:attrName>
                                        </p:attrNameLst>
                                      </p:cBhvr>
                                      <p:to>
                                        <p:strVal val="true"/>
                                      </p:to>
                                    </p:set>
                                  </p:childTnLst>
                                </p:cTn>
                              </p:par>
                              <p:par>
                                <p:cTn id="31" presetID="1" presetClass="emph" presetSubtype="2" fill="hold" nodeType="withEffect">
                                  <p:stCondLst>
                                    <p:cond delay="0"/>
                                  </p:stCondLst>
                                  <p:childTnLst>
                                    <p:animClr clrSpc="rgb" dir="cw">
                                      <p:cBhvr>
                                        <p:cTn id="32" dur="2000" fill="hold"/>
                                        <p:tgtEl>
                                          <p:spTgt spid="83"/>
                                        </p:tgtEl>
                                        <p:attrNameLst>
                                          <p:attrName>fillcolor</p:attrName>
                                        </p:attrNameLst>
                                      </p:cBhvr>
                                      <p:to>
                                        <a:schemeClr val="bg1"/>
                                      </p:to>
                                    </p:animClr>
                                    <p:set>
                                      <p:cBhvr>
                                        <p:cTn id="33" dur="2000" fill="hold"/>
                                        <p:tgtEl>
                                          <p:spTgt spid="83"/>
                                        </p:tgtEl>
                                        <p:attrNameLst>
                                          <p:attrName>fill.type</p:attrName>
                                        </p:attrNameLst>
                                      </p:cBhvr>
                                      <p:to>
                                        <p:strVal val="solid"/>
                                      </p:to>
                                    </p:set>
                                    <p:set>
                                      <p:cBhvr>
                                        <p:cTn id="34" dur="2000" fill="hold"/>
                                        <p:tgtEl>
                                          <p:spTgt spid="83"/>
                                        </p:tgtEl>
                                        <p:attrNameLst>
                                          <p:attrName>fill.on</p:attrName>
                                        </p:attrNameLst>
                                      </p:cBhvr>
                                      <p:to>
                                        <p:strVal val="true"/>
                                      </p:to>
                                    </p:se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104"/>
                                        </p:tgtEl>
                                        <p:attrNameLst>
                                          <p:attrName>style.visibility</p:attrName>
                                        </p:attrNameLst>
                                      </p:cBhvr>
                                      <p:to>
                                        <p:strVal val="visible"/>
                                      </p:to>
                                    </p:set>
                                    <p:animEffect transition="in" filter="blinds(horizontal)">
                                      <p:cBhvr>
                                        <p:cTn id="39" dur="2000"/>
                                        <p:tgtEl>
                                          <p:spTgt spid="10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08"/>
                                        </p:tgtEl>
                                        <p:attrNameLst>
                                          <p:attrName>style.visibility</p:attrName>
                                        </p:attrNameLst>
                                      </p:cBhvr>
                                      <p:to>
                                        <p:strVal val="visible"/>
                                      </p:to>
                                    </p:set>
                                    <p:animEffect transition="in" filter="blinds(horizontal)">
                                      <p:cBhvr>
                                        <p:cTn id="42" dur="2000"/>
                                        <p:tgtEl>
                                          <p:spTgt spid="108"/>
                                        </p:tgtEl>
                                      </p:cBhvr>
                                    </p:animEffect>
                                  </p:childTnLst>
                                </p:cTn>
                              </p:par>
                              <p:par>
                                <p:cTn id="43" presetID="3" presetClass="entr" presetSubtype="10" fill="hold" grpId="1" nodeType="withEffect">
                                  <p:stCondLst>
                                    <p:cond delay="0"/>
                                  </p:stCondLst>
                                  <p:childTnLst>
                                    <p:set>
                                      <p:cBhvr>
                                        <p:cTn id="44" dur="1" fill="hold">
                                          <p:stCondLst>
                                            <p:cond delay="0"/>
                                          </p:stCondLst>
                                        </p:cTn>
                                        <p:tgtEl>
                                          <p:spTgt spid="108"/>
                                        </p:tgtEl>
                                        <p:attrNameLst>
                                          <p:attrName>style.visibility</p:attrName>
                                        </p:attrNameLst>
                                      </p:cBhvr>
                                      <p:to>
                                        <p:strVal val="visible"/>
                                      </p:to>
                                    </p:set>
                                    <p:animEffect transition="in" filter="blinds(horizontal)">
                                      <p:cBhvr>
                                        <p:cTn id="45" dur="500"/>
                                        <p:tgtEl>
                                          <p:spTgt spid="108"/>
                                        </p:tgtEl>
                                      </p:cBhvr>
                                    </p:animEffect>
                                  </p:childTnLst>
                                </p:cTn>
                              </p:par>
                              <p:par>
                                <p:cTn id="46" presetID="3" presetClass="entr" presetSubtype="10" fill="hold" grpId="1" nodeType="withEffect">
                                  <p:stCondLst>
                                    <p:cond delay="0"/>
                                  </p:stCondLst>
                                  <p:childTnLst>
                                    <p:set>
                                      <p:cBhvr>
                                        <p:cTn id="47" dur="1" fill="hold">
                                          <p:stCondLst>
                                            <p:cond delay="0"/>
                                          </p:stCondLst>
                                        </p:cTn>
                                        <p:tgtEl>
                                          <p:spTgt spid="104"/>
                                        </p:tgtEl>
                                        <p:attrNameLst>
                                          <p:attrName>style.visibility</p:attrName>
                                        </p:attrNameLst>
                                      </p:cBhvr>
                                      <p:to>
                                        <p:strVal val="visible"/>
                                      </p:to>
                                    </p:set>
                                    <p:animEffect transition="in" filter="blinds(horizontal)">
                                      <p:cBhvr>
                                        <p:cTn id="48" dur="500"/>
                                        <p:tgtEl>
                                          <p:spTgt spid="104"/>
                                        </p:tgtEl>
                                      </p:cBhvr>
                                    </p:animEffect>
                                  </p:childTnLst>
                                </p:cTn>
                              </p:par>
                              <p:par>
                                <p:cTn id="49" presetID="3" presetClass="exit" presetSubtype="10" fill="hold" grpId="1" nodeType="withEffect">
                                  <p:stCondLst>
                                    <p:cond delay="0"/>
                                  </p:stCondLst>
                                  <p:childTnLst>
                                    <p:animEffect transition="out" filter="blinds(horizontal)">
                                      <p:cBhvr>
                                        <p:cTn id="50" dur="500"/>
                                        <p:tgtEl>
                                          <p:spTgt spid="101"/>
                                        </p:tgtEl>
                                      </p:cBhvr>
                                    </p:animEffect>
                                    <p:set>
                                      <p:cBhvr>
                                        <p:cTn id="51" dur="1" fill="hold">
                                          <p:stCondLst>
                                            <p:cond delay="499"/>
                                          </p:stCondLst>
                                        </p:cTn>
                                        <p:tgtEl>
                                          <p:spTgt spid="101"/>
                                        </p:tgtEl>
                                        <p:attrNameLst>
                                          <p:attrName>style.visibility</p:attrName>
                                        </p:attrNameLst>
                                      </p:cBhvr>
                                      <p:to>
                                        <p:strVal val="hidden"/>
                                      </p:to>
                                    </p:set>
                                  </p:childTnLst>
                                </p:cTn>
                              </p:par>
                              <p:par>
                                <p:cTn id="52" presetID="3" presetClass="exit" presetSubtype="10" fill="hold" grpId="1" nodeType="withEffect">
                                  <p:stCondLst>
                                    <p:cond delay="0"/>
                                  </p:stCondLst>
                                  <p:childTnLst>
                                    <p:animEffect transition="out" filter="blinds(horizontal)">
                                      <p:cBhvr>
                                        <p:cTn id="53" dur="500"/>
                                        <p:tgtEl>
                                          <p:spTgt spid="92"/>
                                        </p:tgtEl>
                                      </p:cBhvr>
                                    </p:animEffect>
                                    <p:set>
                                      <p:cBhvr>
                                        <p:cTn id="54" dur="1" fill="hold">
                                          <p:stCondLst>
                                            <p:cond delay="499"/>
                                          </p:stCondLst>
                                        </p:cTn>
                                        <p:tgtEl>
                                          <p:spTgt spid="92"/>
                                        </p:tgtEl>
                                        <p:attrNameLst>
                                          <p:attrName>style.visibility</p:attrName>
                                        </p:attrNameLst>
                                      </p:cBhvr>
                                      <p:to>
                                        <p:strVal val="hidden"/>
                                      </p:to>
                                    </p:set>
                                  </p:childTnLst>
                                </p:cTn>
                              </p:par>
                              <p:par>
                                <p:cTn id="55" presetID="1" presetClass="emph" presetSubtype="2" fill="hold" nodeType="withEffect">
                                  <p:stCondLst>
                                    <p:cond delay="0"/>
                                  </p:stCondLst>
                                  <p:childTnLst>
                                    <p:animClr clrSpc="rgb" dir="cw">
                                      <p:cBhvr>
                                        <p:cTn id="56" dur="2000" fill="hold"/>
                                        <p:tgtEl>
                                          <p:spTgt spid="94"/>
                                        </p:tgtEl>
                                        <p:attrNameLst>
                                          <p:attrName>fillcolor</p:attrName>
                                        </p:attrNameLst>
                                      </p:cBhvr>
                                      <p:to>
                                        <a:srgbClr val="2CFF0F"/>
                                      </p:to>
                                    </p:animClr>
                                    <p:set>
                                      <p:cBhvr>
                                        <p:cTn id="57" dur="2000" fill="hold"/>
                                        <p:tgtEl>
                                          <p:spTgt spid="94"/>
                                        </p:tgtEl>
                                        <p:attrNameLst>
                                          <p:attrName>fill.type</p:attrName>
                                        </p:attrNameLst>
                                      </p:cBhvr>
                                      <p:to>
                                        <p:strVal val="solid"/>
                                      </p:to>
                                    </p:set>
                                    <p:set>
                                      <p:cBhvr>
                                        <p:cTn id="58" dur="2000" fill="hold"/>
                                        <p:tgtEl>
                                          <p:spTgt spid="94"/>
                                        </p:tgtEl>
                                        <p:attrNameLst>
                                          <p:attrName>fill.on</p:attrName>
                                        </p:attrNameLst>
                                      </p:cBhvr>
                                      <p:to>
                                        <p:strVal val="true"/>
                                      </p:to>
                                    </p:set>
                                  </p:childTnLst>
                                </p:cTn>
                              </p:par>
                              <p:par>
                                <p:cTn id="59" presetID="1" presetClass="emph" presetSubtype="2" fill="hold" nodeType="withEffect">
                                  <p:stCondLst>
                                    <p:cond delay="0"/>
                                  </p:stCondLst>
                                  <p:childTnLst>
                                    <p:animClr clrSpc="rgb" dir="cw">
                                      <p:cBhvr>
                                        <p:cTn id="60" dur="2000" fill="hold"/>
                                        <p:tgtEl>
                                          <p:spTgt spid="83"/>
                                        </p:tgtEl>
                                        <p:attrNameLst>
                                          <p:attrName>fillcolor</p:attrName>
                                        </p:attrNameLst>
                                      </p:cBhvr>
                                      <p:to>
                                        <a:srgbClr val="2CFF0F"/>
                                      </p:to>
                                    </p:animClr>
                                    <p:set>
                                      <p:cBhvr>
                                        <p:cTn id="61" dur="2000" fill="hold"/>
                                        <p:tgtEl>
                                          <p:spTgt spid="83"/>
                                        </p:tgtEl>
                                        <p:attrNameLst>
                                          <p:attrName>fill.type</p:attrName>
                                        </p:attrNameLst>
                                      </p:cBhvr>
                                      <p:to>
                                        <p:strVal val="solid"/>
                                      </p:to>
                                    </p:set>
                                    <p:set>
                                      <p:cBhvr>
                                        <p:cTn id="62" dur="2000" fill="hold"/>
                                        <p:tgtEl>
                                          <p:spTgt spid="8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p:bldP spid="102" grpId="0"/>
      <p:bldP spid="92" grpId="0"/>
      <p:bldP spid="92" grpId="1"/>
      <p:bldP spid="101" grpId="0"/>
      <p:bldP spid="101" grpId="1"/>
      <p:bldP spid="104" grpId="0"/>
      <p:bldP spid="104" grpId="1"/>
      <p:bldP spid="108" grpId="0"/>
      <p:bldP spid="108" grpId="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Textfeld 108"/>
          <p:cNvSpPr txBox="1"/>
          <p:nvPr/>
        </p:nvSpPr>
        <p:spPr>
          <a:xfrm>
            <a:off x="4551038" y="3317781"/>
            <a:ext cx="282450" cy="307777"/>
          </a:xfrm>
          <a:prstGeom prst="rect">
            <a:avLst/>
          </a:prstGeom>
          <a:noFill/>
        </p:spPr>
        <p:txBody>
          <a:bodyPr wrap="none" rtlCol="0">
            <a:spAutoFit/>
          </a:bodyPr>
          <a:lstStyle/>
          <a:p>
            <a:r>
              <a:rPr lang="en-US" sz="1400" dirty="0">
                <a:latin typeface="+mn-lt"/>
              </a:rPr>
              <a:t>3</a:t>
            </a:r>
          </a:p>
        </p:txBody>
      </p:sp>
      <p:sp>
        <p:nvSpPr>
          <p:cNvPr id="107" name="Rechteck 106"/>
          <p:cNvSpPr/>
          <p:nvPr/>
        </p:nvSpPr>
        <p:spPr>
          <a:xfrm>
            <a:off x="3410822" y="3357562"/>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sp>
        <p:nvSpPr>
          <p:cNvPr id="100" name="Textfeld 99"/>
          <p:cNvSpPr txBox="1"/>
          <p:nvPr/>
        </p:nvSpPr>
        <p:spPr>
          <a:xfrm>
            <a:off x="2272714" y="3317781"/>
            <a:ext cx="1021690" cy="307777"/>
          </a:xfrm>
          <a:prstGeom prst="rect">
            <a:avLst/>
          </a:prstGeom>
          <a:noFill/>
        </p:spPr>
        <p:txBody>
          <a:bodyPr wrap="none" rtlCol="0">
            <a:spAutoFit/>
          </a:bodyPr>
          <a:lstStyle/>
          <a:p>
            <a:r>
              <a:rPr lang="en-US" sz="1400" dirty="0">
                <a:latin typeface="+mn-lt"/>
              </a:rPr>
              <a:t>Backoff:    0</a:t>
            </a:r>
          </a:p>
        </p:txBody>
      </p:sp>
      <p:sp>
        <p:nvSpPr>
          <p:cNvPr id="102" name="Textfeld 101"/>
          <p:cNvSpPr txBox="1"/>
          <p:nvPr/>
        </p:nvSpPr>
        <p:spPr>
          <a:xfrm>
            <a:off x="4551874" y="3317781"/>
            <a:ext cx="282450" cy="307777"/>
          </a:xfrm>
          <a:prstGeom prst="rect">
            <a:avLst/>
          </a:prstGeom>
          <a:noFill/>
        </p:spPr>
        <p:txBody>
          <a:bodyPr wrap="none" rtlCol="0">
            <a:spAutoFit/>
          </a:bodyPr>
          <a:lstStyle/>
          <a:p>
            <a:r>
              <a:rPr lang="en-US" sz="1400" dirty="0">
                <a:latin typeface="+mn-lt"/>
              </a:rPr>
              <a:t>0</a:t>
            </a:r>
          </a:p>
        </p:txBody>
      </p:sp>
      <p:sp>
        <p:nvSpPr>
          <p:cNvPr id="79" name="Rechteck 78"/>
          <p:cNvSpPr/>
          <p:nvPr/>
        </p:nvSpPr>
        <p:spPr>
          <a:xfrm>
            <a:off x="4812894" y="3354173"/>
            <a:ext cx="642942" cy="214314"/>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bg1"/>
                </a:solidFill>
              </a:ln>
              <a:noFill/>
            </a:endParaRPr>
          </a:p>
        </p:txBody>
      </p:sp>
      <p:cxnSp>
        <p:nvCxnSpPr>
          <p:cNvPr id="99" name="Gerade Verbindung mit Pfeil 98"/>
          <p:cNvCxnSpPr>
            <a:stCxn id="82" idx="2"/>
          </p:cNvCxnSpPr>
          <p:nvPr/>
        </p:nvCxnSpPr>
        <p:spPr>
          <a:xfrm rot="5400000">
            <a:off x="5429112" y="5595475"/>
            <a:ext cx="785818" cy="17990"/>
          </a:xfrm>
          <a:prstGeom prst="straightConnector1">
            <a:avLst/>
          </a:prstGeom>
          <a:ln w="85725" cap="flat" cmpd="sng">
            <a:solidFill>
              <a:schemeClr val="accent1">
                <a:shade val="95000"/>
                <a:satMod val="105000"/>
              </a:schemeClr>
            </a:solidFill>
            <a:round/>
            <a:headEnd type="none" w="sm" len="sm"/>
            <a:tailEnd type="arrow" w="lg" len="sm"/>
          </a:ln>
        </p:spPr>
        <p:style>
          <a:lnRef idx="1">
            <a:schemeClr val="accent1"/>
          </a:lnRef>
          <a:fillRef idx="0">
            <a:schemeClr val="accent1"/>
          </a:fillRef>
          <a:effectRef idx="0">
            <a:schemeClr val="accent1"/>
          </a:effectRef>
          <a:fontRef idx="minor">
            <a:schemeClr val="tx1"/>
          </a:fontRef>
        </p:style>
      </p:cxnSp>
      <p:grpSp>
        <p:nvGrpSpPr>
          <p:cNvPr id="2" name="Gruppieren 95"/>
          <p:cNvGrpSpPr/>
          <p:nvPr/>
        </p:nvGrpSpPr>
        <p:grpSpPr>
          <a:xfrm>
            <a:off x="3324782" y="1211033"/>
            <a:ext cx="5016571" cy="2357454"/>
            <a:chOff x="2155194" y="1285860"/>
            <a:chExt cx="5016571" cy="2357454"/>
          </a:xfrm>
        </p:grpSpPr>
        <p:grpSp>
          <p:nvGrpSpPr>
            <p:cNvPr id="3" name="Gruppieren 79"/>
            <p:cNvGrpSpPr/>
            <p:nvPr/>
          </p:nvGrpSpPr>
          <p:grpSpPr>
            <a:xfrm>
              <a:off x="2155194" y="1285860"/>
              <a:ext cx="811441" cy="2357454"/>
              <a:chOff x="1869442" y="1000108"/>
              <a:chExt cx="811441" cy="2357454"/>
            </a:xfrm>
          </p:grpSpPr>
          <p:grpSp>
            <p:nvGrpSpPr>
              <p:cNvPr id="13" name="Gruppieren 61"/>
              <p:cNvGrpSpPr/>
              <p:nvPr/>
            </p:nvGrpSpPr>
            <p:grpSpPr>
              <a:xfrm>
                <a:off x="1953691" y="1428736"/>
                <a:ext cx="642942" cy="1928826"/>
                <a:chOff x="1714480" y="1928802"/>
                <a:chExt cx="642942" cy="1928826"/>
              </a:xfrm>
            </p:grpSpPr>
            <p:sp>
              <p:nvSpPr>
                <p:cNvPr id="4" name="Rechteck 3"/>
                <p:cNvSpPr/>
                <p:nvPr/>
              </p:nvSpPr>
              <p:spPr>
                <a:xfrm>
                  <a:off x="171448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4"/>
                <p:cNvSpPr/>
                <p:nvPr/>
              </p:nvSpPr>
              <p:spPr>
                <a:xfrm>
                  <a:off x="1714480" y="342900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hteck 5"/>
                <p:cNvSpPr/>
                <p:nvPr/>
              </p:nvSpPr>
              <p:spPr>
                <a:xfrm>
                  <a:off x="1714480" y="321468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Rechteck 6"/>
                <p:cNvSpPr/>
                <p:nvPr/>
              </p:nvSpPr>
              <p:spPr>
                <a:xfrm>
                  <a:off x="1714480" y="300037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Rechteck 7"/>
                <p:cNvSpPr/>
                <p:nvPr/>
              </p:nvSpPr>
              <p:spPr>
                <a:xfrm>
                  <a:off x="1714480" y="2786058"/>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p:cNvSpPr/>
                <p:nvPr/>
              </p:nvSpPr>
              <p:spPr>
                <a:xfrm>
                  <a:off x="1714480" y="257174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p:cNvSpPr/>
                <p:nvPr/>
              </p:nvSpPr>
              <p:spPr>
                <a:xfrm>
                  <a:off x="1714480" y="2357430"/>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hteck 10"/>
                <p:cNvSpPr/>
                <p:nvPr/>
              </p:nvSpPr>
              <p:spPr>
                <a:xfrm>
                  <a:off x="1714480" y="2143116"/>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Rechteck 11"/>
                <p:cNvSpPr/>
                <p:nvPr/>
              </p:nvSpPr>
              <p:spPr>
                <a:xfrm>
                  <a:off x="1714480" y="1928802"/>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3" name="Textfeld 72"/>
              <p:cNvSpPr txBox="1"/>
              <p:nvPr/>
            </p:nvSpPr>
            <p:spPr>
              <a:xfrm>
                <a:off x="1869442" y="1000108"/>
                <a:ext cx="811441" cy="338554"/>
              </a:xfrm>
              <a:prstGeom prst="rect">
                <a:avLst/>
              </a:prstGeom>
              <a:noFill/>
            </p:spPr>
            <p:txBody>
              <a:bodyPr wrap="none" rtlCol="0">
                <a:spAutoFit/>
              </a:bodyPr>
              <a:lstStyle/>
              <a:p>
                <a:r>
                  <a:rPr lang="en-US" dirty="0">
                    <a:latin typeface="+mn-lt"/>
                  </a:rPr>
                  <a:t>AC_VO</a:t>
                </a:r>
                <a:endParaRPr lang="de-DE" dirty="0">
                  <a:latin typeface="+mn-lt"/>
                </a:endParaRPr>
              </a:p>
            </p:txBody>
          </p:sp>
        </p:grpSp>
        <p:grpSp>
          <p:nvGrpSpPr>
            <p:cNvPr id="14" name="Gruppieren 78"/>
            <p:cNvGrpSpPr/>
            <p:nvPr/>
          </p:nvGrpSpPr>
          <p:grpSpPr>
            <a:xfrm>
              <a:off x="3594280" y="1285860"/>
              <a:ext cx="742511" cy="2357454"/>
              <a:chOff x="3308528" y="1000108"/>
              <a:chExt cx="742511" cy="2357454"/>
            </a:xfrm>
          </p:grpSpPr>
          <p:grpSp>
            <p:nvGrpSpPr>
              <p:cNvPr id="15" name="Gruppieren 40"/>
              <p:cNvGrpSpPr/>
              <p:nvPr/>
            </p:nvGrpSpPr>
            <p:grpSpPr>
              <a:xfrm>
                <a:off x="3358313" y="1428736"/>
                <a:ext cx="642942" cy="1928826"/>
                <a:chOff x="2786050" y="1928802"/>
                <a:chExt cx="642942" cy="1928826"/>
              </a:xfrm>
            </p:grpSpPr>
            <p:sp>
              <p:nvSpPr>
                <p:cNvPr id="32" name="Rechteck 31"/>
                <p:cNvSpPr/>
                <p:nvPr/>
              </p:nvSpPr>
              <p:spPr>
                <a:xfrm>
                  <a:off x="2786050" y="3643314"/>
                  <a:ext cx="642942" cy="21431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3" name="Rechteck 32"/>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4" name="Rechteck 33"/>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5" name="Rechteck 34"/>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6" name="Rechteck 35"/>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7" name="Rechteck 36"/>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8" name="Rechteck 37"/>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9" name="Rechteck 38"/>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0" name="Rechteck 39"/>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4" name="Textfeld 73"/>
              <p:cNvSpPr txBox="1"/>
              <p:nvPr/>
            </p:nvSpPr>
            <p:spPr>
              <a:xfrm>
                <a:off x="3308528" y="1000108"/>
                <a:ext cx="742511" cy="338554"/>
              </a:xfrm>
              <a:prstGeom prst="rect">
                <a:avLst/>
              </a:prstGeom>
              <a:noFill/>
            </p:spPr>
            <p:txBody>
              <a:bodyPr wrap="none" rtlCol="0">
                <a:spAutoFit/>
              </a:bodyPr>
              <a:lstStyle/>
              <a:p>
                <a:r>
                  <a:rPr lang="en-US" dirty="0">
                    <a:latin typeface="+mn-lt"/>
                  </a:rPr>
                  <a:t>AC_VI</a:t>
                </a:r>
                <a:endParaRPr lang="de-DE" dirty="0">
                  <a:latin typeface="+mn-lt"/>
                </a:endParaRPr>
              </a:p>
            </p:txBody>
          </p:sp>
        </p:grpSp>
        <p:grpSp>
          <p:nvGrpSpPr>
            <p:cNvPr id="16" name="Gruppieren 77"/>
            <p:cNvGrpSpPr/>
            <p:nvPr/>
          </p:nvGrpSpPr>
          <p:grpSpPr>
            <a:xfrm>
              <a:off x="5000685" y="1285860"/>
              <a:ext cx="779381" cy="2357454"/>
              <a:chOff x="4714933" y="1000108"/>
              <a:chExt cx="779381" cy="2357454"/>
            </a:xfrm>
          </p:grpSpPr>
          <p:grpSp>
            <p:nvGrpSpPr>
              <p:cNvPr id="17" name="Gruppieren 51"/>
              <p:cNvGrpSpPr/>
              <p:nvPr/>
            </p:nvGrpSpPr>
            <p:grpSpPr>
              <a:xfrm>
                <a:off x="4783153" y="1428736"/>
                <a:ext cx="642942" cy="1928826"/>
                <a:chOff x="2786050" y="1928802"/>
                <a:chExt cx="642942" cy="1928826"/>
              </a:xfrm>
            </p:grpSpPr>
            <p:sp>
              <p:nvSpPr>
                <p:cNvPr id="53" name="Rechteck 52"/>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4" name="Rechteck 53"/>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5" name="Rechteck 54"/>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6" name="Rechteck 55"/>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7" name="Rechteck 56"/>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8" name="Rechteck 57"/>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9" name="Rechteck 58"/>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0" name="Rechteck 59"/>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1" name="Rechteck 60"/>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5" name="Textfeld 74"/>
              <p:cNvSpPr txBox="1"/>
              <p:nvPr/>
            </p:nvSpPr>
            <p:spPr>
              <a:xfrm>
                <a:off x="4714933" y="1000108"/>
                <a:ext cx="779381" cy="338554"/>
              </a:xfrm>
              <a:prstGeom prst="rect">
                <a:avLst/>
              </a:prstGeom>
              <a:noFill/>
            </p:spPr>
            <p:txBody>
              <a:bodyPr wrap="none" rtlCol="0">
                <a:spAutoFit/>
              </a:bodyPr>
              <a:lstStyle/>
              <a:p>
                <a:r>
                  <a:rPr lang="en-US" dirty="0">
                    <a:latin typeface="+mn-lt"/>
                  </a:rPr>
                  <a:t>AC_BE</a:t>
                </a:r>
                <a:endParaRPr lang="de-DE" dirty="0">
                  <a:latin typeface="+mn-lt"/>
                </a:endParaRPr>
              </a:p>
            </p:txBody>
          </p:sp>
        </p:grpSp>
        <p:grpSp>
          <p:nvGrpSpPr>
            <p:cNvPr id="18" name="Gruppieren 76"/>
            <p:cNvGrpSpPr/>
            <p:nvPr/>
          </p:nvGrpSpPr>
          <p:grpSpPr>
            <a:xfrm>
              <a:off x="6387576" y="1285860"/>
              <a:ext cx="784189" cy="2357454"/>
              <a:chOff x="6101824" y="1000108"/>
              <a:chExt cx="784189" cy="2357454"/>
            </a:xfrm>
          </p:grpSpPr>
          <p:grpSp>
            <p:nvGrpSpPr>
              <p:cNvPr id="19" name="Gruppieren 62"/>
              <p:cNvGrpSpPr/>
              <p:nvPr/>
            </p:nvGrpSpPr>
            <p:grpSpPr>
              <a:xfrm>
                <a:off x="6172447" y="1428736"/>
                <a:ext cx="642942" cy="1928826"/>
                <a:chOff x="2786050" y="1928802"/>
                <a:chExt cx="642942" cy="1928826"/>
              </a:xfrm>
            </p:grpSpPr>
            <p:sp>
              <p:nvSpPr>
                <p:cNvPr id="64" name="Rechteck 63"/>
                <p:cNvSpPr/>
                <p:nvPr/>
              </p:nvSpPr>
              <p:spPr>
                <a:xfrm>
                  <a:off x="2786050" y="364331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5" name="Rechteck 64"/>
                <p:cNvSpPr/>
                <p:nvPr/>
              </p:nvSpPr>
              <p:spPr>
                <a:xfrm>
                  <a:off x="2786050" y="342900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6" name="Rechteck 65"/>
                <p:cNvSpPr/>
                <p:nvPr/>
              </p:nvSpPr>
              <p:spPr>
                <a:xfrm>
                  <a:off x="2786050" y="321468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7" name="Rechteck 66"/>
                <p:cNvSpPr/>
                <p:nvPr/>
              </p:nvSpPr>
              <p:spPr>
                <a:xfrm>
                  <a:off x="2786050" y="300037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8" name="Rechteck 67"/>
                <p:cNvSpPr/>
                <p:nvPr/>
              </p:nvSpPr>
              <p:spPr>
                <a:xfrm>
                  <a:off x="2786050" y="2786058"/>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9" name="Rechteck 68"/>
                <p:cNvSpPr/>
                <p:nvPr/>
              </p:nvSpPr>
              <p:spPr>
                <a:xfrm>
                  <a:off x="2786050" y="2571744"/>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hteck 69"/>
                <p:cNvSpPr/>
                <p:nvPr/>
              </p:nvSpPr>
              <p:spPr>
                <a:xfrm>
                  <a:off x="2786050" y="2357430"/>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1" name="Rechteck 70"/>
                <p:cNvSpPr/>
                <p:nvPr/>
              </p:nvSpPr>
              <p:spPr>
                <a:xfrm>
                  <a:off x="2786050" y="2143116"/>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2" name="Rechteck 71"/>
                <p:cNvSpPr/>
                <p:nvPr/>
              </p:nvSpPr>
              <p:spPr>
                <a:xfrm>
                  <a:off x="2786050" y="1928802"/>
                  <a:ext cx="642942" cy="2143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
            <p:nvSpPr>
              <p:cNvPr id="76" name="Textfeld 75"/>
              <p:cNvSpPr txBox="1"/>
              <p:nvPr/>
            </p:nvSpPr>
            <p:spPr>
              <a:xfrm>
                <a:off x="6101824" y="1000108"/>
                <a:ext cx="784189" cy="338554"/>
              </a:xfrm>
              <a:prstGeom prst="rect">
                <a:avLst/>
              </a:prstGeom>
              <a:noFill/>
            </p:spPr>
            <p:txBody>
              <a:bodyPr wrap="none" rtlCol="0">
                <a:spAutoFit/>
              </a:bodyPr>
              <a:lstStyle/>
              <a:p>
                <a:r>
                  <a:rPr lang="en-US" dirty="0">
                    <a:latin typeface="+mn-lt"/>
                  </a:rPr>
                  <a:t>AC_BK</a:t>
                </a:r>
                <a:endParaRPr lang="de-DE" dirty="0">
                  <a:latin typeface="+mn-lt"/>
                </a:endParaRPr>
              </a:p>
            </p:txBody>
          </p:sp>
        </p:grpSp>
      </p:grpSp>
      <p:sp>
        <p:nvSpPr>
          <p:cNvPr id="82" name="Rechteck 81"/>
          <p:cNvSpPr/>
          <p:nvPr/>
        </p:nvSpPr>
        <p:spPr>
          <a:xfrm>
            <a:off x="3580719" y="4568619"/>
            <a:ext cx="4500594" cy="642942"/>
          </a:xfrm>
          <a:prstGeom prst="rect">
            <a:avLst/>
          </a:prstGeom>
          <a:solidFill>
            <a:schemeClr val="accent4">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Gewinkelte Verbindung 88"/>
          <p:cNvCxnSpPr>
            <a:endCxn id="82" idx="0"/>
          </p:cNvCxnSpPr>
          <p:nvPr/>
        </p:nvCxnSpPr>
        <p:spPr>
          <a:xfrm rot="16200000" flipH="1">
            <a:off x="4280693" y="3018296"/>
            <a:ext cx="1000132" cy="2100514"/>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1" name="Gewinkelte Verbindung 90"/>
          <p:cNvCxnSpPr>
            <a:endCxn id="82" idx="0"/>
          </p:cNvCxnSpPr>
          <p:nvPr/>
        </p:nvCxnSpPr>
        <p:spPr>
          <a:xfrm rot="16200000" flipH="1">
            <a:off x="4983004" y="3720607"/>
            <a:ext cx="1000132" cy="69589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3" name="Gewinkelte Verbindung 92"/>
          <p:cNvCxnSpPr>
            <a:endCxn id="82" idx="0"/>
          </p:cNvCxnSpPr>
          <p:nvPr/>
        </p:nvCxnSpPr>
        <p:spPr>
          <a:xfrm rot="5400000">
            <a:off x="5695424" y="3704079"/>
            <a:ext cx="1000132" cy="72894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5" name="Gewinkelte Verbindung 94"/>
          <p:cNvCxnSpPr>
            <a:endCxn id="82" idx="0"/>
          </p:cNvCxnSpPr>
          <p:nvPr/>
        </p:nvCxnSpPr>
        <p:spPr>
          <a:xfrm rot="5400000">
            <a:off x="6390071" y="3009432"/>
            <a:ext cx="1000132" cy="2118242"/>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105" name="Textfeld 104"/>
          <p:cNvSpPr txBox="1"/>
          <p:nvPr/>
        </p:nvSpPr>
        <p:spPr>
          <a:xfrm>
            <a:off x="5997086" y="3318247"/>
            <a:ext cx="282450" cy="307777"/>
          </a:xfrm>
          <a:prstGeom prst="rect">
            <a:avLst/>
          </a:prstGeom>
          <a:noFill/>
        </p:spPr>
        <p:txBody>
          <a:bodyPr wrap="none" rtlCol="0">
            <a:spAutoFit/>
          </a:bodyPr>
          <a:lstStyle/>
          <a:p>
            <a:r>
              <a:rPr lang="en-US" sz="1400" dirty="0">
                <a:latin typeface="+mn-lt"/>
              </a:rPr>
              <a:t>0</a:t>
            </a:r>
          </a:p>
        </p:txBody>
      </p:sp>
      <p:sp>
        <p:nvSpPr>
          <p:cNvPr id="106" name="Textfeld 105"/>
          <p:cNvSpPr txBox="1"/>
          <p:nvPr/>
        </p:nvSpPr>
        <p:spPr>
          <a:xfrm>
            <a:off x="7381042" y="3318247"/>
            <a:ext cx="282450" cy="307777"/>
          </a:xfrm>
          <a:prstGeom prst="rect">
            <a:avLst/>
          </a:prstGeom>
          <a:noFill/>
        </p:spPr>
        <p:txBody>
          <a:bodyPr wrap="none" rtlCol="0">
            <a:spAutoFit/>
          </a:bodyPr>
          <a:lstStyle/>
          <a:p>
            <a:r>
              <a:rPr lang="en-US" sz="1400" dirty="0">
                <a:latin typeface="+mn-lt"/>
              </a:rPr>
              <a:t>0</a:t>
            </a:r>
          </a:p>
        </p:txBody>
      </p:sp>
      <p:sp>
        <p:nvSpPr>
          <p:cNvPr id="78" name="Abgerundetes Rechteck 77"/>
          <p:cNvSpPr/>
          <p:nvPr/>
        </p:nvSpPr>
        <p:spPr>
          <a:xfrm>
            <a:off x="214282" y="1944039"/>
            <a:ext cx="2143140" cy="64294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Queue ready to send</a:t>
            </a:r>
          </a:p>
        </p:txBody>
      </p:sp>
      <p:sp>
        <p:nvSpPr>
          <p:cNvPr id="81" name="Abgerundetes Rechteck 80"/>
          <p:cNvSpPr/>
          <p:nvPr/>
        </p:nvSpPr>
        <p:spPr>
          <a:xfrm>
            <a:off x="214282" y="4372931"/>
            <a:ext cx="2143140" cy="642942"/>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Internal Contention </a:t>
            </a:r>
          </a:p>
          <a:p>
            <a:pPr algn="ctr"/>
            <a:r>
              <a:rPr lang="en-US" sz="1600" dirty="0">
                <a:solidFill>
                  <a:schemeClr val="tx1"/>
                </a:solidFill>
              </a:rPr>
              <a:t>Backoff</a:t>
            </a:r>
          </a:p>
        </p:txBody>
      </p:sp>
      <p:cxnSp>
        <p:nvCxnSpPr>
          <p:cNvPr id="86" name="Gewinkelte Verbindung 85"/>
          <p:cNvCxnSpPr>
            <a:stCxn id="78" idx="2"/>
            <a:endCxn id="81" idx="0"/>
          </p:cNvCxnSpPr>
          <p:nvPr/>
        </p:nvCxnSpPr>
        <p:spPr>
          <a:xfrm rot="5400000">
            <a:off x="392877" y="3479956"/>
            <a:ext cx="1785950" cy="158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88" name="Textfeld 87"/>
          <p:cNvSpPr txBox="1"/>
          <p:nvPr/>
        </p:nvSpPr>
        <p:spPr>
          <a:xfrm rot="16200000">
            <a:off x="163614" y="3171119"/>
            <a:ext cx="1604927" cy="646331"/>
          </a:xfrm>
          <a:prstGeom prst="rect">
            <a:avLst/>
          </a:prstGeom>
          <a:noFill/>
        </p:spPr>
        <p:txBody>
          <a:bodyPr wrap="none" rtlCol="0">
            <a:spAutoFit/>
          </a:bodyPr>
          <a:lstStyle/>
          <a:p>
            <a:r>
              <a:rPr lang="en-US" dirty="0">
                <a:latin typeface="+mn-lt"/>
              </a:rPr>
              <a:t>Higher priority </a:t>
            </a:r>
            <a:br>
              <a:rPr lang="en-US" dirty="0">
                <a:latin typeface="+mn-lt"/>
              </a:rPr>
            </a:br>
            <a:r>
              <a:rPr lang="en-US" dirty="0">
                <a:latin typeface="+mn-lt"/>
              </a:rPr>
              <a:t>queue ready</a:t>
            </a:r>
          </a:p>
        </p:txBody>
      </p:sp>
      <p:sp>
        <p:nvSpPr>
          <p:cNvPr id="77" name="Titel 1"/>
          <p:cNvSpPr>
            <a:spLocks noGrp="1"/>
          </p:cNvSpPr>
          <p:nvPr>
            <p:ph type="title"/>
          </p:nvPr>
        </p:nvSpPr>
        <p:spPr/>
        <p:txBody>
          <a:bodyPr/>
          <a:lstStyle/>
          <a:p>
            <a:r>
              <a:rPr lang="en-US" dirty="0"/>
              <a:t>IEEE 802.11p</a:t>
            </a:r>
            <a:endParaRPr lang="en-US" dirty="0">
              <a:latin typeface="+mn-lt"/>
            </a:endParaRPr>
          </a:p>
        </p:txBody>
      </p:sp>
      <p:sp>
        <p:nvSpPr>
          <p:cNvPr id="20" name="Content Placeholder 19"/>
          <p:cNvSpPr>
            <a:spLocks noGrp="1"/>
          </p:cNvSpPr>
          <p:nvPr>
            <p:ph idx="1"/>
          </p:nvPr>
        </p:nvSpPr>
        <p:spPr/>
        <p:txBody>
          <a:bodyPr/>
          <a:lstStyle/>
          <a:p>
            <a:endParaRPr lang="en-US" dirty="0"/>
          </a:p>
        </p:txBody>
      </p:sp>
      <p:sp>
        <p:nvSpPr>
          <p:cNvPr id="80" name="Textfeld 96"/>
          <p:cNvSpPr txBox="1"/>
          <p:nvPr/>
        </p:nvSpPr>
        <p:spPr>
          <a:xfrm>
            <a:off x="3580592" y="4572008"/>
            <a:ext cx="4500593" cy="369332"/>
          </a:xfrm>
          <a:prstGeom prst="rect">
            <a:avLst/>
          </a:prstGeom>
          <a:noFill/>
        </p:spPr>
        <p:txBody>
          <a:bodyPr wrap="square" rtlCol="0">
            <a:spAutoFit/>
          </a:bodyPr>
          <a:lstStyle/>
          <a:p>
            <a:pPr algn="ctr"/>
            <a:r>
              <a:rPr lang="en-US" dirty="0">
                <a:latin typeface="+mn-lt"/>
              </a:rPr>
              <a:t>Channel Access</a:t>
            </a:r>
          </a:p>
        </p:txBody>
      </p:sp>
      <p:sp>
        <p:nvSpPr>
          <p:cNvPr id="21" name="Footer Placeholder 20"/>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22" name="Slide Number Placeholder 21"/>
          <p:cNvSpPr>
            <a:spLocks noGrp="1"/>
          </p:cNvSpPr>
          <p:nvPr>
            <p:ph type="sldNum" sz="quarter" idx="12"/>
          </p:nvPr>
        </p:nvSpPr>
        <p:spPr/>
        <p:txBody>
          <a:bodyPr/>
          <a:lstStyle/>
          <a:p>
            <a:fld id="{73ED8BC7-2E15-43DB-8EF0-8ED7667633CE}" type="slidenum">
              <a:rPr lang="en-US" smtClean="0">
                <a:solidFill>
                  <a:prstClr val="black"/>
                </a:solidFill>
              </a:rPr>
              <a:pPr/>
              <a:t>80</a:t>
            </a:fld>
            <a:endParaRPr lang="en-US" dirty="0">
              <a:solidFill>
                <a:prstClr val="black"/>
              </a:solidFill>
            </a:endParaRPr>
          </a:p>
        </p:txBody>
      </p:sp>
    </p:spTree>
    <p:extLst>
      <p:ext uri="{BB962C8B-B14F-4D97-AF65-F5344CB8AC3E}">
        <p14:creationId xmlns:p14="http://schemas.microsoft.com/office/powerpoint/2010/main" val="443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81"/>
                                        </p:tgtEl>
                                        <p:attrNameLst>
                                          <p:attrName>fillcolor</p:attrName>
                                        </p:attrNameLst>
                                      </p:cBhvr>
                                      <p:to>
                                        <a:srgbClr val="2CFF0F"/>
                                      </p:to>
                                    </p:animClr>
                                    <p:set>
                                      <p:cBhvr>
                                        <p:cTn id="7" dur="2000" fill="hold"/>
                                        <p:tgtEl>
                                          <p:spTgt spid="81"/>
                                        </p:tgtEl>
                                        <p:attrNameLst>
                                          <p:attrName>fill.type</p:attrName>
                                        </p:attrNameLst>
                                      </p:cBhvr>
                                      <p:to>
                                        <p:strVal val="solid"/>
                                      </p:to>
                                    </p:set>
                                    <p:set>
                                      <p:cBhvr>
                                        <p:cTn id="8" dur="2000" fill="hold"/>
                                        <p:tgtEl>
                                          <p:spTgt spid="81"/>
                                        </p:tgtEl>
                                        <p:attrNameLst>
                                          <p:attrName>fill.on</p:attrName>
                                        </p:attrNameLst>
                                      </p:cBhvr>
                                      <p:to>
                                        <p:strVal val="true"/>
                                      </p:to>
                                    </p:set>
                                  </p:childTnLst>
                                </p:cTn>
                              </p:par>
                              <p:par>
                                <p:cTn id="9" presetID="1" presetClass="emph" presetSubtype="2" fill="hold" nodeType="withEffect">
                                  <p:stCondLst>
                                    <p:cond delay="0"/>
                                  </p:stCondLst>
                                  <p:childTnLst>
                                    <p:animClr clrSpc="rgb" dir="cw">
                                      <p:cBhvr>
                                        <p:cTn id="10" dur="2000" fill="hold"/>
                                        <p:tgtEl>
                                          <p:spTgt spid="88"/>
                                        </p:tgtEl>
                                        <p:attrNameLst>
                                          <p:attrName>fillcolor</p:attrName>
                                        </p:attrNameLst>
                                      </p:cBhvr>
                                      <p:to>
                                        <a:srgbClr val="2CFF0F"/>
                                      </p:to>
                                    </p:animClr>
                                    <p:set>
                                      <p:cBhvr>
                                        <p:cTn id="11" dur="2000" fill="hold"/>
                                        <p:tgtEl>
                                          <p:spTgt spid="88"/>
                                        </p:tgtEl>
                                        <p:attrNameLst>
                                          <p:attrName>fill.type</p:attrName>
                                        </p:attrNameLst>
                                      </p:cBhvr>
                                      <p:to>
                                        <p:strVal val="solid"/>
                                      </p:to>
                                    </p:set>
                                    <p:set>
                                      <p:cBhvr>
                                        <p:cTn id="12" dur="2000" fill="hold"/>
                                        <p:tgtEl>
                                          <p:spTgt spid="88"/>
                                        </p:tgtEl>
                                        <p:attrNameLst>
                                          <p:attrName>fill.on</p:attrName>
                                        </p:attrNameLst>
                                      </p:cBhvr>
                                      <p:to>
                                        <p:strVal val="true"/>
                                      </p:to>
                                    </p:set>
                                  </p:childTnLst>
                                </p:cTn>
                              </p:par>
                            </p:childTnLst>
                          </p:cTn>
                        </p:par>
                      </p:childTnLst>
                    </p:cTn>
                  </p:par>
                  <p:par>
                    <p:cTn id="13" fill="hold">
                      <p:stCondLst>
                        <p:cond delay="indefinite"/>
                      </p:stCondLst>
                      <p:childTnLst>
                        <p:par>
                          <p:cTn id="14" fill="hold">
                            <p:stCondLst>
                              <p:cond delay="0"/>
                            </p:stCondLst>
                            <p:childTnLst>
                              <p:par>
                                <p:cTn id="15" presetID="0" presetClass="path" presetSubtype="0" accel="50000" decel="50000" fill="hold" grpId="0" nodeType="clickEffect">
                                  <p:stCondLst>
                                    <p:cond delay="0"/>
                                  </p:stCondLst>
                                  <p:childTnLst>
                                    <p:animMotion origin="layout" path="M 1.66667E-6 -0.00232 C -0.00104 -0.00787 0.00069 0.01435 -0.00018 0.09005 C -0.00104 0.09213 0.23073 0.08843 0.22917 0.08912 C 0.22899 0.08935 0.22673 0.44699 0.22587 0.51991 " pathEditMode="relative" rAng="0" ptsTypes="ffff">
                                      <p:cBhvr>
                                        <p:cTn id="16" dur="2000" fill="hold"/>
                                        <p:tgtEl>
                                          <p:spTgt spid="107"/>
                                        </p:tgtEl>
                                        <p:attrNameLst>
                                          <p:attrName>ppt_x</p:attrName>
                                          <p:attrName>ppt_y</p:attrName>
                                        </p:attrNameLst>
                                      </p:cBhvr>
                                      <p:rCtr x="11500" y="25800"/>
                                    </p:animMotion>
                                  </p:childTnLst>
                                </p:cTn>
                              </p:par>
                              <p:par>
                                <p:cTn id="17" presetID="3" presetClass="entr" presetSubtype="10" fill="hold" nodeType="withEffect">
                                  <p:stCondLst>
                                    <p:cond delay="0"/>
                                  </p:stCondLst>
                                  <p:childTnLst>
                                    <p:set>
                                      <p:cBhvr>
                                        <p:cTn id="18" dur="1" fill="hold">
                                          <p:stCondLst>
                                            <p:cond delay="0"/>
                                          </p:stCondLst>
                                        </p:cTn>
                                        <p:tgtEl>
                                          <p:spTgt spid="109">
                                            <p:txEl>
                                              <p:pRg st="0" end="0"/>
                                            </p:txEl>
                                          </p:spTgt>
                                        </p:tgtEl>
                                        <p:attrNameLst>
                                          <p:attrName>style.visibility</p:attrName>
                                        </p:attrNameLst>
                                      </p:cBhvr>
                                      <p:to>
                                        <p:strVal val="visible"/>
                                      </p:to>
                                    </p:set>
                                    <p:animEffect transition="in" filter="blinds(horizontal)">
                                      <p:cBhvr>
                                        <p:cTn id="19" dur="2000"/>
                                        <p:tgtEl>
                                          <p:spTgt spid="109">
                                            <p:txEl>
                                              <p:pRg st="0" end="0"/>
                                            </p:txEl>
                                          </p:spTgt>
                                        </p:tgtEl>
                                      </p:cBhvr>
                                    </p:animEffect>
                                  </p:childTnLst>
                                </p:cTn>
                              </p:par>
                              <p:par>
                                <p:cTn id="20" presetID="3" presetClass="exit" presetSubtype="10" fill="hold" grpId="0" nodeType="withEffect">
                                  <p:stCondLst>
                                    <p:cond delay="0"/>
                                  </p:stCondLst>
                                  <p:childTnLst>
                                    <p:animEffect transition="out" filter="blinds(horizontal)">
                                      <p:cBhvr>
                                        <p:cTn id="21" dur="500"/>
                                        <p:tgtEl>
                                          <p:spTgt spid="102"/>
                                        </p:tgtEl>
                                      </p:cBhvr>
                                    </p:animEffect>
                                    <p:set>
                                      <p:cBhvr>
                                        <p:cTn id="22" dur="1" fill="hold">
                                          <p:stCondLst>
                                            <p:cond delay="499"/>
                                          </p:stCondLst>
                                        </p:cTn>
                                        <p:tgtEl>
                                          <p:spTgt spid="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2"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802.11p</a:t>
            </a:r>
          </a:p>
        </p:txBody>
      </p:sp>
      <p:sp>
        <p:nvSpPr>
          <p:cNvPr id="3" name="Inhaltsplatzhalter 2"/>
          <p:cNvSpPr>
            <a:spLocks noGrp="1"/>
          </p:cNvSpPr>
          <p:nvPr>
            <p:ph idx="1"/>
          </p:nvPr>
        </p:nvSpPr>
        <p:spPr/>
        <p:txBody>
          <a:bodyPr>
            <a:normAutofit fontScale="62500" lnSpcReduction="20000"/>
          </a:bodyPr>
          <a:lstStyle/>
          <a:p>
            <a:r>
              <a:rPr lang="en-US" dirty="0"/>
              <a:t>QoS in WAVE</a:t>
            </a:r>
          </a:p>
          <a:p>
            <a:pPr lvl="1"/>
            <a:r>
              <a:rPr lang="en-US" dirty="0">
                <a:sym typeface="Wingdings"/>
              </a:rPr>
              <a:t>mean waiting time for channel access, given </a:t>
            </a:r>
            <a:r>
              <a:rPr lang="en-US" dirty="0"/>
              <a:t>sample configuration (and TXOP Limit=0</a:t>
            </a:r>
            <a:br>
              <a:rPr lang="en-US" dirty="0"/>
            </a:br>
            <a:r>
              <a:rPr lang="en-US" dirty="0"/>
              <a:t> </a:t>
            </a:r>
            <a:r>
              <a:rPr lang="en-US" dirty="0">
                <a:sym typeface="Wingdings"/>
              </a:rPr>
              <a:t>⇨ single packet)</a:t>
            </a:r>
          </a:p>
          <a:p>
            <a:pPr lvl="1"/>
            <a:endParaRPr lang="en-US" dirty="0"/>
          </a:p>
          <a:p>
            <a:pPr lvl="1"/>
            <a:r>
              <a:rPr lang="en-US" dirty="0"/>
              <a:t>when channel idle:</a:t>
            </a:r>
          </a:p>
          <a:p>
            <a:pPr lvl="1"/>
            <a:endParaRPr lang="en-US" dirty="0">
              <a:sym typeface="Wingdings"/>
            </a:endParaRPr>
          </a:p>
          <a:p>
            <a:pPr lvl="1"/>
            <a:endParaRPr lang="en-US" dirty="0">
              <a:sym typeface="Wingdings"/>
            </a:endParaRPr>
          </a:p>
          <a:p>
            <a:pPr lvl="1"/>
            <a:endParaRPr lang="en-US" dirty="0">
              <a:sym typeface="Wingdings"/>
            </a:endParaRPr>
          </a:p>
          <a:p>
            <a:pPr lvl="1"/>
            <a:endParaRPr lang="en-US" dirty="0">
              <a:sym typeface="Wingdings"/>
            </a:endParaRPr>
          </a:p>
          <a:p>
            <a:pPr lvl="1"/>
            <a:r>
              <a:rPr lang="en-US" dirty="0"/>
              <a:t>when channel busy:</a:t>
            </a:r>
          </a:p>
          <a:p>
            <a:pPr lvl="1"/>
            <a:endParaRPr lang="en-US" dirty="0">
              <a:sym typeface="Wingdings"/>
            </a:endParaRPr>
          </a:p>
          <a:p>
            <a:pPr lvl="1"/>
            <a:endParaRPr lang="en-US" dirty="0">
              <a:sym typeface="Wingdings"/>
            </a:endParaRPr>
          </a:p>
          <a:p>
            <a:pPr lvl="1"/>
            <a:endParaRPr lang="en-US" dirty="0">
              <a:sym typeface="Wingdings"/>
            </a:endParaRPr>
          </a:p>
          <a:p>
            <a:pPr lvl="1"/>
            <a:endParaRPr lang="en-US" dirty="0">
              <a:sym typeface="Wingdings"/>
            </a:endParaRPr>
          </a:p>
          <a:p>
            <a:pPr lvl="1">
              <a:buNone/>
            </a:pPr>
            <a:br>
              <a:rPr lang="en-US" dirty="0">
                <a:sym typeface="Wingdings"/>
              </a:rPr>
            </a:br>
            <a:endParaRPr lang="en-US" dirty="0">
              <a:sym typeface="Wingdings"/>
            </a:endParaRPr>
          </a:p>
          <a:p>
            <a:pPr lvl="1"/>
            <a:endParaRPr lang="en-US" dirty="0">
              <a:sym typeface="Wingdings"/>
            </a:endParaRPr>
          </a:p>
          <a:p>
            <a:pPr lvl="1"/>
            <a:endParaRPr lang="en-US" dirty="0">
              <a:sym typeface="Wingdings"/>
            </a:endParaRPr>
          </a:p>
          <a:p>
            <a:pPr lvl="1">
              <a:buNone/>
            </a:pPr>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2"/>
            <a:endParaRPr lang="en-US" dirty="0"/>
          </a:p>
          <a:p>
            <a:pPr lvl="2"/>
            <a:endParaRPr lang="en-US" dirty="0"/>
          </a:p>
          <a:p>
            <a:pPr lvl="2"/>
            <a:endParaRPr lang="en-US" dirty="0"/>
          </a:p>
          <a:p>
            <a:pPr lvl="2"/>
            <a:endParaRPr lang="en-US" dirty="0"/>
          </a:p>
          <a:p>
            <a:pPr lvl="1"/>
            <a:endParaRPr lang="en-US" dirty="0"/>
          </a:p>
          <a:p>
            <a:pPr lvl="1"/>
            <a:endParaRPr lang="en-US" dirty="0"/>
          </a:p>
          <a:p>
            <a:pPr lvl="1"/>
            <a:endParaRPr lang="en-US" dirty="0"/>
          </a:p>
          <a:p>
            <a:pPr lvl="1"/>
            <a:endParaRPr lang="en-US" dirty="0"/>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81</a:t>
            </a:fld>
            <a:endParaRPr lang="en-US" dirty="0">
              <a:solidFill>
                <a:prstClr val="black"/>
              </a:solidFill>
            </a:endParaRPr>
          </a:p>
        </p:txBody>
      </p:sp>
      <p:sp>
        <p:nvSpPr>
          <p:cNvPr id="7" name="Content Placeholder 6"/>
          <p:cNvSpPr>
            <a:spLocks noGrp="1"/>
          </p:cNvSpPr>
          <p:nvPr>
            <p:ph idx="13"/>
          </p:nvPr>
        </p:nvSpPr>
        <p:spPr/>
        <p:txBody>
          <a:bodyPr/>
          <a:lstStyle/>
          <a:p>
            <a:r>
              <a:rPr lang="en-US" dirty="0"/>
              <a:t>Figure Source: </a:t>
            </a:r>
            <a:r>
              <a:rPr lang="en-US" dirty="0" err="1"/>
              <a:t>Eichler</a:t>
            </a:r>
            <a:r>
              <a:rPr lang="en-US" dirty="0"/>
              <a:t>, S., "Performance evaluation of the IEEE 802.11p WAVE communication standard," Proceedings of 66th IEEE Vehicular Technology Conference (VTC2007-Fall), Baltimore, USA, October 2007, pp. 2199-2203</a:t>
            </a:r>
          </a:p>
        </p:txBody>
      </p:sp>
      <p:sp>
        <p:nvSpPr>
          <p:cNvPr id="9" name="Content Placeholder 8"/>
          <p:cNvSpPr>
            <a:spLocks noGrp="1"/>
          </p:cNvSpPr>
          <p:nvPr>
            <p:ph sz="quarter" idx="14"/>
          </p:nvPr>
        </p:nvSpPr>
        <p:spPr/>
        <p:txBody>
          <a:bodyPr/>
          <a:lstStyle/>
          <a:p>
            <a:endParaRPr lang="en-US"/>
          </a:p>
        </p:txBody>
      </p:sp>
      <p:sp>
        <p:nvSpPr>
          <p:cNvPr id="8"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endParaRPr lang="en-US" sz="800" kern="0" dirty="0"/>
          </a:p>
        </p:txBody>
      </p:sp>
      <p:graphicFrame>
        <p:nvGraphicFramePr>
          <p:cNvPr id="12" name="Tabelle 11"/>
          <p:cNvGraphicFramePr>
            <a:graphicFrameLocks noGrp="1"/>
          </p:cNvGraphicFramePr>
          <p:nvPr>
            <p:extLst>
              <p:ext uri="{D42A27DB-BD31-4B8C-83A1-F6EECF244321}">
                <p14:modId xmlns:p14="http://schemas.microsoft.com/office/powerpoint/2010/main" val="2766438061"/>
              </p:ext>
            </p:extLst>
          </p:nvPr>
        </p:nvGraphicFramePr>
        <p:xfrm>
          <a:off x="4677308" y="1600200"/>
          <a:ext cx="3542766" cy="1554480"/>
        </p:xfrm>
        <a:graphic>
          <a:graphicData uri="http://schemas.openxmlformats.org/drawingml/2006/table">
            <a:tbl>
              <a:tblPr firstRow="1" bandRow="1">
                <a:tableStyleId>{5C22544A-7EE6-4342-B048-85BDC9FD1C3A}</a:tableStyleId>
              </a:tblPr>
              <a:tblGrid>
                <a:gridCol w="426079">
                  <a:extLst>
                    <a:ext uri="{9D8B030D-6E8A-4147-A177-3AD203B41FA5}">
                      <a16:colId xmlns:a16="http://schemas.microsoft.com/office/drawing/2014/main" val="20000"/>
                    </a:ext>
                  </a:extLst>
                </a:gridCol>
                <a:gridCol w="643943">
                  <a:extLst>
                    <a:ext uri="{9D8B030D-6E8A-4147-A177-3AD203B41FA5}">
                      <a16:colId xmlns:a16="http://schemas.microsoft.com/office/drawing/2014/main" val="20001"/>
                    </a:ext>
                  </a:extLst>
                </a:gridCol>
                <a:gridCol w="701361">
                  <a:extLst>
                    <a:ext uri="{9D8B030D-6E8A-4147-A177-3AD203B41FA5}">
                      <a16:colId xmlns:a16="http://schemas.microsoft.com/office/drawing/2014/main" val="20002"/>
                    </a:ext>
                  </a:extLst>
                </a:gridCol>
                <a:gridCol w="590461">
                  <a:extLst>
                    <a:ext uri="{9D8B030D-6E8A-4147-A177-3AD203B41FA5}">
                      <a16:colId xmlns:a16="http://schemas.microsoft.com/office/drawing/2014/main" val="20003"/>
                    </a:ext>
                  </a:extLst>
                </a:gridCol>
                <a:gridCol w="627130">
                  <a:extLst>
                    <a:ext uri="{9D8B030D-6E8A-4147-A177-3AD203B41FA5}">
                      <a16:colId xmlns:a16="http://schemas.microsoft.com/office/drawing/2014/main" val="20004"/>
                    </a:ext>
                  </a:extLst>
                </a:gridCol>
                <a:gridCol w="553792">
                  <a:extLst>
                    <a:ext uri="{9D8B030D-6E8A-4147-A177-3AD203B41FA5}">
                      <a16:colId xmlns:a16="http://schemas.microsoft.com/office/drawing/2014/main" val="20005"/>
                    </a:ext>
                  </a:extLst>
                </a:gridCol>
              </a:tblGrid>
              <a:tr h="187960">
                <a:tc>
                  <a:txBody>
                    <a:bodyPr/>
                    <a:lstStyle/>
                    <a:p>
                      <a:pPr algn="ctr"/>
                      <a:r>
                        <a:rPr lang="en-US" sz="1200" dirty="0"/>
                        <a:t>AC</a:t>
                      </a:r>
                    </a:p>
                  </a:txBody>
                  <a:tcPr anchor="ctr"/>
                </a:tc>
                <a:tc>
                  <a:txBody>
                    <a:bodyPr/>
                    <a:lstStyle/>
                    <a:p>
                      <a:pPr algn="ctr"/>
                      <a:r>
                        <a:rPr lang="en-US" sz="1200" dirty="0"/>
                        <a:t>CW</a:t>
                      </a:r>
                      <a:r>
                        <a:rPr lang="en-US" sz="1200" baseline="-25000" dirty="0"/>
                        <a:t>min</a:t>
                      </a:r>
                    </a:p>
                  </a:txBody>
                  <a:tcPr anchor="ctr"/>
                </a:tc>
                <a:tc>
                  <a:txBody>
                    <a:bodyPr/>
                    <a:lstStyle/>
                    <a:p>
                      <a:pPr algn="ctr"/>
                      <a:r>
                        <a:rPr lang="en-US" sz="1200" dirty="0"/>
                        <a:t>CW</a:t>
                      </a:r>
                      <a:r>
                        <a:rPr lang="en-US" sz="1200" baseline="-25000" dirty="0"/>
                        <a:t>max</a:t>
                      </a:r>
                    </a:p>
                  </a:txBody>
                  <a:tcPr anchor="ctr"/>
                </a:tc>
                <a:tc>
                  <a:txBody>
                    <a:bodyPr/>
                    <a:lstStyle/>
                    <a:p>
                      <a:pPr algn="ctr"/>
                      <a:r>
                        <a:rPr lang="en-US" sz="1200" dirty="0"/>
                        <a:t>AIFS</a:t>
                      </a:r>
                    </a:p>
                  </a:txBody>
                  <a:tcPr anchor="ctr"/>
                </a:tc>
                <a:tc>
                  <a:txBody>
                    <a:bodyPr/>
                    <a:lstStyle/>
                    <a:p>
                      <a:pPr algn="ctr"/>
                      <a:r>
                        <a:rPr lang="en-US" sz="1200" dirty="0"/>
                        <a:t>TXOP</a:t>
                      </a:r>
                    </a:p>
                  </a:txBody>
                  <a:tcPr anchor="ctr"/>
                </a:tc>
                <a:tc>
                  <a:txBody>
                    <a:bodyPr/>
                    <a:lstStyle/>
                    <a:p>
                      <a:pPr algn="ctr"/>
                      <a:r>
                        <a:rPr lang="en-US" sz="1200" baseline="0" dirty="0" err="1"/>
                        <a:t>t</a:t>
                      </a:r>
                      <a:r>
                        <a:rPr lang="en-US" sz="1200" baseline="-25000" dirty="0" err="1"/>
                        <a:t>w</a:t>
                      </a:r>
                      <a:r>
                        <a:rPr lang="en-US" sz="1200" baseline="-25000" dirty="0"/>
                        <a:t> </a:t>
                      </a:r>
                      <a:r>
                        <a:rPr lang="en-US" sz="1200" baseline="0" dirty="0"/>
                        <a:t>(in </a:t>
                      </a:r>
                      <a:r>
                        <a:rPr lang="en-US" sz="1200" baseline="0" dirty="0" err="1"/>
                        <a:t>μs</a:t>
                      </a:r>
                      <a:r>
                        <a:rPr lang="en-US" sz="1200" baseline="0" dirty="0"/>
                        <a:t>)</a:t>
                      </a:r>
                      <a:endParaRPr lang="en-US" sz="1200" baseline="-25000" dirty="0"/>
                    </a:p>
                  </a:txBody>
                  <a:tcPr anchor="ctr"/>
                </a:tc>
                <a:extLst>
                  <a:ext uri="{0D108BD9-81ED-4DB2-BD59-A6C34878D82A}">
                    <a16:rowId xmlns:a16="http://schemas.microsoft.com/office/drawing/2014/main" val="10000"/>
                  </a:ext>
                </a:extLst>
              </a:tr>
              <a:tr h="187960">
                <a:tc>
                  <a:txBody>
                    <a:bodyPr/>
                    <a:lstStyle/>
                    <a:p>
                      <a:pPr algn="ctr"/>
                      <a:r>
                        <a:rPr lang="en-US" sz="1200" dirty="0"/>
                        <a:t>0</a:t>
                      </a:r>
                    </a:p>
                  </a:txBody>
                  <a:tcPr anchor="ctr"/>
                </a:tc>
                <a:tc>
                  <a:txBody>
                    <a:bodyPr/>
                    <a:lstStyle/>
                    <a:p>
                      <a:pPr algn="ctr"/>
                      <a:r>
                        <a:rPr lang="en-US" sz="1200" dirty="0"/>
                        <a:t>15</a:t>
                      </a:r>
                    </a:p>
                  </a:txBody>
                  <a:tcPr anchor="ctr"/>
                </a:tc>
                <a:tc>
                  <a:txBody>
                    <a:bodyPr/>
                    <a:lstStyle/>
                    <a:p>
                      <a:pPr algn="ctr"/>
                      <a:r>
                        <a:rPr lang="en-US" sz="1200" dirty="0"/>
                        <a:t>1023</a:t>
                      </a:r>
                    </a:p>
                  </a:txBody>
                  <a:tcPr anchor="ctr"/>
                </a:tc>
                <a:tc>
                  <a:txBody>
                    <a:bodyPr/>
                    <a:lstStyle/>
                    <a:p>
                      <a:pPr algn="ctr"/>
                      <a:r>
                        <a:rPr lang="en-US" sz="1200" dirty="0"/>
                        <a:t>9</a:t>
                      </a:r>
                    </a:p>
                  </a:txBody>
                  <a:tcPr anchor="ctr"/>
                </a:tc>
                <a:tc>
                  <a:txBody>
                    <a:bodyPr/>
                    <a:lstStyle/>
                    <a:p>
                      <a:pPr algn="ctr"/>
                      <a:r>
                        <a:rPr lang="en-US" sz="1200" dirty="0"/>
                        <a:t>0</a:t>
                      </a:r>
                    </a:p>
                  </a:txBody>
                  <a:tcPr anchor="ctr"/>
                </a:tc>
                <a:tc>
                  <a:txBody>
                    <a:bodyPr/>
                    <a:lstStyle/>
                    <a:p>
                      <a:pPr algn="ctr"/>
                      <a:r>
                        <a:rPr lang="en-US" sz="1200" dirty="0"/>
                        <a:t>264</a:t>
                      </a:r>
                    </a:p>
                  </a:txBody>
                  <a:tcPr anchor="ctr"/>
                </a:tc>
                <a:extLst>
                  <a:ext uri="{0D108BD9-81ED-4DB2-BD59-A6C34878D82A}">
                    <a16:rowId xmlns:a16="http://schemas.microsoft.com/office/drawing/2014/main" val="10001"/>
                  </a:ext>
                </a:extLst>
              </a:tr>
              <a:tr h="187960">
                <a:tc>
                  <a:txBody>
                    <a:bodyPr/>
                    <a:lstStyle/>
                    <a:p>
                      <a:pPr algn="ctr"/>
                      <a:r>
                        <a:rPr lang="en-US" sz="1200" dirty="0"/>
                        <a:t>1</a:t>
                      </a:r>
                    </a:p>
                  </a:txBody>
                  <a:tcPr anchor="ctr"/>
                </a:tc>
                <a:tc>
                  <a:txBody>
                    <a:bodyPr/>
                    <a:lstStyle/>
                    <a:p>
                      <a:pPr algn="ctr"/>
                      <a:r>
                        <a:rPr lang="en-US" sz="1200" dirty="0"/>
                        <a:t>7</a:t>
                      </a:r>
                    </a:p>
                  </a:txBody>
                  <a:tcPr anchor="ctr"/>
                </a:tc>
                <a:tc>
                  <a:txBody>
                    <a:bodyPr/>
                    <a:lstStyle/>
                    <a:p>
                      <a:pPr algn="ctr"/>
                      <a:r>
                        <a:rPr lang="en-US" sz="1200" dirty="0"/>
                        <a:t>15</a:t>
                      </a:r>
                    </a:p>
                  </a:txBody>
                  <a:tcPr anchor="ctr"/>
                </a:tc>
                <a:tc>
                  <a:txBody>
                    <a:bodyPr/>
                    <a:lstStyle/>
                    <a:p>
                      <a:pPr algn="ctr"/>
                      <a:r>
                        <a:rPr lang="en-US" sz="1200" dirty="0"/>
                        <a:t>6</a:t>
                      </a:r>
                    </a:p>
                  </a:txBody>
                  <a:tcPr anchor="ctr"/>
                </a:tc>
                <a:tc>
                  <a:txBody>
                    <a:bodyPr/>
                    <a:lstStyle/>
                    <a:p>
                      <a:pPr algn="ctr"/>
                      <a:r>
                        <a:rPr lang="en-US" sz="1200" dirty="0"/>
                        <a:t>0</a:t>
                      </a:r>
                    </a:p>
                  </a:txBody>
                  <a:tcPr anchor="ctr"/>
                </a:tc>
                <a:tc>
                  <a:txBody>
                    <a:bodyPr/>
                    <a:lstStyle/>
                    <a:p>
                      <a:pPr algn="ctr"/>
                      <a:r>
                        <a:rPr lang="en-US" sz="1200" dirty="0"/>
                        <a:t>152</a:t>
                      </a:r>
                    </a:p>
                  </a:txBody>
                  <a:tcPr anchor="ctr"/>
                </a:tc>
                <a:extLst>
                  <a:ext uri="{0D108BD9-81ED-4DB2-BD59-A6C34878D82A}">
                    <a16:rowId xmlns:a16="http://schemas.microsoft.com/office/drawing/2014/main" val="10002"/>
                  </a:ext>
                </a:extLst>
              </a:tr>
              <a:tr h="187960">
                <a:tc>
                  <a:txBody>
                    <a:bodyPr/>
                    <a:lstStyle/>
                    <a:p>
                      <a:pPr algn="ctr"/>
                      <a:r>
                        <a:rPr lang="en-US" sz="1200" dirty="0"/>
                        <a:t>2</a:t>
                      </a:r>
                    </a:p>
                  </a:txBody>
                  <a:tcPr anchor="ctr"/>
                </a:tc>
                <a:tc>
                  <a:txBody>
                    <a:bodyPr/>
                    <a:lstStyle/>
                    <a:p>
                      <a:pPr algn="ctr"/>
                      <a:r>
                        <a:rPr lang="en-US" sz="1200" dirty="0"/>
                        <a:t>3</a:t>
                      </a:r>
                    </a:p>
                  </a:txBody>
                  <a:tcPr anchor="ctr"/>
                </a:tc>
                <a:tc>
                  <a:txBody>
                    <a:bodyPr/>
                    <a:lstStyle/>
                    <a:p>
                      <a:pPr algn="ctr"/>
                      <a:r>
                        <a:rPr lang="en-US" sz="1200" dirty="0"/>
                        <a:t>7</a:t>
                      </a:r>
                    </a:p>
                  </a:txBody>
                  <a:tcPr anchor="ctr"/>
                </a:tc>
                <a:tc>
                  <a:txBody>
                    <a:bodyPr/>
                    <a:lstStyle/>
                    <a:p>
                      <a:pPr algn="ctr"/>
                      <a:r>
                        <a:rPr lang="en-US" sz="1200" dirty="0"/>
                        <a:t>3</a:t>
                      </a:r>
                    </a:p>
                  </a:txBody>
                  <a:tcPr anchor="ctr"/>
                </a:tc>
                <a:tc>
                  <a:txBody>
                    <a:bodyPr/>
                    <a:lstStyle/>
                    <a:p>
                      <a:pPr algn="ctr"/>
                      <a:r>
                        <a:rPr lang="en-US" sz="1200" dirty="0"/>
                        <a:t>0</a:t>
                      </a:r>
                    </a:p>
                  </a:txBody>
                  <a:tcPr anchor="ctr"/>
                </a:tc>
                <a:tc>
                  <a:txBody>
                    <a:bodyPr/>
                    <a:lstStyle/>
                    <a:p>
                      <a:pPr algn="ctr"/>
                      <a:r>
                        <a:rPr lang="en-US" sz="1200" dirty="0"/>
                        <a:t>72</a:t>
                      </a:r>
                    </a:p>
                  </a:txBody>
                  <a:tcPr anchor="ctr"/>
                </a:tc>
                <a:extLst>
                  <a:ext uri="{0D108BD9-81ED-4DB2-BD59-A6C34878D82A}">
                    <a16:rowId xmlns:a16="http://schemas.microsoft.com/office/drawing/2014/main" val="10003"/>
                  </a:ext>
                </a:extLst>
              </a:tr>
              <a:tr h="187960">
                <a:tc>
                  <a:txBody>
                    <a:bodyPr/>
                    <a:lstStyle/>
                    <a:p>
                      <a:pPr algn="ctr"/>
                      <a:r>
                        <a:rPr lang="en-US" sz="1200" dirty="0"/>
                        <a:t>3</a:t>
                      </a:r>
                    </a:p>
                  </a:txBody>
                  <a:tcPr anchor="ctr"/>
                </a:tc>
                <a:tc>
                  <a:txBody>
                    <a:bodyPr/>
                    <a:lstStyle/>
                    <a:p>
                      <a:pPr algn="ctr"/>
                      <a:r>
                        <a:rPr lang="en-US" sz="1200" dirty="0"/>
                        <a:t>3</a:t>
                      </a:r>
                    </a:p>
                  </a:txBody>
                  <a:tcPr anchor="ctr"/>
                </a:tc>
                <a:tc>
                  <a:txBody>
                    <a:bodyPr/>
                    <a:lstStyle/>
                    <a:p>
                      <a:pPr algn="ctr"/>
                      <a:r>
                        <a:rPr lang="en-US" sz="1200" dirty="0"/>
                        <a:t>7</a:t>
                      </a:r>
                    </a:p>
                  </a:txBody>
                  <a:tcPr anchor="ctr"/>
                </a:tc>
                <a:tc>
                  <a:txBody>
                    <a:bodyPr/>
                    <a:lstStyle/>
                    <a:p>
                      <a:pPr algn="ctr"/>
                      <a:r>
                        <a:rPr lang="en-US" sz="1200" dirty="0"/>
                        <a:t>2</a:t>
                      </a:r>
                    </a:p>
                  </a:txBody>
                  <a:tcPr anchor="ctr"/>
                </a:tc>
                <a:tc>
                  <a:txBody>
                    <a:bodyPr/>
                    <a:lstStyle/>
                    <a:p>
                      <a:pPr algn="ctr"/>
                      <a:r>
                        <a:rPr lang="en-US" sz="1200" dirty="0"/>
                        <a:t>0</a:t>
                      </a:r>
                    </a:p>
                  </a:txBody>
                  <a:tcPr anchor="ctr"/>
                </a:tc>
                <a:tc>
                  <a:txBody>
                    <a:bodyPr/>
                    <a:lstStyle/>
                    <a:p>
                      <a:pPr algn="ctr"/>
                      <a:r>
                        <a:rPr lang="en-US" sz="1200" dirty="0"/>
                        <a:t>56</a:t>
                      </a:r>
                    </a:p>
                  </a:txBody>
                  <a:tcPr anchor="ctr"/>
                </a:tc>
                <a:extLst>
                  <a:ext uri="{0D108BD9-81ED-4DB2-BD59-A6C34878D82A}">
                    <a16:rowId xmlns:a16="http://schemas.microsoft.com/office/drawing/2014/main" val="10004"/>
                  </a:ext>
                </a:extLst>
              </a:tr>
            </a:tbl>
          </a:graphicData>
        </a:graphic>
      </p:graphicFrame>
      <p:pic>
        <p:nvPicPr>
          <p:cNvPr id="14" name="Bild 13" descr="Picture 8.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818826" y="3296349"/>
            <a:ext cx="3258373" cy="2370138"/>
          </a:xfrm>
          <a:prstGeom prst="rect">
            <a:avLst/>
          </a:prstGeom>
        </p:spPr>
      </p:pic>
    </p:spTree>
    <p:extLst>
      <p:ext uri="{BB962C8B-B14F-4D97-AF65-F5344CB8AC3E}">
        <p14:creationId xmlns:p14="http://schemas.microsoft.com/office/powerpoint/2010/main" val="18679640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UMTS/LTE vs. 802.11p</a:t>
            </a:r>
          </a:p>
        </p:txBody>
      </p:sp>
      <p:sp>
        <p:nvSpPr>
          <p:cNvPr id="2" name="Inhaltsplatzhalter 1"/>
          <p:cNvSpPr>
            <a:spLocks noGrp="1"/>
          </p:cNvSpPr>
          <p:nvPr>
            <p:ph idx="1"/>
          </p:nvPr>
        </p:nvSpPr>
        <p:spPr/>
        <p:txBody>
          <a:bodyPr>
            <a:normAutofit fontScale="92500" lnSpcReduction="10000"/>
          </a:bodyPr>
          <a:lstStyle/>
          <a:p>
            <a:r>
              <a:rPr lang="en-US" dirty="0"/>
              <a:t>Pros of UMTS/LTE</a:t>
            </a:r>
          </a:p>
          <a:p>
            <a:pPr lvl="1">
              <a:buFont typeface="Calibri" pitchFamily="34" charset="0"/>
              <a:buChar char="+"/>
            </a:pPr>
            <a:r>
              <a:rPr lang="en-US" dirty="0"/>
              <a:t>Easy provision of centralized services</a:t>
            </a:r>
          </a:p>
          <a:p>
            <a:pPr lvl="1">
              <a:buFont typeface="Calibri" pitchFamily="34" charset="0"/>
              <a:buChar char="+"/>
            </a:pPr>
            <a:r>
              <a:rPr lang="en-US" dirty="0"/>
              <a:t>Quick dissemination of information in whole network</a:t>
            </a:r>
          </a:p>
          <a:p>
            <a:pPr lvl="1">
              <a:buFont typeface="Calibri" pitchFamily="34" charset="0"/>
              <a:buChar char="+"/>
            </a:pPr>
            <a:r>
              <a:rPr lang="en-US" dirty="0"/>
              <a:t>Pre-deployed infrastructure</a:t>
            </a:r>
          </a:p>
          <a:p>
            <a:pPr lvl="1">
              <a:buFont typeface="Calibri" pitchFamily="34" charset="0"/>
              <a:buChar char="+"/>
            </a:pPr>
            <a:r>
              <a:rPr lang="en-US" dirty="0"/>
              <a:t>Easy migration to (and integration into) smartphones</a:t>
            </a:r>
          </a:p>
          <a:p>
            <a:endParaRPr lang="en-US" dirty="0"/>
          </a:p>
          <a:p>
            <a:r>
              <a:rPr lang="en-US" dirty="0"/>
              <a:t>Cons of UMTS/LTE</a:t>
            </a:r>
          </a:p>
          <a:p>
            <a:pPr lvl="1">
              <a:buFont typeface="Calibri" pitchFamily="34" charset="0"/>
              <a:buChar char="-"/>
            </a:pPr>
            <a:r>
              <a:rPr lang="en-US" dirty="0">
                <a:solidFill>
                  <a:srgbClr val="FF0000"/>
                </a:solidFill>
              </a:rPr>
              <a:t>High short range latencies </a:t>
            </a:r>
            <a:r>
              <a:rPr lang="en-US" dirty="0"/>
              <a:t>(might be too high for safety)</a:t>
            </a:r>
          </a:p>
          <a:p>
            <a:pPr lvl="1">
              <a:buFont typeface="Calibri" pitchFamily="34" charset="0"/>
              <a:buChar char="-"/>
            </a:pPr>
            <a:r>
              <a:rPr lang="en-US" dirty="0">
                <a:solidFill>
                  <a:srgbClr val="FF0000"/>
                </a:solidFill>
              </a:rPr>
              <a:t>Network needs further upgrades </a:t>
            </a:r>
            <a:r>
              <a:rPr lang="en-US" dirty="0"/>
              <a:t>(smaller cells, multicast service)</a:t>
            </a:r>
          </a:p>
          <a:p>
            <a:pPr lvl="1">
              <a:buFont typeface="Calibri" pitchFamily="34" charset="0"/>
              <a:buChar char="-"/>
            </a:pPr>
            <a:r>
              <a:rPr lang="en-US" dirty="0"/>
              <a:t>High dependence on network operator</a:t>
            </a:r>
          </a:p>
          <a:p>
            <a:pPr lvl="1">
              <a:buFont typeface="Calibri" pitchFamily="34" charset="0"/>
              <a:buChar char="-"/>
            </a:pPr>
            <a:r>
              <a:rPr lang="en-US" dirty="0"/>
              <a:t>High load in core network, even for local communication</a:t>
            </a:r>
          </a:p>
          <a:p>
            <a:endParaRPr lang="en-US" dirty="0"/>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82</a:t>
            </a:fld>
            <a:endParaRPr lang="en-US" dirty="0">
              <a:solidFill>
                <a:prstClr val="black"/>
              </a:solidFill>
            </a:endParaRPr>
          </a:p>
        </p:txBody>
      </p:sp>
    </p:spTree>
    <p:extLst>
      <p:ext uri="{BB962C8B-B14F-4D97-AF65-F5344CB8AC3E}">
        <p14:creationId xmlns:p14="http://schemas.microsoft.com/office/powerpoint/2010/main" val="3488812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p:txBody>
          <a:bodyPr/>
          <a:lstStyle/>
          <a:p>
            <a:r>
              <a:rPr lang="en-US" dirty="0"/>
              <a:t>UMTS/LTE vs. IEEE 802.11p</a:t>
            </a:r>
          </a:p>
        </p:txBody>
      </p:sp>
      <p:sp>
        <p:nvSpPr>
          <p:cNvPr id="2" name="Inhaltsplatzhalter 1"/>
          <p:cNvSpPr>
            <a:spLocks noGrp="1"/>
          </p:cNvSpPr>
          <p:nvPr>
            <p:ph idx="1"/>
          </p:nvPr>
        </p:nvSpPr>
        <p:spPr/>
        <p:txBody>
          <a:bodyPr>
            <a:normAutofit fontScale="85000" lnSpcReduction="20000"/>
          </a:bodyPr>
          <a:lstStyle/>
          <a:p>
            <a:r>
              <a:rPr lang="en-US" dirty="0"/>
              <a:t>Pros of 802.11p/Ad hoc</a:t>
            </a:r>
          </a:p>
          <a:p>
            <a:pPr lvl="1">
              <a:buFont typeface="Calibri" pitchFamily="34" charset="0"/>
              <a:buChar char="+"/>
            </a:pPr>
            <a:r>
              <a:rPr lang="en-US" dirty="0">
                <a:solidFill>
                  <a:srgbClr val="00B050"/>
                </a:solidFill>
              </a:rPr>
              <a:t>Smallest</a:t>
            </a:r>
            <a:r>
              <a:rPr lang="en-US" dirty="0"/>
              <a:t> </a:t>
            </a:r>
            <a:r>
              <a:rPr lang="en-US" dirty="0">
                <a:solidFill>
                  <a:srgbClr val="FF0000"/>
                </a:solidFill>
              </a:rPr>
              <a:t>possible latency</a:t>
            </a:r>
          </a:p>
          <a:p>
            <a:pPr lvl="1">
              <a:buFont typeface="Calibri" pitchFamily="34" charset="0"/>
              <a:buChar char="+"/>
            </a:pPr>
            <a:r>
              <a:rPr lang="en-US" dirty="0">
                <a:solidFill>
                  <a:srgbClr val="00B050"/>
                </a:solidFill>
              </a:rPr>
              <a:t>Can sustain operation without network operator / provider</a:t>
            </a:r>
          </a:p>
          <a:p>
            <a:pPr lvl="1">
              <a:buFont typeface="Calibri" pitchFamily="34" charset="0"/>
              <a:buChar char="+"/>
            </a:pPr>
            <a:r>
              <a:rPr lang="en-US" dirty="0">
                <a:solidFill>
                  <a:srgbClr val="00B050"/>
                </a:solidFill>
              </a:rPr>
              <a:t>Network load highly localized</a:t>
            </a:r>
          </a:p>
          <a:p>
            <a:pPr lvl="1">
              <a:buFont typeface="Calibri" pitchFamily="34" charset="0"/>
              <a:buChar char="+"/>
            </a:pPr>
            <a:r>
              <a:rPr lang="en-US" dirty="0"/>
              <a:t>Better privacy (⇨ later slides)</a:t>
            </a:r>
          </a:p>
          <a:p>
            <a:endParaRPr lang="en-US" dirty="0"/>
          </a:p>
          <a:p>
            <a:r>
              <a:rPr lang="en-US" dirty="0"/>
              <a:t>Cons of 802.11p/Ad hoc</a:t>
            </a:r>
          </a:p>
          <a:p>
            <a:pPr lvl="1">
              <a:buFont typeface="Calibri" pitchFamily="34" charset="0"/>
              <a:buChar char="-"/>
            </a:pPr>
            <a:r>
              <a:rPr lang="en-US" dirty="0"/>
              <a:t>Needs gateway for provision of central services (e.g., RSU)</a:t>
            </a:r>
          </a:p>
          <a:p>
            <a:pPr lvl="1">
              <a:buFont typeface="Calibri" pitchFamily="34" charset="0"/>
              <a:buChar char="-"/>
            </a:pPr>
            <a:r>
              <a:rPr lang="en-US" dirty="0"/>
              <a:t>No pre-deployed hardware, and hardware is still expensive</a:t>
            </a:r>
          </a:p>
          <a:p>
            <a:endParaRPr lang="en-US" dirty="0"/>
          </a:p>
          <a:p>
            <a:r>
              <a:rPr lang="en-US" dirty="0"/>
              <a:t>The solution?</a:t>
            </a:r>
          </a:p>
          <a:p>
            <a:pPr lvl="1"/>
            <a:r>
              <a:rPr lang="en-US" dirty="0">
                <a:solidFill>
                  <a:srgbClr val="00B050"/>
                </a:solidFill>
              </a:rPr>
              <a:t>hybrid systems:</a:t>
            </a:r>
            <a:br>
              <a:rPr lang="en-US" dirty="0"/>
            </a:br>
            <a:r>
              <a:rPr lang="en-US" dirty="0"/>
              <a:t>deploy both technologies to vehicles and road,</a:t>
            </a:r>
            <a:br>
              <a:rPr lang="en-US" dirty="0"/>
            </a:br>
            <a:r>
              <a:rPr lang="en-US" dirty="0"/>
              <a:t>decide depending on application and infrastructure availability</a:t>
            </a:r>
          </a:p>
        </p:txBody>
      </p:sp>
      <p:sp>
        <p:nvSpPr>
          <p:cNvPr id="3" name="Footer Placeholder 2"/>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83</a:t>
            </a:fld>
            <a:endParaRPr lang="en-US" dirty="0">
              <a:solidFill>
                <a:prstClr val="black"/>
              </a:solidFill>
            </a:endParaRPr>
          </a:p>
        </p:txBody>
      </p:sp>
    </p:spTree>
    <p:extLst>
      <p:ext uri="{BB962C8B-B14F-4D97-AF65-F5344CB8AC3E}">
        <p14:creationId xmlns:p14="http://schemas.microsoft.com/office/powerpoint/2010/main" val="3342489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Higher Layer Standards for IEEE 802.11p</a:t>
            </a:r>
          </a:p>
        </p:txBody>
      </p:sp>
      <p:sp>
        <p:nvSpPr>
          <p:cNvPr id="3" name="Inhaltsplatzhalter 2"/>
          <p:cNvSpPr>
            <a:spLocks noGrp="1"/>
          </p:cNvSpPr>
          <p:nvPr>
            <p:ph idx="1"/>
          </p:nvPr>
        </p:nvSpPr>
        <p:spPr>
          <a:xfrm>
            <a:off x="228600" y="1600200"/>
            <a:ext cx="8686800" cy="2282252"/>
          </a:xfrm>
        </p:spPr>
        <p:txBody>
          <a:bodyPr>
            <a:normAutofit fontScale="92500" lnSpcReduction="20000"/>
          </a:bodyPr>
          <a:lstStyle/>
          <a:p>
            <a:r>
              <a:rPr lang="en-US" dirty="0"/>
              <a:t>Channel management</a:t>
            </a:r>
          </a:p>
          <a:p>
            <a:pPr lvl="1"/>
            <a:r>
              <a:rPr lang="en-US" dirty="0"/>
              <a:t>Dedicated frequency band at 5.9 GHz allocated to WAVE</a:t>
            </a:r>
          </a:p>
          <a:p>
            <a:pPr lvl="2"/>
            <a:r>
              <a:rPr lang="en-US" dirty="0"/>
              <a:t>Exclusive for V2V und V2I communication</a:t>
            </a:r>
          </a:p>
          <a:p>
            <a:pPr lvl="2"/>
            <a:r>
              <a:rPr lang="en-US" dirty="0"/>
              <a:t>No license cost, but strict rules</a:t>
            </a:r>
          </a:p>
          <a:p>
            <a:pPr lvl="2"/>
            <a:r>
              <a:rPr lang="en-US" dirty="0"/>
              <a:t>1999: FCC reserves 7 channels of 10 MHz (“U.S. DSRC”)</a:t>
            </a:r>
          </a:p>
          <a:p>
            <a:pPr lvl="3"/>
            <a:r>
              <a:rPr lang="en-US" dirty="0"/>
              <a:t>2 reserved channels, 1+4 channels for applications</a:t>
            </a:r>
          </a:p>
          <a:p>
            <a:pPr lvl="2"/>
            <a:r>
              <a:rPr lang="en-US" dirty="0"/>
              <a:t>ETSI Europe reserves 5 channels of 10 MHz</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84</a:t>
            </a:fld>
            <a:endParaRPr lang="en-US" dirty="0">
              <a:solidFill>
                <a:prstClr val="black"/>
              </a:solidFill>
            </a:endParaRPr>
          </a:p>
        </p:txBody>
      </p:sp>
      <p:sp>
        <p:nvSpPr>
          <p:cNvPr id="6" name="Content Placeholder 5"/>
          <p:cNvSpPr>
            <a:spLocks noGrp="1"/>
          </p:cNvSpPr>
          <p:nvPr>
            <p:ph idx="13"/>
          </p:nvPr>
        </p:nvSpPr>
        <p:spPr/>
        <p:txBody>
          <a:bodyPr/>
          <a:lstStyle/>
          <a:p>
            <a:r>
              <a:rPr lang="en-US" dirty="0"/>
              <a:t>[1] ETSI ES 202 663 V1.1.0 (2010-01) : Intelligent Transport Systems (ITS); European profile standard for the physical and medium access control layer of Intelligent  Transport Systems operating in the 5 GHz frequency band </a:t>
            </a:r>
          </a:p>
        </p:txBody>
      </p:sp>
      <p:graphicFrame>
        <p:nvGraphicFramePr>
          <p:cNvPr id="8" name="Tabelle 7"/>
          <p:cNvGraphicFramePr>
            <a:graphicFrameLocks noGrp="1"/>
          </p:cNvGraphicFramePr>
          <p:nvPr>
            <p:extLst>
              <p:ext uri="{D42A27DB-BD31-4B8C-83A1-F6EECF244321}">
                <p14:modId xmlns:p14="http://schemas.microsoft.com/office/powerpoint/2010/main" val="4075529480"/>
              </p:ext>
            </p:extLst>
          </p:nvPr>
        </p:nvGraphicFramePr>
        <p:xfrm>
          <a:off x="304800" y="3939733"/>
          <a:ext cx="8420099" cy="1925320"/>
        </p:xfrm>
        <a:graphic>
          <a:graphicData uri="http://schemas.openxmlformats.org/drawingml/2006/table">
            <a:tbl>
              <a:tblPr bandRow="1">
                <a:tableStyleId>{5C22544A-7EE6-4342-B048-85BDC9FD1C3A}</a:tableStyleId>
              </a:tblPr>
              <a:tblGrid>
                <a:gridCol w="989614">
                  <a:extLst>
                    <a:ext uri="{9D8B030D-6E8A-4147-A177-3AD203B41FA5}">
                      <a16:colId xmlns:a16="http://schemas.microsoft.com/office/drawing/2014/main" val="20000"/>
                    </a:ext>
                  </a:extLst>
                </a:gridCol>
                <a:gridCol w="333236">
                  <a:extLst>
                    <a:ext uri="{9D8B030D-6E8A-4147-A177-3AD203B41FA5}">
                      <a16:colId xmlns:a16="http://schemas.microsoft.com/office/drawing/2014/main" val="20001"/>
                    </a:ext>
                  </a:extLst>
                </a:gridCol>
                <a:gridCol w="943432">
                  <a:extLst>
                    <a:ext uri="{9D8B030D-6E8A-4147-A177-3AD203B41FA5}">
                      <a16:colId xmlns:a16="http://schemas.microsoft.com/office/drawing/2014/main" val="20002"/>
                    </a:ext>
                  </a:extLst>
                </a:gridCol>
                <a:gridCol w="943432">
                  <a:extLst>
                    <a:ext uri="{9D8B030D-6E8A-4147-A177-3AD203B41FA5}">
                      <a16:colId xmlns:a16="http://schemas.microsoft.com/office/drawing/2014/main" val="20003"/>
                    </a:ext>
                  </a:extLst>
                </a:gridCol>
                <a:gridCol w="943432">
                  <a:extLst>
                    <a:ext uri="{9D8B030D-6E8A-4147-A177-3AD203B41FA5}">
                      <a16:colId xmlns:a16="http://schemas.microsoft.com/office/drawing/2014/main" val="20004"/>
                    </a:ext>
                  </a:extLst>
                </a:gridCol>
                <a:gridCol w="943432">
                  <a:extLst>
                    <a:ext uri="{9D8B030D-6E8A-4147-A177-3AD203B41FA5}">
                      <a16:colId xmlns:a16="http://schemas.microsoft.com/office/drawing/2014/main" val="20005"/>
                    </a:ext>
                  </a:extLst>
                </a:gridCol>
                <a:gridCol w="943432">
                  <a:extLst>
                    <a:ext uri="{9D8B030D-6E8A-4147-A177-3AD203B41FA5}">
                      <a16:colId xmlns:a16="http://schemas.microsoft.com/office/drawing/2014/main" val="20006"/>
                    </a:ext>
                  </a:extLst>
                </a:gridCol>
                <a:gridCol w="943432">
                  <a:extLst>
                    <a:ext uri="{9D8B030D-6E8A-4147-A177-3AD203B41FA5}">
                      <a16:colId xmlns:a16="http://schemas.microsoft.com/office/drawing/2014/main" val="20007"/>
                    </a:ext>
                  </a:extLst>
                </a:gridCol>
                <a:gridCol w="943432">
                  <a:extLst>
                    <a:ext uri="{9D8B030D-6E8A-4147-A177-3AD203B41FA5}">
                      <a16:colId xmlns:a16="http://schemas.microsoft.com/office/drawing/2014/main" val="20008"/>
                    </a:ext>
                  </a:extLst>
                </a:gridCol>
                <a:gridCol w="493225">
                  <a:extLst>
                    <a:ext uri="{9D8B030D-6E8A-4147-A177-3AD203B41FA5}">
                      <a16:colId xmlns:a16="http://schemas.microsoft.com/office/drawing/2014/main" val="20009"/>
                    </a:ext>
                  </a:extLst>
                </a:gridCol>
              </a:tblGrid>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U.S. allocation</a:t>
                      </a:r>
                      <a:endParaRPr lang="en-US" sz="1800" dirty="0">
                        <a:solidFill>
                          <a:srgbClr val="000000"/>
                        </a:solidFill>
                      </a:endParaRPr>
                    </a:p>
                  </a:txBody>
                  <a:tcPr anchor="ctr">
                    <a:noFill/>
                  </a:tcPr>
                </a:tc>
                <a:tc>
                  <a:txBody>
                    <a:bodyPr/>
                    <a:lstStyle/>
                    <a:p>
                      <a:pPr algn="ctr"/>
                      <a:r>
                        <a:rPr lang="en-US" sz="1800" dirty="0">
                          <a:solidFill>
                            <a:srgbClr val="000000"/>
                          </a:solidFill>
                        </a:rPr>
                        <a:t>…</a:t>
                      </a:r>
                    </a:p>
                  </a:txBody>
                  <a:tcPr anchor="ctr">
                    <a:noFill/>
                  </a:tcPr>
                </a:tc>
                <a:tc>
                  <a:txBody>
                    <a:bodyPr/>
                    <a:lstStyle/>
                    <a:p>
                      <a:pPr algn="ctr"/>
                      <a:r>
                        <a:rPr lang="en-US" sz="1200" dirty="0">
                          <a:solidFill>
                            <a:sysClr val="windowText" lastClr="000000"/>
                          </a:solidFill>
                        </a:rPr>
                        <a:t>Critical</a:t>
                      </a:r>
                      <a:br>
                        <a:rPr lang="en-US" sz="1200" dirty="0">
                          <a:solidFill>
                            <a:sysClr val="windowText" lastClr="000000"/>
                          </a:solidFill>
                        </a:rPr>
                      </a:br>
                      <a:r>
                        <a:rPr lang="en-US" sz="1200" dirty="0">
                          <a:solidFill>
                            <a:sysClr val="windowText" lastClr="000000"/>
                          </a:solidFill>
                        </a:rPr>
                        <a:t>Safety</a:t>
                      </a:r>
                      <a:r>
                        <a:rPr lang="en-US" sz="1200" baseline="0" dirty="0">
                          <a:solidFill>
                            <a:sysClr val="windowText" lastClr="000000"/>
                          </a:solidFill>
                        </a:rPr>
                        <a:t> of</a:t>
                      </a:r>
                      <a:br>
                        <a:rPr lang="en-US" sz="1200" baseline="0" dirty="0">
                          <a:solidFill>
                            <a:sysClr val="windowText" lastClr="000000"/>
                          </a:solidFill>
                        </a:rPr>
                      </a:br>
                      <a:r>
                        <a:rPr lang="en-US" sz="1200" baseline="0" dirty="0">
                          <a:solidFill>
                            <a:sysClr val="windowText" lastClr="000000"/>
                          </a:solidFill>
                        </a:rPr>
                        <a:t>Life</a:t>
                      </a:r>
                    </a:p>
                  </a:txBody>
                  <a:tcPr anchor="ctr">
                    <a:solidFill>
                      <a:schemeClr val="accent1">
                        <a:lumMod val="20000"/>
                        <a:lumOff val="80000"/>
                      </a:schemeClr>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Control</a:t>
                      </a:r>
                      <a:br>
                        <a:rPr lang="en-US" sz="1200" dirty="0">
                          <a:solidFill>
                            <a:schemeClr val="bg1"/>
                          </a:solidFill>
                        </a:rPr>
                      </a:br>
                      <a:r>
                        <a:rPr lang="en-US" sz="1200" dirty="0">
                          <a:solidFill>
                            <a:schemeClr val="bg1"/>
                          </a:solidFill>
                        </a:rPr>
                        <a:t>Channel</a:t>
                      </a:r>
                      <a:br>
                        <a:rPr lang="en-US" sz="1200" dirty="0">
                          <a:solidFill>
                            <a:schemeClr val="bg1"/>
                          </a:solidFill>
                        </a:rPr>
                      </a:br>
                      <a:r>
                        <a:rPr lang="en-US" sz="1200" dirty="0">
                          <a:solidFill>
                            <a:schemeClr val="bg1"/>
                          </a:solidFill>
                        </a:rPr>
                        <a:t>(CCH)</a:t>
                      </a:r>
                    </a:p>
                  </a:txBody>
                  <a:tcPr anchor="ctr">
                    <a:solidFill>
                      <a:schemeClr val="accent2"/>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ysClr val="windowText" lastClr="000000"/>
                          </a:solidFill>
                        </a:rPr>
                        <a:t>Hi-Power</a:t>
                      </a:r>
                      <a:br>
                        <a:rPr lang="en-US" sz="1200" dirty="0">
                          <a:solidFill>
                            <a:sysClr val="windowText" lastClr="000000"/>
                          </a:solidFill>
                        </a:rPr>
                      </a:br>
                      <a:r>
                        <a:rPr lang="en-US" sz="1200" dirty="0">
                          <a:solidFill>
                            <a:sysClr val="windowText" lastClr="000000"/>
                          </a:solidFill>
                        </a:rPr>
                        <a:t>Public</a:t>
                      </a:r>
                      <a:r>
                        <a:rPr lang="en-US" sz="1200" baseline="0" dirty="0">
                          <a:solidFill>
                            <a:sysClr val="windowText" lastClr="000000"/>
                          </a:solidFill>
                        </a:rPr>
                        <a:t> Safety</a:t>
                      </a:r>
                      <a:endParaRPr lang="en-US" sz="1200" dirty="0">
                        <a:solidFill>
                          <a:sysClr val="windowText" lastClr="000000"/>
                        </a:solidFill>
                      </a:endParaRP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a:t>
                      </a:r>
                    </a:p>
                  </a:txBody>
                  <a:tcPr anchor="ctr">
                    <a:noFill/>
                  </a:tcPr>
                </a:tc>
                <a:extLst>
                  <a:ext uri="{0D108BD9-81ED-4DB2-BD59-A6C34878D82A}">
                    <a16:rowId xmlns:a16="http://schemas.microsoft.com/office/drawing/2014/main" val="10000"/>
                  </a:ext>
                </a:extLst>
              </a:tr>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European allocation</a:t>
                      </a:r>
                      <a:endParaRPr lang="en-US" sz="1800" dirty="0">
                        <a:solidFill>
                          <a:srgbClr val="000000"/>
                        </a:solidFill>
                      </a:endParaRPr>
                    </a:p>
                  </a:txBody>
                  <a:tcPr anchor="ctr">
                    <a:noFill/>
                  </a:tcPr>
                </a:tc>
                <a:tc>
                  <a:txBody>
                    <a:bodyPr/>
                    <a:lstStyle/>
                    <a:p>
                      <a:pPr algn="ctr"/>
                      <a:endParaRPr lang="en-US" sz="1800" dirty="0">
                        <a:solidFill>
                          <a:srgbClr val="000000"/>
                        </a:solidFill>
                      </a:endParaRPr>
                    </a:p>
                  </a:txBody>
                  <a:tcPr anchor="ctr">
                    <a:no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SCH</a:t>
                      </a:r>
                    </a:p>
                  </a:txBody>
                  <a:tcPr anchor="ctr">
                    <a:solidFill>
                      <a:schemeClr val="accent1"/>
                    </a:solidFill>
                  </a:tcPr>
                </a:tc>
                <a:tc>
                  <a:txBody>
                    <a:bodyPr/>
                    <a:lstStyle/>
                    <a:p>
                      <a:pPr algn="ctr"/>
                      <a:r>
                        <a:rPr lang="en-US" sz="1200" dirty="0">
                          <a:solidFill>
                            <a:schemeClr val="bg1"/>
                          </a:solidFill>
                        </a:rPr>
                        <a:t>CCH</a:t>
                      </a:r>
                    </a:p>
                  </a:txBody>
                  <a:tcPr anchor="ctr">
                    <a:solidFill>
                      <a:schemeClr val="accent2"/>
                    </a:solidFill>
                  </a:tcPr>
                </a:tc>
                <a:tc>
                  <a:txBody>
                    <a:bodyPr/>
                    <a:lstStyle/>
                    <a:p>
                      <a:pPr algn="ctr"/>
                      <a:r>
                        <a:rPr lang="en-US" sz="1200" dirty="0">
                          <a:solidFill>
                            <a:sysClr val="windowText" lastClr="000000"/>
                          </a:solidFill>
                        </a:rPr>
                        <a:t>SCH</a:t>
                      </a:r>
                    </a:p>
                  </a:txBody>
                  <a:tcPr anchor="ctr">
                    <a:solidFill>
                      <a:schemeClr val="accent1">
                        <a:lumMod val="20000"/>
                        <a:lumOff val="80000"/>
                      </a:schemeClr>
                    </a:solidFill>
                  </a:tcPr>
                </a:tc>
                <a:tc>
                  <a:txBody>
                    <a:bodyPr/>
                    <a:lstStyle/>
                    <a:p>
                      <a:pPr algn="ctr"/>
                      <a:r>
                        <a:rPr lang="en-US" sz="1200" dirty="0">
                          <a:solidFill>
                            <a:sysClr val="windowText" lastClr="000000"/>
                          </a:solidFill>
                        </a:rPr>
                        <a:t>SCH</a:t>
                      </a:r>
                    </a:p>
                  </a:txBody>
                  <a:tcPr anchor="ct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1"/>
                  </a:ext>
                </a:extLst>
              </a:tr>
              <a:tr h="370840">
                <a:tc>
                  <a:txBody>
                    <a:bodyPr/>
                    <a:lstStyle/>
                    <a:p>
                      <a:pPr algn="ctr"/>
                      <a:r>
                        <a:rPr lang="en-US" sz="1200" kern="1200" dirty="0">
                          <a:solidFill>
                            <a:schemeClr val="tx1"/>
                          </a:solidFill>
                          <a:latin typeface="+mn-lt"/>
                          <a:ea typeface="+mn-ea"/>
                          <a:cs typeface="+mn-cs"/>
                        </a:rPr>
                        <a:t>IEEE Channel</a:t>
                      </a:r>
                    </a:p>
                  </a:txBody>
                  <a:tcPr anchor="ctr">
                    <a:noFill/>
                  </a:tcPr>
                </a:tc>
                <a:tc>
                  <a:txBody>
                    <a:bodyPr/>
                    <a:lstStyle/>
                    <a:p>
                      <a:pPr algn="ctr"/>
                      <a:endParaRPr lang="en-US" sz="1200" kern="1200" dirty="0">
                        <a:solidFill>
                          <a:schemeClr val="tx1"/>
                        </a:solidFill>
                        <a:latin typeface="+mn-lt"/>
                        <a:ea typeface="+mn-ea"/>
                        <a:cs typeface="+mn-cs"/>
                      </a:endParaRPr>
                    </a:p>
                  </a:txBody>
                  <a:tcPr anchor="ctr">
                    <a:noFill/>
                  </a:tcPr>
                </a:tc>
                <a:tc>
                  <a:txBody>
                    <a:bodyPr/>
                    <a:lstStyle/>
                    <a:p>
                      <a:pPr algn="ctr"/>
                      <a:r>
                        <a:rPr lang="en-US" sz="1200" dirty="0">
                          <a:solidFill>
                            <a:schemeClr val="tx1"/>
                          </a:solidFill>
                        </a:rPr>
                        <a:t>172</a:t>
                      </a:r>
                    </a:p>
                  </a:txBody>
                  <a:tcPr anchor="ctr">
                    <a:noFill/>
                  </a:tcPr>
                </a:tc>
                <a:tc>
                  <a:txBody>
                    <a:bodyPr/>
                    <a:lstStyle/>
                    <a:p>
                      <a:pPr algn="ctr"/>
                      <a:r>
                        <a:rPr lang="en-US" sz="1200" dirty="0">
                          <a:solidFill>
                            <a:schemeClr val="tx1"/>
                          </a:solidFill>
                        </a:rPr>
                        <a:t>174</a:t>
                      </a:r>
                    </a:p>
                  </a:txBody>
                  <a:tcPr anchor="ctr">
                    <a:noFill/>
                  </a:tcPr>
                </a:tc>
                <a:tc>
                  <a:txBody>
                    <a:bodyPr/>
                    <a:lstStyle/>
                    <a:p>
                      <a:pPr algn="ctr"/>
                      <a:r>
                        <a:rPr lang="en-US" sz="1200" dirty="0">
                          <a:solidFill>
                            <a:schemeClr val="tx1"/>
                          </a:solidFill>
                        </a:rPr>
                        <a:t>176</a:t>
                      </a:r>
                    </a:p>
                  </a:txBody>
                  <a:tcPr anchor="ctr">
                    <a:noFill/>
                  </a:tcPr>
                </a:tc>
                <a:tc>
                  <a:txBody>
                    <a:bodyPr/>
                    <a:lstStyle/>
                    <a:p>
                      <a:pPr algn="ctr"/>
                      <a:r>
                        <a:rPr lang="en-US" sz="1200" dirty="0">
                          <a:solidFill>
                            <a:schemeClr val="tx1"/>
                          </a:solidFill>
                        </a:rPr>
                        <a:t>178</a:t>
                      </a:r>
                    </a:p>
                  </a:txBody>
                  <a:tcPr anchor="ctr">
                    <a:noFill/>
                  </a:tcPr>
                </a:tc>
                <a:tc>
                  <a:txBody>
                    <a:bodyPr/>
                    <a:lstStyle/>
                    <a:p>
                      <a:pPr algn="ctr"/>
                      <a:r>
                        <a:rPr lang="en-US" sz="1200" dirty="0">
                          <a:solidFill>
                            <a:schemeClr val="tx1"/>
                          </a:solidFill>
                        </a:rPr>
                        <a:t>180</a:t>
                      </a:r>
                    </a:p>
                  </a:txBody>
                  <a:tcPr anchor="ctr">
                    <a:noFill/>
                  </a:tcPr>
                </a:tc>
                <a:tc>
                  <a:txBody>
                    <a:bodyPr/>
                    <a:lstStyle/>
                    <a:p>
                      <a:pPr algn="ctr"/>
                      <a:r>
                        <a:rPr lang="en-US" sz="1200" dirty="0">
                          <a:solidFill>
                            <a:schemeClr val="tx1"/>
                          </a:solidFill>
                        </a:rPr>
                        <a:t>182</a:t>
                      </a:r>
                    </a:p>
                  </a:txBody>
                  <a:tcPr anchor="ctr">
                    <a:noFill/>
                  </a:tcPr>
                </a:tc>
                <a:tc>
                  <a:txBody>
                    <a:bodyPr/>
                    <a:lstStyle/>
                    <a:p>
                      <a:pPr algn="ctr"/>
                      <a:r>
                        <a:rPr lang="en-US" sz="1200" dirty="0">
                          <a:solidFill>
                            <a:schemeClr val="tx1"/>
                          </a:solidFill>
                        </a:rPr>
                        <a:t>184</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2"/>
                  </a:ext>
                </a:extLst>
              </a:tr>
              <a:tr h="370840">
                <a:tc>
                  <a:txBody>
                    <a:bodyPr/>
                    <a:lstStyle/>
                    <a:p>
                      <a:pPr algn="ctr"/>
                      <a:r>
                        <a:rPr kumimoji="0" lang="en-US" sz="1200" b="0" i="0" u="none" strike="noStrike" kern="1200" cap="none" spc="0" normalizeH="0" baseline="0" noProof="0" dirty="0">
                          <a:ln>
                            <a:noFill/>
                          </a:ln>
                          <a:solidFill>
                            <a:prstClr val="black"/>
                          </a:solidFill>
                          <a:effectLst/>
                          <a:uLnTx/>
                          <a:uFillTx/>
                          <a:latin typeface="+mn-lt"/>
                          <a:ea typeface="+mn-ea"/>
                          <a:cs typeface="+mn-cs"/>
                        </a:rPr>
                        <a:t>Center frequency</a:t>
                      </a:r>
                      <a:endParaRPr lang="en-US" dirty="0"/>
                    </a:p>
                  </a:txBody>
                  <a:tcPr anchor="ctr">
                    <a:noFill/>
                  </a:tcPr>
                </a:tc>
                <a:tc>
                  <a:txBody>
                    <a:bodyPr/>
                    <a:lstStyle/>
                    <a:p>
                      <a:pPr algn="ctr"/>
                      <a:endParaRPr lang="en-US" dirty="0"/>
                    </a:p>
                  </a:txBody>
                  <a:tcPr anchor="ctr">
                    <a:noFill/>
                  </a:tcPr>
                </a:tc>
                <a:tc>
                  <a:txBody>
                    <a:bodyPr/>
                    <a:lstStyle/>
                    <a:p>
                      <a:pPr algn="ctr"/>
                      <a:r>
                        <a:rPr lang="en-US" sz="1200" dirty="0">
                          <a:solidFill>
                            <a:schemeClr val="tx1"/>
                          </a:solidFill>
                        </a:rPr>
                        <a:t>5.860 GHz</a:t>
                      </a:r>
                    </a:p>
                  </a:txBody>
                  <a:tcPr anchor="ctr">
                    <a:noFill/>
                  </a:tcPr>
                </a:tc>
                <a:tc>
                  <a:txBody>
                    <a:bodyPr/>
                    <a:lstStyle/>
                    <a:p>
                      <a:pPr algn="ctr"/>
                      <a:r>
                        <a:rPr lang="en-US" sz="1200" dirty="0">
                          <a:solidFill>
                            <a:schemeClr val="tx1"/>
                          </a:solidFill>
                        </a:rPr>
                        <a:t>5.870 GHz</a:t>
                      </a:r>
                    </a:p>
                  </a:txBody>
                  <a:tcPr anchor="ctr">
                    <a:noFill/>
                  </a:tcPr>
                </a:tc>
                <a:tc>
                  <a:txBody>
                    <a:bodyPr/>
                    <a:lstStyle/>
                    <a:p>
                      <a:pPr algn="ctr"/>
                      <a:r>
                        <a:rPr lang="en-US" sz="1200" dirty="0">
                          <a:solidFill>
                            <a:schemeClr val="tx1"/>
                          </a:solidFill>
                        </a:rPr>
                        <a:t>5.880 GHz</a:t>
                      </a:r>
                    </a:p>
                  </a:txBody>
                  <a:tcPr anchor="ctr">
                    <a:noFill/>
                  </a:tcPr>
                </a:tc>
                <a:tc>
                  <a:txBody>
                    <a:bodyPr/>
                    <a:lstStyle/>
                    <a:p>
                      <a:pPr algn="ctr"/>
                      <a:r>
                        <a:rPr lang="en-US" sz="1200" dirty="0">
                          <a:solidFill>
                            <a:schemeClr val="tx1"/>
                          </a:solidFill>
                        </a:rPr>
                        <a:t>5.890 GHz</a:t>
                      </a:r>
                    </a:p>
                  </a:txBody>
                  <a:tcPr anchor="ctr">
                    <a:noFill/>
                  </a:tcPr>
                </a:tc>
                <a:tc>
                  <a:txBody>
                    <a:bodyPr/>
                    <a:lstStyle/>
                    <a:p>
                      <a:pPr algn="ctr"/>
                      <a:r>
                        <a:rPr lang="en-US" sz="1200" dirty="0">
                          <a:solidFill>
                            <a:schemeClr val="tx1"/>
                          </a:solidFill>
                        </a:rPr>
                        <a:t>5.900 GHz</a:t>
                      </a:r>
                    </a:p>
                  </a:txBody>
                  <a:tcPr anchor="ctr">
                    <a:noFill/>
                  </a:tcPr>
                </a:tc>
                <a:tc>
                  <a:txBody>
                    <a:bodyPr/>
                    <a:lstStyle/>
                    <a:p>
                      <a:pPr algn="ctr"/>
                      <a:r>
                        <a:rPr lang="en-US" sz="1200" dirty="0">
                          <a:solidFill>
                            <a:schemeClr val="tx1"/>
                          </a:solidFill>
                        </a:rPr>
                        <a:t>5.910 GHz</a:t>
                      </a:r>
                    </a:p>
                  </a:txBody>
                  <a:tcPr anchor="ctr">
                    <a:noFill/>
                  </a:tcPr>
                </a:tc>
                <a:tc>
                  <a:txBody>
                    <a:bodyPr/>
                    <a:lstStyle/>
                    <a:p>
                      <a:pPr algn="ctr"/>
                      <a:r>
                        <a:rPr lang="en-US" sz="1200" dirty="0">
                          <a:solidFill>
                            <a:schemeClr val="tx1"/>
                          </a:solidFill>
                        </a:rPr>
                        <a:t>5.920 GHz</a:t>
                      </a:r>
                    </a:p>
                  </a:txBody>
                  <a:tcPr anchor="c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a:txBody>
                  <a:tcPr anchor="ctr">
                    <a:no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0356542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CF3CF-564E-5E43-7183-B610628BB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15C20-C563-55FB-9D13-E68920B94BAF}"/>
              </a:ext>
            </a:extLst>
          </p:cNvPr>
          <p:cNvSpPr>
            <a:spLocks noGrp="1"/>
          </p:cNvSpPr>
          <p:nvPr>
            <p:ph type="title"/>
          </p:nvPr>
        </p:nvSpPr>
        <p:spPr>
          <a:xfrm>
            <a:off x="0" y="725557"/>
            <a:ext cx="9144000" cy="731838"/>
          </a:xfrm>
        </p:spPr>
        <p:txBody>
          <a:bodyPr>
            <a:noAutofit/>
          </a:bodyPr>
          <a:lstStyle/>
          <a:p>
            <a:pPr>
              <a:defRPr/>
            </a:pPr>
            <a:r>
              <a:rPr lang="en-US" sz="3600" dirty="0"/>
              <a:t>DSRC:: Channel Allocation (</a:t>
            </a:r>
            <a:r>
              <a:rPr lang="en-US" sz="3600" dirty="0">
                <a:solidFill>
                  <a:prstClr val="black"/>
                </a:solidFill>
              </a:rPr>
              <a:t>U.S. allocation</a:t>
            </a:r>
            <a:r>
              <a:rPr lang="en-US" sz="3600" dirty="0"/>
              <a:t>)</a:t>
            </a:r>
          </a:p>
        </p:txBody>
      </p:sp>
      <p:pic>
        <p:nvPicPr>
          <p:cNvPr id="4" name="Picture 3">
            <a:extLst>
              <a:ext uri="{FF2B5EF4-FFF2-40B4-BE49-F238E27FC236}">
                <a16:creationId xmlns:a16="http://schemas.microsoft.com/office/drawing/2014/main" id="{9C8CF877-FE2F-0890-77D6-8766A4874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021" y="1457395"/>
            <a:ext cx="8497957" cy="4560908"/>
          </a:xfrm>
          <a:prstGeom prst="rect">
            <a:avLst/>
          </a:prstGeom>
        </p:spPr>
      </p:pic>
    </p:spTree>
    <p:extLst>
      <p:ext uri="{BB962C8B-B14F-4D97-AF65-F5344CB8AC3E}">
        <p14:creationId xmlns:p14="http://schemas.microsoft.com/office/powerpoint/2010/main" val="395131451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9FA2F-53B4-D992-3B9F-2CB9BC6E1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B0E1C-AB46-2597-663C-B1776DCABA89}"/>
              </a:ext>
            </a:extLst>
          </p:cNvPr>
          <p:cNvSpPr>
            <a:spLocks noGrp="1"/>
          </p:cNvSpPr>
          <p:nvPr>
            <p:ph type="title"/>
          </p:nvPr>
        </p:nvSpPr>
        <p:spPr>
          <a:xfrm>
            <a:off x="0" y="725557"/>
            <a:ext cx="9144000" cy="731838"/>
          </a:xfrm>
        </p:spPr>
        <p:txBody>
          <a:bodyPr>
            <a:noAutofit/>
          </a:bodyPr>
          <a:lstStyle/>
          <a:p>
            <a:pPr>
              <a:defRPr/>
            </a:pPr>
            <a:r>
              <a:rPr lang="en-US" sz="3600" dirty="0"/>
              <a:t>DSRC:: </a:t>
            </a:r>
            <a:r>
              <a:rPr lang="en-US" dirty="0"/>
              <a:t>Channel Switching Timing </a:t>
            </a:r>
            <a:endParaRPr lang="en-US" sz="3600" dirty="0"/>
          </a:p>
        </p:txBody>
      </p:sp>
      <p:pic>
        <p:nvPicPr>
          <p:cNvPr id="5" name="Picture 4">
            <a:extLst>
              <a:ext uri="{FF2B5EF4-FFF2-40B4-BE49-F238E27FC236}">
                <a16:creationId xmlns:a16="http://schemas.microsoft.com/office/drawing/2014/main" id="{6E65BE3E-B857-6C72-C574-3B02F92668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8296" y="1576346"/>
            <a:ext cx="8865704" cy="2659713"/>
          </a:xfrm>
          <a:prstGeom prst="rect">
            <a:avLst/>
          </a:prstGeom>
        </p:spPr>
      </p:pic>
      <p:sp>
        <p:nvSpPr>
          <p:cNvPr id="7" name="TextBox 6">
            <a:extLst>
              <a:ext uri="{FF2B5EF4-FFF2-40B4-BE49-F238E27FC236}">
                <a16:creationId xmlns:a16="http://schemas.microsoft.com/office/drawing/2014/main" id="{B2C4ABBE-35CC-1DAE-BE4F-A0A138C9DBCD}"/>
              </a:ext>
            </a:extLst>
          </p:cNvPr>
          <p:cNvSpPr txBox="1"/>
          <p:nvPr/>
        </p:nvSpPr>
        <p:spPr>
          <a:xfrm>
            <a:off x="198782" y="4593560"/>
            <a:ext cx="8666922" cy="1815882"/>
          </a:xfrm>
          <a:prstGeom prst="rect">
            <a:avLst/>
          </a:prstGeom>
          <a:noFill/>
        </p:spPr>
        <p:txBody>
          <a:bodyPr wrap="square">
            <a:spAutoFit/>
          </a:bodyPr>
          <a:lstStyle/>
          <a:p>
            <a:r>
              <a:rPr lang="en-US" dirty="0"/>
              <a:t>Safety Applications :</a:t>
            </a:r>
            <a:endParaRPr lang="en-US" sz="2000" b="0" i="0" u="none" strike="noStrike" baseline="0" dirty="0">
              <a:solidFill>
                <a:srgbClr val="000000"/>
              </a:solidFill>
              <a:latin typeface="Cambria" panose="02040503050406030204" pitchFamily="18" charset="0"/>
            </a:endParaRPr>
          </a:p>
          <a:p>
            <a:r>
              <a:rPr lang="en-US" sz="2000" b="0" i="0" u="none" strike="noStrike" baseline="0" dirty="0">
                <a:solidFill>
                  <a:srgbClr val="000000"/>
                </a:solidFill>
                <a:latin typeface="Cambria" panose="02040503050406030204" pitchFamily="18" charset="0"/>
              </a:rPr>
              <a:t>Primary Message Type: </a:t>
            </a:r>
            <a:r>
              <a:rPr lang="en-US" sz="1800" b="1" i="0" u="none" strike="noStrike" baseline="0" dirty="0">
                <a:solidFill>
                  <a:srgbClr val="000000"/>
                </a:solidFill>
                <a:latin typeface="Cambria" panose="02040503050406030204" pitchFamily="18" charset="0"/>
              </a:rPr>
              <a:t>BSM (Basic Safety Message) </a:t>
            </a:r>
            <a:r>
              <a:rPr lang="en-US" sz="1800" b="0" i="0" u="none" strike="noStrike" baseline="0" dirty="0">
                <a:solidFill>
                  <a:srgbClr val="000000"/>
                </a:solidFill>
                <a:latin typeface="Cambria" panose="02040503050406030204" pitchFamily="18" charset="0"/>
              </a:rPr>
              <a:t>– Periodically broadcast vehicle status (position, speed, heading). </a:t>
            </a:r>
          </a:p>
          <a:p>
            <a:endParaRPr lang="en-US" dirty="0"/>
          </a:p>
          <a:p>
            <a:r>
              <a:rPr lang="en-US" dirty="0"/>
              <a:t>Channel Used: </a:t>
            </a:r>
            <a:r>
              <a:rPr lang="en-US" b="1" dirty="0"/>
              <a:t>Control Channel (CCH) </a:t>
            </a:r>
            <a:r>
              <a:rPr lang="en-US" dirty="0"/>
              <a:t>or </a:t>
            </a:r>
            <a:r>
              <a:rPr lang="en-US" b="1" dirty="0"/>
              <a:t>Safety Channel (</a:t>
            </a:r>
            <a:r>
              <a:rPr lang="en-US" b="1" dirty="0" err="1"/>
              <a:t>SfCH</a:t>
            </a:r>
            <a:r>
              <a:rPr lang="en-US" b="1" dirty="0"/>
              <a:t>) </a:t>
            </a:r>
            <a:endParaRPr lang="en-US" sz="1800" b="0" i="0" u="none" strike="noStrike" baseline="0" dirty="0">
              <a:solidFill>
                <a:srgbClr val="000000"/>
              </a:solidFill>
              <a:latin typeface="Cambria" panose="02040503050406030204" pitchFamily="18" charset="0"/>
            </a:endParaRPr>
          </a:p>
          <a:p>
            <a:endParaRPr lang="en-US" sz="1800" b="0" i="0" u="none" strike="noStrike" baseline="0" dirty="0">
              <a:solidFill>
                <a:srgbClr val="000000"/>
              </a:solidFill>
              <a:latin typeface="Cambria" panose="02040503050406030204" pitchFamily="18" charset="0"/>
            </a:endParaRPr>
          </a:p>
        </p:txBody>
      </p:sp>
    </p:spTree>
    <p:extLst>
      <p:ext uri="{BB962C8B-B14F-4D97-AF65-F5344CB8AC3E}">
        <p14:creationId xmlns:p14="http://schemas.microsoft.com/office/powerpoint/2010/main" val="28410822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8F802-9EBF-7FEE-29B6-7F59E439F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650D6-64DD-07A9-DEE4-D821133B2C73}"/>
              </a:ext>
            </a:extLst>
          </p:cNvPr>
          <p:cNvSpPr>
            <a:spLocks noGrp="1"/>
          </p:cNvSpPr>
          <p:nvPr>
            <p:ph type="title"/>
          </p:nvPr>
        </p:nvSpPr>
        <p:spPr>
          <a:xfrm>
            <a:off x="0" y="725557"/>
            <a:ext cx="9144000" cy="731838"/>
          </a:xfrm>
        </p:spPr>
        <p:txBody>
          <a:bodyPr>
            <a:noAutofit/>
          </a:bodyPr>
          <a:lstStyle/>
          <a:p>
            <a:pPr>
              <a:defRPr/>
            </a:pPr>
            <a:r>
              <a:rPr lang="en-US" sz="3600" dirty="0">
                <a:solidFill>
                  <a:srgbClr val="000000"/>
                </a:solidFill>
              </a:rPr>
              <a:t>Message Type and Channel Used</a:t>
            </a:r>
            <a:endParaRPr lang="en-US" sz="3600" dirty="0"/>
          </a:p>
        </p:txBody>
      </p:sp>
      <p:sp>
        <p:nvSpPr>
          <p:cNvPr id="7" name="TextBox 6">
            <a:extLst>
              <a:ext uri="{FF2B5EF4-FFF2-40B4-BE49-F238E27FC236}">
                <a16:creationId xmlns:a16="http://schemas.microsoft.com/office/drawing/2014/main" id="{62F91DEC-0A47-FB3C-6ED4-16F73F07D3FB}"/>
              </a:ext>
            </a:extLst>
          </p:cNvPr>
          <p:cNvSpPr txBox="1"/>
          <p:nvPr/>
        </p:nvSpPr>
        <p:spPr>
          <a:xfrm>
            <a:off x="238539" y="1673756"/>
            <a:ext cx="8666922" cy="1538883"/>
          </a:xfrm>
          <a:prstGeom prst="rect">
            <a:avLst/>
          </a:prstGeom>
          <a:noFill/>
        </p:spPr>
        <p:txBody>
          <a:bodyPr wrap="square">
            <a:spAutoFit/>
          </a:bodyPr>
          <a:lstStyle/>
          <a:p>
            <a:r>
              <a:rPr lang="en-US" sz="2000" b="1" dirty="0">
                <a:latin typeface="+mn-lt"/>
              </a:rPr>
              <a:t>Safety Applications :</a:t>
            </a:r>
            <a:endParaRPr lang="en-US" sz="2000" b="1" i="0" u="none" strike="noStrike" baseline="0" dirty="0">
              <a:solidFill>
                <a:srgbClr val="000000"/>
              </a:solidFill>
              <a:latin typeface="+mn-lt"/>
            </a:endParaRPr>
          </a:p>
          <a:p>
            <a:pPr marL="342900" indent="-342900">
              <a:buFont typeface="Arial" panose="020B0604020202020204" pitchFamily="34" charset="0"/>
              <a:buChar char="•"/>
            </a:pPr>
            <a:r>
              <a:rPr lang="en-US" sz="2000" b="1" i="0" u="none" strike="noStrike" baseline="0" dirty="0">
                <a:solidFill>
                  <a:srgbClr val="000000"/>
                </a:solidFill>
                <a:latin typeface="+mn-lt"/>
              </a:rPr>
              <a:t>Primary Message Type</a:t>
            </a:r>
            <a:r>
              <a:rPr lang="en-US" sz="2000" b="0" i="0" u="none" strike="noStrike" baseline="0" dirty="0">
                <a:solidFill>
                  <a:srgbClr val="000000"/>
                </a:solidFill>
                <a:latin typeface="+mn-lt"/>
              </a:rPr>
              <a:t>: </a:t>
            </a:r>
            <a:r>
              <a:rPr lang="en-US" sz="1800" b="1" i="0" u="none" strike="noStrike" baseline="0" dirty="0">
                <a:solidFill>
                  <a:srgbClr val="FF0000"/>
                </a:solidFill>
                <a:latin typeface="+mn-lt"/>
              </a:rPr>
              <a:t>BSM (Basic Safety Message) </a:t>
            </a:r>
            <a:r>
              <a:rPr lang="en-US" sz="1800" b="0" i="0" u="none" strike="noStrike" baseline="0" dirty="0">
                <a:solidFill>
                  <a:srgbClr val="000000"/>
                </a:solidFill>
                <a:latin typeface="+mn-lt"/>
              </a:rPr>
              <a:t>– Periodically broadcast vehicle status (position, speed, heading). </a:t>
            </a:r>
            <a:endParaRPr lang="en-US" dirty="0">
              <a:latin typeface="+mn-lt"/>
            </a:endParaRPr>
          </a:p>
          <a:p>
            <a:pPr marL="285750" indent="-285750">
              <a:buFont typeface="Arial" panose="020B0604020202020204" pitchFamily="34" charset="0"/>
              <a:buChar char="•"/>
            </a:pPr>
            <a:r>
              <a:rPr lang="en-US" b="1" dirty="0">
                <a:latin typeface="+mn-lt"/>
              </a:rPr>
              <a:t>Channel Used: </a:t>
            </a:r>
            <a:r>
              <a:rPr lang="en-US" b="1" dirty="0">
                <a:solidFill>
                  <a:srgbClr val="0070C0"/>
                </a:solidFill>
                <a:latin typeface="+mn-lt"/>
              </a:rPr>
              <a:t>Control Channel (CCH</a:t>
            </a:r>
            <a:r>
              <a:rPr lang="en-US" b="1" dirty="0">
                <a:latin typeface="+mn-lt"/>
              </a:rPr>
              <a:t>) </a:t>
            </a:r>
            <a:r>
              <a:rPr lang="en-US" dirty="0">
                <a:latin typeface="+mn-lt"/>
              </a:rPr>
              <a:t>or </a:t>
            </a:r>
            <a:r>
              <a:rPr lang="en-US" b="1" dirty="0">
                <a:latin typeface="+mn-lt"/>
              </a:rPr>
              <a:t>Safety Channel (</a:t>
            </a:r>
            <a:r>
              <a:rPr lang="en-US" b="1" dirty="0" err="1">
                <a:latin typeface="+mn-lt"/>
              </a:rPr>
              <a:t>SfCH</a:t>
            </a:r>
            <a:r>
              <a:rPr lang="en-US" b="1" dirty="0">
                <a:latin typeface="+mn-lt"/>
              </a:rPr>
              <a:t>) </a:t>
            </a:r>
            <a:endParaRPr lang="en-US" sz="1800" b="0" i="0" u="none" strike="noStrike" baseline="0" dirty="0">
              <a:solidFill>
                <a:srgbClr val="000000"/>
              </a:solidFill>
              <a:latin typeface="+mn-lt"/>
            </a:endParaRPr>
          </a:p>
          <a:p>
            <a:endParaRPr lang="en-US" sz="1800" b="0" i="0" u="none" strike="noStrike" baseline="0" dirty="0">
              <a:solidFill>
                <a:srgbClr val="000000"/>
              </a:solidFill>
              <a:latin typeface="Cambria" panose="02040503050406030204" pitchFamily="18" charset="0"/>
            </a:endParaRPr>
          </a:p>
        </p:txBody>
      </p:sp>
      <p:sp>
        <p:nvSpPr>
          <p:cNvPr id="4" name="TextBox 3">
            <a:extLst>
              <a:ext uri="{FF2B5EF4-FFF2-40B4-BE49-F238E27FC236}">
                <a16:creationId xmlns:a16="http://schemas.microsoft.com/office/drawing/2014/main" id="{CE611E35-1376-8176-7C93-A0254DA00E92}"/>
              </a:ext>
            </a:extLst>
          </p:cNvPr>
          <p:cNvSpPr txBox="1"/>
          <p:nvPr/>
        </p:nvSpPr>
        <p:spPr>
          <a:xfrm>
            <a:off x="238539" y="3429000"/>
            <a:ext cx="8905461" cy="2062103"/>
          </a:xfrm>
          <a:prstGeom prst="rect">
            <a:avLst/>
          </a:prstGeom>
          <a:noFill/>
        </p:spPr>
        <p:txBody>
          <a:bodyPr wrap="square">
            <a:spAutoFit/>
          </a:bodyPr>
          <a:lstStyle/>
          <a:p>
            <a:r>
              <a:rPr lang="en-US" sz="2000" b="1" dirty="0">
                <a:latin typeface="+mn-lt"/>
              </a:rPr>
              <a:t>Non-Safety Applications :</a:t>
            </a:r>
            <a:endParaRPr lang="en-US" sz="2000" b="1" i="0" u="none" strike="noStrike" baseline="0" dirty="0">
              <a:solidFill>
                <a:srgbClr val="000000"/>
              </a:solidFill>
              <a:latin typeface="+mn-lt"/>
            </a:endParaRPr>
          </a:p>
          <a:p>
            <a:pPr marL="342900" indent="-342900">
              <a:buFont typeface="Arial" panose="020B0604020202020204" pitchFamily="34" charset="0"/>
              <a:buChar char="•"/>
            </a:pPr>
            <a:r>
              <a:rPr lang="en-US" b="1" i="0" u="none" strike="noStrike" baseline="0" dirty="0">
                <a:solidFill>
                  <a:srgbClr val="000000"/>
                </a:solidFill>
                <a:latin typeface="+mn-lt"/>
              </a:rPr>
              <a:t>Primary Message Types: </a:t>
            </a:r>
          </a:p>
          <a:p>
            <a:pPr marL="800100" lvl="1" indent="-342900">
              <a:buFont typeface="Arial" panose="020B0604020202020204" pitchFamily="34" charset="0"/>
              <a:buChar char="•"/>
            </a:pPr>
            <a:r>
              <a:rPr lang="en-US" b="0" i="0" u="none" strike="noStrike" baseline="0" dirty="0">
                <a:solidFill>
                  <a:srgbClr val="FF0000"/>
                </a:solidFill>
                <a:latin typeface="+mn-lt"/>
              </a:rPr>
              <a:t>WSA (WAVE Service Advertisement) </a:t>
            </a:r>
            <a:r>
              <a:rPr lang="en-US" b="0" i="0" u="none" strike="noStrike" baseline="0" dirty="0">
                <a:solidFill>
                  <a:srgbClr val="000000"/>
                </a:solidFill>
                <a:latin typeface="+mn-lt"/>
              </a:rPr>
              <a:t>– Broadcasts the availability of a service on a specific channel.</a:t>
            </a:r>
          </a:p>
          <a:p>
            <a:pPr marL="800100" lvl="1" indent="-342900">
              <a:buFont typeface="Arial" panose="020B0604020202020204" pitchFamily="34" charset="0"/>
              <a:buChar char="•"/>
            </a:pPr>
            <a:r>
              <a:rPr lang="en-US" b="0" i="0" u="none" strike="noStrike" baseline="0" dirty="0">
                <a:solidFill>
                  <a:srgbClr val="FF0000"/>
                </a:solidFill>
                <a:latin typeface="+mn-lt"/>
              </a:rPr>
              <a:t>WSM (WAVE Short Message) </a:t>
            </a:r>
            <a:r>
              <a:rPr lang="en-US" b="0" i="0" u="none" strike="noStrike" baseline="0" dirty="0">
                <a:solidFill>
                  <a:srgbClr val="000000"/>
                </a:solidFill>
                <a:latin typeface="+mn-lt"/>
              </a:rPr>
              <a:t>– Payload message sent after WSA received/accepted.</a:t>
            </a:r>
          </a:p>
          <a:p>
            <a:pPr marL="342900" indent="-342900">
              <a:buFont typeface="Arial" panose="020B0604020202020204" pitchFamily="34" charset="0"/>
              <a:buChar char="•"/>
            </a:pPr>
            <a:r>
              <a:rPr lang="en-US" b="1" i="0" u="none" strike="noStrike" baseline="0" dirty="0">
                <a:solidFill>
                  <a:srgbClr val="000000"/>
                </a:solidFill>
                <a:latin typeface="+mn-lt"/>
              </a:rPr>
              <a:t>Channel Used</a:t>
            </a:r>
            <a:r>
              <a:rPr lang="en-US" b="0" i="0" u="none" strike="noStrike" baseline="0" dirty="0">
                <a:solidFill>
                  <a:srgbClr val="000000"/>
                </a:solidFill>
                <a:latin typeface="+mn-lt"/>
              </a:rPr>
              <a:t>:</a:t>
            </a:r>
            <a:r>
              <a:rPr lang="en-US" dirty="0">
                <a:solidFill>
                  <a:srgbClr val="000000"/>
                </a:solidFill>
                <a:latin typeface="+mn-lt"/>
              </a:rPr>
              <a:t> </a:t>
            </a:r>
            <a:r>
              <a:rPr lang="en-US" b="0" i="0" u="none" strike="noStrike" baseline="0" dirty="0">
                <a:solidFill>
                  <a:srgbClr val="0070C0"/>
                </a:solidFill>
                <a:latin typeface="+mn-lt"/>
              </a:rPr>
              <a:t>Service Channels (SCHs) </a:t>
            </a:r>
            <a:r>
              <a:rPr lang="en-US" b="0" i="0" u="none" strike="noStrike" baseline="0" dirty="0">
                <a:solidFill>
                  <a:srgbClr val="000000"/>
                </a:solidFill>
                <a:latin typeface="+mn-lt"/>
              </a:rPr>
              <a:t>(e.g., 5.860 GHz–5.880 GHz, 5.910 GHz–5.920 GHz)</a:t>
            </a:r>
            <a:endParaRPr lang="en-US" sz="1600" b="0" i="0" u="none" strike="noStrike" baseline="0" dirty="0">
              <a:solidFill>
                <a:srgbClr val="000000"/>
              </a:solidFill>
              <a:latin typeface="Cambria" panose="02040503050406030204" pitchFamily="18" charset="0"/>
            </a:endParaRPr>
          </a:p>
        </p:txBody>
      </p:sp>
    </p:spTree>
    <p:extLst>
      <p:ext uri="{BB962C8B-B14F-4D97-AF65-F5344CB8AC3E}">
        <p14:creationId xmlns:p14="http://schemas.microsoft.com/office/powerpoint/2010/main" val="35164662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Higher Layer Standards for IEEE 802.11p</a:t>
            </a:r>
          </a:p>
        </p:txBody>
      </p:sp>
      <p:sp>
        <p:nvSpPr>
          <p:cNvPr id="3" name="Content Placeholder 2"/>
          <p:cNvSpPr>
            <a:spLocks noGrp="1"/>
          </p:cNvSpPr>
          <p:nvPr>
            <p:ph idx="1"/>
          </p:nvPr>
        </p:nvSpPr>
        <p:spPr/>
        <p:txBody>
          <a:bodyPr>
            <a:normAutofit fontScale="92500" lnSpcReduction="10000"/>
          </a:bodyPr>
          <a:lstStyle/>
          <a:p>
            <a:r>
              <a:rPr lang="en-US" dirty="0"/>
              <a:t>Need for higher layer standards</a:t>
            </a:r>
          </a:p>
          <a:p>
            <a:pPr lvl="1"/>
            <a:r>
              <a:rPr lang="en-US" dirty="0"/>
              <a:t>Unified message format</a:t>
            </a:r>
          </a:p>
          <a:p>
            <a:pPr lvl="1"/>
            <a:r>
              <a:rPr lang="en-US" dirty="0"/>
              <a:t>Unified interfaces to application layer</a:t>
            </a:r>
          </a:p>
          <a:p>
            <a:pPr marL="457200" lvl="1" indent="0">
              <a:buNone/>
            </a:pPr>
            <a:endParaRPr lang="en-US" dirty="0"/>
          </a:p>
          <a:p>
            <a:r>
              <a:rPr lang="en-US" dirty="0"/>
              <a:t>U.S.</a:t>
            </a:r>
          </a:p>
          <a:p>
            <a:pPr lvl="1"/>
            <a:r>
              <a:rPr lang="en-US" dirty="0">
                <a:solidFill>
                  <a:schemeClr val="accent2"/>
                </a:solidFill>
              </a:rPr>
              <a:t>IEEE 1609.*</a:t>
            </a:r>
          </a:p>
          <a:p>
            <a:pPr lvl="1"/>
            <a:r>
              <a:rPr lang="en-US" dirty="0"/>
              <a:t>WAVE („Wireless Access in Vehicular Environments“)</a:t>
            </a:r>
          </a:p>
          <a:p>
            <a:endParaRPr lang="en-US" dirty="0"/>
          </a:p>
          <a:p>
            <a:r>
              <a:rPr lang="en-US" dirty="0"/>
              <a:t>Europe</a:t>
            </a:r>
          </a:p>
          <a:p>
            <a:pPr lvl="1"/>
            <a:r>
              <a:rPr lang="en-US" dirty="0"/>
              <a:t>ETSI </a:t>
            </a:r>
          </a:p>
          <a:p>
            <a:pPr lvl="1"/>
            <a:r>
              <a:rPr lang="en-US" dirty="0"/>
              <a:t>ITS G5 (“Intelligent Transportation Systems”)</a:t>
            </a:r>
          </a:p>
          <a:p>
            <a:endParaRPr lang="en-US" dirty="0"/>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88</a:t>
            </a:fld>
            <a:endParaRPr lang="en-US" dirty="0">
              <a:solidFill>
                <a:prstClr val="black"/>
              </a:solidFill>
            </a:endParaRPr>
          </a:p>
        </p:txBody>
      </p:sp>
    </p:spTree>
    <p:extLst>
      <p:ext uri="{BB962C8B-B14F-4D97-AF65-F5344CB8AC3E}">
        <p14:creationId xmlns:p14="http://schemas.microsoft.com/office/powerpoint/2010/main" val="11920653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IEEE 1609.* upper layers (building on IEEE 802.11p)</a:t>
            </a:r>
            <a:endParaRPr lang="en-US" dirty="0"/>
          </a:p>
        </p:txBody>
      </p:sp>
      <p:sp>
        <p:nvSpPr>
          <p:cNvPr id="3" name="Inhaltsplatzhalter 2"/>
          <p:cNvSpPr>
            <a:spLocks noGrp="1"/>
          </p:cNvSpPr>
          <p:nvPr>
            <p:ph idx="1"/>
          </p:nvPr>
        </p:nvSpPr>
        <p:spPr>
          <a:xfrm>
            <a:off x="228600" y="1600200"/>
            <a:ext cx="8686800" cy="1253487"/>
          </a:xfrm>
        </p:spPr>
        <p:txBody>
          <a:bodyPr numCol="2">
            <a:normAutofit fontScale="77500" lnSpcReduction="20000"/>
          </a:bodyPr>
          <a:lstStyle/>
          <a:p>
            <a:r>
              <a:rPr lang="en-US" dirty="0"/>
              <a:t>IEEE 1609.2: </a:t>
            </a:r>
            <a:br>
              <a:rPr lang="en-US" dirty="0"/>
            </a:br>
            <a:r>
              <a:rPr lang="en-US" dirty="0"/>
              <a:t>Security</a:t>
            </a:r>
          </a:p>
          <a:p>
            <a:r>
              <a:rPr lang="en-US" dirty="0"/>
              <a:t>IEEE 1609.3: </a:t>
            </a:r>
            <a:br>
              <a:rPr lang="en-US" dirty="0"/>
            </a:br>
            <a:r>
              <a:rPr lang="en-US" dirty="0"/>
              <a:t>Network services</a:t>
            </a:r>
          </a:p>
          <a:p>
            <a:r>
              <a:rPr lang="en-US" dirty="0"/>
              <a:t>IEEE 1609.4: </a:t>
            </a:r>
            <a:br>
              <a:rPr lang="en-US" dirty="0"/>
            </a:br>
            <a:r>
              <a:rPr lang="en-US" dirty="0"/>
              <a:t>Channel mgmt.</a:t>
            </a:r>
          </a:p>
          <a:p>
            <a:r>
              <a:rPr lang="en-US" dirty="0"/>
              <a:t>IEEE 1609.11:</a:t>
            </a:r>
            <a:br>
              <a:rPr lang="en-US" dirty="0"/>
            </a:br>
            <a:r>
              <a:rPr lang="en-US" dirty="0"/>
              <a:t>Application “electronic payment”</a:t>
            </a:r>
          </a:p>
        </p:txBody>
      </p:sp>
      <p:sp>
        <p:nvSpPr>
          <p:cNvPr id="4" name="Footer Placeholder 3"/>
          <p:cNvSpPr>
            <a:spLocks noGrp="1"/>
          </p:cNvSpPr>
          <p:nvPr>
            <p:ph type="ftr" sz="quarter" idx="11"/>
          </p:nvPr>
        </p:nvSpPr>
        <p:spPr/>
        <p:txBody>
          <a:bodyPr/>
          <a:lstStyle/>
          <a:p>
            <a:r>
              <a:rPr lang="en-US"/>
              <a:t>Vehicular Networking</a:t>
            </a:r>
            <a:endParaRPr lang="en-US" dirty="0"/>
          </a:p>
        </p:txBody>
      </p:sp>
      <p:sp>
        <p:nvSpPr>
          <p:cNvPr id="5" name="Slide Number Placeholder 4"/>
          <p:cNvSpPr>
            <a:spLocks noGrp="1"/>
          </p:cNvSpPr>
          <p:nvPr>
            <p:ph type="sldNum" sz="quarter" idx="12"/>
          </p:nvPr>
        </p:nvSpPr>
        <p:spPr/>
        <p:txBody>
          <a:bodyPr/>
          <a:lstStyle/>
          <a:p>
            <a:fld id="{73ED8BC7-2E15-43DB-8EF0-8ED7667633CE}" type="slidenum">
              <a:rPr lang="en-US" smtClean="0"/>
              <a:pPr/>
              <a:t>89</a:t>
            </a:fld>
            <a:endParaRPr lang="en-US" dirty="0"/>
          </a:p>
        </p:txBody>
      </p:sp>
      <p:sp>
        <p:nvSpPr>
          <p:cNvPr id="6" name="Content Placeholder 5"/>
          <p:cNvSpPr>
            <a:spLocks noGrp="1"/>
          </p:cNvSpPr>
          <p:nvPr>
            <p:ph idx="13"/>
          </p:nvPr>
        </p:nvSpPr>
        <p:spPr/>
        <p:txBody>
          <a:bodyPr/>
          <a:lstStyle/>
          <a:p>
            <a:r>
              <a:rPr lang="en-US"/>
              <a:t>[1] Jiang, D. and Delgrossi, L., "IEEE 802.11p: Towards an international standard for wireless access in vehicular environments," Proceedings of 67th IEEE Vehicular Technology Conference (VTC2008-Spring), Marina Bay, Singapore, May 2008</a:t>
            </a:r>
          </a:p>
          <a:p>
            <a:r>
              <a:rPr lang="en-US"/>
              <a:t>[2] Uzcátegui, Roberto A. and Acosta-Marum, Guillermo, "WAVE: A Tutorial," IEEE Communications Magazine, vol. 47 (5), pp. 126-133, May 2009</a:t>
            </a:r>
            <a:endParaRPr lang="en-US" dirty="0"/>
          </a:p>
        </p:txBody>
      </p:sp>
      <p:grpSp>
        <p:nvGrpSpPr>
          <p:cNvPr id="25" name="Gruppierung 24"/>
          <p:cNvGrpSpPr/>
          <p:nvPr/>
        </p:nvGrpSpPr>
        <p:grpSpPr>
          <a:xfrm>
            <a:off x="985324" y="2950980"/>
            <a:ext cx="7285609" cy="2698750"/>
            <a:chOff x="685800" y="2286000"/>
            <a:chExt cx="7285609" cy="2698750"/>
          </a:xfrm>
        </p:grpSpPr>
        <p:sp>
          <p:nvSpPr>
            <p:cNvPr id="10" name="Rectangle 3"/>
            <p:cNvSpPr>
              <a:spLocks noChangeArrowheads="1"/>
            </p:cNvSpPr>
            <p:nvPr/>
          </p:nvSpPr>
          <p:spPr bwMode="auto">
            <a:xfrm>
              <a:off x="3277017" y="2286000"/>
              <a:ext cx="2466975" cy="3794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TCP / UDP</a:t>
              </a:r>
            </a:p>
          </p:txBody>
        </p:sp>
        <p:sp>
          <p:nvSpPr>
            <p:cNvPr id="18" name="Rectangle 11"/>
            <p:cNvSpPr>
              <a:spLocks noChangeArrowheads="1"/>
            </p:cNvSpPr>
            <p:nvPr/>
          </p:nvSpPr>
          <p:spPr bwMode="auto">
            <a:xfrm>
              <a:off x="3277017" y="4416425"/>
              <a:ext cx="1785937"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WAVE PHY</a:t>
              </a:r>
            </a:p>
          </p:txBody>
        </p:sp>
        <p:sp>
          <p:nvSpPr>
            <p:cNvPr id="21" name="Rectangle 14"/>
            <p:cNvSpPr>
              <a:spLocks noChangeArrowheads="1"/>
            </p:cNvSpPr>
            <p:nvPr/>
          </p:nvSpPr>
          <p:spPr bwMode="auto">
            <a:xfrm>
              <a:off x="3277017" y="3765550"/>
              <a:ext cx="3795713" cy="569913"/>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Channel Coordination,</a:t>
              </a:r>
              <a:br>
                <a:rPr lang="en-US" dirty="0"/>
              </a:br>
              <a:r>
                <a:rPr lang="en-US" dirty="0"/>
                <a:t>WAVE MAC</a:t>
              </a:r>
            </a:p>
          </p:txBody>
        </p:sp>
        <p:sp>
          <p:nvSpPr>
            <p:cNvPr id="27" name="Rectangle 20"/>
            <p:cNvSpPr>
              <a:spLocks noChangeArrowheads="1"/>
            </p:cNvSpPr>
            <p:nvPr/>
          </p:nvSpPr>
          <p:spPr bwMode="auto">
            <a:xfrm>
              <a:off x="3277017" y="2665413"/>
              <a:ext cx="2466975" cy="37941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IPv6</a:t>
              </a:r>
            </a:p>
          </p:txBody>
        </p:sp>
        <p:sp>
          <p:nvSpPr>
            <p:cNvPr id="31" name="Rectangle 24"/>
            <p:cNvSpPr>
              <a:spLocks noChangeArrowheads="1"/>
            </p:cNvSpPr>
            <p:nvPr/>
          </p:nvSpPr>
          <p:spPr bwMode="auto">
            <a:xfrm>
              <a:off x="5934492" y="2286000"/>
              <a:ext cx="1138238" cy="7588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WSMP</a:t>
              </a:r>
            </a:p>
          </p:txBody>
        </p:sp>
        <p:sp>
          <p:nvSpPr>
            <p:cNvPr id="37" name="Rectangle 30"/>
            <p:cNvSpPr>
              <a:spLocks noChangeArrowheads="1"/>
            </p:cNvSpPr>
            <p:nvPr/>
          </p:nvSpPr>
          <p:spPr bwMode="auto">
            <a:xfrm>
              <a:off x="2340393" y="2286000"/>
              <a:ext cx="852488" cy="26987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vert270" anchor="ctr">
              <a:prstTxWarp prst="textNoShape">
                <a:avLst/>
              </a:prstTxWarp>
            </a:bodyPr>
            <a:lstStyle/>
            <a:p>
              <a:pPr algn="ctr"/>
              <a:r>
                <a:rPr lang="en-US" dirty="0"/>
                <a:t>Management</a:t>
              </a:r>
            </a:p>
          </p:txBody>
        </p:sp>
        <p:sp>
          <p:nvSpPr>
            <p:cNvPr id="51" name="Rectangle 43"/>
            <p:cNvSpPr>
              <a:spLocks noChangeArrowheads="1"/>
            </p:cNvSpPr>
            <p:nvPr/>
          </p:nvSpPr>
          <p:spPr bwMode="auto">
            <a:xfrm>
              <a:off x="1405354" y="2286000"/>
              <a:ext cx="855663" cy="26987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vert="vert270" anchor="ctr">
              <a:prstTxWarp prst="textNoShape">
                <a:avLst/>
              </a:prstTxWarp>
            </a:bodyPr>
            <a:lstStyle/>
            <a:p>
              <a:pPr algn="ctr"/>
              <a:r>
                <a:rPr lang="en-US" dirty="0"/>
                <a:t>Security</a:t>
              </a:r>
            </a:p>
          </p:txBody>
        </p:sp>
        <p:sp>
          <p:nvSpPr>
            <p:cNvPr id="15" name="Rectangle 8"/>
            <p:cNvSpPr>
              <a:spLocks noChangeArrowheads="1"/>
            </p:cNvSpPr>
            <p:nvPr/>
          </p:nvSpPr>
          <p:spPr bwMode="auto">
            <a:xfrm>
              <a:off x="3277017" y="3121025"/>
              <a:ext cx="3795713"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LLC</a:t>
              </a:r>
            </a:p>
          </p:txBody>
        </p:sp>
        <p:sp>
          <p:nvSpPr>
            <p:cNvPr id="81" name="Geschweifte Klammer rechts 80"/>
            <p:cNvSpPr/>
            <p:nvPr/>
          </p:nvSpPr>
          <p:spPr bwMode="auto">
            <a:xfrm>
              <a:off x="7129044" y="4045692"/>
              <a:ext cx="304800" cy="939058"/>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3" name="Textfeld 82"/>
            <p:cNvSpPr txBox="1"/>
            <p:nvPr/>
          </p:nvSpPr>
          <p:spPr>
            <a:xfrm rot="16200000">
              <a:off x="7147559" y="4348258"/>
              <a:ext cx="911127" cy="338554"/>
            </a:xfrm>
            <a:prstGeom prst="rect">
              <a:avLst/>
            </a:prstGeom>
            <a:noFill/>
          </p:spPr>
          <p:txBody>
            <a:bodyPr wrap="none" rtlCol="0">
              <a:spAutoFit/>
            </a:bodyPr>
            <a:lstStyle/>
            <a:p>
              <a:r>
                <a:rPr lang="en-US" sz="1600" dirty="0"/>
                <a:t>802.11p</a:t>
              </a:r>
            </a:p>
          </p:txBody>
        </p:sp>
        <p:sp>
          <p:nvSpPr>
            <p:cNvPr id="84" name="Geschweifte Klammer rechts 83"/>
            <p:cNvSpPr/>
            <p:nvPr/>
          </p:nvSpPr>
          <p:spPr bwMode="auto">
            <a:xfrm>
              <a:off x="7361808" y="3765550"/>
              <a:ext cx="304800" cy="409221"/>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5" name="Textfeld 84"/>
            <p:cNvSpPr txBox="1"/>
            <p:nvPr/>
          </p:nvSpPr>
          <p:spPr>
            <a:xfrm rot="16200000">
              <a:off x="7370321" y="3799485"/>
              <a:ext cx="863622" cy="338554"/>
            </a:xfrm>
            <a:prstGeom prst="rect">
              <a:avLst/>
            </a:prstGeom>
            <a:noFill/>
          </p:spPr>
          <p:txBody>
            <a:bodyPr wrap="square" rtlCol="0">
              <a:spAutoFit/>
            </a:bodyPr>
            <a:lstStyle/>
            <a:p>
              <a:r>
                <a:rPr lang="en-US" sz="1600" dirty="0"/>
                <a:t>1609.4</a:t>
              </a:r>
            </a:p>
          </p:txBody>
        </p:sp>
        <p:sp>
          <p:nvSpPr>
            <p:cNvPr id="86" name="Geschweifte Klammer rechts 85"/>
            <p:cNvSpPr/>
            <p:nvPr/>
          </p:nvSpPr>
          <p:spPr bwMode="auto">
            <a:xfrm>
              <a:off x="7120354" y="2286000"/>
              <a:ext cx="304800" cy="1403350"/>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87" name="Textfeld 86"/>
            <p:cNvSpPr txBox="1"/>
            <p:nvPr/>
          </p:nvSpPr>
          <p:spPr>
            <a:xfrm rot="16200000">
              <a:off x="7188313" y="2807852"/>
              <a:ext cx="812242" cy="338554"/>
            </a:xfrm>
            <a:prstGeom prst="rect">
              <a:avLst/>
            </a:prstGeom>
            <a:noFill/>
          </p:spPr>
          <p:txBody>
            <a:bodyPr wrap="none" rtlCol="0">
              <a:spAutoFit/>
            </a:bodyPr>
            <a:lstStyle/>
            <a:p>
              <a:r>
                <a:rPr lang="en-US" sz="1600" dirty="0"/>
                <a:t>1609.3</a:t>
              </a:r>
            </a:p>
          </p:txBody>
        </p:sp>
        <p:sp>
          <p:nvSpPr>
            <p:cNvPr id="88" name="Geschweifte Klammer rechts 87"/>
            <p:cNvSpPr/>
            <p:nvPr/>
          </p:nvSpPr>
          <p:spPr bwMode="auto">
            <a:xfrm flipH="1">
              <a:off x="1024354" y="2286000"/>
              <a:ext cx="304800" cy="2698750"/>
            </a:xfrm>
            <a:prstGeom prst="rightBrace">
              <a:avLst/>
            </a:prstGeom>
            <a:noFill/>
            <a:ln w="31750" cap="flat" cmpd="sng" algn="ctr">
              <a:solidFill>
                <a:schemeClr val="tx1"/>
              </a:solidFill>
              <a:prstDash val="solid"/>
              <a:round/>
              <a:headEnd type="none" w="med" len="med"/>
              <a:tailEnd type="none" w="med" len="med"/>
            </a:ln>
            <a:effectLst/>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rgbClr val="FFFFFF"/>
                </a:solidFill>
                <a:effectLst/>
                <a:latin typeface="Futura Hv BT" pitchFamily="32" charset="0"/>
              </a:endParaRPr>
            </a:p>
          </p:txBody>
        </p:sp>
        <p:sp>
          <p:nvSpPr>
            <p:cNvPr id="90" name="Textfeld 89"/>
            <p:cNvSpPr txBox="1"/>
            <p:nvPr/>
          </p:nvSpPr>
          <p:spPr>
            <a:xfrm rot="16200000">
              <a:off x="448956" y="3470294"/>
              <a:ext cx="812242" cy="338554"/>
            </a:xfrm>
            <a:prstGeom prst="rect">
              <a:avLst/>
            </a:prstGeom>
            <a:noFill/>
          </p:spPr>
          <p:txBody>
            <a:bodyPr wrap="none" rtlCol="0">
              <a:spAutoFit/>
            </a:bodyPr>
            <a:lstStyle/>
            <a:p>
              <a:r>
                <a:rPr lang="en-US" sz="1600" dirty="0"/>
                <a:t>1609.2</a:t>
              </a:r>
            </a:p>
          </p:txBody>
        </p:sp>
        <p:sp>
          <p:nvSpPr>
            <p:cNvPr id="93" name="Rectangle 11"/>
            <p:cNvSpPr>
              <a:spLocks noChangeArrowheads="1"/>
            </p:cNvSpPr>
            <p:nvPr/>
          </p:nvSpPr>
          <p:spPr bwMode="auto">
            <a:xfrm>
              <a:off x="5291554" y="4416425"/>
              <a:ext cx="1781176" cy="568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prstTxWarp prst="textNoShape">
                <a:avLst/>
              </a:prstTxWarp>
            </a:bodyPr>
            <a:lstStyle/>
            <a:p>
              <a:pPr algn="ctr"/>
              <a:r>
                <a:rPr lang="en-US" dirty="0"/>
                <a:t>WAVE PHY</a:t>
              </a:r>
            </a:p>
          </p:txBody>
        </p:sp>
      </p:grpSp>
      <p:sp>
        <p:nvSpPr>
          <p:cNvPr id="24"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endParaRPr lang="en-US" sz="800" kern="0" dirty="0"/>
          </a:p>
        </p:txBody>
      </p:sp>
    </p:spTree>
    <p:extLst>
      <p:ext uri="{BB962C8B-B14F-4D97-AF65-F5344CB8AC3E}">
        <p14:creationId xmlns:p14="http://schemas.microsoft.com/office/powerpoint/2010/main" val="29040916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2933700"/>
          </a:xfrm>
        </p:spPr>
        <p:txBody>
          <a:bodyPr>
            <a:normAutofit fontScale="92500" lnSpcReduction="20000"/>
          </a:bodyPr>
          <a:lstStyle/>
          <a:p>
            <a:r>
              <a:rPr lang="en-US" dirty="0"/>
              <a:t>Channel management</a:t>
            </a:r>
          </a:p>
          <a:p>
            <a:pPr lvl="1"/>
            <a:r>
              <a:rPr lang="en-US" dirty="0"/>
              <a:t>WAVE allows for both single radio devices &amp; multi radio devices</a:t>
            </a:r>
          </a:p>
          <a:p>
            <a:pPr lvl="1"/>
            <a:r>
              <a:rPr lang="en-US" dirty="0"/>
              <a:t>Dedicated Control Channel (CCH) for mgmt and safety messages</a:t>
            </a:r>
            <a:br>
              <a:rPr lang="en-US" dirty="0"/>
            </a:br>
            <a:r>
              <a:rPr lang="en-US" dirty="0"/>
              <a:t>	⇨ single radio devices need to periodically listen to CCH</a:t>
            </a:r>
          </a:p>
          <a:p>
            <a:pPr lvl="1"/>
            <a:r>
              <a:rPr lang="en-US" dirty="0"/>
              <a:t>Time slots</a:t>
            </a:r>
          </a:p>
          <a:p>
            <a:pPr lvl="2"/>
            <a:r>
              <a:rPr lang="en-US" dirty="0"/>
              <a:t>Synchronization envisioned via GPS receiver clock</a:t>
            </a:r>
          </a:p>
          <a:p>
            <a:pPr lvl="2"/>
            <a:r>
              <a:rPr lang="en-US" dirty="0"/>
              <a:t>Standard value: 100ms sync interval (with 50ms on CCH)</a:t>
            </a:r>
          </a:p>
          <a:p>
            <a:pPr lvl="2"/>
            <a:r>
              <a:rPr lang="en-US" dirty="0"/>
              <a:t>Short guard interval at start of time slot</a:t>
            </a:r>
          </a:p>
          <a:p>
            <a:pPr lvl="3"/>
            <a:r>
              <a:rPr lang="en-US" dirty="0"/>
              <a:t>During guard, medium is considered busy </a:t>
            </a:r>
            <a:r>
              <a:rPr lang="en-US" dirty="0">
                <a:sym typeface="Wingdings"/>
              </a:rPr>
              <a:t>(⇨ backoff)</a:t>
            </a:r>
            <a:endParaRPr lang="en-US" dirty="0"/>
          </a:p>
          <a:p>
            <a:pPr lvl="2"/>
            <a:endParaRPr lang="en-US" dirty="0"/>
          </a:p>
          <a:p>
            <a:pPr lvl="2"/>
            <a:endParaRPr lang="en-US" dirty="0"/>
          </a:p>
          <a:p>
            <a:pPr lvl="1"/>
            <a:endParaRPr lang="en-US" dirty="0"/>
          </a:p>
          <a:p>
            <a:pPr lvl="2"/>
            <a:endParaRPr lang="en-US" dirty="0"/>
          </a:p>
          <a:p>
            <a:pPr lvl="1"/>
            <a:endParaRPr lang="en-US" dirty="0"/>
          </a:p>
          <a:p>
            <a:pPr lvl="1"/>
            <a:endParaRPr lang="en-US" dirty="0"/>
          </a:p>
          <a:p>
            <a:endParaRPr lang="en-US" dirty="0"/>
          </a:p>
        </p:txBody>
      </p:sp>
      <p:sp>
        <p:nvSpPr>
          <p:cNvPr id="9" name="Rechteck 8"/>
          <p:cNvSpPr/>
          <p:nvPr/>
        </p:nvSpPr>
        <p:spPr bwMode="auto">
          <a:xfrm>
            <a:off x="19050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 name="Rechteck 10"/>
          <p:cNvSpPr/>
          <p:nvPr/>
        </p:nvSpPr>
        <p:spPr bwMode="auto">
          <a:xfrm>
            <a:off x="32766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 name="Rechteck 12"/>
          <p:cNvSpPr/>
          <p:nvPr/>
        </p:nvSpPr>
        <p:spPr bwMode="auto">
          <a:xfrm>
            <a:off x="46482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5" name="Rechteck 14"/>
          <p:cNvSpPr/>
          <p:nvPr/>
        </p:nvSpPr>
        <p:spPr bwMode="auto">
          <a:xfrm>
            <a:off x="6019800" y="4648200"/>
            <a:ext cx="152400" cy="685800"/>
          </a:xfrm>
          <a:prstGeom prst="rect">
            <a:avLst/>
          </a:prstGeom>
          <a:ln>
            <a:headEnd type="none" w="med" len="med"/>
            <a:tailEnd type="triangle" w="med" len="med"/>
          </a:ln>
        </p:spPr>
        <p:style>
          <a:lnRef idx="1">
            <a:schemeClr val="accent6"/>
          </a:lnRef>
          <a:fillRef idx="3">
            <a:schemeClr val="accent6"/>
          </a:fillRef>
          <a:effectRef idx="2">
            <a:schemeClr val="accent6"/>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 name="Rechteck 9"/>
          <p:cNvSpPr/>
          <p:nvPr/>
        </p:nvSpPr>
        <p:spPr bwMode="auto">
          <a:xfrm>
            <a:off x="2057400" y="4648200"/>
            <a:ext cx="1219200" cy="687388"/>
          </a:xfrm>
          <a:prstGeom prst="rect">
            <a:avLst/>
          </a:prstGeom>
          <a:ln>
            <a:headEnd type="none" w="med" len="med"/>
            <a:tailEnd type="triangl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CCH</a:t>
            </a:r>
            <a:br>
              <a:rPr kumimoji="0" lang="en-US" sz="1600" b="0" i="0" u="none" strike="noStrike" cap="none" normalizeH="0" baseline="0" dirty="0">
                <a:ln>
                  <a:noFill/>
                </a:ln>
                <a:solidFill>
                  <a:schemeClr val="tx1"/>
                </a:solidFill>
                <a:effectLst/>
                <a:latin typeface="Futura Hv BT" pitchFamily="32" charset="0"/>
              </a:rPr>
            </a:br>
            <a:r>
              <a:rPr kumimoji="0" lang="en-US" sz="1600" b="0" i="0" u="none" strike="noStrike" cap="none" normalizeH="0" baseline="0" dirty="0">
                <a:ln>
                  <a:noFill/>
                </a:ln>
                <a:solidFill>
                  <a:schemeClr val="tx1"/>
                </a:solidFill>
                <a:effectLst/>
                <a:latin typeface="Futura Hv BT" pitchFamily="32" charset="0"/>
              </a:rPr>
              <a:t>interval</a:t>
            </a:r>
          </a:p>
        </p:txBody>
      </p:sp>
      <p:sp>
        <p:nvSpPr>
          <p:cNvPr id="14" name="Rechteck 13"/>
          <p:cNvSpPr/>
          <p:nvPr/>
        </p:nvSpPr>
        <p:spPr bwMode="auto">
          <a:xfrm>
            <a:off x="4800600" y="4648200"/>
            <a:ext cx="1219200" cy="687388"/>
          </a:xfrm>
          <a:prstGeom prst="rect">
            <a:avLst/>
          </a:prstGeom>
          <a:ln>
            <a:headEnd type="none" w="med" len="med"/>
            <a:tailEnd type="triangle" w="med" len="med"/>
          </a:ln>
        </p:spPr>
        <p:style>
          <a:lnRef idx="1">
            <a:schemeClr val="accent2"/>
          </a:lnRef>
          <a:fillRef idx="2">
            <a:schemeClr val="accent2"/>
          </a:fillRef>
          <a:effectRef idx="1">
            <a:schemeClr val="accent2"/>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CCH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sp>
        <p:nvSpPr>
          <p:cNvPr id="12" name="Rechteck 11"/>
          <p:cNvSpPr/>
          <p:nvPr/>
        </p:nvSpPr>
        <p:spPr bwMode="auto">
          <a:xfrm>
            <a:off x="3429000" y="4648200"/>
            <a:ext cx="1219200" cy="68738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“SCH”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sp>
        <p:nvSpPr>
          <p:cNvPr id="16" name="Rechteck 15"/>
          <p:cNvSpPr/>
          <p:nvPr/>
        </p:nvSpPr>
        <p:spPr bwMode="auto">
          <a:xfrm>
            <a:off x="6172200" y="4648200"/>
            <a:ext cx="1219200" cy="68738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algn="ctr"/>
            <a:r>
              <a:rPr lang="en-US" sz="1600" dirty="0">
                <a:solidFill>
                  <a:schemeClr val="tx1"/>
                </a:solidFill>
                <a:latin typeface="Futura Hv BT" pitchFamily="32" charset="0"/>
              </a:rPr>
              <a:t>“SCH”</a:t>
            </a:r>
            <a:br>
              <a:rPr lang="en-US" sz="1600" dirty="0">
                <a:solidFill>
                  <a:schemeClr val="tx1"/>
                </a:solidFill>
                <a:latin typeface="Futura Hv BT" pitchFamily="32" charset="0"/>
              </a:rPr>
            </a:br>
            <a:r>
              <a:rPr lang="en-US" sz="1600" dirty="0">
                <a:solidFill>
                  <a:schemeClr val="tx1"/>
                </a:solidFill>
                <a:latin typeface="Futura Hv BT" pitchFamily="32" charset="0"/>
              </a:rPr>
              <a:t>interval</a:t>
            </a:r>
          </a:p>
        </p:txBody>
      </p:sp>
      <p:cxnSp>
        <p:nvCxnSpPr>
          <p:cNvPr id="8" name="Gerade Verbindung mit Pfeil 7"/>
          <p:cNvCxnSpPr/>
          <p:nvPr/>
        </p:nvCxnSpPr>
        <p:spPr bwMode="auto">
          <a:xfrm>
            <a:off x="1676400" y="5334000"/>
            <a:ext cx="6019800" cy="1588"/>
          </a:xfrm>
          <a:prstGeom prst="straightConnector1">
            <a:avLst/>
          </a:prstGeom>
          <a:solidFill>
            <a:schemeClr val="accent1"/>
          </a:solidFill>
          <a:ln w="41275" cap="flat" cmpd="sng" algn="ctr">
            <a:solidFill>
              <a:schemeClr val="tx1"/>
            </a:solidFill>
            <a:prstDash val="solid"/>
            <a:round/>
            <a:headEnd type="none" w="med" len="med"/>
            <a:tailEnd type="arrow" w="med" len="med"/>
          </a:ln>
          <a:effectLst/>
        </p:spPr>
      </p:cxnSp>
      <p:sp>
        <p:nvSpPr>
          <p:cNvPr id="18" name="Textplatzhalter 3"/>
          <p:cNvSpPr txBox="1">
            <a:spLocks/>
          </p:cNvSpPr>
          <p:nvPr/>
        </p:nvSpPr>
        <p:spPr bwMode="auto">
          <a:xfrm>
            <a:off x="482600" y="5638800"/>
            <a:ext cx="7747000" cy="5905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defPPr marL="342720" marR="0" lvl="0" indent="-342720" algn="l" hangingPunct="1">
              <a:lnSpc>
                <a:spcPct val="100000"/>
              </a:lnSpc>
              <a:spcBef>
                <a:spcPts val="799"/>
              </a:spcBef>
              <a:spcAft>
                <a:spcPts val="0"/>
              </a:spcAft>
              <a:buClr>
                <a:srgbClr val="CC3300"/>
              </a:buClr>
              <a:buSzPct val="60000"/>
              <a:buFont typeface="Wingdings" pitchFamily="2"/>
              <a:buNone/>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defPPr>
            <a:lvl1pPr marL="342720" marR="0" lvl="0" indent="-342720" algn="l" hangingPunct="1">
              <a:lnSpc>
                <a:spcPct val="100000"/>
              </a:lnSpc>
              <a:spcBef>
                <a:spcPts val="799"/>
              </a:spcBef>
              <a:spcAft>
                <a:spcPts val="0"/>
              </a:spcAft>
              <a:buClr>
                <a:srgbClr val="CC3300"/>
              </a:buClr>
              <a:buSzPct val="60000"/>
              <a:buFont typeface="Wingdings" pitchFamily="2"/>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en-US" sz="3200" b="0" i="0" u="none" strike="noStrike" baseline="0">
                <a:ln>
                  <a:noFill/>
                </a:ln>
                <a:solidFill>
                  <a:srgbClr val="000000"/>
                </a:solidFill>
                <a:latin typeface="Tahoma" pitchFamily="34"/>
                <a:ea typeface="DejaVu Sans" pitchFamily="2"/>
                <a:cs typeface="DejaVu Sans" pitchFamily="2"/>
              </a:defRPr>
            </a:lvl1pPr>
            <a:lvl2pPr marL="742680" marR="0" lvl="1" indent="-285480" algn="l" hangingPunct="1">
              <a:lnSpc>
                <a:spcPct val="100000"/>
              </a:lnSpc>
              <a:spcBef>
                <a:spcPts val="697"/>
              </a:spcBef>
              <a:spcAft>
                <a:spcPts val="0"/>
              </a:spcAft>
              <a:buClr>
                <a:srgbClr val="3333CC"/>
              </a:buClr>
              <a:buSzPct val="55000"/>
              <a:buFont typeface="Wingdings" pitchFamily="2"/>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en-US" sz="2800" b="0" i="0" u="none" strike="noStrike" baseline="0">
                <a:ln>
                  <a:noFill/>
                </a:ln>
                <a:solidFill>
                  <a:srgbClr val="000000"/>
                </a:solidFill>
                <a:latin typeface="Tahoma" pitchFamily="34"/>
                <a:ea typeface="DejaVu Sans" pitchFamily="2"/>
                <a:cs typeface="DejaVu Sans" pitchFamily="2"/>
              </a:defRPr>
            </a:lvl2pPr>
            <a:lvl3pPr marL="1143000" marR="0" lvl="2" indent="-228600" algn="l" hangingPunct="1">
              <a:lnSpc>
                <a:spcPct val="100000"/>
              </a:lnSpc>
              <a:spcBef>
                <a:spcPts val="598"/>
              </a:spcBef>
              <a:spcAft>
                <a:spcPts val="0"/>
              </a:spcAft>
              <a:buClr>
                <a:srgbClr val="FF3300"/>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 pos="8915399" algn="l"/>
              </a:tabLst>
              <a:defRPr lang="en-US" sz="2400" b="0" i="0" u="none" strike="noStrike" baseline="0">
                <a:ln>
                  <a:noFill/>
                </a:ln>
                <a:solidFill>
                  <a:srgbClr val="000000"/>
                </a:solidFill>
                <a:latin typeface="Tahoma" pitchFamily="34"/>
                <a:ea typeface="DejaVu Sans" pitchFamily="2"/>
                <a:cs typeface="DejaVu Sans" pitchFamily="2"/>
              </a:defRPr>
            </a:lvl3pPr>
            <a:lvl4pPr marL="1600199" marR="0" lvl="3" indent="-228600" algn="l" hangingPunct="1">
              <a:lnSpc>
                <a:spcPct val="100000"/>
              </a:lnSpc>
              <a:spcBef>
                <a:spcPts val="499"/>
              </a:spcBef>
              <a:spcAft>
                <a:spcPts val="0"/>
              </a:spcAft>
              <a:buClr>
                <a:srgbClr val="FFCF01"/>
              </a:buClr>
              <a:buSzPct val="55000"/>
              <a:buFont typeface="Wingdings" pitchFamily="2"/>
              <a:buChar char=""/>
              <a:tabLst>
                <a:tab pos="228600" algn="l"/>
                <a:tab pos="1143000" algn="l"/>
                <a:tab pos="2057400" algn="l"/>
                <a:tab pos="2971800" algn="l"/>
                <a:tab pos="3886200" algn="l"/>
                <a:tab pos="4800600" algn="l"/>
                <a:tab pos="5715000" algn="l"/>
                <a:tab pos="6629400" algn="l"/>
                <a:tab pos="7543799" algn="l"/>
                <a:tab pos="8458200" algn="l"/>
              </a:tabLst>
              <a:defRPr lang="en-US" sz="2000" b="0" i="0" u="none" strike="noStrike" baseline="0">
                <a:ln>
                  <a:noFill/>
                </a:ln>
                <a:solidFill>
                  <a:srgbClr val="000000"/>
                </a:solidFill>
                <a:latin typeface="Tahoma" pitchFamily="34"/>
                <a:ea typeface="DejaVu Sans" pitchFamily="2"/>
                <a:cs typeface="DejaVu Sans" pitchFamily="2"/>
              </a:defRPr>
            </a:lvl4pPr>
            <a:lvl5pPr marL="2057400" marR="0" lvl="4"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5pPr>
            <a:lvl6pPr marL="2057400" marR="0" lvl="5"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6pPr>
            <a:lvl7pPr marL="2057400" marR="0" lvl="6"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7pPr>
            <a:lvl8pPr marL="2057400" marR="0" lvl="7"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8pPr>
            <a:lvl9pPr marL="2057400" marR="0" lvl="8" indent="-228600" algn="l" hangingPunct="1">
              <a:lnSpc>
                <a:spcPct val="100000"/>
              </a:lnSpc>
              <a:spcBef>
                <a:spcPts val="499"/>
              </a:spcBef>
              <a:spcAft>
                <a:spcPts val="0"/>
              </a:spcAft>
              <a:buClr>
                <a:srgbClr val="00E4A8"/>
              </a:buClr>
              <a:buSzPct val="50000"/>
              <a:buFont typeface="Wingdings" pitchFamily="2"/>
              <a:buChar char=""/>
              <a:tabLst>
                <a:tab pos="685799" algn="l"/>
                <a:tab pos="1600200" algn="l"/>
                <a:tab pos="2514600" algn="l"/>
                <a:tab pos="3429000" algn="l"/>
                <a:tab pos="4343400" algn="l"/>
                <a:tab pos="5257800" algn="l"/>
                <a:tab pos="6172200" algn="l"/>
                <a:tab pos="7086600" algn="l"/>
                <a:tab pos="8000999" algn="l"/>
              </a:tabLst>
              <a:defRPr lang="en-US" sz="2000" b="0" i="0" u="none" strike="noStrike" baseline="0">
                <a:ln>
                  <a:noFill/>
                </a:ln>
                <a:solidFill>
                  <a:srgbClr val="000000"/>
                </a:solidFill>
                <a:latin typeface="Tahoma" pitchFamily="34"/>
                <a:ea typeface="DejaVu Sans" pitchFamily="2"/>
                <a:cs typeface="DejaVu Sans" pitchFamily="2"/>
              </a:defRPr>
            </a:lvl9pPr>
          </a:lstStyle>
          <a:p>
            <a:pPr marL="180975" indent="-180975">
              <a:lnSpc>
                <a:spcPct val="90000"/>
              </a:lnSpc>
              <a:spcBef>
                <a:spcPts val="349"/>
              </a:spcBef>
              <a:buNone/>
              <a:defRPr/>
            </a:pPr>
            <a:r>
              <a:rPr lang="en-US" sz="800" kern="0" dirty="0"/>
              <a:t>[1] IEEE Vehicular Technology Society, "</a:t>
            </a:r>
            <a:r>
              <a:rPr lang="en-US" sz="800" b="1" kern="0" dirty="0"/>
              <a:t>IEEE 1609.4 (Multi-channel Operation)</a:t>
            </a:r>
            <a:r>
              <a:rPr lang="en-US" sz="800" kern="0" dirty="0"/>
              <a:t>," IEEE Std, November, 2006</a:t>
            </a:r>
          </a:p>
        </p:txBody>
      </p:sp>
      <p:cxnSp>
        <p:nvCxnSpPr>
          <p:cNvPr id="20" name="Gerade Verbindung 19"/>
          <p:cNvCxnSpPr/>
          <p:nvPr/>
        </p:nvCxnSpPr>
        <p:spPr bwMode="auto">
          <a:xfrm rot="5400000">
            <a:off x="1371203" y="5180409"/>
            <a:ext cx="1067594" cy="1588"/>
          </a:xfrm>
          <a:prstGeom prst="line">
            <a:avLst/>
          </a:prstGeom>
          <a:solidFill>
            <a:schemeClr val="accent1"/>
          </a:solidFill>
          <a:ln w="19050" cap="flat" cmpd="sng" algn="ctr">
            <a:solidFill>
              <a:schemeClr val="tx1"/>
            </a:solidFill>
            <a:prstDash val="dash"/>
            <a:round/>
            <a:headEnd type="none" w="med" len="med"/>
            <a:tailEnd type="none" w="med" len="med"/>
          </a:ln>
          <a:effectLst/>
        </p:spPr>
      </p:cxnSp>
      <p:sp>
        <p:nvSpPr>
          <p:cNvPr id="23" name="Textfeld 22"/>
          <p:cNvSpPr txBox="1"/>
          <p:nvPr/>
        </p:nvSpPr>
        <p:spPr>
          <a:xfrm>
            <a:off x="1905000" y="5361057"/>
            <a:ext cx="1146468" cy="369332"/>
          </a:xfrm>
          <a:prstGeom prst="rect">
            <a:avLst/>
          </a:prstGeom>
          <a:noFill/>
        </p:spPr>
        <p:txBody>
          <a:bodyPr wrap="none" rtlCol="0" anchor="ctr">
            <a:spAutoFit/>
          </a:bodyPr>
          <a:lstStyle/>
          <a:p>
            <a:pPr algn="l"/>
            <a:r>
              <a:rPr lang="en-US" dirty="0"/>
              <a:t>t = n × 1s</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90</a:t>
            </a:fld>
            <a:endParaRPr lang="en-US" dirty="0">
              <a:solidFill>
                <a:prstClr val="black"/>
              </a:solidFill>
            </a:endParaRPr>
          </a:p>
        </p:txBody>
      </p:sp>
    </p:spTree>
    <p:extLst>
      <p:ext uri="{BB962C8B-B14F-4D97-AF65-F5344CB8AC3E}">
        <p14:creationId xmlns:p14="http://schemas.microsoft.com/office/powerpoint/2010/main" val="50747181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1249904"/>
          </a:xfrm>
        </p:spPr>
        <p:txBody>
          <a:bodyPr>
            <a:normAutofit fontScale="62500" lnSpcReduction="20000"/>
          </a:bodyPr>
          <a:lstStyle/>
          <a:p>
            <a:r>
              <a:rPr lang="en-US" dirty="0"/>
              <a:t>Packet transmission</a:t>
            </a:r>
          </a:p>
          <a:p>
            <a:pPr lvl="1"/>
            <a:r>
              <a:rPr lang="en-US" dirty="0"/>
              <a:t>Sort into AC queue, based on WSMP (or IPv6) EtherType field, destination channel, and user priority</a:t>
            </a:r>
          </a:p>
          <a:p>
            <a:pPr lvl="1"/>
            <a:r>
              <a:rPr lang="en-US" dirty="0"/>
              <a:t>Switch to desired channel, setup PHY power and data rate</a:t>
            </a:r>
          </a:p>
          <a:p>
            <a:pPr lvl="1"/>
            <a:r>
              <a:rPr lang="en-US" dirty="0"/>
              <a:t>Start medium access</a:t>
            </a:r>
          </a:p>
        </p:txBody>
      </p:sp>
      <p:grpSp>
        <p:nvGrpSpPr>
          <p:cNvPr id="144" name="Gruppierung 143"/>
          <p:cNvGrpSpPr/>
          <p:nvPr/>
        </p:nvGrpSpPr>
        <p:grpSpPr>
          <a:xfrm>
            <a:off x="1524000" y="2908298"/>
            <a:ext cx="6184900" cy="3340102"/>
            <a:chOff x="1943100" y="2603498"/>
            <a:chExt cx="6184900" cy="3340102"/>
          </a:xfrm>
        </p:grpSpPr>
        <p:sp>
          <p:nvSpPr>
            <p:cNvPr id="135" name="Rechteck 134"/>
            <p:cNvSpPr/>
            <p:nvPr/>
          </p:nvSpPr>
          <p:spPr bwMode="auto">
            <a:xfrm>
              <a:off x="3238500" y="4330698"/>
              <a:ext cx="762000" cy="1612902"/>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CCH</a:t>
              </a:r>
              <a:endParaRPr kumimoji="0" lang="de-DE" sz="1600" b="0" i="0" u="none" strike="noStrike" cap="none" normalizeH="0" baseline="0" dirty="0">
                <a:ln>
                  <a:noFill/>
                </a:ln>
                <a:solidFill>
                  <a:schemeClr val="tx1"/>
                </a:solidFill>
                <a:effectLst/>
                <a:latin typeface="Futura Hv BT" pitchFamily="32" charset="0"/>
              </a:endParaRPr>
            </a:p>
          </p:txBody>
        </p:sp>
        <p:sp>
          <p:nvSpPr>
            <p:cNvPr id="134" name="Rechteck 133"/>
            <p:cNvSpPr/>
            <p:nvPr/>
          </p:nvSpPr>
          <p:spPr bwMode="auto">
            <a:xfrm>
              <a:off x="3238500" y="2603498"/>
              <a:ext cx="762000" cy="1612902"/>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SCH</a:t>
              </a:r>
              <a:endParaRPr kumimoji="0" lang="de-DE" sz="1600" b="0" i="0" u="none" strike="noStrike" cap="none" normalizeH="0" baseline="0" dirty="0">
                <a:ln>
                  <a:noFill/>
                </a:ln>
                <a:solidFill>
                  <a:schemeClr val="tx1"/>
                </a:solidFill>
                <a:effectLst/>
                <a:latin typeface="Futura Hv BT" pitchFamily="32" charset="0"/>
              </a:endParaRPr>
            </a:p>
          </p:txBody>
        </p:sp>
        <p:sp>
          <p:nvSpPr>
            <p:cNvPr id="21" name="Rechteck 20"/>
            <p:cNvSpPr/>
            <p:nvPr/>
          </p:nvSpPr>
          <p:spPr bwMode="auto">
            <a:xfrm>
              <a:off x="4839855"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2" name="Rechteck 21"/>
            <p:cNvSpPr/>
            <p:nvPr/>
          </p:nvSpPr>
          <p:spPr bwMode="auto">
            <a:xfrm>
              <a:off x="4882573"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4" name="Rechteck 23"/>
            <p:cNvSpPr/>
            <p:nvPr/>
          </p:nvSpPr>
          <p:spPr bwMode="auto">
            <a:xfrm>
              <a:off x="4925291"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5" name="Rechteck 24"/>
            <p:cNvSpPr/>
            <p:nvPr/>
          </p:nvSpPr>
          <p:spPr bwMode="auto">
            <a:xfrm>
              <a:off x="4968009"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6" name="Rechteck 25"/>
            <p:cNvSpPr/>
            <p:nvPr/>
          </p:nvSpPr>
          <p:spPr bwMode="auto">
            <a:xfrm>
              <a:off x="5010727"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7" name="Rechteck 26"/>
            <p:cNvSpPr/>
            <p:nvPr/>
          </p:nvSpPr>
          <p:spPr bwMode="auto">
            <a:xfrm>
              <a:off x="5053445"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8" name="Rechteck 27"/>
            <p:cNvSpPr/>
            <p:nvPr/>
          </p:nvSpPr>
          <p:spPr bwMode="auto">
            <a:xfrm>
              <a:off x="5096164"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29" name="Rechteck 28"/>
            <p:cNvSpPr/>
            <p:nvPr/>
          </p:nvSpPr>
          <p:spPr bwMode="auto">
            <a:xfrm>
              <a:off x="5138882"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0" name="Rechteck 29"/>
            <p:cNvSpPr/>
            <p:nvPr/>
          </p:nvSpPr>
          <p:spPr bwMode="auto">
            <a:xfrm>
              <a:off x="5181600" y="26972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1" name="Rechteck 30"/>
            <p:cNvSpPr/>
            <p:nvPr/>
          </p:nvSpPr>
          <p:spPr bwMode="auto">
            <a:xfrm>
              <a:off x="4540827" y="295355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2" name="Rechteck 31"/>
            <p:cNvSpPr/>
            <p:nvPr/>
          </p:nvSpPr>
          <p:spPr bwMode="auto">
            <a:xfrm>
              <a:off x="4540827" y="262889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3" name="Rechteck 32"/>
            <p:cNvSpPr/>
            <p:nvPr/>
          </p:nvSpPr>
          <p:spPr bwMode="auto">
            <a:xfrm rot="5400000">
              <a:off x="5104708" y="279122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4" name="Rechteck 33"/>
            <p:cNvSpPr/>
            <p:nvPr/>
          </p:nvSpPr>
          <p:spPr bwMode="auto">
            <a:xfrm>
              <a:off x="3771900" y="2654528"/>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35" name="Rechteck 34"/>
            <p:cNvSpPr/>
            <p:nvPr/>
          </p:nvSpPr>
          <p:spPr bwMode="auto">
            <a:xfrm>
              <a:off x="4882573"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6" name="Rechteck 35"/>
            <p:cNvSpPr/>
            <p:nvPr/>
          </p:nvSpPr>
          <p:spPr bwMode="auto">
            <a:xfrm>
              <a:off x="4925291"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7" name="Rechteck 36"/>
            <p:cNvSpPr/>
            <p:nvPr/>
          </p:nvSpPr>
          <p:spPr bwMode="auto">
            <a:xfrm>
              <a:off x="4968009"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8" name="Rechteck 37"/>
            <p:cNvSpPr/>
            <p:nvPr/>
          </p:nvSpPr>
          <p:spPr bwMode="auto">
            <a:xfrm>
              <a:off x="5010727"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39" name="Rechteck 38"/>
            <p:cNvSpPr/>
            <p:nvPr/>
          </p:nvSpPr>
          <p:spPr bwMode="auto">
            <a:xfrm>
              <a:off x="5053445"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0" name="Rechteck 39"/>
            <p:cNvSpPr/>
            <p:nvPr/>
          </p:nvSpPr>
          <p:spPr bwMode="auto">
            <a:xfrm>
              <a:off x="5096164"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1" name="Rechteck 40"/>
            <p:cNvSpPr/>
            <p:nvPr/>
          </p:nvSpPr>
          <p:spPr bwMode="auto">
            <a:xfrm>
              <a:off x="5138882"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2" name="Rechteck 41"/>
            <p:cNvSpPr/>
            <p:nvPr/>
          </p:nvSpPr>
          <p:spPr bwMode="auto">
            <a:xfrm>
              <a:off x="5181600" y="30987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3" name="Rechteck 42"/>
            <p:cNvSpPr/>
            <p:nvPr/>
          </p:nvSpPr>
          <p:spPr bwMode="auto">
            <a:xfrm>
              <a:off x="4540827" y="335510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4" name="Rechteck 43"/>
            <p:cNvSpPr/>
            <p:nvPr/>
          </p:nvSpPr>
          <p:spPr bwMode="auto">
            <a:xfrm>
              <a:off x="4540827" y="303044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5" name="Rechteck 44"/>
            <p:cNvSpPr/>
            <p:nvPr/>
          </p:nvSpPr>
          <p:spPr bwMode="auto">
            <a:xfrm rot="5400000">
              <a:off x="5104708" y="319277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6" name="Rechteck 45"/>
            <p:cNvSpPr/>
            <p:nvPr/>
          </p:nvSpPr>
          <p:spPr bwMode="auto">
            <a:xfrm>
              <a:off x="3771900" y="305607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47" name="Rechteck 46"/>
            <p:cNvSpPr/>
            <p:nvPr/>
          </p:nvSpPr>
          <p:spPr bwMode="auto">
            <a:xfrm>
              <a:off x="4925291"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8" name="Rechteck 47"/>
            <p:cNvSpPr/>
            <p:nvPr/>
          </p:nvSpPr>
          <p:spPr bwMode="auto">
            <a:xfrm>
              <a:off x="4968009"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49" name="Rechteck 48"/>
            <p:cNvSpPr/>
            <p:nvPr/>
          </p:nvSpPr>
          <p:spPr bwMode="auto">
            <a:xfrm>
              <a:off x="5010727"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0" name="Rechteck 49"/>
            <p:cNvSpPr/>
            <p:nvPr/>
          </p:nvSpPr>
          <p:spPr bwMode="auto">
            <a:xfrm>
              <a:off x="5053445"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1" name="Rechteck 50"/>
            <p:cNvSpPr/>
            <p:nvPr/>
          </p:nvSpPr>
          <p:spPr bwMode="auto">
            <a:xfrm>
              <a:off x="5096164"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2" name="Rechteck 51"/>
            <p:cNvSpPr/>
            <p:nvPr/>
          </p:nvSpPr>
          <p:spPr bwMode="auto">
            <a:xfrm>
              <a:off x="5138882"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3" name="Rechteck 52"/>
            <p:cNvSpPr/>
            <p:nvPr/>
          </p:nvSpPr>
          <p:spPr bwMode="auto">
            <a:xfrm>
              <a:off x="5181600" y="350034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4" name="Rechteck 53"/>
            <p:cNvSpPr/>
            <p:nvPr/>
          </p:nvSpPr>
          <p:spPr bwMode="auto">
            <a:xfrm>
              <a:off x="4540827" y="3756656"/>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5" name="Rechteck 54"/>
            <p:cNvSpPr/>
            <p:nvPr/>
          </p:nvSpPr>
          <p:spPr bwMode="auto">
            <a:xfrm>
              <a:off x="4540827" y="343199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6" name="Rechteck 55"/>
            <p:cNvSpPr/>
            <p:nvPr/>
          </p:nvSpPr>
          <p:spPr bwMode="auto">
            <a:xfrm rot="5400000">
              <a:off x="5104708" y="3594328"/>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57" name="Rechteck 56"/>
            <p:cNvSpPr/>
            <p:nvPr/>
          </p:nvSpPr>
          <p:spPr bwMode="auto">
            <a:xfrm>
              <a:off x="3771900" y="345762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58" name="Gruppierung 83"/>
            <p:cNvGrpSpPr/>
            <p:nvPr/>
          </p:nvGrpSpPr>
          <p:grpSpPr>
            <a:xfrm>
              <a:off x="4327236" y="2697247"/>
              <a:ext cx="341745" cy="1418242"/>
              <a:chOff x="1905000" y="2910842"/>
              <a:chExt cx="609600" cy="2529837"/>
            </a:xfrm>
          </p:grpSpPr>
          <p:sp>
            <p:nvSpPr>
              <p:cNvPr id="73" name="Gestreifter Pfeil nach rechts 72"/>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4" name="Gestreifter Pfeil nach rechts 73"/>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5" name="Gestreifter Pfeil nach rechts 50"/>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6" name="Gestreifter Pfeil nach rechts 75"/>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59" name="Rechteck 58"/>
            <p:cNvSpPr/>
            <p:nvPr/>
          </p:nvSpPr>
          <p:spPr bwMode="auto">
            <a:xfrm>
              <a:off x="5096164"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0" name="Rechteck 59"/>
            <p:cNvSpPr/>
            <p:nvPr/>
          </p:nvSpPr>
          <p:spPr bwMode="auto">
            <a:xfrm>
              <a:off x="5138882"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1" name="Rechteck 60"/>
            <p:cNvSpPr/>
            <p:nvPr/>
          </p:nvSpPr>
          <p:spPr bwMode="auto">
            <a:xfrm>
              <a:off x="5181600" y="3901897"/>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2" name="Rechteck 61"/>
            <p:cNvSpPr/>
            <p:nvPr/>
          </p:nvSpPr>
          <p:spPr bwMode="auto">
            <a:xfrm>
              <a:off x="4540827" y="4158207"/>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3" name="Rechteck 62"/>
            <p:cNvSpPr/>
            <p:nvPr/>
          </p:nvSpPr>
          <p:spPr bwMode="auto">
            <a:xfrm>
              <a:off x="4540827" y="383354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4" name="Rechteck 63"/>
            <p:cNvSpPr/>
            <p:nvPr/>
          </p:nvSpPr>
          <p:spPr bwMode="auto">
            <a:xfrm rot="5400000">
              <a:off x="5104708" y="3995879"/>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65" name="Rechteck 64"/>
            <p:cNvSpPr/>
            <p:nvPr/>
          </p:nvSpPr>
          <p:spPr bwMode="auto">
            <a:xfrm>
              <a:off x="3771900" y="3859179"/>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66" name="Gruppierung 82"/>
            <p:cNvGrpSpPr/>
            <p:nvPr/>
          </p:nvGrpSpPr>
          <p:grpSpPr>
            <a:xfrm>
              <a:off x="5352473" y="2697247"/>
              <a:ext cx="341745" cy="1418242"/>
              <a:chOff x="3810000" y="2895600"/>
              <a:chExt cx="609600" cy="2529837"/>
            </a:xfrm>
          </p:grpSpPr>
          <p:sp>
            <p:nvSpPr>
              <p:cNvPr id="69" name="Gestreifter Pfeil nach rechts 68"/>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0" name="Gestreifter Pfeil nach rechts 69"/>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1" name="Gestreifter Pfeil nach rechts 70"/>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2" name="Gestreifter Pfeil nach rechts 71"/>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67" name="Rechteck 66"/>
            <p:cNvSpPr/>
            <p:nvPr/>
          </p:nvSpPr>
          <p:spPr bwMode="auto">
            <a:xfrm>
              <a:off x="5736936" y="2654528"/>
              <a:ext cx="469900" cy="150367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 Collision</a:t>
              </a:r>
            </a:p>
          </p:txBody>
        </p:sp>
        <p:sp>
          <p:nvSpPr>
            <p:cNvPr id="68" name="Gestreifter Pfeil nach rechts 67"/>
            <p:cNvSpPr/>
            <p:nvPr/>
          </p:nvSpPr>
          <p:spPr bwMode="auto">
            <a:xfrm>
              <a:off x="6249555" y="3299571"/>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8" name="Rechteck 77"/>
            <p:cNvSpPr/>
            <p:nvPr/>
          </p:nvSpPr>
          <p:spPr bwMode="auto">
            <a:xfrm>
              <a:off x="4839855"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79" name="Rechteck 78"/>
            <p:cNvSpPr/>
            <p:nvPr/>
          </p:nvSpPr>
          <p:spPr bwMode="auto">
            <a:xfrm>
              <a:off x="4882573"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0" name="Rechteck 79"/>
            <p:cNvSpPr/>
            <p:nvPr/>
          </p:nvSpPr>
          <p:spPr bwMode="auto">
            <a:xfrm>
              <a:off x="4925291"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1" name="Rechteck 80"/>
            <p:cNvSpPr/>
            <p:nvPr/>
          </p:nvSpPr>
          <p:spPr bwMode="auto">
            <a:xfrm>
              <a:off x="4968009"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2" name="Rechteck 81"/>
            <p:cNvSpPr/>
            <p:nvPr/>
          </p:nvSpPr>
          <p:spPr bwMode="auto">
            <a:xfrm>
              <a:off x="5010727"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3" name="Rechteck 82"/>
            <p:cNvSpPr/>
            <p:nvPr/>
          </p:nvSpPr>
          <p:spPr bwMode="auto">
            <a:xfrm>
              <a:off x="5053445"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4" name="Rechteck 83"/>
            <p:cNvSpPr/>
            <p:nvPr/>
          </p:nvSpPr>
          <p:spPr bwMode="auto">
            <a:xfrm>
              <a:off x="5096164"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5" name="Rechteck 84"/>
            <p:cNvSpPr/>
            <p:nvPr/>
          </p:nvSpPr>
          <p:spPr bwMode="auto">
            <a:xfrm>
              <a:off x="5138882"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6" name="Rechteck 85"/>
            <p:cNvSpPr/>
            <p:nvPr/>
          </p:nvSpPr>
          <p:spPr bwMode="auto">
            <a:xfrm>
              <a:off x="5181600" y="44117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7" name="Rechteck 86"/>
            <p:cNvSpPr/>
            <p:nvPr/>
          </p:nvSpPr>
          <p:spPr bwMode="auto">
            <a:xfrm>
              <a:off x="4540827" y="466805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8" name="Rechteck 87"/>
            <p:cNvSpPr/>
            <p:nvPr/>
          </p:nvSpPr>
          <p:spPr bwMode="auto">
            <a:xfrm>
              <a:off x="4540827" y="4343400"/>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89" name="Rechteck 88"/>
            <p:cNvSpPr/>
            <p:nvPr/>
          </p:nvSpPr>
          <p:spPr bwMode="auto">
            <a:xfrm rot="5400000">
              <a:off x="5104708" y="450573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0" name="Rechteck 89"/>
            <p:cNvSpPr/>
            <p:nvPr/>
          </p:nvSpPr>
          <p:spPr bwMode="auto">
            <a:xfrm>
              <a:off x="3771900" y="4369030"/>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AC0</a:t>
              </a:r>
            </a:p>
          </p:txBody>
        </p:sp>
        <p:sp>
          <p:nvSpPr>
            <p:cNvPr id="91" name="Rechteck 90"/>
            <p:cNvSpPr/>
            <p:nvPr/>
          </p:nvSpPr>
          <p:spPr bwMode="auto">
            <a:xfrm>
              <a:off x="4882573"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2" name="Rechteck 91"/>
            <p:cNvSpPr/>
            <p:nvPr/>
          </p:nvSpPr>
          <p:spPr bwMode="auto">
            <a:xfrm>
              <a:off x="4925291"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3" name="Rechteck 92"/>
            <p:cNvSpPr/>
            <p:nvPr/>
          </p:nvSpPr>
          <p:spPr bwMode="auto">
            <a:xfrm>
              <a:off x="4968009"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4" name="Rechteck 93"/>
            <p:cNvSpPr/>
            <p:nvPr/>
          </p:nvSpPr>
          <p:spPr bwMode="auto">
            <a:xfrm>
              <a:off x="5010727"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5" name="Rechteck 94"/>
            <p:cNvSpPr/>
            <p:nvPr/>
          </p:nvSpPr>
          <p:spPr bwMode="auto">
            <a:xfrm>
              <a:off x="5053445"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6" name="Rechteck 95"/>
            <p:cNvSpPr/>
            <p:nvPr/>
          </p:nvSpPr>
          <p:spPr bwMode="auto">
            <a:xfrm>
              <a:off x="5096164"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7" name="Rechteck 96"/>
            <p:cNvSpPr/>
            <p:nvPr/>
          </p:nvSpPr>
          <p:spPr bwMode="auto">
            <a:xfrm>
              <a:off x="5138882"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8" name="Rechteck 97"/>
            <p:cNvSpPr/>
            <p:nvPr/>
          </p:nvSpPr>
          <p:spPr bwMode="auto">
            <a:xfrm>
              <a:off x="5181600" y="48132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99" name="Rechteck 98"/>
            <p:cNvSpPr/>
            <p:nvPr/>
          </p:nvSpPr>
          <p:spPr bwMode="auto">
            <a:xfrm>
              <a:off x="4540827" y="506960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0" name="Rechteck 99"/>
            <p:cNvSpPr/>
            <p:nvPr/>
          </p:nvSpPr>
          <p:spPr bwMode="auto">
            <a:xfrm>
              <a:off x="4540827" y="4744950"/>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1" name="Rechteck 100"/>
            <p:cNvSpPr/>
            <p:nvPr/>
          </p:nvSpPr>
          <p:spPr bwMode="auto">
            <a:xfrm rot="5400000">
              <a:off x="5104708" y="490728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2" name="Rechteck 101"/>
            <p:cNvSpPr/>
            <p:nvPr/>
          </p:nvSpPr>
          <p:spPr bwMode="auto">
            <a:xfrm>
              <a:off x="3771900" y="477058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AC1</a:t>
              </a:r>
            </a:p>
          </p:txBody>
        </p:sp>
        <p:sp>
          <p:nvSpPr>
            <p:cNvPr id="103" name="Rechteck 102"/>
            <p:cNvSpPr/>
            <p:nvPr/>
          </p:nvSpPr>
          <p:spPr bwMode="auto">
            <a:xfrm>
              <a:off x="4925291"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4" name="Rechteck 103"/>
            <p:cNvSpPr/>
            <p:nvPr/>
          </p:nvSpPr>
          <p:spPr bwMode="auto">
            <a:xfrm>
              <a:off x="4968009"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5" name="Rechteck 104"/>
            <p:cNvSpPr/>
            <p:nvPr/>
          </p:nvSpPr>
          <p:spPr bwMode="auto">
            <a:xfrm>
              <a:off x="5010727"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6" name="Rechteck 105"/>
            <p:cNvSpPr/>
            <p:nvPr/>
          </p:nvSpPr>
          <p:spPr bwMode="auto">
            <a:xfrm>
              <a:off x="5053445"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7" name="Rechteck 106"/>
            <p:cNvSpPr/>
            <p:nvPr/>
          </p:nvSpPr>
          <p:spPr bwMode="auto">
            <a:xfrm>
              <a:off x="5096164"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8" name="Rechteck 107"/>
            <p:cNvSpPr/>
            <p:nvPr/>
          </p:nvSpPr>
          <p:spPr bwMode="auto">
            <a:xfrm>
              <a:off x="5138882"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09" name="Rechteck 108"/>
            <p:cNvSpPr/>
            <p:nvPr/>
          </p:nvSpPr>
          <p:spPr bwMode="auto">
            <a:xfrm>
              <a:off x="5181600" y="521484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0" name="Rechteck 109"/>
            <p:cNvSpPr/>
            <p:nvPr/>
          </p:nvSpPr>
          <p:spPr bwMode="auto">
            <a:xfrm>
              <a:off x="4540827" y="5471158"/>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1" name="Rechteck 110"/>
            <p:cNvSpPr/>
            <p:nvPr/>
          </p:nvSpPr>
          <p:spPr bwMode="auto">
            <a:xfrm>
              <a:off x="4540827" y="5146501"/>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2" name="Rechteck 111"/>
            <p:cNvSpPr/>
            <p:nvPr/>
          </p:nvSpPr>
          <p:spPr bwMode="auto">
            <a:xfrm rot="5400000">
              <a:off x="5104708" y="5308830"/>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3" name="Rechteck 112"/>
            <p:cNvSpPr/>
            <p:nvPr/>
          </p:nvSpPr>
          <p:spPr bwMode="auto">
            <a:xfrm>
              <a:off x="3771900" y="517213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AC2</a:t>
              </a:r>
            </a:p>
          </p:txBody>
        </p:sp>
        <p:grpSp>
          <p:nvGrpSpPr>
            <p:cNvPr id="114" name="Gruppierung 83"/>
            <p:cNvGrpSpPr/>
            <p:nvPr/>
          </p:nvGrpSpPr>
          <p:grpSpPr>
            <a:xfrm>
              <a:off x="4327236" y="4411749"/>
              <a:ext cx="341745" cy="1418242"/>
              <a:chOff x="1905000" y="2910842"/>
              <a:chExt cx="609600" cy="2529837"/>
            </a:xfrm>
          </p:grpSpPr>
          <p:sp>
            <p:nvSpPr>
              <p:cNvPr id="129" name="Gestreifter Pfeil nach rechts 128"/>
              <p:cNvSpPr/>
              <p:nvPr/>
            </p:nvSpPr>
            <p:spPr bwMode="auto">
              <a:xfrm>
                <a:off x="1905000" y="2910842"/>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0" name="Gestreifter Pfeil nach rechts 129"/>
              <p:cNvSpPr/>
              <p:nvPr/>
            </p:nvSpPr>
            <p:spPr bwMode="auto">
              <a:xfrm>
                <a:off x="1905000" y="3627121"/>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1" name="Gestreifter Pfeil nach rechts 50"/>
              <p:cNvSpPr/>
              <p:nvPr/>
            </p:nvSpPr>
            <p:spPr bwMode="auto">
              <a:xfrm>
                <a:off x="1905000" y="43434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2" name="Gestreifter Pfeil nach rechts 131"/>
              <p:cNvSpPr/>
              <p:nvPr/>
            </p:nvSpPr>
            <p:spPr bwMode="auto">
              <a:xfrm>
                <a:off x="1905000" y="50596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115" name="Rechteck 114"/>
            <p:cNvSpPr/>
            <p:nvPr/>
          </p:nvSpPr>
          <p:spPr bwMode="auto">
            <a:xfrm>
              <a:off x="5096164"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6" name="Rechteck 115"/>
            <p:cNvSpPr/>
            <p:nvPr/>
          </p:nvSpPr>
          <p:spPr bwMode="auto">
            <a:xfrm>
              <a:off x="5138882"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7" name="Rechteck 116"/>
            <p:cNvSpPr/>
            <p:nvPr/>
          </p:nvSpPr>
          <p:spPr bwMode="auto">
            <a:xfrm>
              <a:off x="5181600" y="5616399"/>
              <a:ext cx="42718" cy="213591"/>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8" name="Rechteck 117"/>
            <p:cNvSpPr/>
            <p:nvPr/>
          </p:nvSpPr>
          <p:spPr bwMode="auto">
            <a:xfrm>
              <a:off x="4540827" y="5872709"/>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19" name="Rechteck 118"/>
            <p:cNvSpPr/>
            <p:nvPr/>
          </p:nvSpPr>
          <p:spPr bwMode="auto">
            <a:xfrm>
              <a:off x="4540827" y="5548051"/>
              <a:ext cx="726209"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0" name="Rechteck 119"/>
            <p:cNvSpPr/>
            <p:nvPr/>
          </p:nvSpPr>
          <p:spPr bwMode="auto">
            <a:xfrm rot="5400000">
              <a:off x="5104708" y="5710381"/>
              <a:ext cx="350288" cy="25630"/>
            </a:xfrm>
            <a:prstGeom prst="rect">
              <a:avLst/>
            </a:prstGeom>
            <a:ln>
              <a:headEnd type="none" w="med" len="med"/>
              <a:tailEnd type="triangle" w="med" len="med"/>
            </a:ln>
          </p:spPr>
          <p:style>
            <a:lnRef idx="2">
              <a:schemeClr val="accent4">
                <a:shade val="50000"/>
              </a:schemeClr>
            </a:lnRef>
            <a:fillRef idx="1">
              <a:schemeClr val="accent4"/>
            </a:fillRef>
            <a:effectRef idx="0">
              <a:schemeClr val="accent4"/>
            </a:effectRef>
            <a:fontRef idx="minor">
              <a:schemeClr val="lt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1" name="Rechteck 120"/>
            <p:cNvSpPr/>
            <p:nvPr/>
          </p:nvSpPr>
          <p:spPr bwMode="auto">
            <a:xfrm>
              <a:off x="3771900" y="5573681"/>
              <a:ext cx="469900" cy="299027"/>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dirty="0">
                  <a:ln>
                    <a:noFill/>
                  </a:ln>
                  <a:solidFill>
                    <a:schemeClr val="tx1"/>
                  </a:solidFill>
                  <a:effectLst/>
                  <a:latin typeface="Futura Hv BT" pitchFamily="32" charset="0"/>
                </a:rPr>
                <a:t>AC3</a:t>
              </a:r>
            </a:p>
          </p:txBody>
        </p:sp>
        <p:grpSp>
          <p:nvGrpSpPr>
            <p:cNvPr id="122" name="Gruppierung 82"/>
            <p:cNvGrpSpPr/>
            <p:nvPr/>
          </p:nvGrpSpPr>
          <p:grpSpPr>
            <a:xfrm>
              <a:off x="5352473" y="4411749"/>
              <a:ext cx="341745" cy="1418242"/>
              <a:chOff x="3810000" y="2895600"/>
              <a:chExt cx="609600" cy="2529837"/>
            </a:xfrm>
          </p:grpSpPr>
          <p:sp>
            <p:nvSpPr>
              <p:cNvPr id="125" name="Gestreifter Pfeil nach rechts 124"/>
              <p:cNvSpPr/>
              <p:nvPr/>
            </p:nvSpPr>
            <p:spPr bwMode="auto">
              <a:xfrm>
                <a:off x="3810000" y="2895600"/>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6" name="Gestreifter Pfeil nach rechts 125"/>
              <p:cNvSpPr/>
              <p:nvPr/>
            </p:nvSpPr>
            <p:spPr bwMode="auto">
              <a:xfrm>
                <a:off x="3810000" y="3611879"/>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7" name="Gestreifter Pfeil nach rechts 126"/>
              <p:cNvSpPr/>
              <p:nvPr/>
            </p:nvSpPr>
            <p:spPr bwMode="auto">
              <a:xfrm>
                <a:off x="3810000" y="4328158"/>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28" name="Gestreifter Pfeil nach rechts 127"/>
              <p:cNvSpPr/>
              <p:nvPr/>
            </p:nvSpPr>
            <p:spPr bwMode="auto">
              <a:xfrm>
                <a:off x="3810000" y="5044437"/>
                <a:ext cx="609600" cy="381000"/>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grpSp>
        <p:sp>
          <p:nvSpPr>
            <p:cNvPr id="123" name="Rechteck 122"/>
            <p:cNvSpPr/>
            <p:nvPr/>
          </p:nvSpPr>
          <p:spPr bwMode="auto">
            <a:xfrm>
              <a:off x="5736936" y="4369030"/>
              <a:ext cx="469900" cy="1503678"/>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de-DE" sz="1600" b="0" i="0" u="none" strike="noStrike" cap="none" normalizeH="0" baseline="0" dirty="0">
                  <a:ln>
                    <a:noFill/>
                  </a:ln>
                  <a:solidFill>
                    <a:schemeClr val="tx1"/>
                  </a:solidFill>
                  <a:effectLst/>
                  <a:latin typeface="Futura Hv BT" pitchFamily="32" charset="0"/>
                </a:rPr>
                <a:t>virt. Collision</a:t>
              </a:r>
            </a:p>
          </p:txBody>
        </p:sp>
        <p:sp>
          <p:nvSpPr>
            <p:cNvPr id="124" name="Gestreifter Pfeil nach rechts 123"/>
            <p:cNvSpPr/>
            <p:nvPr/>
          </p:nvSpPr>
          <p:spPr bwMode="auto">
            <a:xfrm>
              <a:off x="6249555" y="5014073"/>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3" name="Rechteck 132"/>
            <p:cNvSpPr/>
            <p:nvPr/>
          </p:nvSpPr>
          <p:spPr bwMode="auto">
            <a:xfrm>
              <a:off x="2349500" y="2654529"/>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a:t>
              </a:r>
              <a:r>
                <a:rPr lang="de-DE" dirty="0" err="1">
                  <a:solidFill>
                    <a:schemeClr val="tx1"/>
                  </a:solidFill>
                  <a:latin typeface="Futura Hv BT" pitchFamily="32" charset="0"/>
                </a:rPr>
                <a:t>Router</a:t>
              </a:r>
              <a:endParaRPr kumimoji="0" lang="de-DE" sz="1600" b="0" i="0" u="none" strike="noStrike" cap="none" normalizeH="0" baseline="0" dirty="0">
                <a:ln>
                  <a:noFill/>
                </a:ln>
                <a:solidFill>
                  <a:schemeClr val="tx1"/>
                </a:solidFill>
                <a:effectLst/>
                <a:latin typeface="Futura Hv BT" pitchFamily="32" charset="0"/>
              </a:endParaRPr>
            </a:p>
          </p:txBody>
        </p:sp>
        <p:sp>
          <p:nvSpPr>
            <p:cNvPr id="136" name="Gestreifter Pfeil nach rechts 135"/>
            <p:cNvSpPr/>
            <p:nvPr/>
          </p:nvSpPr>
          <p:spPr bwMode="auto">
            <a:xfrm>
              <a:off x="2857500" y="3302000"/>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7" name="Gestreifter Pfeil nach rechts 136"/>
            <p:cNvSpPr/>
            <p:nvPr/>
          </p:nvSpPr>
          <p:spPr bwMode="auto">
            <a:xfrm>
              <a:off x="2857500" y="5016502"/>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8" name="Gestreifter Pfeil nach rechts 137"/>
            <p:cNvSpPr/>
            <p:nvPr/>
          </p:nvSpPr>
          <p:spPr bwMode="auto">
            <a:xfrm>
              <a:off x="1943100" y="4156824"/>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39" name="Rechteck 138"/>
            <p:cNvSpPr/>
            <p:nvPr/>
          </p:nvSpPr>
          <p:spPr bwMode="auto">
            <a:xfrm>
              <a:off x="6654800" y="2667000"/>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selection and setup</a:t>
              </a:r>
              <a:endParaRPr kumimoji="0" lang="de-DE" sz="1600" b="0" i="0" u="none" strike="noStrike" cap="none" normalizeH="0" baseline="0" dirty="0">
                <a:ln>
                  <a:noFill/>
                </a:ln>
                <a:solidFill>
                  <a:schemeClr val="tx1"/>
                </a:solidFill>
                <a:effectLst/>
                <a:latin typeface="Futura Hv BT" pitchFamily="32" charset="0"/>
              </a:endParaRPr>
            </a:p>
          </p:txBody>
        </p:sp>
        <p:sp>
          <p:nvSpPr>
            <p:cNvPr id="143" name="Gestreifter Pfeil nach rechts 142"/>
            <p:cNvSpPr/>
            <p:nvPr/>
          </p:nvSpPr>
          <p:spPr bwMode="auto">
            <a:xfrm>
              <a:off x="7202055" y="4152900"/>
              <a:ext cx="341745" cy="213591"/>
            </a:xfrm>
            <a:prstGeom prst="stripedRightArrow">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US" sz="1600" b="0" i="0" u="none" strike="noStrike" cap="none" normalizeH="0" baseline="0" dirty="0">
                <a:ln>
                  <a:noFill/>
                </a:ln>
                <a:solidFill>
                  <a:schemeClr val="tx1"/>
                </a:solidFill>
                <a:effectLst/>
                <a:latin typeface="Futura Hv BT" pitchFamily="32" charset="0"/>
              </a:endParaRPr>
            </a:p>
          </p:txBody>
        </p:sp>
        <p:sp>
          <p:nvSpPr>
            <p:cNvPr id="145" name="Rechteck 144"/>
            <p:cNvSpPr/>
            <p:nvPr/>
          </p:nvSpPr>
          <p:spPr bwMode="auto">
            <a:xfrm>
              <a:off x="7658100" y="2679698"/>
              <a:ext cx="469900" cy="321818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vert270"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de-DE" dirty="0">
                  <a:solidFill>
                    <a:schemeClr val="tx1"/>
                  </a:solidFill>
                  <a:latin typeface="Futura Hv BT" pitchFamily="32" charset="0"/>
                </a:rPr>
                <a:t>Channel access</a:t>
              </a:r>
              <a:endParaRPr kumimoji="0" lang="de-DE" sz="1600" b="0" i="0" u="none" strike="noStrike" cap="none" normalizeH="0" baseline="0" dirty="0">
                <a:ln>
                  <a:noFill/>
                </a:ln>
                <a:solidFill>
                  <a:schemeClr val="tx1"/>
                </a:solidFill>
                <a:effectLst/>
                <a:latin typeface="Futura Hv BT" pitchFamily="32" charset="0"/>
              </a:endParaRPr>
            </a:p>
          </p:txBody>
        </p: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91</a:t>
            </a:fld>
            <a:endParaRPr lang="en-US" dirty="0">
              <a:solidFill>
                <a:prstClr val="black"/>
              </a:solidFill>
            </a:endParaRPr>
          </a:p>
        </p:txBody>
      </p:sp>
    </p:spTree>
    <p:extLst>
      <p:ext uri="{BB962C8B-B14F-4D97-AF65-F5344CB8AC3E}">
        <p14:creationId xmlns:p14="http://schemas.microsoft.com/office/powerpoint/2010/main" val="217336527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p:txBody>
          <a:bodyPr/>
          <a:lstStyle/>
          <a:p>
            <a:r>
              <a:rPr lang="en-US" dirty="0"/>
              <a:t>Channel management</a:t>
            </a:r>
          </a:p>
          <a:p>
            <a:pPr lvl="1"/>
            <a:r>
              <a:rPr lang="en-US" dirty="0"/>
              <a:t>Control Channel (CCH):</a:t>
            </a:r>
          </a:p>
          <a:p>
            <a:pPr lvl="2"/>
            <a:r>
              <a:rPr lang="en-US" dirty="0"/>
              <a:t>Default channel upon initialization</a:t>
            </a:r>
          </a:p>
          <a:p>
            <a:pPr lvl="2"/>
            <a:r>
              <a:rPr lang="en-US" dirty="0"/>
              <a:t>BSM(Basic Safety Message), WAVE service advertisements (WSA)</a:t>
            </a:r>
          </a:p>
          <a:p>
            <a:pPr lvl="2"/>
            <a:r>
              <a:rPr lang="en-US" dirty="0"/>
              <a:t>Channel parameters take fixed values</a:t>
            </a:r>
          </a:p>
          <a:p>
            <a:pPr lvl="2"/>
            <a:endParaRPr lang="en-US" dirty="0"/>
          </a:p>
          <a:p>
            <a:pPr lvl="1"/>
            <a:r>
              <a:rPr lang="en-US" dirty="0"/>
              <a:t>Service Channel (SCH):</a:t>
            </a:r>
          </a:p>
          <a:p>
            <a:pPr lvl="2"/>
            <a:r>
              <a:rPr lang="en-US" dirty="0"/>
              <a:t>Only after joining WAVE BSS</a:t>
            </a:r>
          </a:p>
          <a:p>
            <a:pPr lvl="2"/>
            <a:r>
              <a:rPr lang="en-US" dirty="0"/>
              <a:t>WAVE short messages (WSM),</a:t>
            </a:r>
            <a:br>
              <a:rPr lang="en-US" dirty="0"/>
            </a:br>
            <a:r>
              <a:rPr lang="en-US" dirty="0"/>
              <a:t>IP data traffic (IPv6)</a:t>
            </a:r>
          </a:p>
          <a:p>
            <a:pPr lvl="2"/>
            <a:r>
              <a:rPr lang="en-US" dirty="0"/>
              <a:t>Channel parameters can be changed as needed</a:t>
            </a:r>
          </a:p>
        </p:txBody>
      </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92</a:t>
            </a:fld>
            <a:endParaRPr lang="en-US" dirty="0">
              <a:solidFill>
                <a:prstClr val="black"/>
              </a:solidFill>
            </a:endParaRPr>
          </a:p>
        </p:txBody>
      </p:sp>
    </p:spTree>
    <p:extLst>
      <p:ext uri="{BB962C8B-B14F-4D97-AF65-F5344CB8AC3E}">
        <p14:creationId xmlns:p14="http://schemas.microsoft.com/office/powerpoint/2010/main" val="413384125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IEEE 1609</a:t>
            </a:r>
          </a:p>
        </p:txBody>
      </p:sp>
      <p:sp>
        <p:nvSpPr>
          <p:cNvPr id="3" name="Inhaltsplatzhalter 2"/>
          <p:cNvSpPr>
            <a:spLocks noGrp="1"/>
          </p:cNvSpPr>
          <p:nvPr>
            <p:ph idx="1"/>
          </p:nvPr>
        </p:nvSpPr>
        <p:spPr>
          <a:xfrm>
            <a:off x="228600" y="1600200"/>
            <a:ext cx="8686800" cy="2217856"/>
          </a:xfrm>
        </p:spPr>
        <p:txBody>
          <a:bodyPr>
            <a:normAutofit fontScale="92500" lnSpcReduction="20000"/>
          </a:bodyPr>
          <a:lstStyle/>
          <a:p>
            <a:r>
              <a:rPr lang="en-US" dirty="0"/>
              <a:t>WAVE service advertisement (WSA)</a:t>
            </a:r>
          </a:p>
          <a:p>
            <a:pPr lvl="1"/>
            <a:r>
              <a:rPr lang="en-US" dirty="0"/>
              <a:t>Broadcast on Control Channel (CCH)</a:t>
            </a:r>
          </a:p>
          <a:p>
            <a:pPr lvl="1"/>
            <a:r>
              <a:rPr lang="en-US" dirty="0"/>
              <a:t>Identifies WAVE BSSs on Service Channels (SCHs)</a:t>
            </a:r>
          </a:p>
          <a:p>
            <a:pPr lvl="1"/>
            <a:r>
              <a:rPr lang="en-US" dirty="0"/>
              <a:t>Can be sent at arbitrary times, by arbitrary nodes</a:t>
            </a:r>
          </a:p>
          <a:p>
            <a:pPr lvl="1"/>
            <a:r>
              <a:rPr lang="en-US" dirty="0"/>
              <a:t>Only possibility to make others aware of data being sent on SCHs, as well as the required channel parameters to decode them</a:t>
            </a:r>
          </a:p>
          <a:p>
            <a:pPr lvl="1"/>
            <a:endParaRPr lang="en-US" dirty="0"/>
          </a:p>
          <a:p>
            <a:pPr lvl="1"/>
            <a:endParaRPr lang="en-US" dirty="0"/>
          </a:p>
          <a:p>
            <a:pPr lvl="1"/>
            <a:endParaRPr lang="en-US" dirty="0"/>
          </a:p>
          <a:p>
            <a:pPr lvl="1"/>
            <a:endParaRPr lang="en-US" dirty="0"/>
          </a:p>
        </p:txBody>
      </p:sp>
      <p:grpSp>
        <p:nvGrpSpPr>
          <p:cNvPr id="24" name="Gruppierung 23"/>
          <p:cNvGrpSpPr/>
          <p:nvPr/>
        </p:nvGrpSpPr>
        <p:grpSpPr>
          <a:xfrm>
            <a:off x="2133600" y="3885406"/>
            <a:ext cx="4267200" cy="2286794"/>
            <a:chOff x="2133600" y="3352800"/>
            <a:chExt cx="4267200" cy="2286794"/>
          </a:xfrm>
        </p:grpSpPr>
        <p:sp>
          <p:nvSpPr>
            <p:cNvPr id="9" name="Rechteck 8"/>
            <p:cNvSpPr/>
            <p:nvPr/>
          </p:nvSpPr>
          <p:spPr bwMode="auto">
            <a:xfrm>
              <a:off x="2133600" y="3352800"/>
              <a:ext cx="13716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t>Node A</a:t>
              </a:r>
              <a:endParaRPr kumimoji="0" lang="en-US" sz="1600" b="0" i="0" u="none" strike="noStrike" cap="none" normalizeH="0" baseline="0" dirty="0">
                <a:ln>
                  <a:noFill/>
                </a:ln>
                <a:solidFill>
                  <a:schemeClr val="tx1"/>
                </a:solidFill>
                <a:effectLst/>
                <a:latin typeface="Futura Hv BT" pitchFamily="32" charset="0"/>
              </a:endParaRPr>
            </a:p>
          </p:txBody>
        </p:sp>
        <p:sp>
          <p:nvSpPr>
            <p:cNvPr id="10" name="Rechteck 9"/>
            <p:cNvSpPr/>
            <p:nvPr/>
          </p:nvSpPr>
          <p:spPr bwMode="auto">
            <a:xfrm>
              <a:off x="5029200" y="3352800"/>
              <a:ext cx="1371600" cy="381000"/>
            </a:xfrm>
            <a:prstGeom prst="rect">
              <a:avLst/>
            </a:prstGeom>
            <a:ln>
              <a:headEnd type="none" w="med" len="med"/>
              <a:tailEnd type="triangle" w="med" len="med"/>
            </a:ln>
          </p:spPr>
          <p:style>
            <a:lnRef idx="1">
              <a:schemeClr val="accent1"/>
            </a:lnRef>
            <a:fillRef idx="2">
              <a:schemeClr val="accent1"/>
            </a:fillRef>
            <a:effectRef idx="1">
              <a:schemeClr val="accent1"/>
            </a:effectRef>
            <a:fontRef idx="minor">
              <a:schemeClr val="dk1"/>
            </a:fontRef>
          </p:style>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lang="en-US" dirty="0"/>
                <a:t>Node B</a:t>
              </a:r>
              <a:endParaRPr kumimoji="0" lang="en-US" sz="1600" b="0" i="0" u="none" strike="noStrike" cap="none" normalizeH="0" baseline="0" dirty="0">
                <a:ln>
                  <a:noFill/>
                </a:ln>
                <a:solidFill>
                  <a:schemeClr val="tx1"/>
                </a:solidFill>
                <a:effectLst/>
                <a:latin typeface="Futura Hv BT" pitchFamily="32" charset="0"/>
              </a:endParaRPr>
            </a:p>
          </p:txBody>
        </p:sp>
        <p:cxnSp>
          <p:nvCxnSpPr>
            <p:cNvPr id="12" name="Gerade Verbindung 11"/>
            <p:cNvCxnSpPr>
              <a:stCxn id="9" idx="2"/>
            </p:cNvCxnSpPr>
            <p:nvPr/>
          </p:nvCxnSpPr>
          <p:spPr bwMode="auto">
            <a:xfrm rot="5400000">
              <a:off x="1866900" y="4686300"/>
              <a:ext cx="1905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4" name="Gerade Verbindung mit Pfeil 13"/>
            <p:cNvCxnSpPr/>
            <p:nvPr/>
          </p:nvCxnSpPr>
          <p:spPr bwMode="auto">
            <a:xfrm>
              <a:off x="2818606" y="39624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cxnSp>
          <p:nvCxnSpPr>
            <p:cNvPr id="15" name="Gerade Verbindung 14"/>
            <p:cNvCxnSpPr>
              <a:stCxn id="10" idx="2"/>
            </p:cNvCxnSpPr>
            <p:nvPr/>
          </p:nvCxnSpPr>
          <p:spPr bwMode="auto">
            <a:xfrm rot="5400000">
              <a:off x="4762500" y="4686300"/>
              <a:ext cx="1905000" cy="1588"/>
            </a:xfrm>
            <a:prstGeom prst="line">
              <a:avLst/>
            </a:prstGeom>
            <a:solidFill>
              <a:schemeClr val="accent1"/>
            </a:solidFill>
            <a:ln w="19050" cap="flat" cmpd="sng" algn="ctr">
              <a:solidFill>
                <a:schemeClr val="tx1"/>
              </a:solidFill>
              <a:prstDash val="solid"/>
              <a:round/>
              <a:headEnd type="none" w="med" len="med"/>
              <a:tailEnd type="none" w="med" len="med"/>
            </a:ln>
            <a:effectLst/>
          </p:spPr>
        </p:cxnSp>
        <p:sp>
          <p:nvSpPr>
            <p:cNvPr id="19" name="Textfeld 18"/>
            <p:cNvSpPr txBox="1"/>
            <p:nvPr/>
          </p:nvSpPr>
          <p:spPr>
            <a:xfrm rot="273927">
              <a:off x="3599960" y="3734973"/>
              <a:ext cx="1736437" cy="369332"/>
            </a:xfrm>
            <a:prstGeom prst="rect">
              <a:avLst/>
            </a:prstGeom>
            <a:noFill/>
          </p:spPr>
          <p:txBody>
            <a:bodyPr wrap="none" rtlCol="0" anchor="b">
              <a:spAutoFit/>
            </a:bodyPr>
            <a:lstStyle/>
            <a:p>
              <a:r>
                <a:rPr lang="en-US" dirty="0"/>
                <a:t>WSA (on CCH)</a:t>
              </a:r>
            </a:p>
          </p:txBody>
        </p:sp>
        <p:cxnSp>
          <p:nvCxnSpPr>
            <p:cNvPr id="20" name="Gerade Verbindung mit Pfeil 19"/>
            <p:cNvCxnSpPr/>
            <p:nvPr/>
          </p:nvCxnSpPr>
          <p:spPr bwMode="auto">
            <a:xfrm>
              <a:off x="2819400" y="46482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21" name="Textfeld 20"/>
            <p:cNvSpPr txBox="1"/>
            <p:nvPr/>
          </p:nvSpPr>
          <p:spPr>
            <a:xfrm rot="273927">
              <a:off x="3578959" y="4420773"/>
              <a:ext cx="1774845" cy="369332"/>
            </a:xfrm>
            <a:prstGeom prst="rect">
              <a:avLst/>
            </a:prstGeom>
            <a:noFill/>
          </p:spPr>
          <p:txBody>
            <a:bodyPr wrap="none" rtlCol="0" anchor="b">
              <a:spAutoFit/>
            </a:bodyPr>
            <a:lstStyle/>
            <a:p>
              <a:r>
                <a:rPr lang="en-US" dirty="0"/>
                <a:t>Data (on S-CH)</a:t>
              </a:r>
            </a:p>
          </p:txBody>
        </p:sp>
        <p:cxnSp>
          <p:nvCxnSpPr>
            <p:cNvPr id="22" name="Gerade Verbindung mit Pfeil 21"/>
            <p:cNvCxnSpPr/>
            <p:nvPr/>
          </p:nvCxnSpPr>
          <p:spPr bwMode="auto">
            <a:xfrm flipH="1">
              <a:off x="2819400" y="5257800"/>
              <a:ext cx="2896394" cy="228600"/>
            </a:xfrm>
            <a:prstGeom prst="straightConnector1">
              <a:avLst/>
            </a:prstGeom>
            <a:solidFill>
              <a:schemeClr val="accent1"/>
            </a:solidFill>
            <a:ln w="19050" cap="flat" cmpd="sng" algn="ctr">
              <a:solidFill>
                <a:schemeClr val="tx1"/>
              </a:solidFill>
              <a:prstDash val="solid"/>
              <a:round/>
              <a:headEnd type="none" w="med" len="med"/>
              <a:tailEnd type="arrow"/>
            </a:ln>
            <a:effectLst/>
          </p:spPr>
        </p:cxnSp>
        <p:sp>
          <p:nvSpPr>
            <p:cNvPr id="23" name="Textfeld 22"/>
            <p:cNvSpPr txBox="1"/>
            <p:nvPr/>
          </p:nvSpPr>
          <p:spPr>
            <a:xfrm rot="21355603">
              <a:off x="3560154" y="5001333"/>
              <a:ext cx="1774845" cy="369332"/>
            </a:xfrm>
            <a:prstGeom prst="rect">
              <a:avLst/>
            </a:prstGeom>
            <a:noFill/>
          </p:spPr>
          <p:txBody>
            <a:bodyPr wrap="none" rtlCol="0" anchor="b">
              <a:spAutoFit/>
            </a:bodyPr>
            <a:lstStyle/>
            <a:p>
              <a:r>
                <a:rPr lang="en-US" dirty="0"/>
                <a:t>Data (on S-CH)</a:t>
              </a:r>
            </a:p>
          </p:txBody>
        </p:sp>
      </p:grpSp>
      <p:sp>
        <p:nvSpPr>
          <p:cNvPr id="4" name="Footer Placeholder 3"/>
          <p:cNvSpPr>
            <a:spLocks noGrp="1"/>
          </p:cNvSpPr>
          <p:nvPr>
            <p:ph type="ftr" sz="quarter" idx="11"/>
          </p:nvPr>
        </p:nvSpPr>
        <p:spPr/>
        <p:txBody>
          <a:bodyPr/>
          <a:lstStyle/>
          <a:p>
            <a:r>
              <a:rPr lang="en-US">
                <a:solidFill>
                  <a:prstClr val="black"/>
                </a:solidFill>
              </a:rPr>
              <a:t>Vehicular Networking</a:t>
            </a:r>
            <a:endParaRPr lang="en-US" dirty="0">
              <a:solidFill>
                <a:prstClr val="black"/>
              </a:solidFill>
            </a:endParaRPr>
          </a:p>
        </p:txBody>
      </p:sp>
      <p:sp>
        <p:nvSpPr>
          <p:cNvPr id="5" name="Slide Number Placeholder 4"/>
          <p:cNvSpPr>
            <a:spLocks noGrp="1"/>
          </p:cNvSpPr>
          <p:nvPr>
            <p:ph type="sldNum" sz="quarter" idx="12"/>
          </p:nvPr>
        </p:nvSpPr>
        <p:spPr/>
        <p:txBody>
          <a:bodyPr/>
          <a:lstStyle/>
          <a:p>
            <a:fld id="{73ED8BC7-2E15-43DB-8EF0-8ED7667633CE}" type="slidenum">
              <a:rPr lang="en-US" smtClean="0">
                <a:solidFill>
                  <a:prstClr val="black"/>
                </a:solidFill>
              </a:rPr>
              <a:pPr/>
              <a:t>93</a:t>
            </a:fld>
            <a:endParaRPr lang="en-US" dirty="0">
              <a:solidFill>
                <a:prstClr val="black"/>
              </a:solidFill>
            </a:endParaRPr>
          </a:p>
        </p:txBody>
      </p:sp>
    </p:spTree>
    <p:extLst>
      <p:ext uri="{BB962C8B-B14F-4D97-AF65-F5344CB8AC3E}">
        <p14:creationId xmlns:p14="http://schemas.microsoft.com/office/powerpoint/2010/main" val="74746584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EDCEFCA8-5F79-5F68-DD6D-FB419412818E}"/>
              </a:ext>
            </a:extLst>
          </p:cNvPr>
          <p:cNvSpPr>
            <a:spLocks noGrp="1"/>
          </p:cNvSpPr>
          <p:nvPr>
            <p:ph type="title"/>
          </p:nvPr>
        </p:nvSpPr>
        <p:spPr>
          <a:xfrm>
            <a:off x="1073427" y="3210340"/>
            <a:ext cx="6390860" cy="731838"/>
          </a:xfrm>
        </p:spPr>
        <p:txBody>
          <a:bodyPr/>
          <a:lstStyle/>
          <a:p>
            <a:pPr eaLnBrk="1" hangingPunct="1"/>
            <a:r>
              <a:rPr lang="en-US" altLang="en-US" dirty="0"/>
              <a:t>Loss Model</a:t>
            </a:r>
          </a:p>
        </p:txBody>
      </p:sp>
    </p:spTree>
    <p:extLst>
      <p:ext uri="{BB962C8B-B14F-4D97-AF65-F5344CB8AC3E}">
        <p14:creationId xmlns:p14="http://schemas.microsoft.com/office/powerpoint/2010/main" val="29067193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75D584-07D2-3178-5850-64223B668BB9}"/>
            </a:ext>
          </a:extLst>
        </p:cNvPr>
        <p:cNvGrpSpPr/>
        <p:nvPr/>
      </p:nvGrpSpPr>
      <p:grpSpPr>
        <a:xfrm>
          <a:off x="0" y="0"/>
          <a:ext cx="0" cy="0"/>
          <a:chOff x="0" y="0"/>
          <a:chExt cx="0" cy="0"/>
        </a:xfrm>
      </p:grpSpPr>
      <p:sp>
        <p:nvSpPr>
          <p:cNvPr id="7170" name="Title 1">
            <a:extLst>
              <a:ext uri="{FF2B5EF4-FFF2-40B4-BE49-F238E27FC236}">
                <a16:creationId xmlns:a16="http://schemas.microsoft.com/office/drawing/2014/main" id="{24B894EC-3B7D-DFA3-797F-1314256085B1}"/>
              </a:ext>
            </a:extLst>
          </p:cNvPr>
          <p:cNvSpPr>
            <a:spLocks noGrp="1"/>
          </p:cNvSpPr>
          <p:nvPr>
            <p:ph type="title"/>
          </p:nvPr>
        </p:nvSpPr>
        <p:spPr/>
        <p:txBody>
          <a:bodyPr/>
          <a:lstStyle/>
          <a:p>
            <a:pPr eaLnBrk="1" hangingPunct="1"/>
            <a:r>
              <a:rPr lang="en-US" altLang="en-US" dirty="0"/>
              <a:t>Loss Model::Line Of Sight</a:t>
            </a:r>
          </a:p>
        </p:txBody>
      </p:sp>
      <p:sp>
        <p:nvSpPr>
          <p:cNvPr id="7171" name="Content Placeholder 2">
            <a:extLst>
              <a:ext uri="{FF2B5EF4-FFF2-40B4-BE49-F238E27FC236}">
                <a16:creationId xmlns:a16="http://schemas.microsoft.com/office/drawing/2014/main" id="{4A143090-F263-B295-2586-CCD3C9417A96}"/>
              </a:ext>
            </a:extLst>
          </p:cNvPr>
          <p:cNvSpPr>
            <a:spLocks noGrp="1"/>
          </p:cNvSpPr>
          <p:nvPr>
            <p:ph idx="1"/>
          </p:nvPr>
        </p:nvSpPr>
        <p:spPr>
          <a:xfrm>
            <a:off x="0" y="1600200"/>
            <a:ext cx="9144000" cy="5257800"/>
          </a:xfrm>
        </p:spPr>
        <p:txBody>
          <a:bodyPr>
            <a:normAutofit/>
          </a:bodyPr>
          <a:lstStyle/>
          <a:p>
            <a:pPr eaLnBrk="1" hangingPunct="1"/>
            <a:r>
              <a:rPr lang="en-US" altLang="en-US" sz="2000" dirty="0"/>
              <a:t>The term LOS path is referred the situation where we have visual line of sight contact between the transmitting antenna and the receiving antenna.</a:t>
            </a:r>
          </a:p>
          <a:p>
            <a:pPr eaLnBrk="1" hangingPunct="1"/>
            <a:r>
              <a:rPr lang="en-US" altLang="en-US" sz="2000" dirty="0"/>
              <a:t>The </a:t>
            </a:r>
            <a:r>
              <a:rPr lang="en-US" altLang="en-US" sz="2000" b="1" dirty="0" err="1"/>
              <a:t>Ricean</a:t>
            </a:r>
            <a:r>
              <a:rPr lang="en-US" altLang="en-US" sz="2000" b="1" dirty="0"/>
              <a:t> distribution </a:t>
            </a:r>
            <a:r>
              <a:rPr lang="en-US" altLang="en-US" sz="2000" dirty="0"/>
              <a:t>can be used for modeling small-scale fading</a:t>
            </a:r>
          </a:p>
        </p:txBody>
      </p:sp>
      <p:pic>
        <p:nvPicPr>
          <p:cNvPr id="2" name="Picture 2">
            <a:extLst>
              <a:ext uri="{FF2B5EF4-FFF2-40B4-BE49-F238E27FC236}">
                <a16:creationId xmlns:a16="http://schemas.microsoft.com/office/drawing/2014/main" id="{1FDC0AF1-0C9E-03F1-F034-19A19E97DB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8360" y="2991678"/>
            <a:ext cx="6100555" cy="2752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253231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9E04369B-EBA1-A6BD-29B6-D27DF1C574BE}"/>
              </a:ext>
            </a:extLst>
          </p:cNvPr>
          <p:cNvSpPr>
            <a:spLocks noGrp="1"/>
          </p:cNvSpPr>
          <p:nvPr>
            <p:ph type="title"/>
          </p:nvPr>
        </p:nvSpPr>
        <p:spPr/>
        <p:txBody>
          <a:bodyPr/>
          <a:lstStyle/>
          <a:p>
            <a:r>
              <a:rPr lang="en-US" altLang="en-US" dirty="0"/>
              <a:t>Loss Model:: Non-Line Of Sight</a:t>
            </a:r>
          </a:p>
        </p:txBody>
      </p:sp>
      <p:sp>
        <p:nvSpPr>
          <p:cNvPr id="9219" name="Content Placeholder 2">
            <a:extLst>
              <a:ext uri="{FF2B5EF4-FFF2-40B4-BE49-F238E27FC236}">
                <a16:creationId xmlns:a16="http://schemas.microsoft.com/office/drawing/2014/main" id="{FF3634EB-9DFF-F859-39BF-9CEB582C8495}"/>
              </a:ext>
            </a:extLst>
          </p:cNvPr>
          <p:cNvSpPr>
            <a:spLocks noGrp="1"/>
          </p:cNvSpPr>
          <p:nvPr>
            <p:ph idx="1"/>
          </p:nvPr>
        </p:nvSpPr>
        <p:spPr>
          <a:xfrm>
            <a:off x="-76200" y="1600200"/>
            <a:ext cx="9144000" cy="5257800"/>
          </a:xfrm>
        </p:spPr>
        <p:txBody>
          <a:bodyPr>
            <a:normAutofit/>
          </a:bodyPr>
          <a:lstStyle/>
          <a:p>
            <a:pPr algn="just" eaLnBrk="1" hangingPunct="1"/>
            <a:r>
              <a:rPr lang="en-US" altLang="en-US" sz="2000" dirty="0"/>
              <a:t> For the N-LOS path it is found that the amplitude of the received signal due to fading obeys </a:t>
            </a:r>
            <a:r>
              <a:rPr lang="en-US" altLang="en-US" sz="2000" b="1" dirty="0"/>
              <a:t>Rayleigh fading distribution </a:t>
            </a:r>
            <a:r>
              <a:rPr lang="en-US" altLang="en-US" sz="2000" dirty="0"/>
              <a:t>and the  delay spreads were several times greater than that for the LOS.</a:t>
            </a:r>
          </a:p>
        </p:txBody>
      </p:sp>
      <p:pic>
        <p:nvPicPr>
          <p:cNvPr id="2" name="Picture 2">
            <a:extLst>
              <a:ext uri="{FF2B5EF4-FFF2-40B4-BE49-F238E27FC236}">
                <a16:creationId xmlns:a16="http://schemas.microsoft.com/office/drawing/2014/main" id="{4E564E59-3703-340C-5D28-0A7889913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4769" y="2893219"/>
            <a:ext cx="4562061" cy="327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015726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9"/>
          <p:cNvSpPr>
            <a:spLocks noGrp="1" noChangeArrowheads="1"/>
          </p:cNvSpPr>
          <p:nvPr>
            <p:ph type="title"/>
          </p:nvPr>
        </p:nvSpPr>
        <p:spPr>
          <a:xfrm>
            <a:off x="3867463" y="2627025"/>
            <a:ext cx="5141626" cy="1750102"/>
          </a:xfrm>
        </p:spPr>
        <p:txBody>
          <a:bodyPr anchor="b" anchorCtr="0">
            <a:normAutofit/>
          </a:bodyPr>
          <a:lstStyle/>
          <a:p>
            <a:pPr algn="l"/>
            <a:r>
              <a:rPr lang="en-US" sz="5400" dirty="0"/>
              <a:t>Vehicular Networking</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374" y="2357204"/>
            <a:ext cx="3050921" cy="2965114"/>
          </a:xfrm>
          <a:prstGeom prst="rect">
            <a:avLst/>
          </a:prstGeom>
        </p:spPr>
      </p:pic>
      <p:cxnSp>
        <p:nvCxnSpPr>
          <p:cNvPr id="6" name="Straight Connector 5"/>
          <p:cNvCxnSpPr/>
          <p:nvPr/>
        </p:nvCxnSpPr>
        <p:spPr>
          <a:xfrm>
            <a:off x="3927423" y="4377128"/>
            <a:ext cx="4856813" cy="0"/>
          </a:xfrm>
          <a:prstGeom prst="line">
            <a:avLst/>
          </a:prstGeom>
        </p:spPr>
        <p:style>
          <a:lnRef idx="1">
            <a:schemeClr val="accent2"/>
          </a:lnRef>
          <a:fillRef idx="0">
            <a:schemeClr val="accent2"/>
          </a:fillRef>
          <a:effectRef idx="0">
            <a:schemeClr val="accent2"/>
          </a:effectRef>
          <a:fontRef idx="minor">
            <a:schemeClr val="tx1"/>
          </a:fontRef>
        </p:style>
      </p:cxnSp>
      <p:sp>
        <p:nvSpPr>
          <p:cNvPr id="8" name="Rectangle 9"/>
          <p:cNvSpPr txBox="1">
            <a:spLocks noChangeArrowheads="1"/>
          </p:cNvSpPr>
          <p:nvPr/>
        </p:nvSpPr>
        <p:spPr>
          <a:xfrm>
            <a:off x="3867463" y="4377128"/>
            <a:ext cx="5141626" cy="1993691"/>
          </a:xfrm>
          <a:prstGeom prst="rect">
            <a:avLst/>
          </a:prstGeom>
        </p:spPr>
        <p:txBody>
          <a:bodyPr vert="horz" lIns="91440" tIns="45720" rIns="91440" bIns="45720" rtlCol="0" anchor="t" anchorCtr="0">
            <a:normAutofit/>
          </a:bodyPr>
          <a:lstStyle>
            <a:lvl1pPr algn="ctr" defTabSz="914400" rtl="0" eaLnBrk="1" latinLnBrk="0" hangingPunct="1">
              <a:spcBef>
                <a:spcPct val="0"/>
              </a:spcBef>
              <a:buNone/>
              <a:defRPr sz="3600" kern="1200">
                <a:solidFill>
                  <a:schemeClr val="accent2"/>
                </a:solidFill>
                <a:latin typeface="+mj-lt"/>
                <a:ea typeface="+mj-ea"/>
                <a:cs typeface="+mj-cs"/>
              </a:defRPr>
            </a:lvl1pPr>
          </a:lstStyle>
          <a:p>
            <a:pPr algn="l" fontAlgn="auto">
              <a:spcAft>
                <a:spcPts val="0"/>
              </a:spcAft>
            </a:pPr>
            <a:endParaRPr lang="en-US" sz="4400" dirty="0"/>
          </a:p>
        </p:txBody>
      </p:sp>
      <p:sp>
        <p:nvSpPr>
          <p:cNvPr id="9" name="Content Placeholder 13"/>
          <p:cNvSpPr txBox="1">
            <a:spLocks/>
          </p:cNvSpPr>
          <p:nvPr/>
        </p:nvSpPr>
        <p:spPr>
          <a:xfrm>
            <a:off x="228600" y="5562600"/>
            <a:ext cx="8686800" cy="838200"/>
          </a:xfrm>
          <a:prstGeom prst="rect">
            <a:avLst/>
          </a:prstGeom>
        </p:spPr>
        <p:txBody>
          <a:bodyPr anchor="b" anchorCtr="0"/>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gn="r" fontAlgn="auto">
              <a:spcAft>
                <a:spcPts val="0"/>
              </a:spcAft>
              <a:buClr>
                <a:srgbClr val="C00000"/>
              </a:buClr>
              <a:buSzPct val="100000"/>
              <a:buNone/>
            </a:pPr>
            <a:r>
              <a:rPr lang="en-US" sz="1050" dirty="0">
                <a:solidFill>
                  <a:prstClr val="black"/>
                </a:solidFill>
              </a:rPr>
              <a:t>Book design © 2014 Cambridge University Press</a:t>
            </a:r>
          </a:p>
        </p:txBody>
      </p:sp>
    </p:spTree>
    <p:extLst>
      <p:ext uri="{BB962C8B-B14F-4D97-AF65-F5344CB8AC3E}">
        <p14:creationId xmlns:p14="http://schemas.microsoft.com/office/powerpoint/2010/main" val="442830987"/>
      </p:ext>
    </p:extLst>
  </p:cSld>
  <p:clrMapOvr>
    <a:masterClrMapping/>
  </p:clrMapOvr>
</p:sld>
</file>

<file path=ppt/theme/theme1.xml><?xml version="1.0" encoding="utf-8"?>
<a:theme xmlns:a="http://schemas.openxmlformats.org/drawingml/2006/main" name="ccs-upb-cs1">
  <a:themeElements>
    <a:clrScheme name="Christoph Sommer">
      <a:dk1>
        <a:sysClr val="windowText" lastClr="000000"/>
      </a:dk1>
      <a:lt1>
        <a:sysClr val="window" lastClr="FFFFFF"/>
      </a:lt1>
      <a:dk2>
        <a:srgbClr val="1F497D"/>
      </a:dk2>
      <a:lt2>
        <a:srgbClr val="EEECE1"/>
      </a:lt2>
      <a:accent1>
        <a:srgbClr val="4F81BD"/>
      </a:accent1>
      <a:accent2>
        <a:srgbClr val="DA380C"/>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Template>
  <TotalTime>518</TotalTime>
  <Words>7440</Words>
  <Application>Microsoft Office PowerPoint</Application>
  <PresentationFormat>On-screen Show (4:3)</PresentationFormat>
  <Paragraphs>1434</Paragraphs>
  <Slides>97</Slides>
  <Notes>19</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97</vt:i4>
      </vt:variant>
    </vt:vector>
  </HeadingPairs>
  <TitlesOfParts>
    <vt:vector size="113" baseType="lpstr">
      <vt:lpstr>Aharoni</vt:lpstr>
      <vt:lpstr>Amasis MT Pro Medium</vt:lpstr>
      <vt:lpstr>Arial</vt:lpstr>
      <vt:lpstr>Arial Black</vt:lpstr>
      <vt:lpstr>Arial MT</vt:lpstr>
      <vt:lpstr>Arial Narrow</vt:lpstr>
      <vt:lpstr>Baguet Script</vt:lpstr>
      <vt:lpstr>Calibri</vt:lpstr>
      <vt:lpstr>Cambria</vt:lpstr>
      <vt:lpstr>Futura Bk BT</vt:lpstr>
      <vt:lpstr>Futura Hv BT</vt:lpstr>
      <vt:lpstr>Liberation Sans</vt:lpstr>
      <vt:lpstr>Times New Roman</vt:lpstr>
      <vt:lpstr>Trebuchet MS</vt:lpstr>
      <vt:lpstr>Wingdings</vt:lpstr>
      <vt:lpstr>ccs-upb-cs1</vt:lpstr>
      <vt:lpstr>CSE 4615:: Wireless Networks</vt:lpstr>
      <vt:lpstr>Course Material</vt:lpstr>
      <vt:lpstr>Vehicular Networking</vt:lpstr>
      <vt:lpstr>About this slide deck</vt:lpstr>
      <vt:lpstr>A Short Introduction</vt:lpstr>
      <vt:lpstr>Introduction of VANET </vt:lpstr>
      <vt:lpstr>Cont…</vt:lpstr>
      <vt:lpstr>Components of VANET</vt:lpstr>
      <vt:lpstr>Cont…</vt:lpstr>
      <vt:lpstr>Cont…</vt:lpstr>
      <vt:lpstr>Smart Vehicle</vt:lpstr>
      <vt:lpstr>Components of VANET</vt:lpstr>
      <vt:lpstr>Vehicles operate using networked ICT</vt:lpstr>
      <vt:lpstr> Vehicles become parts of a larger whole</vt:lpstr>
      <vt:lpstr>A conceptual view</vt:lpstr>
      <vt:lpstr>PowerPoint Presentation</vt:lpstr>
      <vt:lpstr>Executive Summary</vt:lpstr>
      <vt:lpstr>Visionary Applications</vt:lpstr>
      <vt:lpstr>Visionary Applications</vt:lpstr>
      <vt:lpstr>Visionary Applications (Classified)</vt:lpstr>
      <vt:lpstr>Cont…</vt:lpstr>
      <vt:lpstr> C’est le Rush https://www.youtube.com/watch?v=Johmxw3cspA </vt:lpstr>
      <vt:lpstr>PowerPoint Presentation</vt:lpstr>
      <vt:lpstr>Some application examples  (US WAVE BSM ~SAE J2735)</vt:lpstr>
      <vt:lpstr>Cont…</vt:lpstr>
      <vt:lpstr>Cont…</vt:lpstr>
      <vt:lpstr>Cont…</vt:lpstr>
      <vt:lpstr>Characteristics </vt:lpstr>
      <vt:lpstr>Cont…</vt:lpstr>
      <vt:lpstr>Challenges of communication</vt:lpstr>
      <vt:lpstr>Cont…</vt:lpstr>
      <vt:lpstr>V2V: goals and characteristics</vt:lpstr>
      <vt:lpstr>PowerPoint Presentation</vt:lpstr>
      <vt:lpstr>Vehicle-to-X (V2X) communication patterns</vt:lpstr>
      <vt:lpstr>Use Cases</vt:lpstr>
      <vt:lpstr>Taxonomy of Use Cases</vt:lpstr>
      <vt:lpstr>Taxonomy of Use Cases</vt:lpstr>
      <vt:lpstr>Diversity of use cases</vt:lpstr>
      <vt:lpstr>Diversity of requirements</vt:lpstr>
      <vt:lpstr>Motivation</vt:lpstr>
      <vt:lpstr>Renewed interest of government and industry</vt:lpstr>
      <vt:lpstr>Motivation</vt:lpstr>
      <vt:lpstr>     Freeway                     ⇔            Urban</vt:lpstr>
      <vt:lpstr>Levels of infrastructure support</vt:lpstr>
      <vt:lpstr>     Infrastructure            ⇔       No Infrastructure</vt:lpstr>
      <vt:lpstr>Convergence towards heterogeneous approaches</vt:lpstr>
      <vt:lpstr>Challenges of V2X communication</vt:lpstr>
      <vt:lpstr>Technology</vt:lpstr>
      <vt:lpstr>Communication paradigms and media</vt:lpstr>
      <vt:lpstr>Communication paradigms and media</vt:lpstr>
      <vt:lpstr>  Communication Technologies </vt:lpstr>
      <vt:lpstr>How does this work?</vt:lpstr>
      <vt:lpstr>IEEE 802.11p characteristics</vt:lpstr>
      <vt:lpstr>  US: WAVE/DSRC  </vt:lpstr>
      <vt:lpstr>US: WAVE/DSRC</vt:lpstr>
      <vt:lpstr>Protocol Stack: IEEE 802.11p (DSRC/WAVE)  </vt:lpstr>
      <vt:lpstr>Combining with Internet</vt:lpstr>
      <vt:lpstr>IEEE 802.11{a,b,g,n} for Car-to-X communication?</vt:lpstr>
      <vt:lpstr>IEEE 802.11p</vt:lpstr>
      <vt:lpstr>Differences between IEEE 802.11p and IEEE 802.11a</vt:lpstr>
      <vt:lpstr>Differences between IEEE 802.11p and IEEE 802.11a</vt:lpstr>
      <vt:lpstr>Differences between IEEE 802.11p and IEEE 802.11a</vt:lpstr>
      <vt:lpstr>Differences between IEEE 802.11p and IEEE 802.11a</vt:lpstr>
      <vt:lpstr>Classic IEEE 802.11</vt:lpstr>
      <vt:lpstr>IEEE 802.11p</vt:lpstr>
      <vt:lpstr>IEEE 802.11p</vt:lpstr>
      <vt:lpstr>IEEE 802.11 DCF</vt:lpstr>
      <vt:lpstr>IEEE 802.11 DCF</vt:lpstr>
      <vt:lpstr>IEEE 802.11p</vt:lpstr>
      <vt:lpstr>IEEE 802.11p</vt:lpstr>
      <vt:lpstr>IEEE 802.11p</vt:lpstr>
      <vt:lpstr>IEEE 802.11p</vt:lpstr>
      <vt:lpstr>Classical IEEE 802.11</vt:lpstr>
      <vt:lpstr>IEEE 802.11p</vt:lpstr>
      <vt:lpstr>IEEE 802.11p</vt:lpstr>
      <vt:lpstr>IEEE 802.11p</vt:lpstr>
      <vt:lpstr>IEEE 802.11p</vt:lpstr>
      <vt:lpstr>IEEE 802.11p</vt:lpstr>
      <vt:lpstr>IEEE 802.11p</vt:lpstr>
      <vt:lpstr>IEEE 802.11p</vt:lpstr>
      <vt:lpstr>IEEE 802.11p</vt:lpstr>
      <vt:lpstr>UMTS/LTE vs. 802.11p</vt:lpstr>
      <vt:lpstr>UMTS/LTE vs. IEEE 802.11p</vt:lpstr>
      <vt:lpstr>Higher Layer Standards for IEEE 802.11p</vt:lpstr>
      <vt:lpstr>DSRC:: Channel Allocation (U.S. allocation)</vt:lpstr>
      <vt:lpstr>DSRC:: Channel Switching Timing </vt:lpstr>
      <vt:lpstr>Message Type and Channel Used</vt:lpstr>
      <vt:lpstr>Higher Layer Standards for IEEE 802.11p</vt:lpstr>
      <vt:lpstr>IEEE 1609.* upper layers (building on IEEE 802.11p)</vt:lpstr>
      <vt:lpstr>IEEE 1609</vt:lpstr>
      <vt:lpstr>IEEE 1609</vt:lpstr>
      <vt:lpstr>IEEE 1609</vt:lpstr>
      <vt:lpstr>IEEE 1609</vt:lpstr>
      <vt:lpstr>Loss Model</vt:lpstr>
      <vt:lpstr>Loss Model::Line Of Sight</vt:lpstr>
      <vt:lpstr>Loss Model:: Non-Line Of Sight</vt:lpstr>
      <vt:lpstr>Vehicular Networking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Vehicular Networking</dc:title>
  <dc:creator/>
  <cp:lastModifiedBy>Ashraful Alam Khan, Assistant Professor, CSE</cp:lastModifiedBy>
  <cp:revision>45</cp:revision>
  <dcterms:created xsi:type="dcterms:W3CDTF">2015-02-27T01:39:27Z</dcterms:created>
  <dcterms:modified xsi:type="dcterms:W3CDTF">2025-08-14T03:56:00Z</dcterms:modified>
</cp:coreProperties>
</file>